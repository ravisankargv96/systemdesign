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Default Extension="png" ContentType="image/png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49322" y="2146606"/>
            <a:ext cx="6845354" cy="5403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-74" y="5045700"/>
            <a:ext cx="9144000" cy="98425"/>
          </a:xfrm>
          <a:custGeom>
            <a:avLst/>
            <a:gdLst/>
            <a:ahLst/>
            <a:cxnLst/>
            <a:rect l="l" t="t" r="r" b="b"/>
            <a:pathLst>
              <a:path w="9144000" h="98425">
                <a:moveTo>
                  <a:pt x="9143999" y="97799"/>
                </a:moveTo>
                <a:lnTo>
                  <a:pt x="0" y="97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97799"/>
                </a:lnTo>
                <a:close/>
              </a:path>
            </a:pathLst>
          </a:custGeom>
          <a:solidFill>
            <a:srgbClr val="4DB6A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501590"/>
            <a:ext cx="7553959" cy="5194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rgbClr val="EE6C00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75249" y="1289058"/>
            <a:ext cx="7513955" cy="27006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685D46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1.png"/><Relationship Id="rId4" Type="http://schemas.openxmlformats.org/officeDocument/2006/relationships/image" Target="../media/image18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Relationship Id="rId3" Type="http://schemas.openxmlformats.org/officeDocument/2006/relationships/image" Target="../media/image26.jp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jpg"/><Relationship Id="rId4" Type="http://schemas.openxmlformats.org/officeDocument/2006/relationships/image" Target="../media/image29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007735" y="3176887"/>
            <a:ext cx="562610" cy="0"/>
          </a:xfrm>
          <a:custGeom>
            <a:avLst/>
            <a:gdLst/>
            <a:ahLst/>
            <a:cxnLst/>
            <a:rect l="l" t="t" r="r" b="b"/>
            <a:pathLst>
              <a:path w="562609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1575034" y="3158251"/>
            <a:ext cx="562610" cy="0"/>
          </a:xfrm>
          <a:custGeom>
            <a:avLst/>
            <a:gdLst/>
            <a:ahLst/>
            <a:cxnLst/>
            <a:rect l="l" t="t" r="r" b="b"/>
            <a:pathLst>
              <a:path w="562610" h="0">
                <a:moveTo>
                  <a:pt x="0" y="0"/>
                </a:moveTo>
                <a:lnTo>
                  <a:pt x="562199" y="0"/>
                </a:lnTo>
              </a:path>
            </a:pathLst>
          </a:custGeom>
          <a:ln w="76199">
            <a:solidFill>
              <a:srgbClr val="B3A77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04144" y="10220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004144" y="1174425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7136667" y="0"/>
                </a:moveTo>
                <a:lnTo>
                  <a:pt x="0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04151" y="41214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76199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004151" y="3969099"/>
            <a:ext cx="7136765" cy="0"/>
          </a:xfrm>
          <a:custGeom>
            <a:avLst/>
            <a:gdLst/>
            <a:ahLst/>
            <a:cxnLst/>
            <a:rect l="l" t="t" r="r" b="b"/>
            <a:pathLst>
              <a:path w="7136765" h="0">
                <a:moveTo>
                  <a:pt x="0" y="0"/>
                </a:moveTo>
                <a:lnTo>
                  <a:pt x="7136667" y="0"/>
                </a:lnTo>
              </a:path>
            </a:pathLst>
          </a:custGeom>
          <a:ln w="9524">
            <a:solidFill>
              <a:srgbClr val="4DB6A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2077551" y="1490473"/>
            <a:ext cx="4991100" cy="69024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350" spc="-330"/>
              <a:t>Mastering</a:t>
            </a:r>
            <a:r>
              <a:rPr dirty="0" sz="4350" spc="-80"/>
              <a:t> </a:t>
            </a:r>
            <a:r>
              <a:rPr dirty="0" sz="4350" spc="-330"/>
              <a:t>System</a:t>
            </a:r>
            <a:r>
              <a:rPr dirty="0" sz="4350" spc="-65"/>
              <a:t> </a:t>
            </a:r>
            <a:r>
              <a:rPr dirty="0" sz="4350" spc="-275"/>
              <a:t>Design</a:t>
            </a:r>
            <a:endParaRPr sz="4350"/>
          </a:p>
        </p:txBody>
      </p:sp>
      <p:sp>
        <p:nvSpPr>
          <p:cNvPr id="9" name="object 9"/>
          <p:cNvSpPr txBox="1"/>
          <p:nvPr/>
        </p:nvSpPr>
        <p:spPr>
          <a:xfrm>
            <a:off x="2417245" y="2297787"/>
            <a:ext cx="4305935" cy="10045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Section</a:t>
            </a:r>
            <a:r>
              <a:rPr dirty="0" sz="2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>
                <a:solidFill>
                  <a:srgbClr val="685D46"/>
                </a:solidFill>
                <a:latin typeface="Arial"/>
                <a:cs typeface="Arial"/>
              </a:rPr>
              <a:t>3:</a:t>
            </a:r>
            <a:r>
              <a:rPr dirty="0" sz="2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945"/>
              </a:spcBef>
            </a:pPr>
            <a:r>
              <a:rPr dirty="0" sz="2400" spc="75">
                <a:solidFill>
                  <a:srgbClr val="685D46"/>
                </a:solidFill>
                <a:latin typeface="Arial"/>
                <a:cs typeface="Arial"/>
              </a:rPr>
              <a:t>Networking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14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24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2400" spc="6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0"/>
              <a:t>Section</a:t>
            </a:r>
            <a:r>
              <a:rPr dirty="0" spc="-145"/>
              <a:t> </a:t>
            </a:r>
            <a:r>
              <a:rPr dirty="0" spc="-265"/>
              <a:t>Agenda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2564" y="1289058"/>
            <a:ext cx="6047105" cy="191833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1: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2: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3: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-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4: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5: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Lecture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6: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2579370">
              <a:lnSpc>
                <a:spcPct val="100000"/>
              </a:lnSpc>
              <a:spcBef>
                <a:spcPts val="110"/>
              </a:spcBef>
            </a:pPr>
            <a:r>
              <a:rPr dirty="0" sz="3350" spc="-210"/>
              <a:t>TCP</a:t>
            </a:r>
            <a:r>
              <a:rPr dirty="0" sz="3350" spc="-180"/>
              <a:t> </a:t>
            </a:r>
            <a:r>
              <a:rPr dirty="0" sz="3350"/>
              <a:t>&amp;</a:t>
            </a:r>
            <a:r>
              <a:rPr dirty="0" sz="3350" spc="-170"/>
              <a:t> </a:t>
            </a:r>
            <a:r>
              <a:rPr dirty="0" sz="3350" spc="-350"/>
              <a:t>UDP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56590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10"/>
              <a:t> </a:t>
            </a:r>
            <a:r>
              <a:rPr dirty="0" spc="-110"/>
              <a:t>is</a:t>
            </a:r>
            <a:r>
              <a:rPr dirty="0" spc="-120"/>
              <a:t> </a:t>
            </a:r>
            <a:r>
              <a:rPr dirty="0" spc="-225"/>
              <a:t>Transmission</a:t>
            </a:r>
            <a:r>
              <a:rPr dirty="0" spc="-50"/>
              <a:t> </a:t>
            </a:r>
            <a:r>
              <a:rPr dirty="0" spc="-229"/>
              <a:t>Control</a:t>
            </a:r>
            <a:r>
              <a:rPr dirty="0" spc="-10"/>
              <a:t> </a:t>
            </a:r>
            <a:r>
              <a:rPr dirty="0" spc="-229"/>
              <a:t>Protocol</a:t>
            </a:r>
            <a:r>
              <a:rPr dirty="0" spc="-10"/>
              <a:t> </a:t>
            </a:r>
            <a:r>
              <a:rPr dirty="0" spc="-110"/>
              <a:t>(TCP)?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605529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Connection-oriented</a:t>
            </a:r>
            <a:r>
              <a:rPr dirty="0" sz="1800" spc="170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Reliable,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ordered,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endParaRPr sz="1800">
              <a:latin typeface="Arial"/>
              <a:cs typeface="Arial"/>
            </a:endParaRPr>
          </a:p>
          <a:p>
            <a:pPr marL="379095">
              <a:lnSpc>
                <a:spcPct val="100000"/>
              </a:lnSpc>
              <a:spcBef>
                <a:spcPts val="325"/>
              </a:spcBef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error-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checked</a:t>
            </a:r>
            <a:r>
              <a:rPr dirty="0" sz="180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800">
              <a:latin typeface="Arial"/>
              <a:cs typeface="Arial"/>
            </a:endParaRPr>
          </a:p>
          <a:p>
            <a:pPr marL="379095" marR="53467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reaches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destination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correctly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16000" y="1457225"/>
            <a:ext cx="3581399" cy="22097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35"/>
              <a:t> </a:t>
            </a:r>
            <a:r>
              <a:rPr dirty="0" spc="-90"/>
              <a:t>is</a:t>
            </a:r>
            <a:r>
              <a:rPr dirty="0" spc="-35"/>
              <a:t> </a:t>
            </a:r>
            <a:r>
              <a:rPr dirty="0" spc="-250"/>
              <a:t>User</a:t>
            </a:r>
            <a:r>
              <a:rPr dirty="0" spc="-30"/>
              <a:t> </a:t>
            </a:r>
            <a:r>
              <a:rPr dirty="0" spc="-254"/>
              <a:t>Datagram</a:t>
            </a:r>
            <a:r>
              <a:rPr dirty="0" spc="-35"/>
              <a:t> </a:t>
            </a:r>
            <a:r>
              <a:rPr dirty="0" spc="-229"/>
              <a:t>Protocol</a:t>
            </a:r>
            <a:r>
              <a:rPr dirty="0" spc="-35"/>
              <a:t> </a:t>
            </a:r>
            <a:r>
              <a:rPr dirty="0" spc="-170"/>
              <a:t>(UDP)?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13200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Connectionless</a:t>
            </a:r>
            <a:r>
              <a:rPr dirty="0" sz="18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Faster,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but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delivery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guarantees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retransmission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lost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packets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20579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35"/>
              <a:t>Key</a:t>
            </a:r>
            <a:r>
              <a:rPr dirty="0" spc="-160"/>
              <a:t> </a:t>
            </a:r>
            <a:r>
              <a:rPr dirty="0" spc="-210"/>
              <a:t>Differences</a:t>
            </a:r>
            <a:r>
              <a:rPr dirty="0" spc="-60"/>
              <a:t> </a:t>
            </a:r>
            <a:r>
              <a:rPr dirty="0" spc="-275"/>
              <a:t>Between</a:t>
            </a:r>
            <a:r>
              <a:rPr dirty="0" spc="-160"/>
              <a:t> </a:t>
            </a:r>
            <a:r>
              <a:rPr dirty="0" spc="-180"/>
              <a:t>TCP</a:t>
            </a:r>
            <a:r>
              <a:rPr dirty="0" spc="-165"/>
              <a:t> </a:t>
            </a:r>
            <a:r>
              <a:rPr dirty="0"/>
              <a:t>&amp;</a:t>
            </a:r>
            <a:r>
              <a:rPr dirty="0" spc="-85"/>
              <a:t> </a:t>
            </a:r>
            <a:r>
              <a:rPr dirty="0" spc="-315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928745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Reliability: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685D46"/>
                </a:solidFill>
                <a:latin typeface="Arial"/>
                <a:cs typeface="Arial"/>
              </a:rPr>
              <a:t>(Yes),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(No)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Speed:</a:t>
            </a:r>
            <a:r>
              <a:rPr dirty="0" sz="1800" spc="-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(Slower),</a:t>
            </a:r>
            <a:r>
              <a:rPr dirty="0" sz="1800" spc="-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(Faster)</a:t>
            </a:r>
            <a:endParaRPr sz="1800">
              <a:latin typeface="Arial"/>
              <a:cs typeface="Arial"/>
            </a:endParaRPr>
          </a:p>
          <a:p>
            <a:pPr marL="379095" marR="62547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Type: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TCP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(Connection-oriented),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UDP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(Connectionless)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67125" y="1208599"/>
            <a:ext cx="4676874" cy="2574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70"/>
              <a:t>Use</a:t>
            </a:r>
            <a:r>
              <a:rPr dirty="0" spc="-85"/>
              <a:t> </a:t>
            </a:r>
            <a:r>
              <a:rPr dirty="0" spc="-185"/>
              <a:t>Cases:</a:t>
            </a:r>
            <a:r>
              <a:rPr dirty="0" spc="-114"/>
              <a:t> </a:t>
            </a:r>
            <a:r>
              <a:rPr dirty="0" spc="-340"/>
              <a:t>When</a:t>
            </a:r>
            <a:r>
              <a:rPr dirty="0" spc="-40"/>
              <a:t> </a:t>
            </a:r>
            <a:r>
              <a:rPr dirty="0" spc="-235"/>
              <a:t>to</a:t>
            </a:r>
            <a:r>
              <a:rPr dirty="0" spc="-45"/>
              <a:t> </a:t>
            </a:r>
            <a:r>
              <a:rPr dirty="0" spc="-270"/>
              <a:t>Use</a:t>
            </a:r>
            <a:r>
              <a:rPr dirty="0" spc="-145"/>
              <a:t> </a:t>
            </a:r>
            <a:r>
              <a:rPr dirty="0" spc="-185"/>
              <a:t>TCP</a:t>
            </a:r>
            <a:r>
              <a:rPr dirty="0" spc="-215"/>
              <a:t> </a:t>
            </a:r>
            <a:r>
              <a:rPr dirty="0" spc="-190"/>
              <a:t>vs.</a:t>
            </a:r>
            <a:r>
              <a:rPr dirty="0" spc="-245"/>
              <a:t> </a:t>
            </a:r>
            <a:r>
              <a:rPr dirty="0" spc="-315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14367"/>
            <a:ext cx="7825105" cy="2261870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58140" indent="-345440">
              <a:lnSpc>
                <a:spcPct val="100000"/>
              </a:lnSpc>
              <a:spcBef>
                <a:spcPts val="265"/>
              </a:spcBef>
              <a:buFont typeface="Arial"/>
              <a:buChar char="●"/>
              <a:tabLst>
                <a:tab pos="358140" algn="l"/>
              </a:tabLst>
            </a:pP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When</a:t>
            </a:r>
            <a:r>
              <a:rPr dirty="0" sz="1500" spc="-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to use</a:t>
            </a:r>
            <a:r>
              <a:rPr dirty="0" sz="1500" spc="-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500" spc="-55" b="1">
                <a:solidFill>
                  <a:srgbClr val="685D46"/>
                </a:solidFill>
                <a:latin typeface="Tahoma"/>
                <a:cs typeface="Tahoma"/>
              </a:rPr>
              <a:t>TCP:</a:t>
            </a:r>
            <a:r>
              <a:rPr dirty="0" sz="1500" spc="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integrity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critical,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1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way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5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go.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1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browsing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70">
                <a:solidFill>
                  <a:srgbClr val="685D46"/>
                </a:solidFill>
                <a:latin typeface="Arial"/>
                <a:cs typeface="Arial"/>
              </a:rPr>
              <a:t>(HTTP,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HTTPS)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File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transfers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90">
                <a:solidFill>
                  <a:srgbClr val="685D46"/>
                </a:solidFill>
                <a:latin typeface="Arial"/>
                <a:cs typeface="Arial"/>
              </a:rPr>
              <a:t>(FTP,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SFTP)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Email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65">
                <a:solidFill>
                  <a:srgbClr val="685D46"/>
                </a:solidFill>
                <a:latin typeface="Arial"/>
                <a:cs typeface="Arial"/>
              </a:rPr>
              <a:t>(SMTP,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IMAP,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POP3)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6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Database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85"/>
              </a:spcBef>
              <a:buFont typeface="Arial"/>
              <a:buChar char="●"/>
              <a:tabLst>
                <a:tab pos="358140" algn="l"/>
              </a:tabLst>
            </a:pP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When</a:t>
            </a:r>
            <a:r>
              <a:rPr dirty="0" sz="1500" spc="-2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to</a:t>
            </a:r>
            <a:r>
              <a:rPr dirty="0" sz="1500" spc="-2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use</a:t>
            </a:r>
            <a:r>
              <a:rPr dirty="0" sz="1500" spc="-20" b="1">
                <a:solidFill>
                  <a:srgbClr val="685D46"/>
                </a:solidFill>
                <a:latin typeface="Tahoma"/>
                <a:cs typeface="Tahoma"/>
              </a:rPr>
              <a:t> UDP: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preferred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is 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more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important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reliability</a:t>
            </a:r>
            <a:endParaRPr sz="1500">
              <a:latin typeface="Arial"/>
              <a:cs typeface="Arial"/>
            </a:endParaRPr>
          </a:p>
          <a:p>
            <a:pPr lvl="1" marL="815340" indent="-345440">
              <a:lnSpc>
                <a:spcPct val="100000"/>
              </a:lnSpc>
              <a:spcBef>
                <a:spcPts val="125"/>
              </a:spcBef>
              <a:buChar char="○"/>
              <a:tabLst>
                <a:tab pos="8153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(YouTube,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Netﬂix)</a:t>
            </a:r>
            <a:endParaRPr sz="1500">
              <a:latin typeface="Arial"/>
              <a:cs typeface="Arial"/>
            </a:endParaRPr>
          </a:p>
          <a:p>
            <a:pPr lvl="1" marL="815340" indent="-345440">
              <a:lnSpc>
                <a:spcPct val="100000"/>
              </a:lnSpc>
              <a:spcBef>
                <a:spcPts val="130"/>
              </a:spcBef>
              <a:buChar char="○"/>
              <a:tabLst>
                <a:tab pos="815340" algn="l"/>
              </a:tabLst>
            </a:pP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gaming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(Multiplayer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Games)</a:t>
            </a:r>
            <a:endParaRPr sz="1500">
              <a:latin typeface="Arial"/>
              <a:cs typeface="Arial"/>
            </a:endParaRPr>
          </a:p>
          <a:p>
            <a:pPr lvl="1" marL="815340" indent="-345440">
              <a:lnSpc>
                <a:spcPct val="100000"/>
              </a:lnSpc>
              <a:spcBef>
                <a:spcPts val="130"/>
              </a:spcBef>
              <a:buChar char="○"/>
              <a:tabLst>
                <a:tab pos="815340" algn="l"/>
              </a:tabLst>
            </a:pP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VoIP</a:t>
            </a:r>
            <a:r>
              <a:rPr dirty="0" sz="15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calls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(Skype,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Zoom)</a:t>
            </a:r>
            <a:endParaRPr sz="1500">
              <a:latin typeface="Arial"/>
              <a:cs typeface="Arial"/>
            </a:endParaRPr>
          </a:p>
          <a:p>
            <a:pPr lvl="1" marL="815340" indent="-345440">
              <a:lnSpc>
                <a:spcPct val="100000"/>
              </a:lnSpc>
              <a:spcBef>
                <a:spcPts val="125"/>
              </a:spcBef>
              <a:buChar char="○"/>
              <a:tabLst>
                <a:tab pos="815340" algn="l"/>
              </a:tabLst>
            </a:pP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lookups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(Domain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Name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System)</a:t>
            </a:r>
            <a:endParaRPr sz="15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97" y="3792922"/>
            <a:ext cx="4343353" cy="1206503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25400" y="3875752"/>
            <a:ext cx="3952010" cy="106347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60"/>
              <a:t> </a:t>
            </a:r>
            <a:r>
              <a:rPr dirty="0" spc="-220"/>
              <a:t>Questions:</a:t>
            </a:r>
            <a:r>
              <a:rPr dirty="0" spc="-160"/>
              <a:t> </a:t>
            </a:r>
            <a:r>
              <a:rPr dirty="0" spc="-180"/>
              <a:t>TCP</a:t>
            </a:r>
            <a:r>
              <a:rPr dirty="0" spc="-165"/>
              <a:t> </a:t>
            </a:r>
            <a:r>
              <a:rPr dirty="0"/>
              <a:t>&amp;</a:t>
            </a:r>
            <a:r>
              <a:rPr dirty="0" spc="-70"/>
              <a:t> </a:t>
            </a:r>
            <a:r>
              <a:rPr dirty="0" spc="-315"/>
              <a:t>UDP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4725" y="1322250"/>
            <a:ext cx="8195945" cy="30200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69265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5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500">
              <a:latin typeface="Arial"/>
              <a:cs typeface="Arial"/>
            </a:endParaRPr>
          </a:p>
          <a:p>
            <a:pPr lvl="1" marL="926465" indent="-319405">
              <a:lnSpc>
                <a:spcPts val="136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UDP?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reliable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protocol?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360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2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TCP?</a:t>
            </a:r>
            <a:endParaRPr sz="1200">
              <a:latin typeface="Arial"/>
              <a:cs typeface="Arial"/>
            </a:endParaRPr>
          </a:p>
          <a:p>
            <a:pPr marL="469265" indent="-345440">
              <a:lnSpc>
                <a:spcPts val="1730"/>
              </a:lnSpc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Technical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Deep-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Dive:</a:t>
            </a:r>
            <a:endParaRPr sz="1500">
              <a:latin typeface="Arial"/>
              <a:cs typeface="Arial"/>
            </a:endParaRPr>
          </a:p>
          <a:p>
            <a:pPr lvl="1" marL="926465" indent="-319405">
              <a:lnSpc>
                <a:spcPts val="136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reliable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transmission?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Three-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Way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Handshake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TCP?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360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packet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loss?</a:t>
            </a:r>
            <a:endParaRPr sz="1200">
              <a:latin typeface="Arial"/>
              <a:cs typeface="Arial"/>
            </a:endParaRPr>
          </a:p>
          <a:p>
            <a:pPr marL="469265" indent="-345440">
              <a:lnSpc>
                <a:spcPts val="1730"/>
              </a:lnSpc>
              <a:buChar char="●"/>
              <a:tabLst>
                <a:tab pos="469265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35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Design:</a:t>
            </a:r>
            <a:endParaRPr sz="1500">
              <a:latin typeface="Arial"/>
              <a:cs typeface="Arial"/>
            </a:endParaRPr>
          </a:p>
          <a:p>
            <a:pPr lvl="1" marL="926465" indent="-319405">
              <a:lnSpc>
                <a:spcPts val="136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multiplayer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game?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Why?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2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congestion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control?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355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DNS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implemented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2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TCP?</a:t>
            </a:r>
            <a:endParaRPr sz="1200">
              <a:latin typeface="Arial"/>
              <a:cs typeface="Arial"/>
            </a:endParaRPr>
          </a:p>
          <a:p>
            <a:pPr lvl="1" marL="926465" indent="-319405">
              <a:lnSpc>
                <a:spcPts val="1400"/>
              </a:lnSpc>
              <a:buChar char="○"/>
              <a:tabLst>
                <a:tab pos="926465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If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video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service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buﬀering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much,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switching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5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2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35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2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help?</a:t>
            </a:r>
            <a:endParaRPr sz="1200">
              <a:latin typeface="Arial"/>
              <a:cs typeface="Arial"/>
            </a:endParaRPr>
          </a:p>
          <a:p>
            <a:pPr marL="12700" marR="5080">
              <a:lnSpc>
                <a:spcPts val="1739"/>
              </a:lnSpc>
              <a:spcBef>
                <a:spcPts val="1235"/>
              </a:spcBef>
            </a:pP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Pro</a:t>
            </a:r>
            <a:r>
              <a:rPr dirty="0" sz="1500" spc="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Tip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prepared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10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10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world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discuss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oﬀs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speed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5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reliability!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pc="-145"/>
              <a:t>TCP</a:t>
            </a:r>
            <a:r>
              <a:rPr dirty="0" spc="50"/>
              <a:t> </a:t>
            </a:r>
            <a:r>
              <a:rPr dirty="0"/>
              <a:t>is</a:t>
            </a:r>
            <a:r>
              <a:rPr dirty="0" spc="50"/>
              <a:t> </a:t>
            </a:r>
            <a:r>
              <a:rPr dirty="0"/>
              <a:t>reliable</a:t>
            </a:r>
            <a:r>
              <a:rPr dirty="0" spc="50"/>
              <a:t> </a:t>
            </a:r>
            <a:r>
              <a:rPr dirty="0" spc="105"/>
              <a:t>but</a:t>
            </a:r>
            <a:r>
              <a:rPr dirty="0" spc="50"/>
              <a:t> </a:t>
            </a:r>
            <a:r>
              <a:rPr dirty="0"/>
              <a:t>slower;</a:t>
            </a:r>
            <a:r>
              <a:rPr dirty="0" spc="45"/>
              <a:t> </a:t>
            </a:r>
            <a:r>
              <a:rPr dirty="0" spc="-20"/>
              <a:t>UDP</a:t>
            </a:r>
            <a:r>
              <a:rPr dirty="0" spc="50"/>
              <a:t> </a:t>
            </a:r>
            <a:r>
              <a:rPr dirty="0"/>
              <a:t>is</a:t>
            </a:r>
            <a:r>
              <a:rPr dirty="0" spc="50"/>
              <a:t> </a:t>
            </a:r>
            <a:r>
              <a:rPr dirty="0"/>
              <a:t>fast</a:t>
            </a:r>
            <a:r>
              <a:rPr dirty="0" spc="50"/>
              <a:t> </a:t>
            </a:r>
            <a:r>
              <a:rPr dirty="0" spc="105"/>
              <a:t>but</a:t>
            </a:r>
            <a:r>
              <a:rPr dirty="0" spc="50"/>
              <a:t> </a:t>
            </a:r>
            <a:r>
              <a:rPr dirty="0" spc="-10"/>
              <a:t>unreliable.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pc="-145"/>
              <a:t>TCP</a:t>
            </a:r>
            <a:r>
              <a:rPr dirty="0" spc="30"/>
              <a:t> </a:t>
            </a:r>
            <a:r>
              <a:rPr dirty="0"/>
              <a:t>is</a:t>
            </a:r>
            <a:r>
              <a:rPr dirty="0" spc="35"/>
              <a:t> </a:t>
            </a:r>
            <a:r>
              <a:rPr dirty="0"/>
              <a:t>best</a:t>
            </a:r>
            <a:r>
              <a:rPr dirty="0" spc="35"/>
              <a:t> </a:t>
            </a:r>
            <a:r>
              <a:rPr dirty="0" spc="100"/>
              <a:t>for</a:t>
            </a:r>
            <a:r>
              <a:rPr dirty="0" spc="25"/>
              <a:t> </a:t>
            </a:r>
            <a:r>
              <a:rPr dirty="0" spc="60"/>
              <a:t>web</a:t>
            </a:r>
            <a:r>
              <a:rPr dirty="0" spc="30"/>
              <a:t> </a:t>
            </a:r>
            <a:r>
              <a:rPr dirty="0"/>
              <a:t>pages,</a:t>
            </a:r>
            <a:r>
              <a:rPr dirty="0" spc="25"/>
              <a:t> </a:t>
            </a:r>
            <a:r>
              <a:rPr dirty="0" spc="65"/>
              <a:t>ﬁle</a:t>
            </a:r>
            <a:r>
              <a:rPr dirty="0" spc="35"/>
              <a:t> </a:t>
            </a:r>
            <a:r>
              <a:rPr dirty="0"/>
              <a:t>transfers,</a:t>
            </a:r>
            <a:r>
              <a:rPr dirty="0" spc="30"/>
              <a:t> </a:t>
            </a:r>
            <a:r>
              <a:rPr dirty="0" spc="55"/>
              <a:t>and</a:t>
            </a:r>
            <a:r>
              <a:rPr dirty="0" spc="25"/>
              <a:t> </a:t>
            </a:r>
            <a:r>
              <a:rPr dirty="0" spc="-10"/>
              <a:t>email.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pc="-20"/>
              <a:t>UDP</a:t>
            </a:r>
            <a:r>
              <a:rPr dirty="0" spc="85"/>
              <a:t> </a:t>
            </a:r>
            <a:r>
              <a:rPr dirty="0"/>
              <a:t>is</a:t>
            </a:r>
            <a:r>
              <a:rPr dirty="0" spc="80"/>
              <a:t> </a:t>
            </a:r>
            <a:r>
              <a:rPr dirty="0"/>
              <a:t>best</a:t>
            </a:r>
            <a:r>
              <a:rPr dirty="0" spc="85"/>
              <a:t> </a:t>
            </a:r>
            <a:r>
              <a:rPr dirty="0" spc="100"/>
              <a:t>for</a:t>
            </a:r>
            <a:r>
              <a:rPr dirty="0" spc="80"/>
              <a:t> </a:t>
            </a:r>
            <a:r>
              <a:rPr dirty="0"/>
              <a:t>real-</a:t>
            </a:r>
            <a:r>
              <a:rPr dirty="0" spc="55"/>
              <a:t>time</a:t>
            </a:r>
            <a:r>
              <a:rPr dirty="0" spc="85"/>
              <a:t> </a:t>
            </a:r>
            <a:r>
              <a:rPr dirty="0"/>
              <a:t>applications</a:t>
            </a:r>
            <a:r>
              <a:rPr dirty="0" spc="85"/>
              <a:t> </a:t>
            </a:r>
            <a:r>
              <a:rPr dirty="0"/>
              <a:t>like</a:t>
            </a:r>
            <a:r>
              <a:rPr dirty="0" spc="85"/>
              <a:t> </a:t>
            </a:r>
            <a:r>
              <a:rPr dirty="0"/>
              <a:t>video</a:t>
            </a:r>
            <a:r>
              <a:rPr dirty="0" spc="85"/>
              <a:t> </a:t>
            </a:r>
            <a:r>
              <a:rPr dirty="0"/>
              <a:t>calls</a:t>
            </a:r>
            <a:r>
              <a:rPr dirty="0" spc="85"/>
              <a:t> </a:t>
            </a:r>
            <a:r>
              <a:rPr dirty="0" spc="55"/>
              <a:t>and</a:t>
            </a:r>
            <a:r>
              <a:rPr dirty="0" spc="80"/>
              <a:t> </a:t>
            </a:r>
            <a:r>
              <a:rPr dirty="0" spc="-10"/>
              <a:t>gaming.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pc="10"/>
              <a:t>System</a:t>
            </a:r>
            <a:r>
              <a:rPr dirty="0" spc="50"/>
              <a:t> </a:t>
            </a:r>
            <a:r>
              <a:rPr dirty="0" spc="10"/>
              <a:t>design</a:t>
            </a:r>
            <a:r>
              <a:rPr dirty="0" spc="55"/>
              <a:t> </a:t>
            </a:r>
            <a:r>
              <a:rPr dirty="0" spc="80"/>
              <a:t>must</a:t>
            </a:r>
            <a:r>
              <a:rPr dirty="0" spc="55"/>
              <a:t> </a:t>
            </a:r>
            <a:r>
              <a:rPr dirty="0" spc="10"/>
              <a:t>balance</a:t>
            </a:r>
            <a:r>
              <a:rPr dirty="0" spc="60"/>
              <a:t> </a:t>
            </a:r>
            <a:r>
              <a:rPr dirty="0" spc="10"/>
              <a:t>speed,</a:t>
            </a:r>
            <a:r>
              <a:rPr dirty="0" spc="50"/>
              <a:t> </a:t>
            </a:r>
            <a:r>
              <a:rPr dirty="0" spc="10"/>
              <a:t>reliability,</a:t>
            </a:r>
            <a:r>
              <a:rPr dirty="0" spc="50"/>
              <a:t> </a:t>
            </a:r>
            <a:r>
              <a:rPr dirty="0" spc="55"/>
              <a:t>and</a:t>
            </a:r>
            <a:r>
              <a:rPr dirty="0" spc="50"/>
              <a:t> </a:t>
            </a:r>
            <a:r>
              <a:rPr dirty="0" spc="10"/>
              <a:t>user</a:t>
            </a:r>
            <a:r>
              <a:rPr dirty="0" spc="50"/>
              <a:t> </a:t>
            </a:r>
            <a:r>
              <a:rPr dirty="0" spc="-10"/>
              <a:t>experience.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/>
              <a:t>What’s</a:t>
            </a:r>
            <a:r>
              <a:rPr dirty="0" spc="-15"/>
              <a:t> </a:t>
            </a:r>
            <a:r>
              <a:rPr dirty="0" spc="-10"/>
              <a:t>Next:</a:t>
            </a: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967105">
              <a:lnSpc>
                <a:spcPct val="100000"/>
              </a:lnSpc>
              <a:spcBef>
                <a:spcPts val="110"/>
              </a:spcBef>
            </a:pPr>
            <a:r>
              <a:rPr dirty="0" sz="3350" spc="-165"/>
              <a:t>HTTP</a:t>
            </a:r>
            <a:r>
              <a:rPr dirty="0" sz="3350" spc="-310"/>
              <a:t> </a:t>
            </a:r>
            <a:r>
              <a:rPr dirty="0" sz="3350" spc="-40"/>
              <a:t>-</a:t>
            </a:r>
            <a:r>
              <a:rPr dirty="0" sz="3350" spc="-375"/>
              <a:t> </a:t>
            </a:r>
            <a:r>
              <a:rPr dirty="0" sz="3350" spc="-215"/>
              <a:t>The</a:t>
            </a:r>
            <a:r>
              <a:rPr dirty="0" sz="3350" spc="-45"/>
              <a:t> </a:t>
            </a:r>
            <a:r>
              <a:rPr dirty="0" sz="3350" spc="-275"/>
              <a:t>Backbone</a:t>
            </a:r>
            <a:r>
              <a:rPr dirty="0" sz="3350" spc="-50"/>
              <a:t> </a:t>
            </a:r>
            <a:r>
              <a:rPr dirty="0" sz="3350" spc="-260"/>
              <a:t>of</a:t>
            </a:r>
            <a:r>
              <a:rPr dirty="0" sz="3350" spc="-45"/>
              <a:t> </a:t>
            </a:r>
            <a:r>
              <a:rPr dirty="0" sz="3350" spc="-254"/>
              <a:t>the</a:t>
            </a:r>
            <a:r>
              <a:rPr dirty="0" sz="3350" spc="-120"/>
              <a:t> </a:t>
            </a:r>
            <a:r>
              <a:rPr dirty="0" sz="3350" spc="-480"/>
              <a:t>Web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10769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Introduction</a:t>
            </a:r>
            <a:r>
              <a:rPr dirty="0" spc="-10"/>
              <a:t> </a:t>
            </a:r>
            <a:r>
              <a:rPr dirty="0" spc="-235"/>
              <a:t>to</a:t>
            </a:r>
            <a:r>
              <a:rPr dirty="0" spc="-10"/>
              <a:t> </a:t>
            </a:r>
            <a:r>
              <a:rPr dirty="0" spc="-114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7939405" cy="218186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HTTP?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Stands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HyperText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Transfer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Deﬁnes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rules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requesting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transferring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resources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pages,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4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images)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TCP/IP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(Port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80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Port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443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HTTPS)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6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Features: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Text-based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(easy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read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debug)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(each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independent)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Supports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(GET,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85">
                <a:solidFill>
                  <a:srgbClr val="685D46"/>
                </a:solidFill>
                <a:latin typeface="Arial"/>
                <a:cs typeface="Arial"/>
              </a:rPr>
              <a:t>POST,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etc.)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22773" y="3782160"/>
            <a:ext cx="3841248" cy="10108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How</a:t>
            </a:r>
            <a:r>
              <a:rPr dirty="0" spc="-105"/>
              <a:t> </a:t>
            </a:r>
            <a:r>
              <a:rPr dirty="0" spc="-140"/>
              <a:t>HTTP</a:t>
            </a:r>
            <a:r>
              <a:rPr dirty="0" spc="-210"/>
              <a:t> </a:t>
            </a:r>
            <a:r>
              <a:rPr dirty="0" spc="-330"/>
              <a:t>Works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322250"/>
            <a:ext cx="3952875" cy="31153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58140" indent="-345440">
              <a:lnSpc>
                <a:spcPts val="1764"/>
              </a:lnSpc>
              <a:spcBef>
                <a:spcPts val="130"/>
              </a:spcBef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5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Model:</a:t>
            </a:r>
            <a:endParaRPr sz="1500">
              <a:latin typeface="Arial"/>
              <a:cs typeface="Arial"/>
            </a:endParaRPr>
          </a:p>
          <a:p>
            <a:pPr lvl="1" marL="815340" marR="281305" indent="-320040">
              <a:lnSpc>
                <a:spcPts val="1360"/>
              </a:lnSpc>
              <a:spcBef>
                <a:spcPts val="8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(browser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app)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makes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an </a:t>
            </a:r>
            <a:r>
              <a:rPr dirty="0" sz="1200" spc="-7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2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(web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server,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55">
                <a:solidFill>
                  <a:srgbClr val="685D46"/>
                </a:solidFill>
                <a:latin typeface="Arial"/>
                <a:cs typeface="Arial"/>
              </a:rPr>
              <a:t>API,</a:t>
            </a:r>
            <a:r>
              <a:rPr dirty="0" sz="12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etc.)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back</a:t>
            </a:r>
            <a:r>
              <a:rPr dirty="0" sz="12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2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an </a:t>
            </a: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Request: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ts val="1365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Method: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Deﬁnes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action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90">
                <a:solidFill>
                  <a:srgbClr val="685D46"/>
                </a:solidFill>
                <a:latin typeface="Arial"/>
                <a:cs typeface="Arial"/>
              </a:rPr>
              <a:t>(GET,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85">
                <a:solidFill>
                  <a:srgbClr val="685D46"/>
                </a:solidFill>
                <a:latin typeface="Arial"/>
                <a:cs typeface="Arial"/>
              </a:rPr>
              <a:t>POST,</a:t>
            </a:r>
            <a:r>
              <a:rPr dirty="0" sz="12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etc.)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355"/>
              </a:lnSpc>
              <a:buChar char="○"/>
              <a:tabLst>
                <a:tab pos="815340" algn="l"/>
              </a:tabLst>
            </a:pPr>
            <a:r>
              <a:rPr dirty="0" sz="1200" spc="-55">
                <a:solidFill>
                  <a:srgbClr val="685D46"/>
                </a:solidFill>
                <a:latin typeface="Arial"/>
                <a:cs typeface="Arial"/>
              </a:rPr>
              <a:t>URL: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being</a:t>
            </a:r>
            <a:r>
              <a:rPr dirty="0" sz="12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requested</a:t>
            </a:r>
            <a:endParaRPr sz="1200">
              <a:latin typeface="Arial"/>
              <a:cs typeface="Arial"/>
            </a:endParaRPr>
          </a:p>
          <a:p>
            <a:pPr lvl="1" marL="815340" marR="5080" indent="-320040">
              <a:lnSpc>
                <a:spcPts val="1360"/>
              </a:lnSpc>
              <a:spcBef>
                <a:spcPts val="7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Headers: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Metadata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2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user-agent,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content type)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Body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(optional):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sent</a:t>
            </a:r>
            <a:r>
              <a:rPr dirty="0" sz="12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2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POST/PUT</a:t>
            </a:r>
            <a:endParaRPr sz="1200">
              <a:latin typeface="Arial"/>
              <a:cs typeface="Arial"/>
            </a:endParaRPr>
          </a:p>
          <a:p>
            <a:pPr marL="815340">
              <a:lnSpc>
                <a:spcPts val="1360"/>
              </a:lnSpc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200">
              <a:latin typeface="Arial"/>
              <a:cs typeface="Arial"/>
            </a:endParaRPr>
          </a:p>
          <a:p>
            <a:pPr marL="358140" indent="-345440">
              <a:lnSpc>
                <a:spcPts val="1730"/>
              </a:lnSpc>
              <a:buChar char="●"/>
              <a:tabLst>
                <a:tab pos="358140" algn="l"/>
              </a:tabLst>
            </a:pP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an </a:t>
            </a: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5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Response:</a:t>
            </a:r>
            <a:endParaRPr sz="1500">
              <a:latin typeface="Arial"/>
              <a:cs typeface="Arial"/>
            </a:endParaRPr>
          </a:p>
          <a:p>
            <a:pPr lvl="1" marL="815340" marR="320040" indent="-320040">
              <a:lnSpc>
                <a:spcPts val="1360"/>
              </a:lnSpc>
              <a:spcBef>
                <a:spcPts val="75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Code: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Indicates 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success</a:t>
            </a:r>
            <a:r>
              <a:rPr dirty="0" sz="12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65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failure </a:t>
            </a:r>
            <a:r>
              <a:rPr dirty="0" sz="1200" spc="-3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200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45">
                <a:solidFill>
                  <a:srgbClr val="685D46"/>
                </a:solidFill>
                <a:latin typeface="Arial"/>
                <a:cs typeface="Arial"/>
              </a:rPr>
              <a:t>OK,</a:t>
            </a:r>
            <a:r>
              <a:rPr dirty="0" sz="12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404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5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Found)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28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Headers:</a:t>
            </a:r>
            <a:r>
              <a:rPr dirty="0" sz="12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Metadata</a:t>
            </a:r>
            <a:r>
              <a:rPr dirty="0" sz="12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about</a:t>
            </a:r>
            <a:r>
              <a:rPr dirty="0" sz="12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ts val="1400"/>
              </a:lnSpc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Body</a:t>
            </a:r>
            <a:r>
              <a:rPr dirty="0" sz="12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(optional):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actual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content</a:t>
            </a:r>
            <a:r>
              <a:rPr dirty="0" sz="12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40">
                <a:solidFill>
                  <a:srgbClr val="685D46"/>
                </a:solidFill>
                <a:latin typeface="Arial"/>
                <a:cs typeface="Arial"/>
              </a:rPr>
              <a:t>returned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29223" y="1339766"/>
            <a:ext cx="4123068" cy="24022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9074" y="2786600"/>
            <a:ext cx="5083500" cy="226207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0"/>
              <a:t>The</a:t>
            </a:r>
            <a:r>
              <a:rPr dirty="0" spc="-10"/>
              <a:t> </a:t>
            </a:r>
            <a:r>
              <a:rPr dirty="0" spc="-135"/>
              <a:t>HTTP</a:t>
            </a:r>
            <a:r>
              <a:rPr dirty="0" spc="-120"/>
              <a:t> </a:t>
            </a:r>
            <a:r>
              <a:rPr dirty="0" spc="-220"/>
              <a:t>Request-</a:t>
            </a:r>
            <a:r>
              <a:rPr dirty="0" spc="-250"/>
              <a:t>Response</a:t>
            </a:r>
            <a:r>
              <a:rPr dirty="0" spc="-55"/>
              <a:t> </a:t>
            </a:r>
            <a:r>
              <a:rPr dirty="0" spc="-160"/>
              <a:t>Cycle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422564" y="1289058"/>
            <a:ext cx="6671945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1: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(client)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sends a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Step 2: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processes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3: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generates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back</a:t>
            </a:r>
            <a:endParaRPr sz="1800">
              <a:latin typeface="Arial"/>
              <a:cs typeface="Arial"/>
            </a:endParaRPr>
          </a:p>
          <a:p>
            <a:pPr marL="431800" indent="-4191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431800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Step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4: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renders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(for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page)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70332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65"/>
              <a:t>Stateless</a:t>
            </a:r>
            <a:r>
              <a:rPr dirty="0" spc="-20"/>
              <a:t> </a:t>
            </a:r>
            <a:r>
              <a:rPr dirty="0" spc="-254"/>
              <a:t>Nature</a:t>
            </a:r>
            <a:r>
              <a:rPr dirty="0" spc="-15"/>
              <a:t> </a:t>
            </a:r>
            <a:r>
              <a:rPr dirty="0" spc="-250"/>
              <a:t>of</a:t>
            </a:r>
            <a:r>
              <a:rPr dirty="0" spc="-20"/>
              <a:t> </a:t>
            </a:r>
            <a:r>
              <a:rPr dirty="0" spc="-100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5995670" cy="271526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“stateless”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mean?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retain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memory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previous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treated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independent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transaction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Statelessness: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Hard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login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state)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Each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must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carry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all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necessary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information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state?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Small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pieces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stored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browser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Server-side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storage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user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Tokens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(JWT,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OAuth)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8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authorization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35"/>
              <a:t>HTTP</a:t>
            </a:r>
            <a:r>
              <a:rPr dirty="0" spc="-160"/>
              <a:t> </a:t>
            </a:r>
            <a:r>
              <a:rPr dirty="0" spc="-305"/>
              <a:t>Methods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6228715" cy="159385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Common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Their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0">
                <a:solidFill>
                  <a:srgbClr val="685D46"/>
                </a:solidFill>
                <a:latin typeface="Arial"/>
                <a:cs typeface="Arial"/>
              </a:rPr>
              <a:t>GET: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Retrieve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webpage,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85">
                <a:solidFill>
                  <a:srgbClr val="685D46"/>
                </a:solidFill>
                <a:latin typeface="Arial"/>
                <a:cs typeface="Arial"/>
              </a:rPr>
              <a:t>POST: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create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form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submission)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PUT: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existing</a:t>
            </a:r>
            <a:r>
              <a:rPr dirty="0" sz="14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5">
                <a:solidFill>
                  <a:srgbClr val="685D46"/>
                </a:solidFill>
                <a:latin typeface="Arial"/>
                <a:cs typeface="Arial"/>
              </a:rPr>
              <a:t>DELETE: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Remove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PATCH: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Partially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35"/>
              <a:t>HTTP</a:t>
            </a:r>
            <a:r>
              <a:rPr dirty="0" spc="-150"/>
              <a:t> </a:t>
            </a:r>
            <a:r>
              <a:rPr dirty="0" spc="-185"/>
              <a:t>Status</a:t>
            </a:r>
            <a:r>
              <a:rPr dirty="0" spc="-80"/>
              <a:t> </a:t>
            </a:r>
            <a:r>
              <a:rPr dirty="0" spc="-265"/>
              <a:t>Codes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677" y="1320742"/>
            <a:ext cx="6118225" cy="3119755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368300" indent="-355600">
              <a:lnSpc>
                <a:spcPts val="1939"/>
              </a:lnSpc>
              <a:spcBef>
                <a:spcPts val="115"/>
              </a:spcBef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1xx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75">
                <a:solidFill>
                  <a:srgbClr val="685D46"/>
                </a:solidFill>
                <a:latin typeface="Arial"/>
                <a:cs typeface="Arial"/>
              </a:rPr>
              <a:t>Informational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(Request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received,</a:t>
            </a:r>
            <a:r>
              <a:rPr dirty="0" sz="165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continuing</a:t>
            </a:r>
            <a:r>
              <a:rPr dirty="0" sz="16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process)</a:t>
            </a:r>
            <a:endParaRPr sz="1650">
              <a:latin typeface="Arial"/>
              <a:cs typeface="Arial"/>
            </a:endParaRPr>
          </a:p>
          <a:p>
            <a:pPr marL="368300" indent="-355600">
              <a:lnSpc>
                <a:spcPts val="190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2xx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25">
                <a:solidFill>
                  <a:srgbClr val="685D46"/>
                </a:solidFill>
                <a:latin typeface="Arial"/>
                <a:cs typeface="Arial"/>
              </a:rPr>
              <a:t>Success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(Request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successfully</a:t>
            </a:r>
            <a:r>
              <a:rPr dirty="0" sz="1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processed)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200</a:t>
            </a:r>
            <a:r>
              <a:rPr dirty="0" sz="13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20">
                <a:solidFill>
                  <a:srgbClr val="685D46"/>
                </a:solidFill>
                <a:latin typeface="Arial"/>
                <a:cs typeface="Arial"/>
              </a:rPr>
              <a:t>OK</a:t>
            </a:r>
            <a:r>
              <a:rPr dirty="0" sz="13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Successful</a:t>
            </a:r>
            <a:r>
              <a:rPr dirty="0" sz="13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201</a:t>
            </a:r>
            <a:r>
              <a:rPr dirty="0" sz="13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Created</a:t>
            </a:r>
            <a:r>
              <a:rPr dirty="0" sz="13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successfully</a:t>
            </a:r>
            <a:r>
              <a:rPr dirty="0" sz="13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created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3xx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Redirection</a:t>
            </a:r>
            <a:r>
              <a:rPr dirty="0" sz="1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10">
                <a:solidFill>
                  <a:srgbClr val="685D46"/>
                </a:solidFill>
                <a:latin typeface="Arial"/>
                <a:cs typeface="Arial"/>
              </a:rPr>
              <a:t>(Further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50">
                <a:solidFill>
                  <a:srgbClr val="685D46"/>
                </a:solidFill>
                <a:latin typeface="Arial"/>
                <a:cs typeface="Arial"/>
              </a:rPr>
              <a:t>action</a:t>
            </a:r>
            <a:r>
              <a:rPr dirty="0" sz="1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needed)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301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Moved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Permanently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65">
                <a:solidFill>
                  <a:srgbClr val="685D46"/>
                </a:solidFill>
                <a:latin typeface="Arial"/>
                <a:cs typeface="Arial"/>
              </a:rPr>
              <a:t>URL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changed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304</a:t>
            </a:r>
            <a:r>
              <a:rPr dirty="0" sz="13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Modiﬁed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cached</a:t>
            </a:r>
            <a:r>
              <a:rPr dirty="0" sz="13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4xx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Errors</a:t>
            </a:r>
            <a:r>
              <a:rPr dirty="0" sz="1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(Mistakes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request)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400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Bad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Incorrect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0">
                <a:solidFill>
                  <a:srgbClr val="685D46"/>
                </a:solidFill>
                <a:latin typeface="Arial"/>
                <a:cs typeface="Arial"/>
              </a:rPr>
              <a:t>format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401</a:t>
            </a:r>
            <a:r>
              <a:rPr dirty="0" sz="13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Unauthorized</a:t>
            </a:r>
            <a:r>
              <a:rPr dirty="0" sz="13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300" spc="2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required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403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Forbidden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dirty="0" sz="13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permission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47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404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55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Found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doesn’t</a:t>
            </a:r>
            <a:r>
              <a:rPr dirty="0" sz="13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exist</a:t>
            </a:r>
            <a:endParaRPr sz="1300">
              <a:latin typeface="Arial"/>
              <a:cs typeface="Arial"/>
            </a:endParaRPr>
          </a:p>
          <a:p>
            <a:pPr marL="368300" indent="-355600">
              <a:lnSpc>
                <a:spcPts val="1895"/>
              </a:lnSpc>
              <a:buChar char="●"/>
              <a:tabLst>
                <a:tab pos="368300" algn="l"/>
              </a:tabLst>
            </a:pP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5xx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Errors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>
                <a:solidFill>
                  <a:srgbClr val="685D46"/>
                </a:solidFill>
                <a:latin typeface="Arial"/>
                <a:cs typeface="Arial"/>
              </a:rPr>
              <a:t>(Issue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9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6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65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650" spc="-10">
                <a:solidFill>
                  <a:srgbClr val="685D46"/>
                </a:solidFill>
                <a:latin typeface="Arial"/>
                <a:cs typeface="Arial"/>
              </a:rPr>
              <a:t>server)</a:t>
            </a:r>
            <a:endParaRPr sz="1650">
              <a:latin typeface="Arial"/>
              <a:cs typeface="Arial"/>
            </a:endParaRPr>
          </a:p>
          <a:p>
            <a:pPr lvl="1" marL="825500" indent="-327660">
              <a:lnSpc>
                <a:spcPts val="1485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500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dirty="0" sz="13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Error</a:t>
            </a:r>
            <a:r>
              <a:rPr dirty="0" sz="13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Unexpected</a:t>
            </a:r>
            <a:r>
              <a:rPr dirty="0" sz="13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failure</a:t>
            </a:r>
            <a:endParaRPr sz="1300">
              <a:latin typeface="Arial"/>
              <a:cs typeface="Arial"/>
            </a:endParaRPr>
          </a:p>
          <a:p>
            <a:pPr lvl="1" marL="825500" indent="-327660">
              <a:lnSpc>
                <a:spcPts val="1520"/>
              </a:lnSpc>
              <a:buChar char="○"/>
              <a:tabLst>
                <a:tab pos="825500" algn="l"/>
              </a:tabLst>
            </a:pP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503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 Service</a:t>
            </a:r>
            <a:r>
              <a:rPr dirty="0" sz="13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Unavailable</a:t>
            </a:r>
            <a:r>
              <a:rPr dirty="0" sz="13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85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3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3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300" spc="-10">
                <a:solidFill>
                  <a:srgbClr val="685D46"/>
                </a:solidFill>
                <a:latin typeface="Arial"/>
                <a:cs typeface="Arial"/>
              </a:rPr>
              <a:t>overloaded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2976245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165"/>
              <a:t> </a:t>
            </a:r>
            <a:r>
              <a:rPr dirty="0" spc="-265"/>
              <a:t>About</a:t>
            </a:r>
            <a:r>
              <a:rPr dirty="0" spc="-50"/>
              <a:t> </a:t>
            </a:r>
            <a:r>
              <a:rPr dirty="0" spc="-125"/>
              <a:t>HTTPS?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037705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120">
                <a:solidFill>
                  <a:srgbClr val="685D46"/>
                </a:solidFill>
                <a:latin typeface="Arial"/>
                <a:cs typeface="Arial"/>
              </a:rPr>
              <a:t>HTTPS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version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0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SSL/TLS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encryption.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ensures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conﬁdentiality,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integrity,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authentication.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secure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websites,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banking,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commerce.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Port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443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Port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80.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35"/>
              <a:t>HTTP</a:t>
            </a:r>
            <a:r>
              <a:rPr dirty="0" spc="-150"/>
              <a:t> </a:t>
            </a:r>
            <a:r>
              <a:rPr dirty="0" spc="-215"/>
              <a:t>Interview</a:t>
            </a:r>
            <a:r>
              <a:rPr dirty="0" spc="-145"/>
              <a:t> </a:t>
            </a:r>
            <a:r>
              <a:rPr dirty="0" spc="-210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8096884" cy="314198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800" spc="-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considered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protocol?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HTTPS?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Questions: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cycle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example.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methods?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PUT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PATCH?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codes?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Give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examples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2xx,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3xx,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4xx,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5xx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codes.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7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Questions: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12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cookies,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sessions,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tokens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help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maintain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HTTP?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between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301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(Moved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Permanently)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302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(Found)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redirections?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and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headers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control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it?</a:t>
            </a:r>
            <a:endParaRPr sz="1400">
              <a:latin typeface="Arial"/>
              <a:cs typeface="Arial"/>
            </a:endParaRPr>
          </a:p>
          <a:p>
            <a:pPr lvl="1" marL="882015" indent="-381635">
              <a:lnSpc>
                <a:spcPct val="100000"/>
              </a:lnSpc>
              <a:spcBef>
                <a:spcPts val="85"/>
              </a:spcBef>
              <a:buChar char="○"/>
              <a:tabLst>
                <a:tab pos="882015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risks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associated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5">
                <a:solidFill>
                  <a:srgbClr val="685D46"/>
                </a:solidFill>
                <a:latin typeface="Arial"/>
                <a:cs typeface="Arial"/>
              </a:rPr>
              <a:t>HTTP,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mitigated?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473315" cy="18592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foundation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follows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model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stateless,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requiring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mechanisms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cookies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sessions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methods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actions,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codes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indicate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responses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45415">
              <a:lnSpc>
                <a:spcPct val="100000"/>
              </a:lnSpc>
              <a:spcBef>
                <a:spcPts val="110"/>
              </a:spcBef>
            </a:pPr>
            <a:r>
              <a:rPr dirty="0" sz="3350" spc="-155"/>
              <a:t>REST</a:t>
            </a:r>
            <a:r>
              <a:rPr dirty="0" sz="3350" spc="-185"/>
              <a:t> </a:t>
            </a:r>
            <a:r>
              <a:rPr dirty="0" sz="3350"/>
              <a:t>&amp;</a:t>
            </a:r>
            <a:r>
              <a:rPr dirty="0" sz="3350" spc="-55"/>
              <a:t> </a:t>
            </a:r>
            <a:r>
              <a:rPr dirty="0" sz="3350" spc="-190"/>
              <a:t>RESTfulness</a:t>
            </a:r>
            <a:r>
              <a:rPr dirty="0" sz="3350" spc="-195"/>
              <a:t> </a:t>
            </a:r>
            <a:r>
              <a:rPr dirty="0" sz="3350" spc="-40"/>
              <a:t>-</a:t>
            </a:r>
            <a:r>
              <a:rPr dirty="0" sz="3350" spc="-390"/>
              <a:t> </a:t>
            </a:r>
            <a:r>
              <a:rPr dirty="0" sz="3350" spc="-225"/>
              <a:t>API</a:t>
            </a:r>
            <a:r>
              <a:rPr dirty="0" sz="3350" spc="-60"/>
              <a:t> </a:t>
            </a:r>
            <a:r>
              <a:rPr dirty="0" sz="3350" spc="-210"/>
              <a:t>Design</a:t>
            </a:r>
            <a:r>
              <a:rPr dirty="0" sz="3350" spc="-55"/>
              <a:t> </a:t>
            </a:r>
            <a:r>
              <a:rPr dirty="0" sz="3350" spc="-165"/>
              <a:t>Principles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30"/>
              <a:t>What</a:t>
            </a:r>
            <a:r>
              <a:rPr dirty="0" spc="-60"/>
              <a:t> </a:t>
            </a:r>
            <a:r>
              <a:rPr dirty="0" spc="-90"/>
              <a:t>is</a:t>
            </a:r>
            <a:r>
              <a:rPr dirty="0" spc="-85"/>
              <a:t> </a:t>
            </a:r>
            <a:r>
              <a:rPr dirty="0" spc="-130"/>
              <a:t>REST?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17645" cy="28651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685D46"/>
                </a:solidFill>
                <a:latin typeface="Tahoma"/>
                <a:cs typeface="Tahoma"/>
              </a:rPr>
              <a:t>Deﬁnition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REST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(Representational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State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Transfer)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style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designing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networked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  <a:p>
            <a:pPr marL="379095" marR="396240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dirty="0" sz="1800" spc="-30" b="1">
                <a:solidFill>
                  <a:srgbClr val="685D46"/>
                </a:solidFill>
                <a:latin typeface="Tahoma"/>
                <a:cs typeface="Tahoma"/>
              </a:rPr>
              <a:t>Key</a:t>
            </a:r>
            <a:r>
              <a:rPr dirty="0" sz="1800" spc="-80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800" spc="-65" b="1">
                <a:solidFill>
                  <a:srgbClr val="685D46"/>
                </a:solidFill>
                <a:latin typeface="Tahoma"/>
                <a:cs typeface="Tahoma"/>
              </a:rPr>
              <a:t>Idea</a:t>
            </a:r>
            <a:r>
              <a:rPr dirty="0" sz="1800" spc="-6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standard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HTTP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stateless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marR="156845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685D46"/>
                </a:solidFill>
                <a:latin typeface="Tahoma"/>
                <a:cs typeface="Tahoma"/>
              </a:rPr>
              <a:t>Origin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Coined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by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Roy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Fielding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2000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dissertation.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64399" y="1390874"/>
            <a:ext cx="4067900" cy="157622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70"/>
              <a:t>Why</a:t>
            </a:r>
            <a:r>
              <a:rPr dirty="0" spc="-145"/>
              <a:t> </a:t>
            </a:r>
            <a:r>
              <a:rPr dirty="0" spc="-135"/>
              <a:t>REST</a:t>
            </a:r>
            <a:r>
              <a:rPr dirty="0" spc="-150"/>
              <a:t> </a:t>
            </a:r>
            <a:r>
              <a:rPr dirty="0" spc="-275"/>
              <a:t>Matters?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389370" cy="972185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10" b="1">
                <a:solidFill>
                  <a:srgbClr val="685D46"/>
                </a:solidFill>
                <a:latin typeface="Tahoma"/>
                <a:cs typeface="Tahoma"/>
              </a:rPr>
              <a:t>Simplicity</a:t>
            </a:r>
            <a:r>
              <a:rPr dirty="0" sz="1800" spc="-8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800" spc="-80" b="1">
                <a:solidFill>
                  <a:srgbClr val="685D46"/>
                </a:solidFill>
                <a:latin typeface="Tahoma"/>
                <a:cs typeface="Tahoma"/>
              </a:rPr>
              <a:t>&amp;</a:t>
            </a:r>
            <a:r>
              <a:rPr dirty="0" sz="1800" spc="-65" b="1">
                <a:solidFill>
                  <a:srgbClr val="685D46"/>
                </a:solidFill>
                <a:latin typeface="Tahoma"/>
                <a:cs typeface="Tahoma"/>
              </a:rPr>
              <a:t> </a:t>
            </a:r>
            <a:r>
              <a:rPr dirty="0" sz="1800" spc="-10" b="1">
                <a:solidFill>
                  <a:srgbClr val="685D46"/>
                </a:solidFill>
                <a:latin typeface="Tahoma"/>
                <a:cs typeface="Tahoma"/>
              </a:rPr>
              <a:t>Scalability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standard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HTTP.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10" b="1">
                <a:solidFill>
                  <a:srgbClr val="685D46"/>
                </a:solidFill>
                <a:latin typeface="Tahoma"/>
                <a:cs typeface="Tahoma"/>
              </a:rPr>
              <a:t>Interoperability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: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across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diﬀerent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platforms.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10" b="1">
                <a:solidFill>
                  <a:srgbClr val="685D46"/>
                </a:solidFill>
                <a:latin typeface="Tahoma"/>
                <a:cs typeface="Tahoma"/>
              </a:rPr>
              <a:t>Eﬃciency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caching,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statelessness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35"/>
              <a:t>REST</a:t>
            </a:r>
            <a:r>
              <a:rPr dirty="0" spc="-165"/>
              <a:t> </a:t>
            </a:r>
            <a:r>
              <a:rPr dirty="0" spc="-220"/>
              <a:t>Constraints</a:t>
            </a:r>
            <a:r>
              <a:rPr dirty="0"/>
              <a:t> </a:t>
            </a:r>
            <a:r>
              <a:rPr dirty="0" spc="-245"/>
              <a:t>(Core</a:t>
            </a:r>
            <a:r>
              <a:rPr dirty="0" spc="-5"/>
              <a:t> </a:t>
            </a:r>
            <a:r>
              <a:rPr dirty="0" spc="-145"/>
              <a:t>Principles)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122295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Client-Server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Architecture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Statelessness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Cacheability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Layered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Uniform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Interface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2362199" cy="31813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35"/>
              <a:t>RESTful</a:t>
            </a:r>
            <a:r>
              <a:rPr dirty="0" spc="-140"/>
              <a:t> </a:t>
            </a:r>
            <a:r>
              <a:rPr dirty="0" spc="-200"/>
              <a:t>API</a:t>
            </a:r>
            <a:r>
              <a:rPr dirty="0" spc="-25"/>
              <a:t> </a:t>
            </a:r>
            <a:r>
              <a:rPr dirty="0" spc="-185"/>
              <a:t>Design</a:t>
            </a:r>
            <a:r>
              <a:rPr dirty="0" spc="-25"/>
              <a:t> </a:t>
            </a:r>
            <a:r>
              <a:rPr dirty="0" spc="-160"/>
              <a:t>Principles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455670" cy="25006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Resource-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Approach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2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>
                <a:solidFill>
                  <a:srgbClr val="188037"/>
                </a:solidFill>
                <a:latin typeface="Courier New"/>
                <a:cs typeface="Courier New"/>
              </a:rPr>
              <a:t>GET </a:t>
            </a:r>
            <a:r>
              <a:rPr dirty="0" sz="1100" spc="-20">
                <a:solidFill>
                  <a:srgbClr val="188037"/>
                </a:solidFill>
                <a:latin typeface="Courier New"/>
                <a:cs typeface="Courier New"/>
              </a:rPr>
              <a:t>/users/{id}</a:t>
            </a:r>
            <a:r>
              <a:rPr dirty="0" sz="1100" spc="-36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retrieve a </a:t>
            </a:r>
            <a:r>
              <a:rPr dirty="0" sz="1100" spc="-20">
                <a:latin typeface="Arial"/>
                <a:cs typeface="Arial"/>
              </a:rPr>
              <a:t>user</a:t>
            </a:r>
            <a:endParaRPr sz="1100">
              <a:latin typeface="Arial"/>
              <a:cs typeface="Arial"/>
            </a:endParaRPr>
          </a:p>
          <a:p>
            <a:pPr lvl="1" marL="836294" indent="-335915">
              <a:lnSpc>
                <a:spcPts val="129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>
                <a:solidFill>
                  <a:srgbClr val="188037"/>
                </a:solidFill>
                <a:latin typeface="Courier New"/>
                <a:cs typeface="Courier New"/>
              </a:rPr>
              <a:t>POST</a:t>
            </a:r>
            <a:r>
              <a:rPr dirty="0" sz="1100" spc="-2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 spc="-20">
                <a:solidFill>
                  <a:srgbClr val="188037"/>
                </a:solidFill>
                <a:latin typeface="Courier New"/>
                <a:cs typeface="Courier New"/>
              </a:rPr>
              <a:t>/orders</a:t>
            </a:r>
            <a:r>
              <a:rPr dirty="0" sz="1100" spc="-36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create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</a:t>
            </a:r>
            <a:r>
              <a:rPr dirty="0" sz="1100" spc="-1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new</a:t>
            </a:r>
            <a:r>
              <a:rPr dirty="0" sz="1100" spc="-10">
                <a:latin typeface="Arial"/>
                <a:cs typeface="Arial"/>
              </a:rPr>
              <a:t> order</a:t>
            </a:r>
            <a:endParaRPr sz="1100">
              <a:latin typeface="Arial"/>
              <a:cs typeface="Arial"/>
            </a:endParaRPr>
          </a:p>
          <a:p>
            <a:pPr marL="379095" indent="-366395">
              <a:lnSpc>
                <a:spcPts val="2130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Proper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Usage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29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 spc="-10">
                <a:solidFill>
                  <a:srgbClr val="188037"/>
                </a:solidFill>
                <a:latin typeface="Courier New"/>
                <a:cs typeface="Courier New"/>
              </a:rPr>
              <a:t>GET</a:t>
            </a:r>
            <a:r>
              <a:rPr dirty="0" sz="1100" spc="-36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retrieve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 spc="-20">
                <a:latin typeface="Arial"/>
                <a:cs typeface="Arial"/>
              </a:rPr>
              <a:t>data</a:t>
            </a:r>
            <a:endParaRPr sz="11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 spc="-20">
                <a:solidFill>
                  <a:srgbClr val="188037"/>
                </a:solidFill>
                <a:latin typeface="Courier New"/>
                <a:cs typeface="Courier New"/>
              </a:rPr>
              <a:t>POST</a:t>
            </a:r>
            <a:r>
              <a:rPr dirty="0" sz="1100" spc="-36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create</a:t>
            </a:r>
            <a:r>
              <a:rPr dirty="0" sz="1100" spc="-1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new</a:t>
            </a:r>
            <a:r>
              <a:rPr dirty="0" sz="1100" spc="-10">
                <a:latin typeface="Arial"/>
                <a:cs typeface="Arial"/>
              </a:rPr>
              <a:t> resources</a:t>
            </a:r>
            <a:endParaRPr sz="11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 spc="-10">
                <a:solidFill>
                  <a:srgbClr val="188037"/>
                </a:solidFill>
                <a:latin typeface="Courier New"/>
                <a:cs typeface="Courier New"/>
              </a:rPr>
              <a:t>PUT</a:t>
            </a:r>
            <a:r>
              <a:rPr dirty="0" sz="1100" spc="-36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update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existing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resources</a:t>
            </a:r>
            <a:endParaRPr sz="11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75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 spc="-20">
                <a:solidFill>
                  <a:srgbClr val="188037"/>
                </a:solidFill>
                <a:latin typeface="Courier New"/>
                <a:cs typeface="Courier New"/>
              </a:rPr>
              <a:t>PATCH</a:t>
            </a:r>
            <a:r>
              <a:rPr dirty="0" sz="1100" spc="-35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for </a:t>
            </a:r>
            <a:r>
              <a:rPr dirty="0" sz="1100" b="1">
                <a:latin typeface="Arial"/>
                <a:cs typeface="Arial"/>
              </a:rPr>
              <a:t>partial </a:t>
            </a:r>
            <a:r>
              <a:rPr dirty="0" sz="1100" spc="-10" b="1">
                <a:latin typeface="Arial"/>
                <a:cs typeface="Arial"/>
              </a:rPr>
              <a:t>updates</a:t>
            </a:r>
            <a:endParaRPr sz="1100">
              <a:latin typeface="Arial"/>
              <a:cs typeface="Arial"/>
            </a:endParaRPr>
          </a:p>
          <a:p>
            <a:pPr lvl="1" marL="836294" indent="-335915">
              <a:lnSpc>
                <a:spcPts val="1290"/>
              </a:lnSpc>
              <a:spcBef>
                <a:spcPts val="280"/>
              </a:spcBef>
              <a:buClr>
                <a:srgbClr val="685D46"/>
              </a:buClr>
              <a:buSzPct val="127272"/>
              <a:buFont typeface="Arial"/>
              <a:buChar char="○"/>
              <a:tabLst>
                <a:tab pos="836294" algn="l"/>
              </a:tabLst>
            </a:pPr>
            <a:r>
              <a:rPr dirty="0" sz="1100" spc="-20">
                <a:solidFill>
                  <a:srgbClr val="188037"/>
                </a:solidFill>
                <a:latin typeface="Courier New"/>
                <a:cs typeface="Courier New"/>
              </a:rPr>
              <a:t>DELETE</a:t>
            </a:r>
            <a:r>
              <a:rPr dirty="0" sz="1100" spc="-355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10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remove</a:t>
            </a:r>
            <a:r>
              <a:rPr dirty="0" sz="1100" spc="5" b="1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resources</a:t>
            </a:r>
            <a:endParaRPr sz="1100">
              <a:latin typeface="Arial"/>
              <a:cs typeface="Arial"/>
            </a:endParaRPr>
          </a:p>
          <a:p>
            <a:pPr marL="379095" indent="-366395">
              <a:lnSpc>
                <a:spcPts val="207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</a:t>
            </a:r>
            <a:r>
              <a:rPr dirty="0" sz="1800" spc="-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Interactions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2105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Consistency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95">
                <a:solidFill>
                  <a:srgbClr val="685D46"/>
                </a:solidFill>
                <a:latin typeface="Arial"/>
                <a:cs typeface="Arial"/>
              </a:rPr>
              <a:t>URL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Structure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11825" y="3845950"/>
            <a:ext cx="173990" cy="366395"/>
            <a:chOff x="1311825" y="3845950"/>
            <a:chExt cx="173990" cy="3663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3845950"/>
              <a:ext cx="173819" cy="16359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4048642"/>
              <a:ext cx="173819" cy="163594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1470" y="4048642"/>
            <a:ext cx="173819" cy="16359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63193" y="3823063"/>
            <a:ext cx="3835400" cy="6064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0705" indent="-548005">
              <a:lnSpc>
                <a:spcPts val="1310"/>
              </a:lnSpc>
              <a:spcBef>
                <a:spcPts val="100"/>
              </a:spcBef>
              <a:buClr>
                <a:srgbClr val="685D46"/>
              </a:buClr>
              <a:buSzPct val="127272"/>
              <a:buChar char="○"/>
              <a:tabLst>
                <a:tab pos="560705" algn="l"/>
              </a:tabLst>
            </a:pPr>
            <a:r>
              <a:rPr dirty="0" sz="1100">
                <a:latin typeface="Arial"/>
                <a:cs typeface="Arial"/>
              </a:rPr>
              <a:t>Use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plural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nouns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collections: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solidFill>
                  <a:srgbClr val="188037"/>
                </a:solidFill>
                <a:latin typeface="Courier New"/>
                <a:cs typeface="Courier New"/>
              </a:rPr>
              <a:t>/users</a:t>
            </a:r>
            <a:r>
              <a:rPr dirty="0" sz="1100">
                <a:latin typeface="Arial"/>
                <a:cs typeface="Arial"/>
              </a:rPr>
              <a:t>,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88037"/>
                </a:solidFill>
                <a:latin typeface="Courier New"/>
                <a:cs typeface="Courier New"/>
              </a:rPr>
              <a:t>/orders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625"/>
              </a:lnSpc>
            </a:pP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ts val="1639"/>
              </a:lnSpc>
            </a:pP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1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461286" y="4025755"/>
            <a:ext cx="1870710" cy="193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latin typeface="Arial"/>
                <a:cs typeface="Arial"/>
              </a:rPr>
              <a:t>→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20">
                <a:solidFill>
                  <a:srgbClr val="188037"/>
                </a:solidFill>
                <a:latin typeface="Courier New"/>
                <a:cs typeface="Courier New"/>
              </a:rPr>
              <a:t>/users/{id}</a:t>
            </a:r>
            <a:r>
              <a:rPr dirty="0" sz="1100" spc="-340">
                <a:solidFill>
                  <a:srgbClr val="188037"/>
                </a:solidFill>
                <a:latin typeface="Courier New"/>
                <a:cs typeface="Courier New"/>
              </a:rPr>
              <a:t> </a:t>
            </a:r>
            <a:r>
              <a:rPr dirty="0" sz="1100">
                <a:latin typeface="Arial"/>
                <a:cs typeface="Arial"/>
              </a:rPr>
              <a:t>with</a:t>
            </a:r>
            <a:r>
              <a:rPr dirty="0" sz="1100" spc="1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88037"/>
                </a:solidFill>
                <a:latin typeface="Courier New"/>
                <a:cs typeface="Courier New"/>
              </a:rPr>
              <a:t>PATCH</a:t>
            </a:r>
            <a:endParaRPr sz="1100">
              <a:latin typeface="Courier New"/>
              <a:cs typeface="Courier New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7458" y="4048642"/>
            <a:ext cx="173819" cy="16359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1825" y="4251334"/>
            <a:ext cx="173819" cy="163594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503957" y="3990703"/>
            <a:ext cx="3906520" cy="431165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dirty="0" sz="1100">
                <a:latin typeface="Arial"/>
                <a:cs typeface="Arial"/>
              </a:rPr>
              <a:t>Avoid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including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actions</a:t>
            </a:r>
            <a:r>
              <a:rPr dirty="0" sz="1100" spc="-4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URLs:</a:t>
            </a:r>
            <a:r>
              <a:rPr dirty="0" sz="1100" spc="-35">
                <a:latin typeface="Arial"/>
                <a:cs typeface="Arial"/>
              </a:rPr>
              <a:t> </a:t>
            </a:r>
            <a:r>
              <a:rPr dirty="0" sz="1100" spc="-10">
                <a:solidFill>
                  <a:srgbClr val="188037"/>
                </a:solidFill>
                <a:latin typeface="Courier New"/>
                <a:cs typeface="Courier New"/>
              </a:rPr>
              <a:t>/users/{id}/activate</a:t>
            </a:r>
            <a:endParaRPr sz="1100">
              <a:latin typeface="Courier New"/>
              <a:cs typeface="Courier New"/>
            </a:endParaRPr>
          </a:p>
          <a:p>
            <a:pPr marL="20320">
              <a:lnSpc>
                <a:spcPct val="100000"/>
              </a:lnSpc>
              <a:spcBef>
                <a:spcPts val="275"/>
              </a:spcBef>
            </a:pPr>
            <a:r>
              <a:rPr dirty="0" sz="1100">
                <a:latin typeface="Arial"/>
                <a:cs typeface="Arial"/>
              </a:rPr>
              <a:t>Implement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versioning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for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backward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compatibility: </a:t>
            </a:r>
            <a:r>
              <a:rPr dirty="0" sz="1100" spc="-10">
                <a:solidFill>
                  <a:srgbClr val="188037"/>
                </a:solidFill>
                <a:latin typeface="Courier New"/>
                <a:cs typeface="Courier New"/>
              </a:rPr>
              <a:t>/v1/users</a:t>
            </a:r>
            <a:endParaRPr sz="11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5"/>
              <a:t>Resources</a:t>
            </a:r>
            <a:r>
              <a:rPr dirty="0" spc="-60"/>
              <a:t> </a:t>
            </a:r>
            <a:r>
              <a:rPr dirty="0"/>
              <a:t>&amp;</a:t>
            </a:r>
            <a:r>
              <a:rPr dirty="0" spc="-65"/>
              <a:t> </a:t>
            </a:r>
            <a:r>
              <a:rPr dirty="0" spc="-195"/>
              <a:t>Endpoints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534410" cy="17195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Resources: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Entities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Users,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Orders,</a:t>
            </a:r>
            <a:r>
              <a:rPr dirty="0" sz="1800" spc="229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Products.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Endpoint</a:t>
            </a:r>
            <a:r>
              <a:rPr dirty="0" sz="1800" spc="3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Examples: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/users/{id}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/orders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10">
                <a:solidFill>
                  <a:srgbClr val="685D46"/>
                </a:solidFill>
                <a:latin typeface="Arial"/>
                <a:cs typeface="Arial"/>
              </a:rPr>
              <a:t>DELETE</a:t>
            </a:r>
            <a:r>
              <a:rPr dirty="0" sz="14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/products/{id}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7922" y="1266322"/>
            <a:ext cx="4826074" cy="18274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85064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45"/>
              <a:t>JSON</a:t>
            </a:r>
            <a:r>
              <a:rPr dirty="0" spc="-95"/>
              <a:t> </a:t>
            </a:r>
            <a:r>
              <a:rPr dirty="0" spc="-190"/>
              <a:t>vs.</a:t>
            </a:r>
            <a:r>
              <a:rPr dirty="0" spc="-320"/>
              <a:t> </a:t>
            </a:r>
            <a:r>
              <a:rPr dirty="0" spc="-245"/>
              <a:t>XML</a:t>
            </a:r>
            <a:r>
              <a:rPr dirty="0" spc="-185"/>
              <a:t> </a:t>
            </a:r>
            <a:r>
              <a:rPr dirty="0" spc="-170"/>
              <a:t>in</a:t>
            </a:r>
            <a:r>
              <a:rPr dirty="0" spc="-30"/>
              <a:t> </a:t>
            </a:r>
            <a:r>
              <a:rPr dirty="0" spc="-135"/>
              <a:t>REST</a:t>
            </a:r>
            <a:r>
              <a:rPr dirty="0" spc="-260"/>
              <a:t> </a:t>
            </a:r>
            <a:r>
              <a:rPr dirty="0" spc="-140"/>
              <a:t>APIs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2641600" cy="190881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JSON?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Lightweight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parsing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Readable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XML?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Legacy</a:t>
            </a:r>
            <a:r>
              <a:rPr dirty="0" sz="1400" spc="-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validation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03450" y="1266321"/>
            <a:ext cx="5440550" cy="20843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380104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35"/>
              <a:t>HTTP</a:t>
            </a:r>
            <a:r>
              <a:rPr dirty="0" spc="-150"/>
              <a:t> </a:t>
            </a:r>
            <a:r>
              <a:rPr dirty="0" spc="-295"/>
              <a:t>Methods</a:t>
            </a:r>
            <a:r>
              <a:rPr dirty="0" spc="-40"/>
              <a:t> </a:t>
            </a:r>
            <a:r>
              <a:rPr dirty="0" spc="-170"/>
              <a:t>in</a:t>
            </a:r>
            <a:r>
              <a:rPr dirty="0" spc="-40"/>
              <a:t> </a:t>
            </a:r>
            <a:r>
              <a:rPr dirty="0" spc="-95"/>
              <a:t>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3370579" cy="223393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60" b="1">
                <a:solidFill>
                  <a:srgbClr val="685D46"/>
                </a:solidFill>
                <a:latin typeface="Tahoma"/>
                <a:cs typeface="Tahoma"/>
              </a:rPr>
              <a:t>GET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Retrieve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60" b="1">
                <a:solidFill>
                  <a:srgbClr val="685D46"/>
                </a:solidFill>
                <a:latin typeface="Tahoma"/>
                <a:cs typeface="Tahoma"/>
              </a:rPr>
              <a:t>POST</a:t>
            </a:r>
            <a:r>
              <a:rPr dirty="0" sz="1800" spc="-6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Create a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resource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25" b="1">
                <a:solidFill>
                  <a:srgbClr val="685D46"/>
                </a:solidFill>
                <a:latin typeface="Tahoma"/>
                <a:cs typeface="Tahoma"/>
              </a:rPr>
              <a:t>PUT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30" b="1">
                <a:solidFill>
                  <a:srgbClr val="685D46"/>
                </a:solidFill>
                <a:latin typeface="Tahoma"/>
                <a:cs typeface="Tahoma"/>
              </a:rPr>
              <a:t>PATCH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Partial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update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70" b="1">
                <a:solidFill>
                  <a:srgbClr val="685D46"/>
                </a:solidFill>
                <a:latin typeface="Tahoma"/>
                <a:cs typeface="Tahoma"/>
              </a:rPr>
              <a:t>DELETE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Remove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endParaRPr sz="1800">
              <a:latin typeface="Arial"/>
              <a:cs typeface="Arial"/>
            </a:endParaRPr>
          </a:p>
          <a:p>
            <a:pPr marL="379095" marR="5715" indent="-367030">
              <a:lnSpc>
                <a:spcPct val="114999"/>
              </a:lnSpc>
              <a:buFont typeface="Arial"/>
              <a:buChar char="●"/>
              <a:tabLst>
                <a:tab pos="379095" algn="l"/>
              </a:tabLst>
            </a:pPr>
            <a:r>
              <a:rPr dirty="0" sz="1800" spc="-65" b="1">
                <a:solidFill>
                  <a:srgbClr val="685D46"/>
                </a:solidFill>
                <a:latin typeface="Tahoma"/>
                <a:cs typeface="Tahoma"/>
              </a:rPr>
              <a:t>OPTIONS</a:t>
            </a:r>
            <a:r>
              <a:rPr dirty="0" sz="1800" spc="-65">
                <a:solidFill>
                  <a:srgbClr val="685D46"/>
                </a:solidFill>
                <a:latin typeface="Arial"/>
                <a:cs typeface="Arial"/>
              </a:rPr>
              <a:t>,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 b="1">
                <a:solidFill>
                  <a:srgbClr val="685D46"/>
                </a:solidFill>
                <a:latin typeface="Tahoma"/>
                <a:cs typeface="Tahoma"/>
              </a:rPr>
              <a:t>HEAD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Additional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functionalities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20250" y="1402724"/>
            <a:ext cx="5023749" cy="21260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5"/>
              <a:t>Real-</a:t>
            </a:r>
            <a:r>
              <a:rPr dirty="0" spc="-300"/>
              <a:t>World</a:t>
            </a:r>
            <a:r>
              <a:rPr dirty="0" spc="-30"/>
              <a:t> </a:t>
            </a:r>
            <a:r>
              <a:rPr dirty="0" spc="-135"/>
              <a:t>REST</a:t>
            </a:r>
            <a:r>
              <a:rPr dirty="0" spc="-250"/>
              <a:t> </a:t>
            </a:r>
            <a:r>
              <a:rPr dirty="0" spc="-200"/>
              <a:t>API</a:t>
            </a:r>
            <a:r>
              <a:rPr dirty="0" spc="-30"/>
              <a:t> </a:t>
            </a:r>
            <a:r>
              <a:rPr dirty="0" spc="-175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323590" cy="2154555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Twitter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API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Fetch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tweets: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/tweets/{id}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tweet: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95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/tweets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GitHub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API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repo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details: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GET</a:t>
            </a:r>
            <a:endParaRPr sz="1400">
              <a:latin typeface="Arial"/>
              <a:cs typeface="Arial"/>
            </a:endParaRPr>
          </a:p>
          <a:p>
            <a:pPr algn="r" marR="628650">
              <a:lnSpc>
                <a:spcPct val="100000"/>
              </a:lnSpc>
              <a:spcBef>
                <a:spcPts val="250"/>
              </a:spcBef>
            </a:pP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/repos/{owner}/{repo}</a:t>
            </a:r>
            <a:endParaRPr sz="1400">
              <a:latin typeface="Arial"/>
              <a:cs typeface="Arial"/>
            </a:endParaRPr>
          </a:p>
          <a:p>
            <a:pPr algn="r" lvl="1" marL="335280" marR="677545" indent="-335280">
              <a:lnSpc>
                <a:spcPct val="100000"/>
              </a:lnSpc>
              <a:spcBef>
                <a:spcPts val="254"/>
              </a:spcBef>
              <a:buChar char="○"/>
              <a:tabLst>
                <a:tab pos="33528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Create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issue: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ct val="100000"/>
              </a:lnSpc>
              <a:spcBef>
                <a:spcPts val="250"/>
              </a:spcBef>
            </a:pP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/repos/{owner}/{repo}/issues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132875" y="1304825"/>
            <a:ext cx="4815727" cy="204477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1525" y="4058718"/>
            <a:ext cx="3022474" cy="973181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95"/>
              <a:t>Best</a:t>
            </a:r>
            <a:r>
              <a:rPr dirty="0" spc="-40"/>
              <a:t> </a:t>
            </a:r>
            <a:r>
              <a:rPr dirty="0" spc="-200"/>
              <a:t>Practices</a:t>
            </a:r>
            <a:r>
              <a:rPr dirty="0" spc="-35"/>
              <a:t> </a:t>
            </a:r>
            <a:r>
              <a:rPr dirty="0" spc="-90"/>
              <a:t>&amp;</a:t>
            </a:r>
            <a:r>
              <a:rPr dirty="0" spc="-70"/>
              <a:t> </a:t>
            </a:r>
            <a:r>
              <a:rPr dirty="0" spc="-350"/>
              <a:t>Common</a:t>
            </a:r>
            <a:r>
              <a:rPr dirty="0" spc="-40"/>
              <a:t> </a:t>
            </a:r>
            <a:r>
              <a:rPr dirty="0" spc="-100"/>
              <a:t>Pitfalls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1359426"/>
            <a:ext cx="284633" cy="26789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728566" y="1330206"/>
            <a:ext cx="5847080" cy="21717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Proper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Codes (200,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201,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400,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404,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500)</a:t>
            </a:r>
            <a:endParaRPr sz="1800">
              <a:latin typeface="Arial"/>
              <a:cs typeface="Arial"/>
            </a:endParaRPr>
          </a:p>
          <a:p>
            <a:pPr marL="12700" marR="1645285">
              <a:lnSpc>
                <a:spcPct val="170600"/>
              </a:lnSpc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Versioning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(/v1/resource)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(OAuth,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25">
                <a:solidFill>
                  <a:srgbClr val="685D46"/>
                </a:solidFill>
                <a:latin typeface="Arial"/>
                <a:cs typeface="Arial"/>
              </a:rPr>
              <a:t>JWT)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Pagination</a:t>
            </a:r>
            <a:r>
              <a:rPr dirty="0" sz="1800" spc="2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(?page=2&amp;limit=20)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Avoid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Verbs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URLs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(/createUser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20">
                <a:solidFill>
                  <a:srgbClr val="685D46"/>
                </a:solidFill>
                <a:latin typeface="Arial"/>
                <a:cs typeface="Arial"/>
              </a:rPr>
              <a:t>POST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/users)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1827294"/>
            <a:ext cx="284633" cy="26789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295162"/>
            <a:ext cx="284633" cy="26789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7425" y="2763029"/>
            <a:ext cx="284633" cy="26789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97425" y="3230897"/>
            <a:ext cx="284633" cy="26789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3938270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30"/>
              <a:t> </a:t>
            </a:r>
            <a:r>
              <a:rPr dirty="0" spc="-229"/>
              <a:t>Questions</a:t>
            </a:r>
            <a:r>
              <a:rPr dirty="0" spc="-165"/>
              <a:t> </a:t>
            </a:r>
            <a:r>
              <a:rPr dirty="0" spc="-10"/>
              <a:t>-</a:t>
            </a:r>
            <a:r>
              <a:rPr dirty="0" spc="-245"/>
              <a:t> </a:t>
            </a:r>
            <a:r>
              <a:rPr dirty="0" spc="-90"/>
              <a:t>REST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7793" y="1325389"/>
            <a:ext cx="6997065" cy="1397000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180"/>
              </a:spcBef>
              <a:buChar char="●"/>
              <a:tabLst>
                <a:tab pos="306705" algn="l"/>
              </a:tabLst>
            </a:pP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85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685D46"/>
                </a:solidFill>
                <a:latin typeface="Arial"/>
                <a:cs typeface="Arial"/>
              </a:rPr>
              <a:t>Questions</a:t>
            </a:r>
            <a:endParaRPr sz="8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7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55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SOAP?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six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constraints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architecture?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dirty="0" sz="65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resource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55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represented?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endpoints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  <a:p>
            <a:pPr marL="306705" indent="-294005">
              <a:lnSpc>
                <a:spcPct val="100000"/>
              </a:lnSpc>
              <a:spcBef>
                <a:spcPts val="40"/>
              </a:spcBef>
              <a:buChar char="●"/>
              <a:tabLst>
                <a:tab pos="306705" algn="l"/>
              </a:tabLst>
            </a:pPr>
            <a:r>
              <a:rPr dirty="0" sz="850" spc="-60">
                <a:solidFill>
                  <a:srgbClr val="685D46"/>
                </a:solidFill>
                <a:latin typeface="Arial"/>
                <a:cs typeface="Arial"/>
              </a:rPr>
              <a:t>TP</a:t>
            </a:r>
            <a:r>
              <a:rPr dirty="0" sz="8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Methods</a:t>
            </a:r>
            <a:r>
              <a:rPr dirty="0" sz="8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5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8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85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685D46"/>
                </a:solidFill>
                <a:latin typeface="Arial"/>
                <a:cs typeface="Arial"/>
              </a:rPr>
              <a:t>Codes</a:t>
            </a:r>
            <a:endParaRPr sz="8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7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45">
                <a:solidFill>
                  <a:srgbClr val="685D46"/>
                </a:solidFill>
                <a:latin typeface="Arial"/>
                <a:cs typeface="Arial"/>
              </a:rPr>
              <a:t>GET,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40">
                <a:solidFill>
                  <a:srgbClr val="685D46"/>
                </a:solidFill>
                <a:latin typeface="Arial"/>
                <a:cs typeface="Arial"/>
              </a:rPr>
              <a:t>POST,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PUT,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PATCH,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DELETE.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PUT</a:t>
            </a:r>
            <a:r>
              <a:rPr dirty="0" sz="65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65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PATCH?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commonly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used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status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codes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200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OK,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201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Created,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204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Content,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400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Bad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Request,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401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Unauthorized,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403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Forbidden,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404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Found,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500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Internal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Error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mean?</a:t>
            </a:r>
            <a:endParaRPr sz="650">
              <a:latin typeface="Arial"/>
              <a:cs typeface="Arial"/>
            </a:endParaRPr>
          </a:p>
          <a:p>
            <a:pPr marL="306705" indent="-294005">
              <a:lnSpc>
                <a:spcPct val="100000"/>
              </a:lnSpc>
              <a:spcBef>
                <a:spcPts val="40"/>
              </a:spcBef>
              <a:buChar char="●"/>
              <a:tabLst>
                <a:tab pos="306705" algn="l"/>
              </a:tabLst>
            </a:pPr>
            <a:r>
              <a:rPr dirty="0" sz="850" spc="-4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dirty="0" sz="8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-25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8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Design </a:t>
            </a:r>
            <a:r>
              <a:rPr dirty="0" sz="850" spc="5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85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85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endParaRPr sz="85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9555" y="2704142"/>
            <a:ext cx="3730625" cy="65913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313690" indent="-300990">
              <a:lnSpc>
                <a:spcPct val="100000"/>
              </a:lnSpc>
              <a:spcBef>
                <a:spcPts val="114"/>
              </a:spcBef>
              <a:buChar char="○"/>
              <a:tabLst>
                <a:tab pos="313690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designing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dirty="0" sz="65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55"/>
              </a:spcBef>
              <a:buChar char="○"/>
              <a:tabLst>
                <a:tab pos="292100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blogging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platform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users,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posts,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comments)?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60"/>
              </a:spcBef>
              <a:buChar char="○"/>
              <a:tabLst>
                <a:tab pos="292100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5">
                <a:solidFill>
                  <a:srgbClr val="685D46"/>
                </a:solidFill>
                <a:latin typeface="Arial"/>
                <a:cs typeface="Arial"/>
              </a:rPr>
              <a:t>HATEOAS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(Hypermedia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as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Engine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Application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State)</a:t>
            </a:r>
            <a:r>
              <a:rPr dirty="0" sz="65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REST?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55"/>
              </a:spcBef>
              <a:buChar char="○"/>
              <a:tabLst>
                <a:tab pos="292100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6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authorization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marL="292100" indent="-279400">
              <a:lnSpc>
                <a:spcPct val="100000"/>
              </a:lnSpc>
              <a:spcBef>
                <a:spcPts val="60"/>
              </a:spcBef>
              <a:buChar char="○"/>
              <a:tabLst>
                <a:tab pos="292100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rate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limiting</a:t>
            </a:r>
            <a:r>
              <a:rPr dirty="0" sz="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throttling,</a:t>
            </a:r>
            <a:r>
              <a:rPr dirty="0" sz="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65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6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dirty="0" sz="650" spc="-50">
                <a:solidFill>
                  <a:srgbClr val="685D46"/>
                </a:solidFill>
                <a:latin typeface="Arial"/>
                <a:cs typeface="Arial"/>
              </a:rPr>
              <a:t>○</a:t>
            </a:r>
            <a:endParaRPr sz="6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9125" y="3236209"/>
            <a:ext cx="2800350" cy="12700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ensure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backward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compatibility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updating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7793" y="3332040"/>
            <a:ext cx="3691890" cy="1019175"/>
          </a:xfrm>
          <a:prstGeom prst="rect">
            <a:avLst/>
          </a:prstGeom>
        </p:spPr>
        <p:txBody>
          <a:bodyPr wrap="square" lIns="0" tIns="22860" rIns="0" bIns="0" rtlCol="0" vert="horz">
            <a:spAutoFit/>
          </a:bodyPr>
          <a:lstStyle/>
          <a:p>
            <a:pPr marL="306705" indent="-294005">
              <a:lnSpc>
                <a:spcPct val="100000"/>
              </a:lnSpc>
              <a:spcBef>
                <a:spcPts val="180"/>
              </a:spcBef>
              <a:buChar char="●"/>
              <a:tabLst>
                <a:tab pos="306705" algn="l"/>
              </a:tabLst>
            </a:pP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Advanced</a:t>
            </a:r>
            <a:r>
              <a:rPr dirty="0" sz="8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5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8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85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850" spc="-10">
                <a:solidFill>
                  <a:srgbClr val="685D46"/>
                </a:solidFill>
                <a:latin typeface="Arial"/>
                <a:cs typeface="Arial"/>
              </a:rPr>
              <a:t>Questions</a:t>
            </a:r>
            <a:endParaRPr sz="8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7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caching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0">
                <a:solidFill>
                  <a:srgbClr val="685D46"/>
                </a:solidFill>
                <a:latin typeface="Arial"/>
                <a:cs typeface="Arial"/>
              </a:rPr>
              <a:t>RESTful</a:t>
            </a:r>
            <a:r>
              <a:rPr dirty="0" sz="65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diﬀerence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0">
                <a:solidFill>
                  <a:srgbClr val="685D46"/>
                </a:solidFill>
                <a:latin typeface="Arial"/>
                <a:cs typeface="Arial"/>
              </a:rPr>
              <a:t>JSON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XML</a:t>
            </a:r>
            <a:r>
              <a:rPr dirty="0" sz="65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REST?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implement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pagination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versioning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work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65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APIs?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diﬀerences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55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GraphQL,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gRPC.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performance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55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stateful?</a:t>
            </a:r>
            <a:r>
              <a:rPr dirty="0" sz="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65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65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20">
                <a:solidFill>
                  <a:srgbClr val="685D46"/>
                </a:solidFill>
                <a:latin typeface="Arial"/>
                <a:cs typeface="Arial"/>
              </a:rPr>
              <a:t>not?</a:t>
            </a:r>
            <a:endParaRPr sz="650">
              <a:latin typeface="Arial"/>
              <a:cs typeface="Arial"/>
            </a:endParaRPr>
          </a:p>
          <a:p>
            <a:pPr lvl="1" marL="763905" indent="-280035">
              <a:lnSpc>
                <a:spcPct val="100000"/>
              </a:lnSpc>
              <a:spcBef>
                <a:spcPts val="60"/>
              </a:spcBef>
              <a:buChar char="○"/>
              <a:tabLst>
                <a:tab pos="763905" algn="l"/>
              </a:tabLst>
            </a:pP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65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65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security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vulnerabilities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like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35">
                <a:solidFill>
                  <a:srgbClr val="685D46"/>
                </a:solidFill>
                <a:latin typeface="Arial"/>
                <a:cs typeface="Arial"/>
              </a:rPr>
              <a:t>SQL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injection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65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650" spc="-10">
                <a:solidFill>
                  <a:srgbClr val="685D46"/>
                </a:solidFill>
                <a:latin typeface="Arial"/>
                <a:cs typeface="Arial"/>
              </a:rPr>
              <a:t>CSRF?</a:t>
            </a:r>
            <a:endParaRPr sz="6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66734" cy="15443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19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stateless,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scalable,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widely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adopted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style.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Proper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endpoint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structure,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methods,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formats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matter.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Security,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versioning,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practices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quality.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82015" indent="-381635">
              <a:lnSpc>
                <a:spcPct val="100000"/>
              </a:lnSpc>
              <a:spcBef>
                <a:spcPts val="340"/>
              </a:spcBef>
              <a:buChar char="○"/>
              <a:tabLst>
                <a:tab pos="882015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Protocols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699770">
              <a:lnSpc>
                <a:spcPct val="100000"/>
              </a:lnSpc>
              <a:spcBef>
                <a:spcPts val="110"/>
              </a:spcBef>
            </a:pPr>
            <a:r>
              <a:rPr dirty="0" sz="3350" spc="-229"/>
              <a:t>Real-</a:t>
            </a:r>
            <a:r>
              <a:rPr dirty="0" sz="3350" spc="-240"/>
              <a:t>Time</a:t>
            </a:r>
            <a:r>
              <a:rPr dirty="0" sz="3350" spc="-65"/>
              <a:t> </a:t>
            </a:r>
            <a:r>
              <a:rPr dirty="0" sz="3350" spc="-295"/>
              <a:t>Communication</a:t>
            </a:r>
            <a:r>
              <a:rPr dirty="0" sz="3350" spc="-10"/>
              <a:t> </a:t>
            </a:r>
            <a:r>
              <a:rPr dirty="0" sz="3350" spc="-200"/>
              <a:t>Protocols</a:t>
            </a:r>
            <a:endParaRPr sz="33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Introduction</a:t>
            </a:r>
            <a:r>
              <a:rPr dirty="0" spc="-5"/>
              <a:t> </a:t>
            </a:r>
            <a:r>
              <a:rPr dirty="0" spc="-235"/>
              <a:t>to</a:t>
            </a:r>
            <a:r>
              <a:rPr dirty="0"/>
              <a:t> </a:t>
            </a:r>
            <a:r>
              <a:rPr dirty="0" spc="-215"/>
              <a:t>Real-</a:t>
            </a:r>
            <a:r>
              <a:rPr dirty="0" spc="-210"/>
              <a:t>Time</a:t>
            </a:r>
            <a:r>
              <a:rPr dirty="0" spc="-45"/>
              <a:t> </a:t>
            </a:r>
            <a:r>
              <a:rPr dirty="0" spc="-275"/>
              <a:t>Communication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6014" y="1296602"/>
            <a:ext cx="4953000" cy="30143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8140" marR="5080" indent="-346075">
              <a:lnSpc>
                <a:spcPct val="117300"/>
              </a:lnSpc>
              <a:spcBef>
                <a:spcPts val="90"/>
              </a:spcBef>
              <a:buFont typeface="Arial"/>
              <a:buChar char="●"/>
              <a:tabLst>
                <a:tab pos="358140" algn="l"/>
              </a:tabLst>
            </a:pPr>
            <a:r>
              <a:rPr dirty="0" sz="1500" b="1">
                <a:solidFill>
                  <a:srgbClr val="685D46"/>
                </a:solidFill>
                <a:latin typeface="Tahoma"/>
                <a:cs typeface="Tahoma"/>
              </a:rPr>
              <a:t>Deﬁnition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5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refers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continuous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5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75">
                <a:solidFill>
                  <a:srgbClr val="685D46"/>
                </a:solidFill>
                <a:latin typeface="Arial"/>
                <a:cs typeface="Arial"/>
              </a:rPr>
              <a:t>minimal</a:t>
            </a:r>
            <a:r>
              <a:rPr dirty="0" sz="15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500">
              <a:latin typeface="Arial"/>
              <a:cs typeface="Arial"/>
            </a:endParaRPr>
          </a:p>
          <a:p>
            <a:pPr marL="358140" marR="181610" indent="-346075">
              <a:lnSpc>
                <a:spcPct val="117300"/>
              </a:lnSpc>
              <a:buChar char="●"/>
              <a:tabLst>
                <a:tab pos="358140" algn="l"/>
              </a:tabLst>
            </a:pP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90">
                <a:solidFill>
                  <a:srgbClr val="685D46"/>
                </a:solidFill>
                <a:latin typeface="Arial"/>
                <a:cs typeface="Arial"/>
              </a:rPr>
              <a:t>important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instant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chat,</a:t>
            </a:r>
            <a:r>
              <a:rPr dirty="0" sz="15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live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dirty="0" sz="15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updates,</a:t>
            </a:r>
            <a:r>
              <a:rPr dirty="0" sz="1500" spc="1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multiplayer</a:t>
            </a:r>
            <a:r>
              <a:rPr dirty="0" sz="15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games).</a:t>
            </a:r>
            <a:endParaRPr sz="1500">
              <a:latin typeface="Arial"/>
              <a:cs typeface="Arial"/>
            </a:endParaRPr>
          </a:p>
          <a:p>
            <a:pPr marL="358140" marR="215265" indent="-346075">
              <a:lnSpc>
                <a:spcPct val="117300"/>
              </a:lnSpc>
              <a:buChar char="●"/>
              <a:tabLst>
                <a:tab pos="358140" algn="l"/>
              </a:tabLst>
            </a:pP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5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5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65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5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request-response</a:t>
            </a:r>
            <a:r>
              <a:rPr dirty="0" sz="15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HTTP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model.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315"/>
              </a:spcBef>
              <a:buChar char="●"/>
              <a:tabLst>
                <a:tab pos="358140" algn="l"/>
              </a:tabLst>
            </a:pP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5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vs.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5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4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endParaRPr sz="1500">
              <a:latin typeface="Arial"/>
              <a:cs typeface="Arial"/>
            </a:endParaRPr>
          </a:p>
          <a:p>
            <a:pPr marL="358140" indent="-345440">
              <a:lnSpc>
                <a:spcPct val="100000"/>
              </a:lnSpc>
              <a:spcBef>
                <a:spcPts val="310"/>
              </a:spcBef>
              <a:buChar char="●"/>
              <a:tabLst>
                <a:tab pos="358140" algn="l"/>
              </a:tabLst>
            </a:pP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Alternatives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500" spc="70">
                <a:solidFill>
                  <a:srgbClr val="685D46"/>
                </a:solidFill>
                <a:latin typeface="Arial"/>
                <a:cs typeface="Arial"/>
              </a:rPr>
              <a:t>improve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1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500" spc="6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5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5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5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500" spc="-10">
                <a:solidFill>
                  <a:srgbClr val="685D46"/>
                </a:solidFill>
                <a:latin typeface="Arial"/>
                <a:cs typeface="Arial"/>
              </a:rPr>
              <a:t>exchange:</a:t>
            </a:r>
            <a:endParaRPr sz="15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85"/>
              </a:spcBef>
              <a:buChar char="○"/>
              <a:tabLst>
                <a:tab pos="815340" algn="l"/>
              </a:tabLst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04"/>
              </a:spcBef>
              <a:buChar char="○"/>
              <a:tabLst>
                <a:tab pos="815340" algn="l"/>
              </a:tabLst>
            </a:pP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Server-</a:t>
            </a: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Sent</a:t>
            </a:r>
            <a:r>
              <a:rPr dirty="0" sz="12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Events</a:t>
            </a:r>
            <a:r>
              <a:rPr dirty="0" sz="12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(SSE)</a:t>
            </a:r>
            <a:endParaRPr sz="1200">
              <a:latin typeface="Arial"/>
              <a:cs typeface="Arial"/>
            </a:endParaRPr>
          </a:p>
          <a:p>
            <a:pPr lvl="1" marL="815340" indent="-319405">
              <a:lnSpc>
                <a:spcPct val="100000"/>
              </a:lnSpc>
              <a:spcBef>
                <a:spcPts val="200"/>
              </a:spcBef>
              <a:buChar char="○"/>
              <a:tabLst>
                <a:tab pos="815340" algn="l"/>
              </a:tabLst>
            </a:pPr>
            <a:r>
              <a:rPr dirty="0" sz="12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2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200" spc="-1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endParaRPr sz="1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69500" y="1304825"/>
            <a:ext cx="3065037" cy="2217261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4"/>
              <a:t>WebSockets:</a:t>
            </a:r>
            <a:r>
              <a:rPr dirty="0" spc="10"/>
              <a:t> </a:t>
            </a:r>
            <a:r>
              <a:rPr dirty="0" spc="-195"/>
              <a:t>Persistent</a:t>
            </a:r>
            <a:r>
              <a:rPr dirty="0" spc="15"/>
              <a:t> </a:t>
            </a:r>
            <a:r>
              <a:rPr dirty="0" spc="-135"/>
              <a:t>Full-</a:t>
            </a:r>
            <a:r>
              <a:rPr dirty="0" spc="-170"/>
              <a:t>Duplex</a:t>
            </a:r>
            <a:r>
              <a:rPr dirty="0" spc="-110"/>
              <a:t> </a:t>
            </a:r>
            <a:r>
              <a:rPr dirty="0" spc="-275"/>
              <a:t>Communication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pc="55"/>
              <a:t>Deﬁnition: </a:t>
            </a:r>
            <a:r>
              <a:rPr dirty="0"/>
              <a:t>WebSockets</a:t>
            </a:r>
            <a:r>
              <a:rPr dirty="0" spc="65"/>
              <a:t> </a:t>
            </a:r>
            <a:r>
              <a:rPr dirty="0" spc="60"/>
              <a:t>provide</a:t>
            </a:r>
            <a:r>
              <a:rPr dirty="0" spc="70"/>
              <a:t> </a:t>
            </a:r>
            <a:r>
              <a:rPr dirty="0" spc="10"/>
              <a:t>a</a:t>
            </a:r>
            <a:r>
              <a:rPr dirty="0" spc="55"/>
              <a:t> </a:t>
            </a:r>
            <a:r>
              <a:rPr dirty="0" spc="10"/>
              <a:t>persistent,</a:t>
            </a:r>
            <a:r>
              <a:rPr dirty="0" spc="60"/>
              <a:t> </a:t>
            </a:r>
            <a:r>
              <a:rPr dirty="0" spc="10"/>
              <a:t>full-</a:t>
            </a:r>
            <a:r>
              <a:rPr dirty="0" spc="65"/>
              <a:t>duplex </a:t>
            </a:r>
            <a:r>
              <a:rPr dirty="0" spc="-10"/>
              <a:t>connection </a:t>
            </a:r>
            <a:r>
              <a:rPr dirty="0" spc="50"/>
              <a:t>between</a:t>
            </a:r>
            <a:r>
              <a:rPr dirty="0" spc="55"/>
              <a:t> </a:t>
            </a:r>
            <a:r>
              <a:rPr dirty="0" spc="80"/>
              <a:t>the</a:t>
            </a:r>
            <a:r>
              <a:rPr dirty="0" spc="55"/>
              <a:t> </a:t>
            </a:r>
            <a:r>
              <a:rPr dirty="0"/>
              <a:t>client</a:t>
            </a:r>
            <a:r>
              <a:rPr dirty="0" spc="55"/>
              <a:t> and</a:t>
            </a:r>
            <a:r>
              <a:rPr dirty="0" spc="50"/>
              <a:t> </a:t>
            </a:r>
            <a:r>
              <a:rPr dirty="0"/>
              <a:t>server</a:t>
            </a:r>
            <a:r>
              <a:rPr dirty="0" spc="50"/>
              <a:t> </a:t>
            </a:r>
            <a:r>
              <a:rPr dirty="0"/>
              <a:t>over</a:t>
            </a:r>
            <a:r>
              <a:rPr dirty="0" spc="50"/>
              <a:t> </a:t>
            </a:r>
            <a:r>
              <a:rPr dirty="0"/>
              <a:t>a</a:t>
            </a:r>
            <a:r>
              <a:rPr dirty="0" spc="50"/>
              <a:t> </a:t>
            </a:r>
            <a:r>
              <a:rPr dirty="0"/>
              <a:t>single</a:t>
            </a:r>
            <a:r>
              <a:rPr dirty="0" spc="60"/>
              <a:t> </a:t>
            </a:r>
            <a:r>
              <a:rPr dirty="0" spc="-145"/>
              <a:t>TCP</a:t>
            </a:r>
            <a:r>
              <a:rPr dirty="0" spc="55"/>
              <a:t> </a:t>
            </a:r>
            <a:r>
              <a:rPr dirty="0" spc="-10"/>
              <a:t>connection.</a:t>
            </a: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pc="55"/>
              <a:t>How</a:t>
            </a:r>
            <a:r>
              <a:rPr dirty="0" spc="-40"/>
              <a:t> </a:t>
            </a:r>
            <a:r>
              <a:rPr dirty="0" spc="55"/>
              <a:t>they</a:t>
            </a:r>
            <a:r>
              <a:rPr dirty="0" spc="-35"/>
              <a:t> </a:t>
            </a:r>
            <a:r>
              <a:rPr dirty="0" spc="45"/>
              <a:t>work:</a:t>
            </a: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handshake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upgrade</a:t>
            </a:r>
            <a:r>
              <a:rPr dirty="0" sz="14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550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1: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Client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requests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upgrade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to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WebSockets</a:t>
            </a:r>
            <a:endParaRPr sz="11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610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2: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Server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accepts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and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keeps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connection</a:t>
            </a:r>
            <a:r>
              <a:rPr dirty="0" sz="1100" spc="-1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open.</a:t>
            </a:r>
            <a:endParaRPr sz="11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15"/>
              </a:spcBef>
              <a:buChar char="○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remains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open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continuous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exchange.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Either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messages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at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any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time.</a:t>
            </a:r>
            <a:endParaRPr sz="14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555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-25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3:</a:t>
            </a:r>
            <a:r>
              <a:rPr dirty="0" sz="1100" spc="-15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Data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is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exchanged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in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real-</a:t>
            </a:r>
            <a:r>
              <a:rPr dirty="0" sz="1100">
                <a:latin typeface="Arial"/>
                <a:cs typeface="Arial"/>
              </a:rPr>
              <a:t>time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using</a:t>
            </a:r>
            <a:r>
              <a:rPr dirty="0" sz="1100" spc="-2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frames.</a:t>
            </a:r>
            <a:endParaRPr sz="1100">
              <a:latin typeface="Arial"/>
              <a:cs typeface="Arial"/>
            </a:endParaRPr>
          </a:p>
          <a:p>
            <a:pPr lvl="2" marL="1293495" indent="-335915">
              <a:lnSpc>
                <a:spcPct val="100000"/>
              </a:lnSpc>
              <a:spcBef>
                <a:spcPts val="610"/>
              </a:spcBef>
              <a:buClr>
                <a:srgbClr val="685D46"/>
              </a:buClr>
              <a:buSzPct val="127272"/>
              <a:buFont typeface="Arial"/>
              <a:buChar char="■"/>
              <a:tabLst>
                <a:tab pos="1293495" algn="l"/>
              </a:tabLst>
            </a:pPr>
            <a:r>
              <a:rPr dirty="0" sz="1100" b="1">
                <a:latin typeface="Arial"/>
                <a:cs typeface="Arial"/>
              </a:rPr>
              <a:t>Step</a:t>
            </a:r>
            <a:r>
              <a:rPr dirty="0" sz="1100" spc="-30" b="1">
                <a:latin typeface="Arial"/>
                <a:cs typeface="Arial"/>
              </a:rPr>
              <a:t> </a:t>
            </a:r>
            <a:r>
              <a:rPr dirty="0" sz="1100" b="1">
                <a:latin typeface="Arial"/>
                <a:cs typeface="Arial"/>
              </a:rPr>
              <a:t>4:</a:t>
            </a:r>
            <a:r>
              <a:rPr dirty="0" sz="1100" spc="-20" b="1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Either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party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can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close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the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connection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when</a:t>
            </a:r>
            <a:r>
              <a:rPr dirty="0" sz="1100" spc="-30">
                <a:latin typeface="Arial"/>
                <a:cs typeface="Arial"/>
              </a:rPr>
              <a:t> </a:t>
            </a:r>
            <a:r>
              <a:rPr dirty="0" sz="1100" spc="-10">
                <a:latin typeface="Arial"/>
                <a:cs typeface="Arial"/>
              </a:rPr>
              <a:t>done.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18075" y="3291800"/>
            <a:ext cx="2625924" cy="17667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25"/>
              <a:t>Advantages</a:t>
            </a:r>
            <a:r>
              <a:rPr dirty="0" spc="-30"/>
              <a:t> </a:t>
            </a:r>
            <a:r>
              <a:rPr dirty="0" spc="-270"/>
              <a:t>and</a:t>
            </a:r>
            <a:r>
              <a:rPr dirty="0" spc="-30"/>
              <a:t> </a:t>
            </a:r>
            <a:r>
              <a:rPr dirty="0" spc="-220"/>
              <a:t>use</a:t>
            </a:r>
            <a:r>
              <a:rPr dirty="0" spc="-30"/>
              <a:t> </a:t>
            </a:r>
            <a:r>
              <a:rPr dirty="0" spc="-204"/>
              <a:t>cases</a:t>
            </a:r>
            <a:r>
              <a:rPr dirty="0" spc="-25"/>
              <a:t> </a:t>
            </a:r>
            <a:r>
              <a:rPr dirty="0" spc="-250"/>
              <a:t>of</a:t>
            </a:r>
            <a:r>
              <a:rPr dirty="0" spc="-95"/>
              <a:t> </a:t>
            </a:r>
            <a:r>
              <a:rPr dirty="0" spc="-280"/>
              <a:t>WebSockets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183630" cy="28651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dirty="0" sz="1100" spc="-10">
                <a:latin typeface="Arial"/>
                <a:cs typeface="Arial"/>
              </a:rPr>
              <a:t>:</a:t>
            </a:r>
            <a:endParaRPr sz="11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Persistent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lower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latency.</a:t>
            </a:r>
            <a:endParaRPr sz="18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Reduces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overhead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compared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polling.</a:t>
            </a:r>
            <a:endParaRPr sz="18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applications.</a:t>
            </a:r>
            <a:endParaRPr sz="1800">
              <a:latin typeface="Arial"/>
              <a:cs typeface="Arial"/>
            </a:endParaRPr>
          </a:p>
          <a:p>
            <a:pPr marL="379095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cases:</a:t>
            </a:r>
            <a:endParaRPr sz="18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Live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Chat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(WhatsApp,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Slack,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Discord)</a:t>
            </a:r>
            <a:endParaRPr sz="18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Market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Price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Updates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(NASDAQ,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Robinhood)</a:t>
            </a:r>
            <a:endParaRPr sz="18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Multiplayer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Online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Games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(Fortnite,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Call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Duty)</a:t>
            </a:r>
            <a:endParaRPr sz="1800">
              <a:latin typeface="Arial"/>
              <a:cs typeface="Arial"/>
            </a:endParaRPr>
          </a:p>
          <a:p>
            <a:pPr lvl="1" marL="836294" indent="-313055">
              <a:lnSpc>
                <a:spcPct val="100000"/>
              </a:lnSpc>
              <a:spcBef>
                <a:spcPts val="325"/>
              </a:spcBef>
              <a:buClr>
                <a:srgbClr val="000000"/>
              </a:buClr>
              <a:buSzPct val="61111"/>
              <a:buChar char="○"/>
              <a:tabLst>
                <a:tab pos="836294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Collaborative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Tools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(Google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Docs,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Figma)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60497" y="1655571"/>
            <a:ext cx="1607924" cy="1552249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1590"/>
            <a:ext cx="6791959" cy="51943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5"/>
              <a:t>Long</a:t>
            </a:r>
            <a:r>
              <a:rPr dirty="0" spc="-15"/>
              <a:t> </a:t>
            </a:r>
            <a:r>
              <a:rPr dirty="0" spc="-145"/>
              <a:t>Polling:</a:t>
            </a:r>
            <a:r>
              <a:rPr dirty="0" spc="-15"/>
              <a:t> </a:t>
            </a:r>
            <a:r>
              <a:rPr dirty="0" spc="-175"/>
              <a:t>Simulating</a:t>
            </a:r>
            <a:r>
              <a:rPr dirty="0" spc="-15"/>
              <a:t> </a:t>
            </a:r>
            <a:r>
              <a:rPr dirty="0" spc="-215"/>
              <a:t>Real-</a:t>
            </a:r>
            <a:r>
              <a:rPr dirty="0" spc="-210"/>
              <a:t>Time</a:t>
            </a:r>
            <a:r>
              <a:rPr dirty="0" spc="-60"/>
              <a:t> </a:t>
            </a:r>
            <a:r>
              <a:rPr dirty="0" spc="-240"/>
              <a:t>with</a:t>
            </a:r>
            <a:r>
              <a:rPr dirty="0" spc="-15"/>
              <a:t> </a:t>
            </a:r>
            <a:r>
              <a:rPr dirty="0" spc="-55"/>
              <a:t>HTTP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30206"/>
            <a:ext cx="5118100" cy="292925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379095" marR="15240" indent="-367030">
              <a:lnSpc>
                <a:spcPts val="2270"/>
              </a:lnSpc>
              <a:spcBef>
                <a:spcPts val="8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685D46"/>
                </a:solidFill>
                <a:latin typeface="Tahoma"/>
                <a:cs typeface="Tahoma"/>
              </a:rPr>
              <a:t>Deﬁnition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technique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-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client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waits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until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respond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with.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diﬀers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regular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polling: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05000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immediate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responses,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server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holds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until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available.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10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Works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(Step-by-Step)</a:t>
            </a:r>
            <a:endParaRPr sz="1800">
              <a:latin typeface="Arial"/>
              <a:cs typeface="Arial"/>
            </a:endParaRPr>
          </a:p>
          <a:p>
            <a:pPr lvl="1" marL="836294" indent="-374015">
              <a:lnSpc>
                <a:spcPct val="100000"/>
              </a:lnSpc>
              <a:spcBef>
                <a:spcPts val="125"/>
              </a:spcBef>
              <a:buAutoNum type="alphaLcPeriod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makes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an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400">
              <a:latin typeface="Arial"/>
              <a:cs typeface="Arial"/>
            </a:endParaRPr>
          </a:p>
          <a:p>
            <a:pPr lvl="1" marL="836294" indent="-384175">
              <a:lnSpc>
                <a:spcPct val="100000"/>
              </a:lnSpc>
              <a:spcBef>
                <a:spcPts val="85"/>
              </a:spcBef>
              <a:buAutoNum type="alphaLcPeriod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holds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request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until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available.</a:t>
            </a:r>
            <a:endParaRPr sz="1400">
              <a:latin typeface="Arial"/>
              <a:cs typeface="Arial"/>
            </a:endParaRPr>
          </a:p>
          <a:p>
            <a:pPr lvl="1" marL="836294" indent="-360680">
              <a:lnSpc>
                <a:spcPct val="100000"/>
              </a:lnSpc>
              <a:spcBef>
                <a:spcPts val="80"/>
              </a:spcBef>
              <a:buAutoNum type="alphaLcPeriod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responds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new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lvl="1" marL="836294" indent="-384175">
              <a:lnSpc>
                <a:spcPct val="100000"/>
              </a:lnSpc>
              <a:spcBef>
                <a:spcPts val="85"/>
              </a:spcBef>
              <a:buAutoNum type="alphaLcPeriod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immediately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sends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another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request.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24954" y="1304825"/>
            <a:ext cx="2859351" cy="183815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340"/>
              <a:t>When</a:t>
            </a:r>
            <a:r>
              <a:rPr dirty="0" spc="-40"/>
              <a:t> </a:t>
            </a:r>
            <a:r>
              <a:rPr dirty="0" spc="-235"/>
              <a:t>to</a:t>
            </a:r>
            <a:r>
              <a:rPr dirty="0" spc="-35"/>
              <a:t> </a:t>
            </a:r>
            <a:r>
              <a:rPr dirty="0" spc="-270"/>
              <a:t>Use</a:t>
            </a:r>
            <a:r>
              <a:rPr dirty="0" spc="-105"/>
              <a:t> </a:t>
            </a:r>
            <a:r>
              <a:rPr dirty="0" spc="-270"/>
              <a:t>WebSockets</a:t>
            </a:r>
            <a:r>
              <a:rPr dirty="0" spc="-100"/>
              <a:t> </a:t>
            </a:r>
            <a:r>
              <a:rPr dirty="0" spc="-190"/>
              <a:t>vs.</a:t>
            </a:r>
            <a:r>
              <a:rPr dirty="0" spc="-240"/>
              <a:t> </a:t>
            </a:r>
            <a:r>
              <a:rPr dirty="0" spc="-185"/>
              <a:t>Long</a:t>
            </a:r>
            <a:r>
              <a:rPr dirty="0" spc="-35"/>
              <a:t> </a:t>
            </a:r>
            <a:r>
              <a:rPr dirty="0" spc="-125"/>
              <a:t>Polling?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311825" y="1673346"/>
            <a:ext cx="221615" cy="454025"/>
            <a:chOff x="1311825" y="1673346"/>
            <a:chExt cx="221615" cy="4540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1673346"/>
              <a:ext cx="221258" cy="20824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1918710"/>
              <a:ext cx="221258" cy="208243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311825" y="2479542"/>
            <a:ext cx="221615" cy="454025"/>
            <a:chOff x="1311825" y="2479542"/>
            <a:chExt cx="221615" cy="454025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2479542"/>
              <a:ext cx="221258" cy="20824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11825" y="2724906"/>
              <a:ext cx="221258" cy="208243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75249" y="1274688"/>
            <a:ext cx="5713095" cy="296037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-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800" spc="-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High-frequency,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bi-directional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1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exchange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needed.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254"/>
              </a:spcBef>
              <a:buChar char="○"/>
              <a:tabLst>
                <a:tab pos="110363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Low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critical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gaming,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chat).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when:</a:t>
            </a:r>
            <a:endParaRPr sz="18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340"/>
              </a:spcBef>
              <a:buChar char="○"/>
              <a:tabLst>
                <a:tab pos="110363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supported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overkill.</a:t>
            </a:r>
            <a:endParaRPr sz="1400">
              <a:latin typeface="Arial"/>
              <a:cs typeface="Arial"/>
            </a:endParaRPr>
          </a:p>
          <a:p>
            <a:pPr lvl="1" marL="1103630" indent="-603250">
              <a:lnSpc>
                <a:spcPct val="100000"/>
              </a:lnSpc>
              <a:spcBef>
                <a:spcPts val="250"/>
              </a:spcBef>
              <a:buChar char="○"/>
              <a:tabLst>
                <a:tab pos="1103630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Periodic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updates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suﬃcient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(e.g.,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notiﬁcations).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Real-world</a:t>
            </a:r>
            <a:r>
              <a:rPr dirty="0" sz="1800" spc="1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example: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Slack: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-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chat.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Twitter: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for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notiﬁcations.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Stock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Exchanges: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feeds.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devices: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intermittent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updates.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35"/>
              <a:t> </a:t>
            </a:r>
            <a:r>
              <a:rPr dirty="0" spc="-215"/>
              <a:t>Questions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7125334" cy="289052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Basic</a:t>
            </a:r>
            <a:r>
              <a:rPr dirty="0" sz="1800" spc="-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Questions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communication,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why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important?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work,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diﬀer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traditional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HTTP?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Explain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handshake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process.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polling,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it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work?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40"/>
              </a:spcBef>
              <a:buChar char="●"/>
              <a:tabLst>
                <a:tab pos="379095" algn="l"/>
              </a:tabLst>
            </a:pP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Intermediate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 Questions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advantages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polling?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scenarios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prefer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WebSockets?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connection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failures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 or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network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interruptions?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Can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you use WebSockets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with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 load balancers? If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yes,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how?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some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challenges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scaling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distributed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-285"/>
              <a:t>Summary</a:t>
            </a:r>
            <a:r>
              <a:rPr dirty="0" sz="3100" spc="-150"/>
              <a:t> </a:t>
            </a:r>
            <a:r>
              <a:rPr dirty="0" sz="3100"/>
              <a:t>&amp;</a:t>
            </a:r>
            <a:r>
              <a:rPr dirty="0" sz="3100" spc="-90"/>
              <a:t> </a:t>
            </a:r>
            <a:r>
              <a:rPr dirty="0" sz="3100" spc="-140"/>
              <a:t>Final</a:t>
            </a:r>
            <a:r>
              <a:rPr dirty="0" sz="3100" spc="-150"/>
              <a:t> </a:t>
            </a:r>
            <a:r>
              <a:rPr dirty="0" sz="3100" spc="-275"/>
              <a:t>Takeaways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6038215" cy="154432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WebSockets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Persistent,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full-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duplex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Long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Polling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Simulated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via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85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requests.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infrastructure.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REST(gRPC,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GraphQL)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92709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10"/>
              </a:spcBef>
            </a:pPr>
            <a:r>
              <a:rPr dirty="0" sz="2850" spc="-305"/>
              <a:t>Modern</a:t>
            </a:r>
            <a:r>
              <a:rPr dirty="0" sz="2850" spc="-125"/>
              <a:t> </a:t>
            </a:r>
            <a:r>
              <a:rPr dirty="0" sz="2850" spc="-195"/>
              <a:t>API</a:t>
            </a:r>
            <a:r>
              <a:rPr dirty="0" sz="2850" spc="-20"/>
              <a:t> </a:t>
            </a:r>
            <a:r>
              <a:rPr dirty="0" sz="2850" spc="-195"/>
              <a:t>Protocols</a:t>
            </a:r>
            <a:r>
              <a:rPr dirty="0" sz="2850" spc="-140"/>
              <a:t> </a:t>
            </a:r>
            <a:r>
              <a:rPr dirty="0" sz="2850" spc="-35"/>
              <a:t>-</a:t>
            </a:r>
            <a:r>
              <a:rPr dirty="0" sz="2850" spc="-215"/>
              <a:t> </a:t>
            </a:r>
            <a:r>
              <a:rPr dirty="0" sz="2850" spc="-254"/>
              <a:t>Beyond</a:t>
            </a:r>
            <a:r>
              <a:rPr dirty="0" sz="2850" spc="-15"/>
              <a:t> </a:t>
            </a:r>
            <a:r>
              <a:rPr dirty="0" sz="2850" spc="-150"/>
              <a:t>REST(gRPC,</a:t>
            </a:r>
            <a:r>
              <a:rPr dirty="0" sz="2850" spc="-240"/>
              <a:t> </a:t>
            </a:r>
            <a:r>
              <a:rPr dirty="0" sz="2850" spc="-185"/>
              <a:t>GraphQL)</a:t>
            </a:r>
            <a:endParaRPr sz="2850"/>
          </a:p>
        </p:txBody>
      </p:sp>
      <p:sp>
        <p:nvSpPr>
          <p:cNvPr id="3" name="object 3"/>
          <p:cNvSpPr txBox="1"/>
          <p:nvPr/>
        </p:nvSpPr>
        <p:spPr>
          <a:xfrm>
            <a:off x="3892355" y="2910872"/>
            <a:ext cx="13589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84725" y="502098"/>
            <a:ext cx="5003165" cy="504190"/>
          </a:xfrm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3100" spc="-360"/>
              <a:t>Why</a:t>
            </a:r>
            <a:r>
              <a:rPr dirty="0" sz="3100" spc="-145"/>
              <a:t> </a:t>
            </a:r>
            <a:r>
              <a:rPr dirty="0" sz="3100" spc="-275"/>
              <a:t>Do</a:t>
            </a:r>
            <a:r>
              <a:rPr dirty="0" sz="3100" spc="-105"/>
              <a:t> </a:t>
            </a:r>
            <a:r>
              <a:rPr dirty="0" sz="3100" spc="-465"/>
              <a:t>We</a:t>
            </a:r>
            <a:r>
              <a:rPr dirty="0" sz="3100" spc="-50"/>
              <a:t> </a:t>
            </a:r>
            <a:r>
              <a:rPr dirty="0" sz="3100" spc="-275"/>
              <a:t>Need</a:t>
            </a:r>
            <a:r>
              <a:rPr dirty="0" sz="3100" spc="-50"/>
              <a:t> </a:t>
            </a:r>
            <a:r>
              <a:rPr dirty="0" sz="3100" spc="-335"/>
              <a:t>More</a:t>
            </a:r>
            <a:r>
              <a:rPr dirty="0" sz="3100" spc="-140"/>
              <a:t> </a:t>
            </a:r>
            <a:r>
              <a:rPr dirty="0" sz="3100" spc="-215"/>
              <a:t>Than</a:t>
            </a:r>
            <a:r>
              <a:rPr dirty="0" sz="3100" spc="-50"/>
              <a:t> </a:t>
            </a:r>
            <a:r>
              <a:rPr dirty="0" sz="3100" spc="-95"/>
              <a:t>REST?</a:t>
            </a:r>
            <a:endParaRPr sz="3100"/>
          </a:p>
        </p:txBody>
      </p:sp>
      <p:sp>
        <p:nvSpPr>
          <p:cNvPr id="3" name="object 3"/>
          <p:cNvSpPr txBox="1"/>
          <p:nvPr/>
        </p:nvSpPr>
        <p:spPr>
          <a:xfrm>
            <a:off x="475249" y="1309958"/>
            <a:ext cx="3687445" cy="3040380"/>
          </a:xfrm>
          <a:prstGeom prst="rect">
            <a:avLst/>
          </a:prstGeom>
        </p:spPr>
        <p:txBody>
          <a:bodyPr wrap="square" lIns="0" tIns="33019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259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Limitations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APIs:</a:t>
            </a:r>
            <a:endParaRPr sz="1800">
              <a:latin typeface="Arial"/>
              <a:cs typeface="Arial"/>
            </a:endParaRPr>
          </a:p>
          <a:p>
            <a:pPr lvl="1" marL="836294" marR="134620" indent="-336550">
              <a:lnSpc>
                <a:spcPct val="105000"/>
              </a:lnSpc>
              <a:spcBef>
                <a:spcPts val="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Over-fetching</a:t>
            </a:r>
            <a:r>
              <a:rPr dirty="0" sz="1400" spc="28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2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Under-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fetching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(Clients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get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much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0">
                <a:solidFill>
                  <a:srgbClr val="685D46"/>
                </a:solidFill>
                <a:latin typeface="Arial"/>
                <a:cs typeface="Arial"/>
              </a:rPr>
              <a:t>too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little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data).</a:t>
            </a:r>
            <a:endParaRPr sz="1400">
              <a:latin typeface="Arial"/>
              <a:cs typeface="Arial"/>
            </a:endParaRPr>
          </a:p>
          <a:p>
            <a:pPr lvl="1" marL="836294" marR="236854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High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Latency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(Multiple</a:t>
            </a:r>
            <a:r>
              <a:rPr dirty="0" sz="14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requests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needed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complex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data).</a:t>
            </a:r>
            <a:endParaRPr sz="1400">
              <a:latin typeface="Arial"/>
              <a:cs typeface="Arial"/>
            </a:endParaRPr>
          </a:p>
          <a:p>
            <a:pPr lvl="1" marL="836294" marR="39370" indent="-336550">
              <a:lnSpc>
                <a:spcPct val="105000"/>
              </a:lnSpc>
              <a:buChar char="○"/>
              <a:tabLst>
                <a:tab pos="836294" algn="l"/>
              </a:tabLst>
            </a:pP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Not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optimized</a:t>
            </a:r>
            <a:r>
              <a:rPr dirty="0" sz="14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4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time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4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(Polling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required).</a:t>
            </a:r>
            <a:endParaRPr sz="1400">
              <a:latin typeface="Arial"/>
              <a:cs typeface="Arial"/>
            </a:endParaRPr>
          </a:p>
          <a:p>
            <a:pPr marL="379095" marR="5080" indent="-367030">
              <a:lnSpc>
                <a:spcPts val="2270"/>
              </a:lnSpc>
              <a:spcBef>
                <a:spcPts val="5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Need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solutions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like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handle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eﬃciency,</a:t>
            </a:r>
            <a:r>
              <a:rPr dirty="0" sz="18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ﬂexibility,</a:t>
            </a:r>
            <a:r>
              <a:rPr dirty="0" sz="18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performance.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200" cy="189539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00"/>
              <a:t>Introducing</a:t>
            </a:r>
            <a:r>
              <a:rPr dirty="0" spc="-35"/>
              <a:t> </a:t>
            </a:r>
            <a:r>
              <a:rPr dirty="0" spc="-180"/>
              <a:t>gRPC</a:t>
            </a:r>
            <a:r>
              <a:rPr dirty="0" spc="-140"/>
              <a:t> </a:t>
            </a:r>
            <a:r>
              <a:rPr dirty="0" spc="-90"/>
              <a:t>&amp;</a:t>
            </a:r>
            <a:r>
              <a:rPr dirty="0" spc="-75"/>
              <a:t> </a:t>
            </a:r>
            <a:r>
              <a:rPr dirty="0" spc="-265"/>
              <a:t>GraphQL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319233"/>
            <a:ext cx="3992879" cy="293624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379095" marR="5080" indent="-367030">
              <a:lnSpc>
                <a:spcPts val="2050"/>
              </a:lnSpc>
              <a:spcBef>
                <a:spcPts val="260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spc="-90" b="1">
                <a:solidFill>
                  <a:srgbClr val="685D46"/>
                </a:solidFill>
                <a:latin typeface="Tahoma"/>
                <a:cs typeface="Tahoma"/>
              </a:rPr>
              <a:t>gRPC</a:t>
            </a:r>
            <a:r>
              <a:rPr dirty="0" sz="1800" spc="-9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2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high-performance,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binary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optimized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for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2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2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time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marR="403860" indent="-367030">
              <a:lnSpc>
                <a:spcPts val="2050"/>
              </a:lnSpc>
              <a:spcBef>
                <a:spcPts val="5"/>
              </a:spcBef>
              <a:buFont typeface="Arial"/>
              <a:buChar char="●"/>
              <a:tabLst>
                <a:tab pos="379095" algn="l"/>
              </a:tabLst>
            </a:pPr>
            <a:r>
              <a:rPr dirty="0" sz="1800" b="1">
                <a:solidFill>
                  <a:srgbClr val="685D46"/>
                </a:solidFill>
                <a:latin typeface="Tahoma"/>
                <a:cs typeface="Tahoma"/>
              </a:rPr>
              <a:t>GraphQL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: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ﬂexible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query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language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that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allows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to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fetch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only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ts val="1970"/>
              </a:lnSpc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-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Diﬀerences:</a:t>
            </a:r>
            <a:endParaRPr sz="1800">
              <a:latin typeface="Arial"/>
              <a:cs typeface="Arial"/>
            </a:endParaRPr>
          </a:p>
          <a:p>
            <a:pPr lvl="1" marL="836294" marR="1304925" indent="-336550">
              <a:lnSpc>
                <a:spcPts val="1600"/>
              </a:lnSpc>
              <a:spcBef>
                <a:spcPts val="85"/>
              </a:spcBef>
              <a:buChar char="○"/>
              <a:tabLst>
                <a:tab pos="836294" algn="l"/>
              </a:tabLst>
            </a:pP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4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4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Fast,</a:t>
            </a:r>
            <a:r>
              <a:rPr dirty="0" sz="14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binary,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microservices-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focused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ts val="1510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=</a:t>
            </a:r>
            <a:r>
              <a:rPr dirty="0" sz="14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Flexible,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55">
                <a:solidFill>
                  <a:srgbClr val="685D46"/>
                </a:solidFill>
                <a:latin typeface="Arial"/>
                <a:cs typeface="Arial"/>
              </a:rPr>
              <a:t>JSON-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based,</a:t>
            </a:r>
            <a:endParaRPr sz="1400">
              <a:latin typeface="Arial"/>
              <a:cs typeface="Arial"/>
            </a:endParaRPr>
          </a:p>
          <a:p>
            <a:pPr marL="836294">
              <a:lnSpc>
                <a:spcPts val="1639"/>
              </a:lnSpc>
            </a:pP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frontend-</a:t>
            </a:r>
            <a:r>
              <a:rPr dirty="0" sz="1400" spc="40">
                <a:solidFill>
                  <a:srgbClr val="685D46"/>
                </a:solidFill>
                <a:latin typeface="Arial"/>
                <a:cs typeface="Arial"/>
              </a:rPr>
              <a:t>optimized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24400" y="1304825"/>
            <a:ext cx="4267199" cy="196642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0"/>
              <a:t>gRPC</a:t>
            </a:r>
            <a:r>
              <a:rPr dirty="0" spc="-280"/>
              <a:t> </a:t>
            </a:r>
            <a:r>
              <a:rPr dirty="0" spc="-10"/>
              <a:t>-</a:t>
            </a:r>
            <a:r>
              <a:rPr dirty="0" spc="-260"/>
              <a:t> </a:t>
            </a:r>
            <a:r>
              <a:rPr dirty="0" spc="-370"/>
              <a:t>How</a:t>
            </a:r>
            <a:r>
              <a:rPr dirty="0" spc="-110"/>
              <a:t> </a:t>
            </a:r>
            <a:r>
              <a:rPr dirty="0" spc="-135"/>
              <a:t>It</a:t>
            </a:r>
            <a:r>
              <a:rPr dirty="0" spc="-110"/>
              <a:t> </a:t>
            </a:r>
            <a:r>
              <a:rPr dirty="0" spc="-32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74688"/>
            <a:ext cx="3923029" cy="2528570"/>
          </a:xfrm>
          <a:prstGeom prst="rect">
            <a:avLst/>
          </a:prstGeom>
        </p:spPr>
        <p:txBody>
          <a:bodyPr wrap="square" lIns="0" tIns="67945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535"/>
              </a:spcBef>
              <a:buChar char="●"/>
              <a:tabLst>
                <a:tab pos="379095" algn="l"/>
              </a:tabLst>
            </a:pP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800" spc="-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is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built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HTTP/2,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allowing:</a:t>
            </a:r>
            <a:endParaRPr sz="1800">
              <a:latin typeface="Arial"/>
              <a:cs typeface="Arial"/>
            </a:endParaRPr>
          </a:p>
          <a:p>
            <a:pPr lvl="1" marL="836294" marR="152400" indent="-336550">
              <a:lnSpc>
                <a:spcPct val="114999"/>
              </a:lnSpc>
              <a:spcBef>
                <a:spcPts val="90"/>
              </a:spcBef>
              <a:buChar char="○"/>
              <a:tabLst>
                <a:tab pos="836294" algn="l"/>
              </a:tabLst>
            </a:pP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Multiplexed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0">
                <a:solidFill>
                  <a:srgbClr val="685D46"/>
                </a:solidFill>
                <a:latin typeface="Arial"/>
                <a:cs typeface="Arial"/>
              </a:rPr>
              <a:t>(multiple</a:t>
            </a:r>
            <a:r>
              <a:rPr dirty="0" sz="14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calls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400" spc="10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dirty="0" sz="14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connection).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Compression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(smaller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payload</a:t>
            </a:r>
            <a:r>
              <a:rPr dirty="0" sz="14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sizes).</a:t>
            </a:r>
            <a:endParaRPr sz="1400">
              <a:latin typeface="Arial"/>
              <a:cs typeface="Arial"/>
            </a:endParaRPr>
          </a:p>
          <a:p>
            <a:pPr lvl="1" marL="836294" marR="443865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Full-duplex</a:t>
            </a:r>
            <a:r>
              <a:rPr dirty="0" sz="1400" spc="2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400" spc="2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(real-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time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bidirectional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communication).</a:t>
            </a:r>
            <a:endParaRPr sz="1400">
              <a:latin typeface="Arial"/>
              <a:cs typeface="Arial"/>
            </a:endParaRPr>
          </a:p>
          <a:p>
            <a:pPr marL="379095" marR="97155" indent="-367030">
              <a:lnSpc>
                <a:spcPts val="2480"/>
              </a:lnSpc>
              <a:spcBef>
                <a:spcPts val="25"/>
              </a:spcBef>
              <a:buChar char="●"/>
              <a:tabLst>
                <a:tab pos="379095" algn="l"/>
              </a:tabLst>
            </a:pP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Uses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Protocol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Buﬀers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(ProtoBuf)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serialization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(smaller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faster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than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JSON).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78574" y="1413658"/>
            <a:ext cx="4285900" cy="175789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35175" y="3297149"/>
            <a:ext cx="2736483" cy="1667149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180"/>
              <a:t>gRPC</a:t>
            </a:r>
            <a:r>
              <a:rPr dirty="0" spc="-280"/>
              <a:t> </a:t>
            </a:r>
            <a:r>
              <a:rPr dirty="0" spc="-10"/>
              <a:t>-</a:t>
            </a:r>
            <a:r>
              <a:rPr dirty="0" spc="-260"/>
              <a:t> </a:t>
            </a:r>
            <a:r>
              <a:rPr dirty="0" spc="-270"/>
              <a:t>Use</a:t>
            </a:r>
            <a:r>
              <a:rPr dirty="0" spc="-85"/>
              <a:t> </a:t>
            </a:r>
            <a:r>
              <a:rPr dirty="0" spc="-204"/>
              <a:t>Cases</a:t>
            </a:r>
            <a:r>
              <a:rPr dirty="0" spc="-45"/>
              <a:t> </a:t>
            </a:r>
            <a:r>
              <a:rPr dirty="0" spc="-90"/>
              <a:t>&amp;</a:t>
            </a:r>
            <a:r>
              <a:rPr dirty="0" spc="-110"/>
              <a:t> </a:t>
            </a:r>
            <a:r>
              <a:rPr dirty="0" spc="-340"/>
              <a:t>When</a:t>
            </a:r>
            <a:r>
              <a:rPr dirty="0" spc="-45"/>
              <a:t> </a:t>
            </a:r>
            <a:r>
              <a:rPr dirty="0" spc="-235"/>
              <a:t>to</a:t>
            </a:r>
            <a:r>
              <a:rPr dirty="0" spc="-45"/>
              <a:t> </a:t>
            </a:r>
            <a:r>
              <a:rPr dirty="0" spc="-295"/>
              <a:t>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593330" cy="128778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</a:t>
            </a:r>
            <a:r>
              <a:rPr dirty="0" sz="1800" spc="1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Fast</a:t>
            </a:r>
            <a:r>
              <a:rPr dirty="0" sz="18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inter-service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Real-time</a:t>
            </a:r>
            <a:r>
              <a:rPr dirty="0" sz="18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streaming</a:t>
            </a:r>
            <a:r>
              <a:rPr dirty="0" sz="18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Full-duplex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bidirectional</a:t>
            </a:r>
            <a:r>
              <a:rPr dirty="0" sz="18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1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transfer.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IoT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Low-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bandwidth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Eﬃcient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binary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communication.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Multi-language</a:t>
            </a:r>
            <a:r>
              <a:rPr dirty="0" sz="18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ecosystems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Auto-generated</a:t>
            </a:r>
            <a:r>
              <a:rPr dirty="0" sz="1800" spc="2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20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1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code.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4"/>
              <a:t>GraphQL</a:t>
            </a:r>
            <a:r>
              <a:rPr dirty="0" spc="-320"/>
              <a:t> </a:t>
            </a:r>
            <a:r>
              <a:rPr dirty="0" spc="-10"/>
              <a:t>-</a:t>
            </a:r>
            <a:r>
              <a:rPr dirty="0" spc="-260"/>
              <a:t> </a:t>
            </a:r>
            <a:r>
              <a:rPr dirty="0" spc="-370"/>
              <a:t>How</a:t>
            </a:r>
            <a:r>
              <a:rPr dirty="0" spc="-110"/>
              <a:t> </a:t>
            </a:r>
            <a:r>
              <a:rPr dirty="0" spc="-135"/>
              <a:t>It</a:t>
            </a:r>
            <a:r>
              <a:rPr dirty="0" spc="-114"/>
              <a:t> </a:t>
            </a:r>
            <a:r>
              <a:rPr dirty="0" spc="-320"/>
              <a:t>Works?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4027170" cy="2549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Instead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REST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endpoints,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has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one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endpoint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where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specify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they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need.</a:t>
            </a:r>
            <a:endParaRPr sz="1800">
              <a:latin typeface="Arial"/>
              <a:cs typeface="Arial"/>
            </a:endParaRPr>
          </a:p>
          <a:p>
            <a:pPr marL="379095" marR="80645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Schema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deﬁnes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types</a:t>
            </a:r>
            <a:r>
              <a:rPr dirty="0" sz="1800" spc="9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&amp;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relationships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between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data.</a:t>
            </a:r>
            <a:endParaRPr sz="1800">
              <a:latin typeface="Arial"/>
              <a:cs typeface="Arial"/>
            </a:endParaRPr>
          </a:p>
          <a:p>
            <a:pPr marL="379095" marR="3556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Clients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send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queries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GraphQL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server</a:t>
            </a:r>
            <a:r>
              <a:rPr dirty="0" sz="1800" spc="1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resolves</a:t>
            </a:r>
            <a:r>
              <a:rPr dirty="0" sz="1800" spc="1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ﬁelds</a:t>
            </a:r>
            <a:r>
              <a:rPr dirty="0" sz="18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dynamically.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3849" y="1266324"/>
            <a:ext cx="4006238" cy="165883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7700" y="3097125"/>
            <a:ext cx="1318550" cy="1311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11025" y="3097125"/>
            <a:ext cx="2243649" cy="1311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54"/>
              <a:t>GraphQL</a:t>
            </a:r>
            <a:r>
              <a:rPr dirty="0" spc="-325"/>
              <a:t> </a:t>
            </a:r>
            <a:r>
              <a:rPr dirty="0" spc="-10"/>
              <a:t>-</a:t>
            </a:r>
            <a:r>
              <a:rPr dirty="0" spc="-254"/>
              <a:t> </a:t>
            </a:r>
            <a:r>
              <a:rPr dirty="0" spc="-270"/>
              <a:t>Use</a:t>
            </a:r>
            <a:r>
              <a:rPr dirty="0" spc="-85"/>
              <a:t> </a:t>
            </a:r>
            <a:r>
              <a:rPr dirty="0" spc="-204"/>
              <a:t>Cases</a:t>
            </a:r>
            <a:r>
              <a:rPr dirty="0" spc="-45"/>
              <a:t> </a:t>
            </a:r>
            <a:r>
              <a:rPr dirty="0" spc="-90"/>
              <a:t>&amp;</a:t>
            </a:r>
            <a:r>
              <a:rPr dirty="0" spc="-110"/>
              <a:t> </a:t>
            </a:r>
            <a:r>
              <a:rPr dirty="0" spc="-340"/>
              <a:t>When</a:t>
            </a:r>
            <a:r>
              <a:rPr dirty="0" spc="-45"/>
              <a:t> </a:t>
            </a:r>
            <a:r>
              <a:rPr dirty="0" spc="-235"/>
              <a:t>to</a:t>
            </a:r>
            <a:r>
              <a:rPr dirty="0" spc="-40"/>
              <a:t> </a:t>
            </a:r>
            <a:r>
              <a:rPr dirty="0" spc="-295"/>
              <a:t>Use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929245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Frontend</a:t>
            </a:r>
            <a:r>
              <a:rPr dirty="0" sz="18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Optimization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Clients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fetch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exactly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they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need.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Reducing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Requests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One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query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replaces</a:t>
            </a:r>
            <a:r>
              <a:rPr dirty="0" sz="1800" spc="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9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calls.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Mobile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Web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Apps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Handles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slow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networks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sources.</a:t>
            </a:r>
            <a:endParaRPr sz="1800">
              <a:latin typeface="Arial"/>
              <a:cs typeface="Arial"/>
            </a:endParaRPr>
          </a:p>
          <a:p>
            <a:pPr marL="379095" marR="5080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Aggregating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from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Multiple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Services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Simpliﬁes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fetching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90">
                <a:solidFill>
                  <a:srgbClr val="685D46"/>
                </a:solidFill>
                <a:latin typeface="Arial"/>
                <a:cs typeface="Arial"/>
              </a:rPr>
              <a:t>from diﬀerent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databases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or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15"/>
              <a:t>Interview</a:t>
            </a:r>
            <a:r>
              <a:rPr dirty="0" spc="-140"/>
              <a:t> </a:t>
            </a:r>
            <a:r>
              <a:rPr dirty="0" spc="-229"/>
              <a:t>Questions</a:t>
            </a:r>
            <a:r>
              <a:rPr dirty="0" spc="-30"/>
              <a:t> </a:t>
            </a:r>
            <a:r>
              <a:rPr dirty="0" spc="-275"/>
              <a:t>on</a:t>
            </a:r>
            <a:r>
              <a:rPr dirty="0" spc="-150"/>
              <a:t> </a:t>
            </a:r>
            <a:r>
              <a:rPr dirty="0" spc="-200"/>
              <a:t>API</a:t>
            </a:r>
            <a:r>
              <a:rPr dirty="0" spc="-30"/>
              <a:t> </a:t>
            </a:r>
            <a:r>
              <a:rPr dirty="0" spc="-19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341870" cy="1602740"/>
          </a:xfrm>
          <a:prstGeom prst="rect">
            <a:avLst/>
          </a:prstGeom>
        </p:spPr>
        <p:txBody>
          <a:bodyPr wrap="square" lIns="0" tIns="53340" rIns="0" bIns="0" rtlCol="0" vert="horz">
            <a:spAutoFit/>
          </a:bodyPr>
          <a:lstStyle/>
          <a:p>
            <a:pPr marL="379095" indent="-366395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compare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70">
                <a:solidFill>
                  <a:srgbClr val="685D46"/>
                </a:solidFill>
                <a:latin typeface="Arial"/>
                <a:cs typeface="Arial"/>
              </a:rPr>
              <a:t>REST,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10">
                <a:solidFill>
                  <a:srgbClr val="685D46"/>
                </a:solidFill>
                <a:latin typeface="Arial"/>
                <a:cs typeface="Arial"/>
              </a:rPr>
              <a:t>gRPC,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GraphQL?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When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would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over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REST?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are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trade-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oﬀs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using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a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large-scale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system?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4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does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handle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authentication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security?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800" spc="-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do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you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scale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APIs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eﬃciently?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160"/>
              <a:t> </a:t>
            </a:r>
            <a:r>
              <a:rPr dirty="0"/>
              <a:t>&amp;</a:t>
            </a:r>
            <a:r>
              <a:rPr dirty="0" spc="-130"/>
              <a:t> </a:t>
            </a:r>
            <a:r>
              <a:rPr dirty="0" spc="-240"/>
              <a:t>Key</a:t>
            </a:r>
            <a:r>
              <a:rPr dirty="0" spc="-254"/>
              <a:t> </a:t>
            </a:r>
            <a:r>
              <a:rPr dirty="0" spc="-285"/>
              <a:t>Takeaways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7880350" cy="24904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-145">
                <a:solidFill>
                  <a:srgbClr val="685D46"/>
                </a:solidFill>
                <a:latin typeface="Arial"/>
                <a:cs typeface="Arial"/>
              </a:rPr>
              <a:t>gRPC</a:t>
            </a:r>
            <a:r>
              <a:rPr dirty="0" sz="1800" spc="1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microservices,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800" spc="1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streaming,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high-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performance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APIs.</a:t>
            </a:r>
            <a:endParaRPr sz="1800">
              <a:latin typeface="Arial"/>
              <a:cs typeface="Arial"/>
            </a:endParaRPr>
          </a:p>
          <a:p>
            <a:pPr marL="379095" marR="233679" indent="-367030">
              <a:lnSpc>
                <a:spcPct val="114999"/>
              </a:lnSpc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GraphQL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→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Best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frontend-driven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55">
                <a:solidFill>
                  <a:srgbClr val="685D46"/>
                </a:solidFill>
                <a:latin typeface="Arial"/>
                <a:cs typeface="Arial"/>
              </a:rPr>
              <a:t>APIs,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ﬂexible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data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fetching,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and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reducing</a:t>
            </a:r>
            <a:r>
              <a:rPr dirty="0" sz="1800" spc="5">
                <a:solidFill>
                  <a:srgbClr val="685D46"/>
                </a:solidFill>
                <a:latin typeface="Arial"/>
                <a:cs typeface="Arial"/>
              </a:rPr>
              <a:t> 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over-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fetching.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Choose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based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85">
                <a:solidFill>
                  <a:srgbClr val="685D46"/>
                </a:solidFill>
                <a:latin typeface="Arial"/>
                <a:cs typeface="Arial"/>
              </a:rPr>
              <a:t>on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use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case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0">
                <a:solidFill>
                  <a:srgbClr val="685D46"/>
                </a:solidFill>
                <a:latin typeface="Arial"/>
                <a:cs typeface="Arial"/>
              </a:rPr>
              <a:t>–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No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one-size-ﬁts-</a:t>
            </a:r>
            <a:r>
              <a:rPr dirty="0" sz="1800" spc="-20">
                <a:solidFill>
                  <a:srgbClr val="685D46"/>
                </a:solidFill>
                <a:latin typeface="Arial"/>
                <a:cs typeface="Arial"/>
              </a:rPr>
              <a:t>all!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0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Be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ready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justify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5">
                <a:solidFill>
                  <a:srgbClr val="685D46"/>
                </a:solidFill>
                <a:latin typeface="Arial"/>
                <a:cs typeface="Arial"/>
              </a:rPr>
              <a:t>your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choices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7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800" spc="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interviews!</a:t>
            </a:r>
            <a:endParaRPr sz="18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</a:tabLst>
            </a:pP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What’s</a:t>
            </a:r>
            <a:r>
              <a:rPr dirty="0" sz="18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next: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Summary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Practical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Applications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9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pc="-290"/>
              <a:t>Summary</a:t>
            </a:r>
            <a:r>
              <a:rPr dirty="0" spc="-285"/>
              <a:t> </a:t>
            </a:r>
            <a:r>
              <a:rPr dirty="0" spc="-10"/>
              <a:t>-</a:t>
            </a:r>
            <a:r>
              <a:rPr dirty="0" spc="-265"/>
              <a:t> </a:t>
            </a:r>
            <a:r>
              <a:rPr dirty="0" spc="-190"/>
              <a:t>Protocols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289058"/>
            <a:ext cx="8122920" cy="294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In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this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section,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explored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key</a:t>
            </a:r>
            <a:r>
              <a:rPr dirty="0" sz="1800" spc="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6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55">
                <a:solidFill>
                  <a:srgbClr val="685D46"/>
                </a:solidFill>
                <a:latin typeface="Arial"/>
                <a:cs typeface="Arial"/>
              </a:rPr>
              <a:t>and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7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800" spc="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800" spc="2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45">
                <a:solidFill>
                  <a:srgbClr val="685D46"/>
                </a:solidFill>
                <a:latin typeface="Arial"/>
                <a:cs typeface="Arial"/>
              </a:rPr>
              <a:t>protocols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essential</a:t>
            </a:r>
            <a:r>
              <a:rPr dirty="0" sz="1800" spc="114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100">
                <a:solidFill>
                  <a:srgbClr val="685D46"/>
                </a:solidFill>
                <a:latin typeface="Arial"/>
                <a:cs typeface="Arial"/>
              </a:rPr>
              <a:t>for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685D46"/>
                </a:solidFill>
                <a:latin typeface="Arial"/>
                <a:cs typeface="Arial"/>
              </a:rPr>
              <a:t>system</a:t>
            </a:r>
            <a:r>
              <a:rPr dirty="0" sz="1800" spc="1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10">
                <a:solidFill>
                  <a:srgbClr val="685D46"/>
                </a:solidFill>
                <a:latin typeface="Arial"/>
                <a:cs typeface="Arial"/>
              </a:rPr>
              <a:t>design: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-114">
                <a:solidFill>
                  <a:srgbClr val="685D46"/>
                </a:solidFill>
                <a:latin typeface="Arial"/>
                <a:cs typeface="Arial"/>
              </a:rPr>
              <a:t>TCP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UDP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Understanding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Basics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70">
                <a:solidFill>
                  <a:srgbClr val="685D46"/>
                </a:solidFill>
                <a:latin typeface="Arial"/>
                <a:cs typeface="Arial"/>
              </a:rPr>
              <a:t>HTTP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Backbone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of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0">
                <a:solidFill>
                  <a:srgbClr val="685D46"/>
                </a:solidFill>
                <a:latin typeface="Arial"/>
                <a:cs typeface="Arial"/>
              </a:rPr>
              <a:t>the</a:t>
            </a:r>
            <a:r>
              <a:rPr dirty="0" sz="1400" spc="-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685D46"/>
                </a:solidFill>
                <a:latin typeface="Arial"/>
                <a:cs typeface="Arial"/>
              </a:rPr>
              <a:t>Web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</a:tabLst>
            </a:pPr>
            <a:r>
              <a:rPr dirty="0" sz="1400" spc="-15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75">
                <a:solidFill>
                  <a:srgbClr val="685D46"/>
                </a:solidFill>
                <a:latin typeface="Arial"/>
                <a:cs typeface="Arial"/>
              </a:rPr>
              <a:t>&amp;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35">
                <a:solidFill>
                  <a:srgbClr val="685D46"/>
                </a:solidFill>
                <a:latin typeface="Arial"/>
                <a:cs typeface="Arial"/>
              </a:rPr>
              <a:t>RESTfulness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Design</a:t>
            </a:r>
            <a:r>
              <a:rPr dirty="0" sz="1400" spc="-1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Principles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Real-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Time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45">
                <a:solidFill>
                  <a:srgbClr val="685D46"/>
                </a:solidFill>
                <a:latin typeface="Arial"/>
                <a:cs typeface="Arial"/>
              </a:rPr>
              <a:t>Communication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 Protocols</a:t>
            </a:r>
            <a:endParaRPr sz="14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</a:tabLst>
            </a:pP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Modern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60">
                <a:solidFill>
                  <a:srgbClr val="685D46"/>
                </a:solidFill>
                <a:latin typeface="Arial"/>
                <a:cs typeface="Arial"/>
              </a:rPr>
              <a:t>API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Protocols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-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Beyond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20">
                <a:solidFill>
                  <a:srgbClr val="685D46"/>
                </a:solidFill>
                <a:latin typeface="Arial"/>
                <a:cs typeface="Arial"/>
              </a:rPr>
              <a:t>REST</a:t>
            </a:r>
            <a:endParaRPr sz="1400">
              <a:latin typeface="Arial"/>
              <a:cs typeface="Arial"/>
            </a:endParaRPr>
          </a:p>
          <a:p>
            <a:pPr marL="379095" indent="-366395">
              <a:lnSpc>
                <a:spcPct val="100000"/>
              </a:lnSpc>
              <a:spcBef>
                <a:spcPts val="235"/>
              </a:spcBef>
              <a:buChar char="●"/>
              <a:tabLst>
                <a:tab pos="379095" algn="l"/>
              </a:tabLst>
            </a:pPr>
            <a:r>
              <a:rPr dirty="0" sz="1800" spc="50">
                <a:solidFill>
                  <a:srgbClr val="685D46"/>
                </a:solidFill>
                <a:latin typeface="Arial"/>
                <a:cs typeface="Arial"/>
              </a:rPr>
              <a:t>Next</a:t>
            </a:r>
            <a:r>
              <a:rPr dirty="0" sz="1800" spc="-3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800" spc="-25">
                <a:solidFill>
                  <a:srgbClr val="685D46"/>
                </a:solidFill>
                <a:latin typeface="Arial"/>
                <a:cs typeface="Arial"/>
              </a:rPr>
              <a:t>Up:</a:t>
            </a:r>
            <a:endParaRPr sz="1800">
              <a:latin typeface="Arial"/>
              <a:cs typeface="Arial"/>
            </a:endParaRPr>
          </a:p>
          <a:p>
            <a:pPr lvl="1" marL="836294" indent="-335915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</a:tabLst>
            </a:pPr>
            <a:r>
              <a:rPr dirty="0" sz="1400" spc="1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32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Patterns</a:t>
            </a:r>
            <a:endParaRPr sz="1400">
              <a:latin typeface="Arial"/>
              <a:cs typeface="Arial"/>
            </a:endParaRPr>
          </a:p>
          <a:p>
            <a:pPr lvl="1" marL="836294" marR="151130" indent="-336550">
              <a:lnSpc>
                <a:spcPct val="114999"/>
              </a:lnSpc>
              <a:buChar char="○"/>
              <a:tabLst>
                <a:tab pos="836294" algn="l"/>
              </a:tabLst>
            </a:pP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We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now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0">
                <a:solidFill>
                  <a:srgbClr val="685D46"/>
                </a:solidFill>
                <a:latin typeface="Arial"/>
                <a:cs typeface="Arial"/>
              </a:rPr>
              <a:t>shift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focus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80">
                <a:solidFill>
                  <a:srgbClr val="685D46"/>
                </a:solidFill>
                <a:latin typeface="Arial"/>
                <a:cs typeface="Arial"/>
              </a:rPr>
              <a:t>to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architectural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patterns,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which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55">
                <a:solidFill>
                  <a:srgbClr val="685D46"/>
                </a:solidFill>
                <a:latin typeface="Arial"/>
                <a:cs typeface="Arial"/>
              </a:rPr>
              <a:t>deﬁne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65">
                <a:solidFill>
                  <a:srgbClr val="685D46"/>
                </a:solidFill>
                <a:latin typeface="Arial"/>
                <a:cs typeface="Arial"/>
              </a:rPr>
              <a:t>how</a:t>
            </a:r>
            <a:r>
              <a:rPr dirty="0" sz="1400" spc="15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components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interact</a:t>
            </a:r>
            <a:r>
              <a:rPr dirty="0" sz="1400" spc="150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25">
                <a:solidFill>
                  <a:srgbClr val="685D46"/>
                </a:solidFill>
                <a:latin typeface="Arial"/>
                <a:cs typeface="Arial"/>
              </a:rPr>
              <a:t>in </a:t>
            </a:r>
            <a:r>
              <a:rPr dirty="0" sz="1400">
                <a:solidFill>
                  <a:srgbClr val="685D46"/>
                </a:solidFill>
                <a:latin typeface="Arial"/>
                <a:cs typeface="Arial"/>
              </a:rPr>
              <a:t>scalable</a:t>
            </a:r>
            <a:r>
              <a:rPr dirty="0" sz="1400" spc="35">
                <a:solidFill>
                  <a:srgbClr val="685D46"/>
                </a:solidFill>
                <a:latin typeface="Arial"/>
                <a:cs typeface="Arial"/>
              </a:rPr>
              <a:t> </a:t>
            </a:r>
            <a:r>
              <a:rPr dirty="0" sz="1400" spc="-10">
                <a:solidFill>
                  <a:srgbClr val="685D46"/>
                </a:solidFill>
                <a:latin typeface="Arial"/>
                <a:cs typeface="Arial"/>
              </a:rPr>
              <a:t>systems.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Mastering System Design - Section 3</dc:title>
  <dcterms:created xsi:type="dcterms:W3CDTF">2025-11-15T15:13:02Z</dcterms:created>
  <dcterms:modified xsi:type="dcterms:W3CDTF">2025-11-15T15:13:02Z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2025-11-15T00:00:00Z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2025-11-15T00:00:00Z</vt:filetime>
  </property>
</Properties>
</file>