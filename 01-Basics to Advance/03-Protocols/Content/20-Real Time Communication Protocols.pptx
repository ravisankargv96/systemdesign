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10"/>
              </a:spcBef>
            </a:pPr>
            <a:r>
              <a:rPr sz="3350" spc="-229" dirty="0"/>
              <a:t>Real-</a:t>
            </a:r>
            <a:r>
              <a:rPr sz="3350" spc="-240" dirty="0"/>
              <a:t>Time</a:t>
            </a:r>
            <a:r>
              <a:rPr sz="3350" spc="-65" dirty="0"/>
              <a:t> </a:t>
            </a:r>
            <a:r>
              <a:rPr sz="3350" spc="-295" dirty="0"/>
              <a:t>Communication</a:t>
            </a:r>
            <a:r>
              <a:rPr sz="3350" spc="-10" dirty="0"/>
              <a:t> </a:t>
            </a:r>
            <a:r>
              <a:rPr sz="3350" spc="-200" dirty="0"/>
              <a:t>Protocols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Introduction</a:t>
            </a:r>
            <a:r>
              <a:rPr spc="-5" dirty="0"/>
              <a:t> </a:t>
            </a:r>
            <a:r>
              <a:rPr spc="-235" dirty="0"/>
              <a:t>to</a:t>
            </a:r>
            <a:r>
              <a:rPr dirty="0"/>
              <a:t> </a:t>
            </a:r>
            <a:r>
              <a:rPr spc="-215" dirty="0"/>
              <a:t>Real-</a:t>
            </a:r>
            <a:r>
              <a:rPr spc="-210" dirty="0"/>
              <a:t>Time</a:t>
            </a:r>
            <a:r>
              <a:rPr spc="-45" dirty="0"/>
              <a:t> </a:t>
            </a:r>
            <a:r>
              <a:rPr spc="-275" dirty="0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296602"/>
            <a:ext cx="4953000" cy="301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8140" marR="5080" indent="-346075">
              <a:lnSpc>
                <a:spcPct val="117300"/>
              </a:lnSpc>
              <a:spcBef>
                <a:spcPts val="90"/>
              </a:spcBef>
              <a:buFont typeface="Arial"/>
              <a:buChar char="●"/>
              <a:tabLst>
                <a:tab pos="358140" algn="l"/>
              </a:tabLst>
            </a:pPr>
            <a:r>
              <a:rPr sz="1500" b="1" dirty="0">
                <a:solidFill>
                  <a:srgbClr val="685D46"/>
                </a:solidFill>
                <a:latin typeface="Tahoma"/>
                <a:cs typeface="Tahoma"/>
              </a:rPr>
              <a:t>Deﬁnition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refers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continuous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75" dirty="0">
                <a:solidFill>
                  <a:srgbClr val="685D46"/>
                </a:solidFill>
                <a:latin typeface="Arial"/>
                <a:cs typeface="Arial"/>
              </a:rPr>
              <a:t>minimal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500">
              <a:latin typeface="Arial"/>
              <a:cs typeface="Arial"/>
            </a:endParaRPr>
          </a:p>
          <a:p>
            <a:pPr marL="358140" marR="181610" indent="-346075">
              <a:lnSpc>
                <a:spcPct val="117300"/>
              </a:lnSpc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90" dirty="0">
                <a:solidFill>
                  <a:srgbClr val="685D46"/>
                </a:solidFill>
                <a:latin typeface="Arial"/>
                <a:cs typeface="Arial"/>
              </a:rPr>
              <a:t>important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instant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chat,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live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sz="15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updates,</a:t>
            </a:r>
            <a:r>
              <a:rPr sz="1500" spc="1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multiplayer</a:t>
            </a:r>
            <a:r>
              <a:rPr sz="15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games).</a:t>
            </a:r>
            <a:endParaRPr sz="1500">
              <a:latin typeface="Arial"/>
              <a:cs typeface="Arial"/>
            </a:endParaRPr>
          </a:p>
          <a:p>
            <a:pPr marL="358140" marR="215265" indent="-346075">
              <a:lnSpc>
                <a:spcPct val="117300"/>
              </a:lnSpc>
              <a:buChar char="●"/>
              <a:tabLst>
                <a:tab pos="358140" algn="l"/>
              </a:tabLst>
            </a:pP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5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5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5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sz="15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HTTP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model.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315"/>
              </a:spcBef>
              <a:buChar char="●"/>
              <a:tabLst>
                <a:tab pos="358140" algn="l"/>
              </a:tabLst>
            </a:pP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5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310"/>
              </a:spcBef>
              <a:buChar char="●"/>
              <a:tabLst>
                <a:tab pos="358140" algn="l"/>
              </a:tabLst>
            </a:pP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500" spc="70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500" spc="60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exchange: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85"/>
              </a:spcBef>
              <a:buChar char="○"/>
              <a:tabLst>
                <a:tab pos="815340" algn="l"/>
              </a:tabLst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04"/>
              </a:spcBef>
              <a:buChar char="○"/>
              <a:tabLst>
                <a:tab pos="815340" algn="l"/>
              </a:tabLst>
            </a:pP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Server-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Sent</a:t>
            </a:r>
            <a:r>
              <a:rPr sz="12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(SSE)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2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9500" y="1304825"/>
            <a:ext cx="3065037" cy="2217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WebSockets:</a:t>
            </a:r>
            <a:r>
              <a:rPr spc="10" dirty="0"/>
              <a:t> </a:t>
            </a:r>
            <a:r>
              <a:rPr spc="-195" dirty="0"/>
              <a:t>Persistent</a:t>
            </a:r>
            <a:r>
              <a:rPr spc="15" dirty="0"/>
              <a:t> </a:t>
            </a:r>
            <a:r>
              <a:rPr spc="-135" dirty="0"/>
              <a:t>Full-</a:t>
            </a:r>
            <a:r>
              <a:rPr spc="-170" dirty="0"/>
              <a:t>Duplex</a:t>
            </a:r>
            <a:r>
              <a:rPr spc="-110" dirty="0"/>
              <a:t> </a:t>
            </a:r>
            <a:r>
              <a:rPr spc="-275" dirty="0"/>
              <a:t>Communication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pc="55" dirty="0"/>
              <a:t>Deﬁnition: </a:t>
            </a:r>
            <a:r>
              <a:rPr dirty="0"/>
              <a:t>WebSockets</a:t>
            </a:r>
            <a:r>
              <a:rPr spc="65" dirty="0"/>
              <a:t> </a:t>
            </a:r>
            <a:r>
              <a:rPr spc="60" dirty="0"/>
              <a:t>provide</a:t>
            </a:r>
            <a:r>
              <a:rPr spc="70" dirty="0"/>
              <a:t> </a:t>
            </a:r>
            <a:r>
              <a:rPr spc="10" dirty="0"/>
              <a:t>a</a:t>
            </a:r>
            <a:r>
              <a:rPr spc="55" dirty="0"/>
              <a:t> </a:t>
            </a:r>
            <a:r>
              <a:rPr spc="10" dirty="0"/>
              <a:t>persistent,</a:t>
            </a:r>
            <a:r>
              <a:rPr spc="60" dirty="0"/>
              <a:t> </a:t>
            </a:r>
            <a:r>
              <a:rPr spc="10" dirty="0"/>
              <a:t>full-</a:t>
            </a:r>
            <a:r>
              <a:rPr spc="65" dirty="0"/>
              <a:t>duplex </a:t>
            </a:r>
            <a:r>
              <a:rPr spc="-10" dirty="0"/>
              <a:t>connection </a:t>
            </a:r>
            <a:r>
              <a:rPr spc="50" dirty="0"/>
              <a:t>between</a:t>
            </a:r>
            <a:r>
              <a:rPr spc="55" dirty="0"/>
              <a:t> </a:t>
            </a:r>
            <a:r>
              <a:rPr spc="80" dirty="0"/>
              <a:t>the</a:t>
            </a:r>
            <a:r>
              <a:rPr spc="55" dirty="0"/>
              <a:t> </a:t>
            </a:r>
            <a:r>
              <a:rPr dirty="0"/>
              <a:t>client</a:t>
            </a:r>
            <a:r>
              <a:rPr spc="55" dirty="0"/>
              <a:t> and</a:t>
            </a:r>
            <a:r>
              <a:rPr spc="50" dirty="0"/>
              <a:t> </a:t>
            </a:r>
            <a:r>
              <a:rPr dirty="0"/>
              <a:t>server</a:t>
            </a:r>
            <a:r>
              <a:rPr spc="50" dirty="0"/>
              <a:t> </a:t>
            </a:r>
            <a:r>
              <a:rPr dirty="0"/>
              <a:t>over</a:t>
            </a:r>
            <a:r>
              <a:rPr spc="50" dirty="0"/>
              <a:t> </a:t>
            </a:r>
            <a:r>
              <a:rPr dirty="0"/>
              <a:t>a</a:t>
            </a:r>
            <a:r>
              <a:rPr spc="50" dirty="0"/>
              <a:t> </a:t>
            </a:r>
            <a:r>
              <a:rPr dirty="0"/>
              <a:t>single</a:t>
            </a:r>
            <a:r>
              <a:rPr spc="60" dirty="0"/>
              <a:t> </a:t>
            </a:r>
            <a:r>
              <a:rPr spc="-145" dirty="0"/>
              <a:t>TCP</a:t>
            </a:r>
            <a:r>
              <a:rPr spc="55" dirty="0"/>
              <a:t> </a:t>
            </a:r>
            <a:r>
              <a:rPr spc="-10" dirty="0"/>
              <a:t>connection.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pc="55" dirty="0"/>
              <a:t>How</a:t>
            </a:r>
            <a:r>
              <a:rPr spc="-40" dirty="0"/>
              <a:t> </a:t>
            </a:r>
            <a:r>
              <a:rPr spc="55" dirty="0"/>
              <a:t>they</a:t>
            </a:r>
            <a:r>
              <a:rPr spc="-35" dirty="0"/>
              <a:t> </a:t>
            </a:r>
            <a:r>
              <a:rPr spc="45" dirty="0"/>
              <a:t>work:</a:t>
            </a: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handshake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upgrade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550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sz="1100" b="1" dirty="0">
                <a:latin typeface="Arial"/>
                <a:cs typeface="Arial"/>
              </a:rPr>
              <a:t>Step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Client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requests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upgrade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WebSockets</a:t>
            </a:r>
            <a:endParaRPr sz="11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610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sz="1100" b="1" dirty="0">
                <a:latin typeface="Arial"/>
                <a:cs typeface="Arial"/>
              </a:rPr>
              <a:t>Step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2: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Server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accepts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keeps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connection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open.</a:t>
            </a:r>
            <a:endParaRPr sz="11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remains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open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continuous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exchange.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Either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messages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any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time.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555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sz="1100" b="1" dirty="0">
                <a:latin typeface="Arial"/>
                <a:cs typeface="Arial"/>
              </a:rPr>
              <a:t>Step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3: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exchanged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real-</a:t>
            </a:r>
            <a:r>
              <a:rPr sz="1100" dirty="0">
                <a:latin typeface="Arial"/>
                <a:cs typeface="Arial"/>
              </a:rPr>
              <a:t>time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frames.</a:t>
            </a:r>
            <a:endParaRPr sz="11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610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sz="1100" b="1" dirty="0">
                <a:latin typeface="Arial"/>
                <a:cs typeface="Arial"/>
              </a:rPr>
              <a:t>Step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4: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Either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close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connection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done.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8075" y="3291800"/>
            <a:ext cx="2625924" cy="1766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25" dirty="0"/>
              <a:t>Advantages</a:t>
            </a:r>
            <a:r>
              <a:rPr spc="-30" dirty="0"/>
              <a:t> </a:t>
            </a:r>
            <a:r>
              <a:rPr spc="-270" dirty="0"/>
              <a:t>and</a:t>
            </a:r>
            <a:r>
              <a:rPr spc="-30" dirty="0"/>
              <a:t> </a:t>
            </a:r>
            <a:r>
              <a:rPr spc="-220" dirty="0"/>
              <a:t>use</a:t>
            </a:r>
            <a:r>
              <a:rPr spc="-30" dirty="0"/>
              <a:t> </a:t>
            </a:r>
            <a:r>
              <a:rPr spc="-204" dirty="0"/>
              <a:t>cases</a:t>
            </a:r>
            <a:r>
              <a:rPr spc="-25" dirty="0"/>
              <a:t> </a:t>
            </a:r>
            <a:r>
              <a:rPr spc="-250" dirty="0"/>
              <a:t>of</a:t>
            </a:r>
            <a:r>
              <a:rPr spc="-95" dirty="0"/>
              <a:t> </a:t>
            </a:r>
            <a:r>
              <a:rPr spc="-280" dirty="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183630" cy="28651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sz="1100" spc="-10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Persistent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lower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8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overhead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compared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polling.</a:t>
            </a:r>
            <a:endParaRPr sz="18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  <a:p>
            <a:pPr marL="379095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Live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Chat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(WhatsApp,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Slack,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Discord)</a:t>
            </a:r>
            <a:endParaRPr sz="18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Market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Price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Updates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(NASDAQ,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Robinhood)</a:t>
            </a:r>
            <a:endParaRPr sz="18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Multiplayer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Games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(Fortnite,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Call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Duty)</a:t>
            </a:r>
            <a:endParaRPr sz="1800">
              <a:latin typeface="Arial"/>
              <a:cs typeface="Arial"/>
            </a:endParaRPr>
          </a:p>
          <a:p>
            <a:pPr marL="836294" lvl="1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Collaborative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Tools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(Google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Docs,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Figma)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0497" y="1655571"/>
            <a:ext cx="1607924" cy="15522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791959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85" dirty="0"/>
              <a:t>Long</a:t>
            </a:r>
            <a:r>
              <a:rPr spc="-15" dirty="0"/>
              <a:t> </a:t>
            </a:r>
            <a:r>
              <a:rPr spc="-145" dirty="0"/>
              <a:t>Polling:</a:t>
            </a:r>
            <a:r>
              <a:rPr spc="-15" dirty="0"/>
              <a:t> </a:t>
            </a:r>
            <a:r>
              <a:rPr spc="-175" dirty="0"/>
              <a:t>Simulating</a:t>
            </a:r>
            <a:r>
              <a:rPr spc="-15" dirty="0"/>
              <a:t> </a:t>
            </a:r>
            <a:r>
              <a:rPr spc="-215" dirty="0"/>
              <a:t>Real-</a:t>
            </a:r>
            <a:r>
              <a:rPr spc="-210" dirty="0"/>
              <a:t>Time</a:t>
            </a:r>
            <a:r>
              <a:rPr spc="-60" dirty="0"/>
              <a:t> </a:t>
            </a:r>
            <a:r>
              <a:rPr spc="-240" dirty="0"/>
              <a:t>with</a:t>
            </a:r>
            <a:r>
              <a:rPr spc="-15" dirty="0"/>
              <a:t> </a:t>
            </a:r>
            <a:r>
              <a:rPr spc="-55" dirty="0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5118100" cy="29292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15240" indent="-367030">
              <a:lnSpc>
                <a:spcPts val="2270"/>
              </a:lnSpc>
              <a:spcBef>
                <a:spcPts val="85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685D46"/>
                </a:solidFill>
                <a:latin typeface="Tahoma"/>
                <a:cs typeface="Tahoma"/>
              </a:rPr>
              <a:t>Deﬁnition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technique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client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waits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until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respond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with.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diﬀers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regular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polling: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05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immediate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responses,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holds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until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available.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(Step-by-Step)</a:t>
            </a:r>
            <a:endParaRPr sz="1800">
              <a:latin typeface="Arial"/>
              <a:cs typeface="Arial"/>
            </a:endParaRPr>
          </a:p>
          <a:p>
            <a:pPr marL="836294" lvl="1" indent="-374015">
              <a:lnSpc>
                <a:spcPct val="100000"/>
              </a:lnSpc>
              <a:spcBef>
                <a:spcPts val="125"/>
              </a:spcBef>
              <a:buAutoNum type="alphaLcPeriod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makes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400">
              <a:latin typeface="Arial"/>
              <a:cs typeface="Arial"/>
            </a:endParaRPr>
          </a:p>
          <a:p>
            <a:pPr marL="836294" lvl="1" indent="-384175">
              <a:lnSpc>
                <a:spcPct val="100000"/>
              </a:lnSpc>
              <a:spcBef>
                <a:spcPts val="85"/>
              </a:spcBef>
              <a:buAutoNum type="alphaLcPeriod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holds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until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available.</a:t>
            </a:r>
            <a:endParaRPr sz="1400">
              <a:latin typeface="Arial"/>
              <a:cs typeface="Arial"/>
            </a:endParaRPr>
          </a:p>
          <a:p>
            <a:pPr marL="836294" lvl="1" indent="-360680">
              <a:lnSpc>
                <a:spcPct val="100000"/>
              </a:lnSpc>
              <a:spcBef>
                <a:spcPts val="80"/>
              </a:spcBef>
              <a:buAutoNum type="alphaLcPeriod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responds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marL="836294" lvl="1" indent="-384175">
              <a:lnSpc>
                <a:spcPct val="100000"/>
              </a:lnSpc>
              <a:spcBef>
                <a:spcPts val="85"/>
              </a:spcBef>
              <a:buAutoNum type="alphaLcPeriod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immediately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another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4954" y="1304825"/>
            <a:ext cx="2859351" cy="1838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40" dirty="0"/>
              <a:t>When</a:t>
            </a:r>
            <a:r>
              <a:rPr spc="-40" dirty="0"/>
              <a:t> </a:t>
            </a:r>
            <a:r>
              <a:rPr spc="-235" dirty="0"/>
              <a:t>to</a:t>
            </a:r>
            <a:r>
              <a:rPr spc="-35" dirty="0"/>
              <a:t> </a:t>
            </a:r>
            <a:r>
              <a:rPr spc="-270" dirty="0"/>
              <a:t>Use</a:t>
            </a:r>
            <a:r>
              <a:rPr spc="-105" dirty="0"/>
              <a:t> </a:t>
            </a:r>
            <a:r>
              <a:rPr spc="-270" dirty="0"/>
              <a:t>WebSockets</a:t>
            </a:r>
            <a:r>
              <a:rPr spc="-100" dirty="0"/>
              <a:t> </a:t>
            </a:r>
            <a:r>
              <a:rPr spc="-190" dirty="0"/>
              <a:t>vs.</a:t>
            </a:r>
            <a:r>
              <a:rPr spc="-240" dirty="0"/>
              <a:t> </a:t>
            </a:r>
            <a:r>
              <a:rPr spc="-185" dirty="0"/>
              <a:t>Long</a:t>
            </a:r>
            <a:r>
              <a:rPr spc="-35" dirty="0"/>
              <a:t> </a:t>
            </a:r>
            <a:r>
              <a:rPr spc="-125" dirty="0"/>
              <a:t>Polling?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1825" y="1673346"/>
            <a:ext cx="221615" cy="454025"/>
            <a:chOff x="1311825" y="1673346"/>
            <a:chExt cx="221615" cy="454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1673346"/>
              <a:ext cx="221258" cy="2082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1918710"/>
              <a:ext cx="221258" cy="20824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311825" y="2479542"/>
            <a:ext cx="221615" cy="454025"/>
            <a:chOff x="1311825" y="2479542"/>
            <a:chExt cx="221615" cy="4540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2479542"/>
              <a:ext cx="221258" cy="2082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2724906"/>
              <a:ext cx="221258" cy="20824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75249" y="1274688"/>
            <a:ext cx="5713095" cy="29603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800" spc="-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High-frequency,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bi-directional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needed.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4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Low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critical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gaming,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chat).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supported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overkill.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Periodic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updates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suﬃcient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notiﬁcations).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Slack: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chat.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Twitter: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for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notiﬁcations.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Exchanges: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feeds.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devices: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intermittent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updates.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35" dirty="0"/>
              <a:t> </a:t>
            </a:r>
            <a:r>
              <a:rPr spc="-21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125334" cy="28905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sz="1800" spc="-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Questions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communication,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work,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HTTP?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handshake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process.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polling,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Questions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polling?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prefer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WebSockets?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or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interruptions?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 use WebSockets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load balancers? If</a:t>
            </a:r>
            <a:r>
              <a:rPr sz="14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yes,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how?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spc="-285" dirty="0"/>
              <a:t>Summary</a:t>
            </a:r>
            <a:r>
              <a:rPr sz="3100" spc="-150" dirty="0"/>
              <a:t> </a:t>
            </a:r>
            <a:r>
              <a:rPr sz="3100" dirty="0"/>
              <a:t>&amp;</a:t>
            </a:r>
            <a:r>
              <a:rPr sz="3100" spc="-90" dirty="0"/>
              <a:t> </a:t>
            </a:r>
            <a:r>
              <a:rPr sz="3100" spc="-140" dirty="0"/>
              <a:t>Final</a:t>
            </a:r>
            <a:r>
              <a:rPr sz="3100" spc="-150" dirty="0"/>
              <a:t> </a:t>
            </a:r>
            <a:r>
              <a:rPr sz="3100" spc="-275" dirty="0"/>
              <a:t>Takeaways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038215" cy="15443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Persistent,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full-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duplex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Simulated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infrastructure.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REST(gRPC,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GraphQL)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561</Words>
  <Application>Microsoft Office PowerPoint</Application>
  <PresentationFormat>On-screen Show (16:9)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Tahoma</vt:lpstr>
      <vt:lpstr>Office Theme</vt:lpstr>
      <vt:lpstr>Real-Time Communication Protocols</vt:lpstr>
      <vt:lpstr>Introduction to Real-Time Communication</vt:lpstr>
      <vt:lpstr>WebSockets: Persistent Full-Duplex Communication</vt:lpstr>
      <vt:lpstr>Advantages and use cases of WebSockets</vt:lpstr>
      <vt:lpstr>Long Polling: Simulating Real-Time with HTTP</vt:lpstr>
      <vt:lpstr>When to Use WebSockets vs. Long Polling?</vt:lpstr>
      <vt:lpstr>Interview Questions</vt:lpstr>
      <vt:lpstr>Summary &amp; Final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cp:lastModifiedBy>RAVI GV</cp:lastModifiedBy>
  <cp:revision>1</cp:revision>
  <dcterms:created xsi:type="dcterms:W3CDTF">2025-11-15T15:13:02Z</dcterms:created>
  <dcterms:modified xsi:type="dcterms:W3CDTF">2025-11-15T15:21:51Z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