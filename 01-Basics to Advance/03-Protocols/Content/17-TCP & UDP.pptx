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49322" y="2146606"/>
            <a:ext cx="6845354" cy="5403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553959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89058"/>
            <a:ext cx="7513955" cy="2700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79370">
              <a:lnSpc>
                <a:spcPct val="100000"/>
              </a:lnSpc>
              <a:spcBef>
                <a:spcPts val="110"/>
              </a:spcBef>
            </a:pPr>
            <a:r>
              <a:rPr sz="3350" spc="-210" dirty="0"/>
              <a:t>TCP</a:t>
            </a:r>
            <a:r>
              <a:rPr sz="3350" spc="-180" dirty="0"/>
              <a:t> </a:t>
            </a:r>
            <a:r>
              <a:rPr sz="3350" dirty="0"/>
              <a:t>&amp;</a:t>
            </a:r>
            <a:r>
              <a:rPr sz="3350" spc="-170" dirty="0"/>
              <a:t> </a:t>
            </a:r>
            <a:r>
              <a:rPr sz="3350" spc="-350" dirty="0"/>
              <a:t>UDP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3892355" y="2910872"/>
            <a:ext cx="1358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656590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30" dirty="0"/>
              <a:t>What</a:t>
            </a:r>
            <a:r>
              <a:rPr spc="-10" dirty="0"/>
              <a:t> </a:t>
            </a:r>
            <a:r>
              <a:rPr spc="-110" dirty="0"/>
              <a:t>is</a:t>
            </a:r>
            <a:r>
              <a:rPr spc="-120" dirty="0"/>
              <a:t> </a:t>
            </a:r>
            <a:r>
              <a:rPr spc="-225" dirty="0"/>
              <a:t>Transmission</a:t>
            </a:r>
            <a:r>
              <a:rPr spc="-50" dirty="0"/>
              <a:t> </a:t>
            </a:r>
            <a:r>
              <a:rPr spc="-229" dirty="0"/>
              <a:t>Control</a:t>
            </a:r>
            <a:r>
              <a:rPr spc="-10" dirty="0"/>
              <a:t> </a:t>
            </a:r>
            <a:r>
              <a:rPr spc="-229" dirty="0"/>
              <a:t>Protocol</a:t>
            </a:r>
            <a:r>
              <a:rPr spc="-10" dirty="0"/>
              <a:t> </a:t>
            </a:r>
            <a:r>
              <a:rPr spc="-110" dirty="0"/>
              <a:t>(TCP)?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605529" cy="16027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Connection-oriented</a:t>
            </a:r>
            <a:r>
              <a:rPr sz="1800" spc="170" dirty="0">
                <a:solidFill>
                  <a:srgbClr val="685D46"/>
                </a:solidFill>
                <a:latin typeface="Arial"/>
                <a:cs typeface="Arial"/>
              </a:rPr>
              <a:t> 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Reliable,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ordered,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error-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checked</a:t>
            </a:r>
            <a:r>
              <a:rPr sz="1800" spc="2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1800">
              <a:latin typeface="Arial"/>
              <a:cs typeface="Arial"/>
            </a:endParaRPr>
          </a:p>
          <a:p>
            <a:pPr marL="379095" marR="53467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Ensures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reaches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destination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correctly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6000" y="1457225"/>
            <a:ext cx="3581399" cy="22097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30" dirty="0"/>
              <a:t>What</a:t>
            </a:r>
            <a:r>
              <a:rPr spc="-35" dirty="0"/>
              <a:t> </a:t>
            </a:r>
            <a:r>
              <a:rPr spc="-90" dirty="0"/>
              <a:t>is</a:t>
            </a:r>
            <a:r>
              <a:rPr spc="-35" dirty="0"/>
              <a:t> </a:t>
            </a:r>
            <a:r>
              <a:rPr spc="-250" dirty="0"/>
              <a:t>User</a:t>
            </a:r>
            <a:r>
              <a:rPr spc="-30" dirty="0"/>
              <a:t> </a:t>
            </a:r>
            <a:r>
              <a:rPr spc="-254" dirty="0"/>
              <a:t>Datagram</a:t>
            </a:r>
            <a:r>
              <a:rPr spc="-35" dirty="0"/>
              <a:t> </a:t>
            </a:r>
            <a:r>
              <a:rPr spc="-229" dirty="0"/>
              <a:t>Protocol</a:t>
            </a:r>
            <a:r>
              <a:rPr spc="-35" dirty="0"/>
              <a:t> </a:t>
            </a:r>
            <a:r>
              <a:rPr spc="-170" dirty="0"/>
              <a:t>(UDP)?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4013200" cy="9721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Connectionless</a:t>
            </a:r>
            <a:r>
              <a:rPr sz="1800" spc="2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Faster,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but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no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delivery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guarantees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No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retransmission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lost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packets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199" cy="20579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35" dirty="0"/>
              <a:t>Key</a:t>
            </a:r>
            <a:r>
              <a:rPr spc="-160" dirty="0"/>
              <a:t> </a:t>
            </a:r>
            <a:r>
              <a:rPr spc="-210" dirty="0"/>
              <a:t>Differences</a:t>
            </a:r>
            <a:r>
              <a:rPr spc="-60" dirty="0"/>
              <a:t> </a:t>
            </a:r>
            <a:r>
              <a:rPr spc="-275" dirty="0"/>
              <a:t>Between</a:t>
            </a:r>
            <a:r>
              <a:rPr spc="-160" dirty="0"/>
              <a:t> </a:t>
            </a:r>
            <a:r>
              <a:rPr spc="-180" dirty="0"/>
              <a:t>TCP</a:t>
            </a:r>
            <a:r>
              <a:rPr spc="-165" dirty="0"/>
              <a:t> </a:t>
            </a:r>
            <a:r>
              <a:rPr dirty="0"/>
              <a:t>&amp;</a:t>
            </a:r>
            <a:r>
              <a:rPr spc="-85" dirty="0"/>
              <a:t> </a:t>
            </a:r>
            <a:r>
              <a:rPr spc="-315" dirty="0"/>
              <a:t>UDP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928745" cy="16027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Reliability: </a:t>
            </a:r>
            <a:r>
              <a:rPr sz="1800" spc="-145" dirty="0">
                <a:solidFill>
                  <a:srgbClr val="685D46"/>
                </a:solidFill>
                <a:latin typeface="Arial"/>
                <a:cs typeface="Arial"/>
              </a:rPr>
              <a:t>TCP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685D46"/>
                </a:solidFill>
                <a:latin typeface="Arial"/>
                <a:cs typeface="Arial"/>
              </a:rPr>
              <a:t>(Yes),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UDP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(No)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Speed:</a:t>
            </a:r>
            <a:r>
              <a:rPr sz="1800" spc="-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45" dirty="0">
                <a:solidFill>
                  <a:srgbClr val="685D46"/>
                </a:solidFill>
                <a:latin typeface="Arial"/>
                <a:cs typeface="Arial"/>
              </a:rPr>
              <a:t>TCP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(Slower),</a:t>
            </a:r>
            <a:r>
              <a:rPr sz="1800" spc="-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UDP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(Faster)</a:t>
            </a:r>
            <a:endParaRPr sz="1800">
              <a:latin typeface="Arial"/>
              <a:cs typeface="Arial"/>
            </a:endParaRPr>
          </a:p>
          <a:p>
            <a:pPr marL="379095" marR="62547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Connection</a:t>
            </a:r>
            <a:r>
              <a:rPr sz="18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Type:</a:t>
            </a:r>
            <a:r>
              <a:rPr sz="18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TCP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(Connection-oriented),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UDP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(Connectionless)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7125" y="1208599"/>
            <a:ext cx="4676874" cy="25744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70" dirty="0"/>
              <a:t>Use</a:t>
            </a:r>
            <a:r>
              <a:rPr spc="-85" dirty="0"/>
              <a:t> </a:t>
            </a:r>
            <a:r>
              <a:rPr spc="-185" dirty="0"/>
              <a:t>Cases:</a:t>
            </a:r>
            <a:r>
              <a:rPr spc="-114" dirty="0"/>
              <a:t> </a:t>
            </a:r>
            <a:r>
              <a:rPr spc="-340" dirty="0"/>
              <a:t>When</a:t>
            </a:r>
            <a:r>
              <a:rPr spc="-40" dirty="0"/>
              <a:t> </a:t>
            </a:r>
            <a:r>
              <a:rPr spc="-235" dirty="0"/>
              <a:t>to</a:t>
            </a:r>
            <a:r>
              <a:rPr spc="-45" dirty="0"/>
              <a:t> </a:t>
            </a:r>
            <a:r>
              <a:rPr spc="-270" dirty="0"/>
              <a:t>Use</a:t>
            </a:r>
            <a:r>
              <a:rPr spc="-145" dirty="0"/>
              <a:t> </a:t>
            </a:r>
            <a:r>
              <a:rPr spc="-185" dirty="0"/>
              <a:t>TCP</a:t>
            </a:r>
            <a:r>
              <a:rPr spc="-215" dirty="0"/>
              <a:t> </a:t>
            </a:r>
            <a:r>
              <a:rPr spc="-190" dirty="0"/>
              <a:t>vs.</a:t>
            </a:r>
            <a:r>
              <a:rPr spc="-245" dirty="0"/>
              <a:t> </a:t>
            </a:r>
            <a:r>
              <a:rPr spc="-315" dirty="0"/>
              <a:t>UDP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6014" y="1314367"/>
            <a:ext cx="7825105" cy="226187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58140" indent="-345440">
              <a:lnSpc>
                <a:spcPct val="100000"/>
              </a:lnSpc>
              <a:spcBef>
                <a:spcPts val="265"/>
              </a:spcBef>
              <a:buFont typeface="Arial"/>
              <a:buChar char="●"/>
              <a:tabLst>
                <a:tab pos="358140" algn="l"/>
              </a:tabLst>
            </a:pPr>
            <a:r>
              <a:rPr sz="1500" b="1" dirty="0">
                <a:solidFill>
                  <a:srgbClr val="685D46"/>
                </a:solidFill>
                <a:latin typeface="Tahoma"/>
                <a:cs typeface="Tahoma"/>
              </a:rPr>
              <a:t>When</a:t>
            </a:r>
            <a:r>
              <a:rPr sz="1500" b="1" spc="-5" dirty="0">
                <a:solidFill>
                  <a:srgbClr val="685D46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685D46"/>
                </a:solidFill>
                <a:latin typeface="Tahoma"/>
                <a:cs typeface="Tahoma"/>
              </a:rPr>
              <a:t>to use</a:t>
            </a:r>
            <a:r>
              <a:rPr sz="1500" b="1" spc="-5" dirty="0">
                <a:solidFill>
                  <a:srgbClr val="685D46"/>
                </a:solidFill>
                <a:latin typeface="Tahoma"/>
                <a:cs typeface="Tahoma"/>
              </a:rPr>
              <a:t> </a:t>
            </a:r>
            <a:r>
              <a:rPr sz="1500" b="1" spc="-55" dirty="0">
                <a:solidFill>
                  <a:srgbClr val="685D46"/>
                </a:solidFill>
                <a:latin typeface="Tahoma"/>
                <a:cs typeface="Tahoma"/>
              </a:rPr>
              <a:t>TCP:</a:t>
            </a:r>
            <a:r>
              <a:rPr sz="1500" b="1" spc="5" dirty="0">
                <a:solidFill>
                  <a:srgbClr val="685D46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If</a:t>
            </a:r>
            <a:r>
              <a:rPr sz="15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5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integrity</a:t>
            </a:r>
            <a:r>
              <a:rPr sz="15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5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critical,</a:t>
            </a:r>
            <a:r>
              <a:rPr sz="15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10" dirty="0">
                <a:solidFill>
                  <a:srgbClr val="685D46"/>
                </a:solidFill>
                <a:latin typeface="Arial"/>
                <a:cs typeface="Arial"/>
              </a:rPr>
              <a:t>TCP</a:t>
            </a:r>
            <a:r>
              <a:rPr sz="15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5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5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way</a:t>
            </a:r>
            <a:r>
              <a:rPr sz="15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5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685D46"/>
                </a:solidFill>
                <a:latin typeface="Arial"/>
                <a:cs typeface="Arial"/>
              </a:rPr>
              <a:t>go.</a:t>
            </a:r>
            <a:endParaRPr sz="15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10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browsing</a:t>
            </a:r>
            <a:r>
              <a:rPr sz="12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70" dirty="0">
                <a:solidFill>
                  <a:srgbClr val="685D46"/>
                </a:solidFill>
                <a:latin typeface="Arial"/>
                <a:cs typeface="Arial"/>
              </a:rPr>
              <a:t>(HTTP,</a:t>
            </a:r>
            <a:r>
              <a:rPr sz="12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HTTPS)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File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transfers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90" dirty="0">
                <a:solidFill>
                  <a:srgbClr val="685D46"/>
                </a:solidFill>
                <a:latin typeface="Arial"/>
                <a:cs typeface="Arial"/>
              </a:rPr>
              <a:t>(FTP,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SFTP)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Email</a:t>
            </a: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685D46"/>
                </a:solidFill>
                <a:latin typeface="Arial"/>
                <a:cs typeface="Arial"/>
              </a:rPr>
              <a:t>(SMTP,</a:t>
            </a: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 IMAP,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POP3)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Database</a:t>
            </a:r>
            <a:r>
              <a:rPr sz="12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ct val="100000"/>
              </a:lnSpc>
              <a:spcBef>
                <a:spcPts val="85"/>
              </a:spcBef>
              <a:buFont typeface="Arial"/>
              <a:buChar char="●"/>
              <a:tabLst>
                <a:tab pos="358140" algn="l"/>
              </a:tabLst>
            </a:pPr>
            <a:r>
              <a:rPr sz="1500" b="1" dirty="0">
                <a:solidFill>
                  <a:srgbClr val="685D46"/>
                </a:solidFill>
                <a:latin typeface="Tahoma"/>
                <a:cs typeface="Tahoma"/>
              </a:rPr>
              <a:t>When</a:t>
            </a:r>
            <a:r>
              <a:rPr sz="1500" b="1" spc="-25" dirty="0">
                <a:solidFill>
                  <a:srgbClr val="685D46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685D46"/>
                </a:solidFill>
                <a:latin typeface="Tahoma"/>
                <a:cs typeface="Tahoma"/>
              </a:rPr>
              <a:t>to</a:t>
            </a:r>
            <a:r>
              <a:rPr sz="1500" b="1" spc="-25" dirty="0">
                <a:solidFill>
                  <a:srgbClr val="685D46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685D46"/>
                </a:solidFill>
                <a:latin typeface="Tahoma"/>
                <a:cs typeface="Tahoma"/>
              </a:rPr>
              <a:t>use</a:t>
            </a:r>
            <a:r>
              <a:rPr sz="1500" b="1" spc="-20" dirty="0">
                <a:solidFill>
                  <a:srgbClr val="685D46"/>
                </a:solidFill>
                <a:latin typeface="Tahoma"/>
                <a:cs typeface="Tahoma"/>
              </a:rPr>
              <a:t> UDP: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UDP</a:t>
            </a:r>
            <a:r>
              <a:rPr sz="15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5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75" dirty="0">
                <a:solidFill>
                  <a:srgbClr val="685D46"/>
                </a:solidFill>
                <a:latin typeface="Arial"/>
                <a:cs typeface="Arial"/>
              </a:rPr>
              <a:t>preferred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15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speed</a:t>
            </a:r>
            <a:r>
              <a:rPr sz="15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is </a:t>
            </a:r>
            <a:r>
              <a:rPr sz="1500" spc="90" dirty="0">
                <a:solidFill>
                  <a:srgbClr val="685D46"/>
                </a:solidFill>
                <a:latin typeface="Arial"/>
                <a:cs typeface="Arial"/>
              </a:rPr>
              <a:t>more</a:t>
            </a:r>
            <a:r>
              <a:rPr sz="15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90" dirty="0">
                <a:solidFill>
                  <a:srgbClr val="685D46"/>
                </a:solidFill>
                <a:latin typeface="Arial"/>
                <a:cs typeface="Arial"/>
              </a:rPr>
              <a:t>important</a:t>
            </a:r>
            <a:r>
              <a:rPr sz="15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75" dirty="0">
                <a:solidFill>
                  <a:srgbClr val="685D46"/>
                </a:solidFill>
                <a:latin typeface="Arial"/>
                <a:cs typeface="Arial"/>
              </a:rPr>
              <a:t>than</a:t>
            </a:r>
            <a:r>
              <a:rPr sz="15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40" dirty="0">
                <a:solidFill>
                  <a:srgbClr val="685D46"/>
                </a:solidFill>
                <a:latin typeface="Arial"/>
                <a:cs typeface="Arial"/>
              </a:rPr>
              <a:t>reliability</a:t>
            </a:r>
            <a:endParaRPr sz="1500">
              <a:latin typeface="Arial"/>
              <a:cs typeface="Arial"/>
            </a:endParaRPr>
          </a:p>
          <a:p>
            <a:pPr marL="815340" lvl="1" indent="-345440">
              <a:lnSpc>
                <a:spcPct val="100000"/>
              </a:lnSpc>
              <a:spcBef>
                <a:spcPts val="125"/>
              </a:spcBef>
              <a:buChar char="○"/>
              <a:tabLst>
                <a:tab pos="815340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Video</a:t>
            </a:r>
            <a:r>
              <a:rPr sz="15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streaming</a:t>
            </a:r>
            <a:r>
              <a:rPr sz="15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(YouTube,</a:t>
            </a:r>
            <a:r>
              <a:rPr sz="1500" spc="45" dirty="0">
                <a:solidFill>
                  <a:srgbClr val="685D46"/>
                </a:solidFill>
                <a:latin typeface="Arial"/>
                <a:cs typeface="Arial"/>
              </a:rPr>
              <a:t> Netﬂix)</a:t>
            </a:r>
            <a:endParaRPr sz="1500">
              <a:latin typeface="Arial"/>
              <a:cs typeface="Arial"/>
            </a:endParaRPr>
          </a:p>
          <a:p>
            <a:pPr marL="815340" lvl="1" indent="-345440">
              <a:lnSpc>
                <a:spcPct val="100000"/>
              </a:lnSpc>
              <a:spcBef>
                <a:spcPts val="130"/>
              </a:spcBef>
              <a:buChar char="○"/>
              <a:tabLst>
                <a:tab pos="815340" algn="l"/>
              </a:tabLst>
            </a:pP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Online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gaming</a:t>
            </a:r>
            <a:r>
              <a:rPr sz="15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(Multiplayer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Games)</a:t>
            </a:r>
            <a:endParaRPr sz="1500">
              <a:latin typeface="Arial"/>
              <a:cs typeface="Arial"/>
            </a:endParaRPr>
          </a:p>
          <a:p>
            <a:pPr marL="815340" lvl="1" indent="-345440">
              <a:lnSpc>
                <a:spcPct val="100000"/>
              </a:lnSpc>
              <a:spcBef>
                <a:spcPts val="130"/>
              </a:spcBef>
              <a:buChar char="○"/>
              <a:tabLst>
                <a:tab pos="815340" algn="l"/>
              </a:tabLst>
            </a:pPr>
            <a:r>
              <a:rPr sz="1500" spc="-20" dirty="0">
                <a:solidFill>
                  <a:srgbClr val="685D46"/>
                </a:solidFill>
                <a:latin typeface="Arial"/>
                <a:cs typeface="Arial"/>
              </a:rPr>
              <a:t>VoIP</a:t>
            </a:r>
            <a:r>
              <a:rPr sz="15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calls</a:t>
            </a:r>
            <a:r>
              <a:rPr sz="15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(Skype,</a:t>
            </a:r>
            <a:r>
              <a:rPr sz="15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Zoom)</a:t>
            </a:r>
            <a:endParaRPr sz="1500">
              <a:latin typeface="Arial"/>
              <a:cs typeface="Arial"/>
            </a:endParaRPr>
          </a:p>
          <a:p>
            <a:pPr marL="815340" lvl="1" indent="-345440">
              <a:lnSpc>
                <a:spcPct val="100000"/>
              </a:lnSpc>
              <a:spcBef>
                <a:spcPts val="125"/>
              </a:spcBef>
              <a:buChar char="○"/>
              <a:tabLst>
                <a:tab pos="815340" algn="l"/>
              </a:tabLst>
            </a:pPr>
            <a:r>
              <a:rPr sz="1500" spc="-20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5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lookups</a:t>
            </a:r>
            <a:r>
              <a:rPr sz="15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(Domain</a:t>
            </a:r>
            <a:r>
              <a:rPr sz="15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Name</a:t>
            </a:r>
            <a:r>
              <a:rPr sz="15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System)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697" y="3792922"/>
            <a:ext cx="4343353" cy="12065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25400" y="3875752"/>
            <a:ext cx="3952010" cy="1063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15" dirty="0"/>
              <a:t>Interview</a:t>
            </a:r>
            <a:r>
              <a:rPr spc="-160" dirty="0"/>
              <a:t> </a:t>
            </a:r>
            <a:r>
              <a:rPr spc="-220" dirty="0"/>
              <a:t>Questions:</a:t>
            </a:r>
            <a:r>
              <a:rPr spc="-160" dirty="0"/>
              <a:t> </a:t>
            </a:r>
            <a:r>
              <a:rPr spc="-180" dirty="0"/>
              <a:t>TCP</a:t>
            </a:r>
            <a:r>
              <a:rPr spc="-165" dirty="0"/>
              <a:t> </a:t>
            </a:r>
            <a:r>
              <a:rPr dirty="0"/>
              <a:t>&amp;</a:t>
            </a:r>
            <a:r>
              <a:rPr spc="-70" dirty="0"/>
              <a:t> </a:t>
            </a:r>
            <a:r>
              <a:rPr spc="-315" dirty="0"/>
              <a:t>UDP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322250"/>
            <a:ext cx="8195945" cy="30200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69265" indent="-345440">
              <a:lnSpc>
                <a:spcPts val="1764"/>
              </a:lnSpc>
              <a:spcBef>
                <a:spcPts val="130"/>
              </a:spcBef>
              <a:buChar char="●"/>
              <a:tabLst>
                <a:tab pos="469265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Basic</a:t>
            </a:r>
            <a:r>
              <a:rPr sz="15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500">
              <a:latin typeface="Arial"/>
              <a:cs typeface="Arial"/>
            </a:endParaRPr>
          </a:p>
          <a:p>
            <a:pPr marL="926465" lvl="1" indent="-319405">
              <a:lnSpc>
                <a:spcPts val="1365"/>
              </a:lnSpc>
              <a:buChar char="○"/>
              <a:tabLst>
                <a:tab pos="926465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2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2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2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sz="12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2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5" dirty="0">
                <a:solidFill>
                  <a:srgbClr val="685D46"/>
                </a:solidFill>
                <a:latin typeface="Arial"/>
                <a:cs typeface="Arial"/>
              </a:rPr>
              <a:t>TCP</a:t>
            </a:r>
            <a:r>
              <a:rPr sz="12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2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UDP?</a:t>
            </a:r>
            <a:endParaRPr sz="1200">
              <a:latin typeface="Arial"/>
              <a:cs typeface="Arial"/>
            </a:endParaRPr>
          </a:p>
          <a:p>
            <a:pPr marL="926465" lvl="1" indent="-319405">
              <a:lnSpc>
                <a:spcPts val="1355"/>
              </a:lnSpc>
              <a:buChar char="○"/>
              <a:tabLst>
                <a:tab pos="926465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5" dirty="0">
                <a:solidFill>
                  <a:srgbClr val="685D46"/>
                </a:solidFill>
                <a:latin typeface="Arial"/>
                <a:cs typeface="Arial"/>
              </a:rPr>
              <a:t>TCP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considered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reliable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protocol?</a:t>
            </a:r>
            <a:endParaRPr sz="1200">
              <a:latin typeface="Arial"/>
              <a:cs typeface="Arial"/>
            </a:endParaRPr>
          </a:p>
          <a:p>
            <a:pPr marL="926465" lvl="1" indent="-319405">
              <a:lnSpc>
                <a:spcPts val="1360"/>
              </a:lnSpc>
              <a:buChar char="○"/>
              <a:tabLst>
                <a:tab pos="926465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12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2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2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choose</a:t>
            </a:r>
            <a:r>
              <a:rPr sz="12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685D46"/>
                </a:solidFill>
                <a:latin typeface="Arial"/>
                <a:cs typeface="Arial"/>
              </a:rPr>
              <a:t>UDP</a:t>
            </a:r>
            <a:r>
              <a:rPr sz="12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sz="12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TCP?</a:t>
            </a:r>
            <a:endParaRPr sz="1200">
              <a:latin typeface="Arial"/>
              <a:cs typeface="Arial"/>
            </a:endParaRPr>
          </a:p>
          <a:p>
            <a:pPr marL="469265" indent="-345440">
              <a:lnSpc>
                <a:spcPts val="1730"/>
              </a:lnSpc>
              <a:buChar char="●"/>
              <a:tabLst>
                <a:tab pos="469265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Technical</a:t>
            </a:r>
            <a:r>
              <a:rPr sz="15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1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5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Deep-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Dive:</a:t>
            </a:r>
            <a:endParaRPr sz="1500">
              <a:latin typeface="Arial"/>
              <a:cs typeface="Arial"/>
            </a:endParaRPr>
          </a:p>
          <a:p>
            <a:pPr marL="926465" lvl="1" indent="-319405">
              <a:lnSpc>
                <a:spcPts val="1365"/>
              </a:lnSpc>
              <a:buChar char="○"/>
              <a:tabLst>
                <a:tab pos="926465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5" dirty="0">
                <a:solidFill>
                  <a:srgbClr val="685D46"/>
                </a:solidFill>
                <a:latin typeface="Arial"/>
                <a:cs typeface="Arial"/>
              </a:rPr>
              <a:t>TCP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ensure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reliable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2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transmission?</a:t>
            </a:r>
            <a:endParaRPr sz="1200">
              <a:latin typeface="Arial"/>
              <a:cs typeface="Arial"/>
            </a:endParaRPr>
          </a:p>
          <a:p>
            <a:pPr marL="926465" lvl="1" indent="-319405">
              <a:lnSpc>
                <a:spcPts val="1355"/>
              </a:lnSpc>
              <a:buChar char="○"/>
              <a:tabLst>
                <a:tab pos="926465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Three-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Way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Handshake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TCP?</a:t>
            </a:r>
            <a:endParaRPr sz="1200">
              <a:latin typeface="Arial"/>
              <a:cs typeface="Arial"/>
            </a:endParaRPr>
          </a:p>
          <a:p>
            <a:pPr marL="926465" lvl="1" indent="-319405">
              <a:lnSpc>
                <a:spcPts val="1360"/>
              </a:lnSpc>
              <a:buChar char="○"/>
              <a:tabLst>
                <a:tab pos="926465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685D46"/>
                </a:solidFill>
                <a:latin typeface="Arial"/>
                <a:cs typeface="Arial"/>
              </a:rPr>
              <a:t>UDP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packet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loss?</a:t>
            </a:r>
            <a:endParaRPr sz="1200">
              <a:latin typeface="Arial"/>
              <a:cs typeface="Arial"/>
            </a:endParaRPr>
          </a:p>
          <a:p>
            <a:pPr marL="469265" indent="-345440">
              <a:lnSpc>
                <a:spcPts val="1730"/>
              </a:lnSpc>
              <a:buChar char="●"/>
              <a:tabLst>
                <a:tab pos="469265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5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35" dirty="0">
                <a:solidFill>
                  <a:srgbClr val="685D46"/>
                </a:solidFill>
                <a:latin typeface="Arial"/>
                <a:cs typeface="Arial"/>
              </a:rPr>
              <a:t>Case</a:t>
            </a:r>
            <a:r>
              <a:rPr sz="15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1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5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5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Design:</a:t>
            </a:r>
            <a:endParaRPr sz="1500">
              <a:latin typeface="Arial"/>
              <a:cs typeface="Arial"/>
            </a:endParaRPr>
          </a:p>
          <a:p>
            <a:pPr marL="926465" lvl="1" indent="-319405">
              <a:lnSpc>
                <a:spcPts val="1365"/>
              </a:lnSpc>
              <a:buChar char="○"/>
              <a:tabLst>
                <a:tab pos="926465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Which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r>
              <a:rPr sz="12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2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2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2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real-time</a:t>
            </a:r>
            <a:r>
              <a:rPr sz="12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multiplayer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game?</a:t>
            </a:r>
            <a:r>
              <a:rPr sz="12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Why?</a:t>
            </a:r>
            <a:endParaRPr sz="1200">
              <a:latin typeface="Arial"/>
              <a:cs typeface="Arial"/>
            </a:endParaRPr>
          </a:p>
          <a:p>
            <a:pPr marL="926465" lvl="1" indent="-319405">
              <a:lnSpc>
                <a:spcPts val="1355"/>
              </a:lnSpc>
              <a:buChar char="○"/>
              <a:tabLst>
                <a:tab pos="926465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5" dirty="0">
                <a:solidFill>
                  <a:srgbClr val="685D46"/>
                </a:solidFill>
                <a:latin typeface="Arial"/>
                <a:cs typeface="Arial"/>
              </a:rPr>
              <a:t>TCP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congestion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control?</a:t>
            </a:r>
            <a:endParaRPr sz="1200">
              <a:latin typeface="Arial"/>
              <a:cs typeface="Arial"/>
            </a:endParaRPr>
          </a:p>
          <a:p>
            <a:pPr marL="926465" lvl="1" indent="-319405">
              <a:lnSpc>
                <a:spcPts val="1355"/>
              </a:lnSpc>
              <a:buChar char="○"/>
              <a:tabLst>
                <a:tab pos="926465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45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implemented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685D46"/>
                </a:solidFill>
                <a:latin typeface="Arial"/>
                <a:cs typeface="Arial"/>
              </a:rPr>
              <a:t>UDP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instead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TCP?</a:t>
            </a:r>
            <a:endParaRPr sz="1200">
              <a:latin typeface="Arial"/>
              <a:cs typeface="Arial"/>
            </a:endParaRPr>
          </a:p>
          <a:p>
            <a:pPr marL="926465" lvl="1" indent="-319405">
              <a:lnSpc>
                <a:spcPts val="1400"/>
              </a:lnSpc>
              <a:buChar char="○"/>
              <a:tabLst>
                <a:tab pos="926465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If</a:t>
            </a:r>
            <a:r>
              <a:rPr sz="12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video</a:t>
            </a:r>
            <a:r>
              <a:rPr sz="12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streaming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service</a:t>
            </a:r>
            <a:r>
              <a:rPr sz="12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buﬀering</a:t>
            </a:r>
            <a:r>
              <a:rPr sz="12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too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much,</a:t>
            </a:r>
            <a:r>
              <a:rPr sz="12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switching</a:t>
            </a:r>
            <a:r>
              <a:rPr sz="12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5" dirty="0">
                <a:solidFill>
                  <a:srgbClr val="685D46"/>
                </a:solidFill>
                <a:latin typeface="Arial"/>
                <a:cs typeface="Arial"/>
              </a:rPr>
              <a:t>TCP</a:t>
            </a:r>
            <a:r>
              <a:rPr sz="12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2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685D46"/>
                </a:solidFill>
                <a:latin typeface="Arial"/>
                <a:cs typeface="Arial"/>
              </a:rPr>
              <a:t>UDP</a:t>
            </a:r>
            <a:r>
              <a:rPr sz="12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help?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739"/>
              </a:lnSpc>
              <a:spcBef>
                <a:spcPts val="1235"/>
              </a:spcBef>
            </a:pPr>
            <a:r>
              <a:rPr sz="1500" b="1" dirty="0">
                <a:solidFill>
                  <a:srgbClr val="685D46"/>
                </a:solidFill>
                <a:latin typeface="Tahoma"/>
                <a:cs typeface="Tahoma"/>
              </a:rPr>
              <a:t>Pro</a:t>
            </a:r>
            <a:r>
              <a:rPr sz="1500" b="1" spc="5" dirty="0">
                <a:solidFill>
                  <a:srgbClr val="685D46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685D46"/>
                </a:solidFill>
                <a:latin typeface="Tahoma"/>
                <a:cs typeface="Tahoma"/>
              </a:rPr>
              <a:t>Tip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5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prepared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compare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10" dirty="0">
                <a:solidFill>
                  <a:srgbClr val="685D46"/>
                </a:solidFill>
                <a:latin typeface="Arial"/>
                <a:cs typeface="Arial"/>
              </a:rPr>
              <a:t>TCP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1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UDP</a:t>
            </a:r>
            <a:r>
              <a:rPr sz="15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world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scenarios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discuss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trade-</a:t>
            </a:r>
            <a:r>
              <a:rPr sz="1500" spc="45" dirty="0">
                <a:solidFill>
                  <a:srgbClr val="685D46"/>
                </a:solidFill>
                <a:latin typeface="Arial"/>
                <a:cs typeface="Arial"/>
              </a:rPr>
              <a:t>oﬀs 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speed</a:t>
            </a:r>
            <a:r>
              <a:rPr sz="15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sz="15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reliability!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90" dirty="0"/>
              <a:t>Summary</a:t>
            </a:r>
            <a:r>
              <a:rPr spc="-160" dirty="0"/>
              <a:t> </a:t>
            </a:r>
            <a:r>
              <a:rPr dirty="0"/>
              <a:t>&amp;</a:t>
            </a:r>
            <a:r>
              <a:rPr spc="-130" dirty="0"/>
              <a:t> </a:t>
            </a:r>
            <a:r>
              <a:rPr spc="-240" dirty="0"/>
              <a:t>Key</a:t>
            </a:r>
            <a:r>
              <a:rPr spc="-254" dirty="0"/>
              <a:t> </a:t>
            </a:r>
            <a:r>
              <a:rPr spc="-285" dirty="0"/>
              <a:t>Takeaways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pc="-145" dirty="0"/>
              <a:t>TCP</a:t>
            </a:r>
            <a:r>
              <a:rPr spc="50" dirty="0"/>
              <a:t> </a:t>
            </a:r>
            <a:r>
              <a:rPr dirty="0"/>
              <a:t>is</a:t>
            </a:r>
            <a:r>
              <a:rPr spc="50" dirty="0"/>
              <a:t> </a:t>
            </a:r>
            <a:r>
              <a:rPr dirty="0"/>
              <a:t>reliable</a:t>
            </a:r>
            <a:r>
              <a:rPr spc="50" dirty="0"/>
              <a:t> </a:t>
            </a:r>
            <a:r>
              <a:rPr spc="105" dirty="0"/>
              <a:t>but</a:t>
            </a:r>
            <a:r>
              <a:rPr spc="50" dirty="0"/>
              <a:t> </a:t>
            </a:r>
            <a:r>
              <a:rPr dirty="0"/>
              <a:t>slower;</a:t>
            </a:r>
            <a:r>
              <a:rPr spc="45" dirty="0"/>
              <a:t> </a:t>
            </a:r>
            <a:r>
              <a:rPr spc="-20" dirty="0"/>
              <a:t>UDP</a:t>
            </a:r>
            <a:r>
              <a:rPr spc="50" dirty="0"/>
              <a:t> </a:t>
            </a:r>
            <a:r>
              <a:rPr dirty="0"/>
              <a:t>is</a:t>
            </a:r>
            <a:r>
              <a:rPr spc="50" dirty="0"/>
              <a:t> </a:t>
            </a:r>
            <a:r>
              <a:rPr dirty="0"/>
              <a:t>fast</a:t>
            </a:r>
            <a:r>
              <a:rPr spc="50" dirty="0"/>
              <a:t> </a:t>
            </a:r>
            <a:r>
              <a:rPr spc="105" dirty="0"/>
              <a:t>but</a:t>
            </a:r>
            <a:r>
              <a:rPr spc="50" dirty="0"/>
              <a:t> </a:t>
            </a:r>
            <a:r>
              <a:rPr spc="-10" dirty="0"/>
              <a:t>unreliable.</a:t>
            </a: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pc="-145" dirty="0"/>
              <a:t>TCP</a:t>
            </a:r>
            <a:r>
              <a:rPr spc="30" dirty="0"/>
              <a:t> </a:t>
            </a:r>
            <a:r>
              <a:rPr dirty="0"/>
              <a:t>is</a:t>
            </a:r>
            <a:r>
              <a:rPr spc="35" dirty="0"/>
              <a:t> </a:t>
            </a:r>
            <a:r>
              <a:rPr dirty="0"/>
              <a:t>best</a:t>
            </a:r>
            <a:r>
              <a:rPr spc="35" dirty="0"/>
              <a:t> </a:t>
            </a:r>
            <a:r>
              <a:rPr spc="100" dirty="0"/>
              <a:t>for</a:t>
            </a:r>
            <a:r>
              <a:rPr spc="25" dirty="0"/>
              <a:t> </a:t>
            </a:r>
            <a:r>
              <a:rPr spc="60" dirty="0"/>
              <a:t>web</a:t>
            </a:r>
            <a:r>
              <a:rPr spc="30" dirty="0"/>
              <a:t> </a:t>
            </a:r>
            <a:r>
              <a:rPr dirty="0"/>
              <a:t>pages,</a:t>
            </a:r>
            <a:r>
              <a:rPr spc="25" dirty="0"/>
              <a:t> </a:t>
            </a:r>
            <a:r>
              <a:rPr spc="65" dirty="0"/>
              <a:t>ﬁle</a:t>
            </a:r>
            <a:r>
              <a:rPr spc="35" dirty="0"/>
              <a:t> </a:t>
            </a:r>
            <a:r>
              <a:rPr dirty="0"/>
              <a:t>transfers,</a:t>
            </a:r>
            <a:r>
              <a:rPr spc="30" dirty="0"/>
              <a:t> </a:t>
            </a:r>
            <a:r>
              <a:rPr spc="55" dirty="0"/>
              <a:t>and</a:t>
            </a:r>
            <a:r>
              <a:rPr spc="25" dirty="0"/>
              <a:t> </a:t>
            </a:r>
            <a:r>
              <a:rPr spc="-10" dirty="0"/>
              <a:t>email.</a:t>
            </a: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pc="-20" dirty="0"/>
              <a:t>UDP</a:t>
            </a:r>
            <a:r>
              <a:rPr spc="85" dirty="0"/>
              <a:t> </a:t>
            </a:r>
            <a:r>
              <a:rPr dirty="0"/>
              <a:t>is</a:t>
            </a:r>
            <a:r>
              <a:rPr spc="80" dirty="0"/>
              <a:t> </a:t>
            </a:r>
            <a:r>
              <a:rPr dirty="0"/>
              <a:t>best</a:t>
            </a:r>
            <a:r>
              <a:rPr spc="85" dirty="0"/>
              <a:t> </a:t>
            </a:r>
            <a:r>
              <a:rPr spc="100" dirty="0"/>
              <a:t>for</a:t>
            </a:r>
            <a:r>
              <a:rPr spc="80" dirty="0"/>
              <a:t> </a:t>
            </a:r>
            <a:r>
              <a:rPr dirty="0"/>
              <a:t>real-</a:t>
            </a:r>
            <a:r>
              <a:rPr spc="55" dirty="0"/>
              <a:t>time</a:t>
            </a:r>
            <a:r>
              <a:rPr spc="85" dirty="0"/>
              <a:t> </a:t>
            </a:r>
            <a:r>
              <a:rPr dirty="0"/>
              <a:t>applications</a:t>
            </a:r>
            <a:r>
              <a:rPr spc="85" dirty="0"/>
              <a:t> </a:t>
            </a:r>
            <a:r>
              <a:rPr dirty="0"/>
              <a:t>like</a:t>
            </a:r>
            <a:r>
              <a:rPr spc="85" dirty="0"/>
              <a:t> </a:t>
            </a:r>
            <a:r>
              <a:rPr dirty="0"/>
              <a:t>video</a:t>
            </a:r>
            <a:r>
              <a:rPr spc="85" dirty="0"/>
              <a:t> </a:t>
            </a:r>
            <a:r>
              <a:rPr dirty="0"/>
              <a:t>calls</a:t>
            </a:r>
            <a:r>
              <a:rPr spc="85" dirty="0"/>
              <a:t> </a:t>
            </a:r>
            <a:r>
              <a:rPr spc="55" dirty="0"/>
              <a:t>and</a:t>
            </a:r>
            <a:r>
              <a:rPr spc="80" dirty="0"/>
              <a:t> </a:t>
            </a:r>
            <a:r>
              <a:rPr spc="-10" dirty="0"/>
              <a:t>gaming.</a:t>
            </a: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pc="10" dirty="0"/>
              <a:t>System</a:t>
            </a:r>
            <a:r>
              <a:rPr spc="50" dirty="0"/>
              <a:t> </a:t>
            </a:r>
            <a:r>
              <a:rPr spc="10" dirty="0"/>
              <a:t>design</a:t>
            </a:r>
            <a:r>
              <a:rPr spc="55" dirty="0"/>
              <a:t> </a:t>
            </a:r>
            <a:r>
              <a:rPr spc="80" dirty="0"/>
              <a:t>must</a:t>
            </a:r>
            <a:r>
              <a:rPr spc="55" dirty="0"/>
              <a:t> </a:t>
            </a:r>
            <a:r>
              <a:rPr spc="10" dirty="0"/>
              <a:t>balance</a:t>
            </a:r>
            <a:r>
              <a:rPr spc="60" dirty="0"/>
              <a:t> </a:t>
            </a:r>
            <a:r>
              <a:rPr spc="10" dirty="0"/>
              <a:t>speed,</a:t>
            </a:r>
            <a:r>
              <a:rPr spc="50" dirty="0"/>
              <a:t> </a:t>
            </a:r>
            <a:r>
              <a:rPr spc="10" dirty="0"/>
              <a:t>reliability,</a:t>
            </a:r>
            <a:r>
              <a:rPr spc="50" dirty="0"/>
              <a:t> </a:t>
            </a:r>
            <a:r>
              <a:rPr spc="55" dirty="0"/>
              <a:t>and</a:t>
            </a:r>
            <a:r>
              <a:rPr spc="50" dirty="0"/>
              <a:t> </a:t>
            </a:r>
            <a:r>
              <a:rPr spc="10" dirty="0"/>
              <a:t>user</a:t>
            </a:r>
            <a:r>
              <a:rPr spc="50" dirty="0"/>
              <a:t> </a:t>
            </a:r>
            <a:r>
              <a:rPr spc="-10" dirty="0"/>
              <a:t>experience.</a:t>
            </a: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/>
              <a:t>What’s</a:t>
            </a:r>
            <a:r>
              <a:rPr spc="-15" dirty="0"/>
              <a:t> </a:t>
            </a:r>
            <a:r>
              <a:rPr spc="-10" dirty="0"/>
              <a:t>Next:</a:t>
            </a: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-70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Backbone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379</Words>
  <Application>Microsoft Office PowerPoint</Application>
  <PresentationFormat>On-screen Show (16:9)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Tahoma</vt:lpstr>
      <vt:lpstr>Office Theme</vt:lpstr>
      <vt:lpstr>TCP &amp; UDP</vt:lpstr>
      <vt:lpstr>What is Transmission Control Protocol (TCP)?</vt:lpstr>
      <vt:lpstr>What is User Datagram Protocol (UDP)?</vt:lpstr>
      <vt:lpstr>Key Differences Between TCP &amp; UDP</vt:lpstr>
      <vt:lpstr>Use Cases: When to Use TCP vs. UDP</vt:lpstr>
      <vt:lpstr>Interview Questions: TCP &amp; UDP</vt:lpstr>
      <vt:lpstr>Summary &amp; 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3</dc:title>
  <cp:lastModifiedBy>RAVI GV</cp:lastModifiedBy>
  <cp:revision>1</cp:revision>
  <dcterms:created xsi:type="dcterms:W3CDTF">2025-11-15T15:13:02Z</dcterms:created>
  <dcterms:modified xsi:type="dcterms:W3CDTF">2025-11-15T15:19:48Z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2025-11-15T00:00:00Z</vt:filetime>
  </property>
</Properties>
</file>