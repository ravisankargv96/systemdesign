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5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49322" y="2146606"/>
            <a:ext cx="6845354" cy="5403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553959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289058"/>
            <a:ext cx="7513955" cy="2700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967105">
              <a:lnSpc>
                <a:spcPct val="100000"/>
              </a:lnSpc>
              <a:spcBef>
                <a:spcPts val="110"/>
              </a:spcBef>
            </a:pPr>
            <a:r>
              <a:rPr sz="3350" spc="-165" dirty="0"/>
              <a:t>HTTP</a:t>
            </a:r>
            <a:r>
              <a:rPr sz="3350" spc="-310" dirty="0"/>
              <a:t> </a:t>
            </a:r>
            <a:r>
              <a:rPr sz="3350" spc="-40" dirty="0"/>
              <a:t>-</a:t>
            </a:r>
            <a:r>
              <a:rPr sz="3350" spc="-375" dirty="0"/>
              <a:t> </a:t>
            </a:r>
            <a:r>
              <a:rPr sz="3350" spc="-215" dirty="0"/>
              <a:t>The</a:t>
            </a:r>
            <a:r>
              <a:rPr sz="3350" spc="-45" dirty="0"/>
              <a:t> </a:t>
            </a:r>
            <a:r>
              <a:rPr sz="3350" spc="-275" dirty="0"/>
              <a:t>Backbone</a:t>
            </a:r>
            <a:r>
              <a:rPr sz="3350" spc="-50" dirty="0"/>
              <a:t> </a:t>
            </a:r>
            <a:r>
              <a:rPr sz="3350" spc="-260" dirty="0"/>
              <a:t>of</a:t>
            </a:r>
            <a:r>
              <a:rPr sz="3350" spc="-45" dirty="0"/>
              <a:t> </a:t>
            </a:r>
            <a:r>
              <a:rPr sz="3350" spc="-254" dirty="0"/>
              <a:t>the</a:t>
            </a:r>
            <a:r>
              <a:rPr sz="3350" spc="-120" dirty="0"/>
              <a:t> </a:t>
            </a:r>
            <a:r>
              <a:rPr sz="3350" spc="-480" dirty="0"/>
              <a:t>Web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3892355" y="2910872"/>
            <a:ext cx="1358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685D46"/>
                </a:solidFill>
                <a:latin typeface="Arial"/>
                <a:cs typeface="Arial"/>
              </a:rPr>
              <a:t>Protocols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10769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15" dirty="0"/>
              <a:t>Introduction</a:t>
            </a:r>
            <a:r>
              <a:rPr spc="-10" dirty="0"/>
              <a:t> </a:t>
            </a:r>
            <a:r>
              <a:rPr spc="-235" dirty="0"/>
              <a:t>to</a:t>
            </a:r>
            <a:r>
              <a:rPr spc="-10" dirty="0"/>
              <a:t> </a:t>
            </a:r>
            <a:r>
              <a:rPr spc="-114" dirty="0"/>
              <a:t>HTTP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309958"/>
            <a:ext cx="7939405" cy="218186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259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HTTP?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12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Stands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HyperText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Transfer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Protocol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foundation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Deﬁnes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rules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requesting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transferring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resources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pages,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55" dirty="0">
                <a:solidFill>
                  <a:srgbClr val="685D46"/>
                </a:solidFill>
                <a:latin typeface="Arial"/>
                <a:cs typeface="Arial"/>
              </a:rPr>
              <a:t>APIs,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images)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Works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55" dirty="0">
                <a:solidFill>
                  <a:srgbClr val="685D46"/>
                </a:solidFill>
                <a:latin typeface="Arial"/>
                <a:cs typeface="Arial"/>
              </a:rPr>
              <a:t>TCP/IP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(Port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80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685D46"/>
                </a:solidFill>
                <a:latin typeface="Arial"/>
                <a:cs typeface="Arial"/>
              </a:rPr>
              <a:t>HTTP,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Port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443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HTTPS)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65"/>
              </a:spcBef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sz="1800" spc="-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Features: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12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Text-based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protocol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(easy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read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debug)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Stateless</a:t>
            </a:r>
            <a:r>
              <a:rPr sz="1400" spc="-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(each</a:t>
            </a:r>
            <a:r>
              <a:rPr sz="1400" spc="-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1400" spc="-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400" spc="-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independent)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Supports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multiple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methods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95" dirty="0">
                <a:solidFill>
                  <a:srgbClr val="685D46"/>
                </a:solidFill>
                <a:latin typeface="Arial"/>
                <a:cs typeface="Arial"/>
              </a:rPr>
              <a:t>(GET,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85" dirty="0">
                <a:solidFill>
                  <a:srgbClr val="685D46"/>
                </a:solidFill>
                <a:latin typeface="Arial"/>
                <a:cs typeface="Arial"/>
              </a:rPr>
              <a:t>POST,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etc.)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2773" y="3782160"/>
            <a:ext cx="3841248" cy="10108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70" dirty="0"/>
              <a:t>How</a:t>
            </a:r>
            <a:r>
              <a:rPr spc="-105" dirty="0"/>
              <a:t> </a:t>
            </a:r>
            <a:r>
              <a:rPr spc="-140" dirty="0"/>
              <a:t>HTTP</a:t>
            </a:r>
            <a:r>
              <a:rPr spc="-210" dirty="0"/>
              <a:t> </a:t>
            </a:r>
            <a:r>
              <a:rPr spc="-330" dirty="0"/>
              <a:t>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6014" y="1322250"/>
            <a:ext cx="3952875" cy="31153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8140" indent="-345440">
              <a:lnSpc>
                <a:spcPts val="1764"/>
              </a:lnSpc>
              <a:spcBef>
                <a:spcPts val="130"/>
              </a:spcBef>
              <a:buChar char="●"/>
              <a:tabLst>
                <a:tab pos="358140" algn="l"/>
              </a:tabLst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Client-Server</a:t>
            </a:r>
            <a:r>
              <a:rPr sz="1500" spc="2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45" dirty="0">
                <a:solidFill>
                  <a:srgbClr val="685D46"/>
                </a:solidFill>
                <a:latin typeface="Arial"/>
                <a:cs typeface="Arial"/>
              </a:rPr>
              <a:t>Model:</a:t>
            </a:r>
            <a:endParaRPr sz="1500">
              <a:latin typeface="Arial"/>
              <a:cs typeface="Arial"/>
            </a:endParaRPr>
          </a:p>
          <a:p>
            <a:pPr marL="815340" marR="281305" lvl="1" indent="-320040">
              <a:lnSpc>
                <a:spcPts val="1360"/>
              </a:lnSpc>
              <a:spcBef>
                <a:spcPts val="8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(browser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mobile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app)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makes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685D46"/>
                </a:solidFill>
                <a:latin typeface="Arial"/>
                <a:cs typeface="Arial"/>
              </a:rPr>
              <a:t>an </a:t>
            </a:r>
            <a:r>
              <a:rPr sz="1200" spc="-75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280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2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(web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server,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685D46"/>
                </a:solidFill>
                <a:latin typeface="Arial"/>
                <a:cs typeface="Arial"/>
              </a:rPr>
              <a:t>API,</a:t>
            </a:r>
            <a:r>
              <a:rPr sz="12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etc.)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processes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endParaRPr sz="1200">
              <a:latin typeface="Arial"/>
              <a:cs typeface="Arial"/>
            </a:endParaRPr>
          </a:p>
          <a:p>
            <a:pPr marL="815340">
              <a:lnSpc>
                <a:spcPts val="1360"/>
              </a:lnSpc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sends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back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endParaRPr sz="1200">
              <a:latin typeface="Arial"/>
              <a:cs typeface="Arial"/>
            </a:endParaRPr>
          </a:p>
          <a:p>
            <a:pPr marL="358140" indent="-345440">
              <a:lnSpc>
                <a:spcPts val="1730"/>
              </a:lnSpc>
              <a:buChar char="●"/>
              <a:tabLst>
                <a:tab pos="358140" algn="l"/>
              </a:tabLst>
            </a:pP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Components</a:t>
            </a:r>
            <a:r>
              <a:rPr sz="15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5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an </a:t>
            </a:r>
            <a:r>
              <a:rPr sz="1500" spc="-50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5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Request:</a:t>
            </a:r>
            <a:endParaRPr sz="1500">
              <a:latin typeface="Arial"/>
              <a:cs typeface="Arial"/>
            </a:endParaRPr>
          </a:p>
          <a:p>
            <a:pPr marL="815340" lvl="1" indent="-319405">
              <a:lnSpc>
                <a:spcPts val="1365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Method: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Deﬁnes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2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action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90" dirty="0">
                <a:solidFill>
                  <a:srgbClr val="685D46"/>
                </a:solidFill>
                <a:latin typeface="Arial"/>
                <a:cs typeface="Arial"/>
              </a:rPr>
              <a:t>(GET,</a:t>
            </a:r>
            <a:r>
              <a:rPr sz="12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85" dirty="0">
                <a:solidFill>
                  <a:srgbClr val="685D46"/>
                </a:solidFill>
                <a:latin typeface="Arial"/>
                <a:cs typeface="Arial"/>
              </a:rPr>
              <a:t>POST,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etc.)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355"/>
              </a:lnSpc>
              <a:buChar char="○"/>
              <a:tabLst>
                <a:tab pos="815340" algn="l"/>
              </a:tabLst>
            </a:pPr>
            <a:r>
              <a:rPr sz="1200" spc="-55" dirty="0">
                <a:solidFill>
                  <a:srgbClr val="685D46"/>
                </a:solidFill>
                <a:latin typeface="Arial"/>
                <a:cs typeface="Arial"/>
              </a:rPr>
              <a:t>URL: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being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requested</a:t>
            </a:r>
            <a:endParaRPr sz="1200">
              <a:latin typeface="Arial"/>
              <a:cs typeface="Arial"/>
            </a:endParaRPr>
          </a:p>
          <a:p>
            <a:pPr marL="815340" marR="5080" lvl="1" indent="-320040">
              <a:lnSpc>
                <a:spcPts val="1360"/>
              </a:lnSpc>
              <a:spcBef>
                <a:spcPts val="7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Headers: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Metadata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user-agent,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content type)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280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Body</a:t>
            </a:r>
            <a:r>
              <a:rPr sz="12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(optional):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2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sent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2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POST/PUT</a:t>
            </a:r>
            <a:endParaRPr sz="1200">
              <a:latin typeface="Arial"/>
              <a:cs typeface="Arial"/>
            </a:endParaRPr>
          </a:p>
          <a:p>
            <a:pPr marL="815340">
              <a:lnSpc>
                <a:spcPts val="1360"/>
              </a:lnSpc>
            </a:pP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endParaRPr sz="1200">
              <a:latin typeface="Arial"/>
              <a:cs typeface="Arial"/>
            </a:endParaRPr>
          </a:p>
          <a:p>
            <a:pPr marL="358140" indent="-345440">
              <a:lnSpc>
                <a:spcPts val="1730"/>
              </a:lnSpc>
              <a:buChar char="●"/>
              <a:tabLst>
                <a:tab pos="358140" algn="l"/>
              </a:tabLst>
            </a:pP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Components</a:t>
            </a:r>
            <a:r>
              <a:rPr sz="15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5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an </a:t>
            </a:r>
            <a:r>
              <a:rPr sz="1500" spc="-50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5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Response:</a:t>
            </a:r>
            <a:endParaRPr sz="1500">
              <a:latin typeface="Arial"/>
              <a:cs typeface="Arial"/>
            </a:endParaRPr>
          </a:p>
          <a:p>
            <a:pPr marL="815340" marR="320040" lvl="1" indent="-320040">
              <a:lnSpc>
                <a:spcPts val="1360"/>
              </a:lnSpc>
              <a:spcBef>
                <a:spcPts val="75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Status</a:t>
            </a:r>
            <a:r>
              <a:rPr sz="12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Code:</a:t>
            </a:r>
            <a:r>
              <a:rPr sz="12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Indicates </a:t>
            </a:r>
            <a:r>
              <a:rPr sz="1200" spc="-20" dirty="0">
                <a:solidFill>
                  <a:srgbClr val="685D46"/>
                </a:solidFill>
                <a:latin typeface="Arial"/>
                <a:cs typeface="Arial"/>
              </a:rPr>
              <a:t>success</a:t>
            </a:r>
            <a:r>
              <a:rPr sz="12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failure </a:t>
            </a:r>
            <a:r>
              <a:rPr sz="1200" spc="-30" dirty="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sz="12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200</a:t>
            </a:r>
            <a:r>
              <a:rPr sz="12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685D46"/>
                </a:solidFill>
                <a:latin typeface="Arial"/>
                <a:cs typeface="Arial"/>
              </a:rPr>
              <a:t>OK,</a:t>
            </a:r>
            <a:r>
              <a:rPr sz="12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404</a:t>
            </a:r>
            <a:r>
              <a:rPr sz="12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Not</a:t>
            </a:r>
            <a:r>
              <a:rPr sz="12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Found)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280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Headers:</a:t>
            </a:r>
            <a:r>
              <a:rPr sz="1200" spc="1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Metadata</a:t>
            </a:r>
            <a:r>
              <a:rPr sz="12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about</a:t>
            </a:r>
            <a:r>
              <a:rPr sz="12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200" spc="1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400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Body</a:t>
            </a:r>
            <a:r>
              <a:rPr sz="12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(optional):</a:t>
            </a:r>
            <a:r>
              <a:rPr sz="12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2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actual</a:t>
            </a:r>
            <a:r>
              <a:rPr sz="12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sz="12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40" dirty="0">
                <a:solidFill>
                  <a:srgbClr val="685D46"/>
                </a:solidFill>
                <a:latin typeface="Arial"/>
                <a:cs typeface="Arial"/>
              </a:rPr>
              <a:t>returned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9223" y="1339766"/>
            <a:ext cx="4123068" cy="24022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9074" y="2786600"/>
            <a:ext cx="5083500" cy="226207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90" dirty="0"/>
              <a:t>The</a:t>
            </a:r>
            <a:r>
              <a:rPr spc="-10" dirty="0"/>
              <a:t> </a:t>
            </a:r>
            <a:r>
              <a:rPr spc="-135" dirty="0"/>
              <a:t>HTTP</a:t>
            </a:r>
            <a:r>
              <a:rPr spc="-120" dirty="0"/>
              <a:t> </a:t>
            </a:r>
            <a:r>
              <a:rPr spc="-220" dirty="0"/>
              <a:t>Request-</a:t>
            </a:r>
            <a:r>
              <a:rPr spc="-250" dirty="0"/>
              <a:t>Response</a:t>
            </a:r>
            <a:r>
              <a:rPr spc="-55" dirty="0"/>
              <a:t> </a:t>
            </a:r>
            <a:r>
              <a:rPr spc="-160" dirty="0"/>
              <a:t>Cycle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2564" y="1289058"/>
            <a:ext cx="6671945" cy="12877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Step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1: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browser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(client)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sends a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Step 2: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processes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Step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3: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generates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sends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back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Step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4: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browser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renders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response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(for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page)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70332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65" dirty="0"/>
              <a:t>Stateless</a:t>
            </a:r>
            <a:r>
              <a:rPr spc="-20" dirty="0"/>
              <a:t> </a:t>
            </a:r>
            <a:r>
              <a:rPr spc="-254" dirty="0"/>
              <a:t>Nature</a:t>
            </a:r>
            <a:r>
              <a:rPr spc="-15" dirty="0"/>
              <a:t> </a:t>
            </a:r>
            <a:r>
              <a:rPr spc="-250" dirty="0"/>
              <a:t>of</a:t>
            </a:r>
            <a:r>
              <a:rPr spc="-20" dirty="0"/>
              <a:t> </a:t>
            </a:r>
            <a:r>
              <a:rPr spc="-100" dirty="0"/>
              <a:t>HTTP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5995670" cy="271526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8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8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“stateless”</a:t>
            </a:r>
            <a:r>
              <a:rPr sz="18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mean?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-70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not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retain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memory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previous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spc="-35" dirty="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treated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as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independent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transaction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Statelessness: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Hard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maintain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user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sessions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login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state)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-35" dirty="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must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carry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all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necessary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information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How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we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state?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Cookies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8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Small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pieces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stored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browser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Sessions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8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Server-side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storage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user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state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Tokens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14" dirty="0">
                <a:solidFill>
                  <a:srgbClr val="685D46"/>
                </a:solidFill>
                <a:latin typeface="Arial"/>
                <a:cs typeface="Arial"/>
              </a:rPr>
              <a:t>(JWT,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OAuth)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8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authentication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authorization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35" dirty="0"/>
              <a:t>HTTP</a:t>
            </a:r>
            <a:r>
              <a:rPr spc="-160" dirty="0"/>
              <a:t> </a:t>
            </a:r>
            <a:r>
              <a:rPr spc="-305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6228715" cy="159385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Common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85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Methods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Their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Cases: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-100" dirty="0">
                <a:solidFill>
                  <a:srgbClr val="685D46"/>
                </a:solidFill>
                <a:latin typeface="Arial"/>
                <a:cs typeface="Arial"/>
              </a:rPr>
              <a:t>GET: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Retrieve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webpage,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data)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spc="-85" dirty="0">
                <a:solidFill>
                  <a:srgbClr val="685D46"/>
                </a:solidFill>
                <a:latin typeface="Arial"/>
                <a:cs typeface="Arial"/>
              </a:rPr>
              <a:t>POST: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Send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create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new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form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submission)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-50" dirty="0">
                <a:solidFill>
                  <a:srgbClr val="685D46"/>
                </a:solidFill>
                <a:latin typeface="Arial"/>
                <a:cs typeface="Arial"/>
              </a:rPr>
              <a:t>PUT: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Update</a:t>
            </a:r>
            <a:r>
              <a:rPr sz="14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existing</a:t>
            </a:r>
            <a:r>
              <a:rPr sz="14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-105" dirty="0">
                <a:solidFill>
                  <a:srgbClr val="685D46"/>
                </a:solidFill>
                <a:latin typeface="Arial"/>
                <a:cs typeface="Arial"/>
              </a:rPr>
              <a:t>DELETE: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 Remove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spc="-70" dirty="0">
                <a:solidFill>
                  <a:srgbClr val="685D46"/>
                </a:solidFill>
                <a:latin typeface="Arial"/>
                <a:cs typeface="Arial"/>
              </a:rPr>
              <a:t>PATCH: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Partially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update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35" dirty="0"/>
              <a:t>HTTP</a:t>
            </a:r>
            <a:r>
              <a:rPr spc="-150" dirty="0"/>
              <a:t> </a:t>
            </a:r>
            <a:r>
              <a:rPr spc="-185" dirty="0"/>
              <a:t>Status</a:t>
            </a:r>
            <a:r>
              <a:rPr spc="-80" dirty="0"/>
              <a:t> </a:t>
            </a:r>
            <a:r>
              <a:rPr spc="-265" dirty="0"/>
              <a:t>Codes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677" y="1320742"/>
            <a:ext cx="6118225" cy="311975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68300" indent="-355600">
              <a:lnSpc>
                <a:spcPts val="1939"/>
              </a:lnSpc>
              <a:spcBef>
                <a:spcPts val="115"/>
              </a:spcBef>
              <a:buChar char="●"/>
              <a:tabLst>
                <a:tab pos="368300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1xx</a:t>
            </a:r>
            <a:r>
              <a:rPr sz="16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6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75" dirty="0">
                <a:solidFill>
                  <a:srgbClr val="685D46"/>
                </a:solidFill>
                <a:latin typeface="Arial"/>
                <a:cs typeface="Arial"/>
              </a:rPr>
              <a:t>Informational</a:t>
            </a:r>
            <a:r>
              <a:rPr sz="16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(Request</a:t>
            </a:r>
            <a:r>
              <a:rPr sz="16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received,</a:t>
            </a:r>
            <a:r>
              <a:rPr sz="16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continuing</a:t>
            </a:r>
            <a:r>
              <a:rPr sz="16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process)</a:t>
            </a:r>
            <a:endParaRPr sz="1650">
              <a:latin typeface="Arial"/>
              <a:cs typeface="Arial"/>
            </a:endParaRPr>
          </a:p>
          <a:p>
            <a:pPr marL="368300" indent="-355600">
              <a:lnSpc>
                <a:spcPts val="1905"/>
              </a:lnSpc>
              <a:buChar char="●"/>
              <a:tabLst>
                <a:tab pos="368300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2xx</a:t>
            </a:r>
            <a:r>
              <a:rPr sz="16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6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25" dirty="0">
                <a:solidFill>
                  <a:srgbClr val="685D46"/>
                </a:solidFill>
                <a:latin typeface="Arial"/>
                <a:cs typeface="Arial"/>
              </a:rPr>
              <a:t>Success</a:t>
            </a:r>
            <a:r>
              <a:rPr sz="16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(Request</a:t>
            </a:r>
            <a:r>
              <a:rPr sz="16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successfully</a:t>
            </a:r>
            <a:r>
              <a:rPr sz="16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processed)</a:t>
            </a:r>
            <a:endParaRPr sz="1650">
              <a:latin typeface="Arial"/>
              <a:cs typeface="Arial"/>
            </a:endParaRPr>
          </a:p>
          <a:p>
            <a:pPr marL="825500" lvl="1" indent="-327660">
              <a:lnSpc>
                <a:spcPts val="1485"/>
              </a:lnSpc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200</a:t>
            </a:r>
            <a:r>
              <a:rPr sz="13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685D46"/>
                </a:solidFill>
                <a:latin typeface="Arial"/>
                <a:cs typeface="Arial"/>
              </a:rPr>
              <a:t>OK</a:t>
            </a:r>
            <a:r>
              <a:rPr sz="13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3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Successful</a:t>
            </a:r>
            <a:r>
              <a:rPr sz="13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endParaRPr sz="1300">
              <a:latin typeface="Arial"/>
              <a:cs typeface="Arial"/>
            </a:endParaRPr>
          </a:p>
          <a:p>
            <a:pPr marL="825500" lvl="1" indent="-327660">
              <a:lnSpc>
                <a:spcPts val="1470"/>
              </a:lnSpc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201</a:t>
            </a:r>
            <a:r>
              <a:rPr sz="13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Created</a:t>
            </a:r>
            <a:r>
              <a:rPr sz="13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3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successfully</a:t>
            </a:r>
            <a:r>
              <a:rPr sz="13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created</a:t>
            </a:r>
            <a:endParaRPr sz="1300">
              <a:latin typeface="Arial"/>
              <a:cs typeface="Arial"/>
            </a:endParaRPr>
          </a:p>
          <a:p>
            <a:pPr marL="368300" indent="-355600">
              <a:lnSpc>
                <a:spcPts val="1895"/>
              </a:lnSpc>
              <a:buChar char="●"/>
              <a:tabLst>
                <a:tab pos="368300" algn="l"/>
              </a:tabLst>
            </a:pPr>
            <a:r>
              <a:rPr sz="1650" spc="10" dirty="0">
                <a:solidFill>
                  <a:srgbClr val="685D46"/>
                </a:solidFill>
                <a:latin typeface="Arial"/>
                <a:cs typeface="Arial"/>
              </a:rPr>
              <a:t>3xx</a:t>
            </a:r>
            <a:r>
              <a:rPr sz="16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6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10" dirty="0">
                <a:solidFill>
                  <a:srgbClr val="685D46"/>
                </a:solidFill>
                <a:latin typeface="Arial"/>
                <a:cs typeface="Arial"/>
              </a:rPr>
              <a:t>Redirection</a:t>
            </a:r>
            <a:r>
              <a:rPr sz="16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10" dirty="0">
                <a:solidFill>
                  <a:srgbClr val="685D46"/>
                </a:solidFill>
                <a:latin typeface="Arial"/>
                <a:cs typeface="Arial"/>
              </a:rPr>
              <a:t>(Further</a:t>
            </a:r>
            <a:r>
              <a:rPr sz="16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0" dirty="0">
                <a:solidFill>
                  <a:srgbClr val="685D46"/>
                </a:solidFill>
                <a:latin typeface="Arial"/>
                <a:cs typeface="Arial"/>
              </a:rPr>
              <a:t>action</a:t>
            </a:r>
            <a:r>
              <a:rPr sz="16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needed)</a:t>
            </a:r>
            <a:endParaRPr sz="1650">
              <a:latin typeface="Arial"/>
              <a:cs typeface="Arial"/>
            </a:endParaRPr>
          </a:p>
          <a:p>
            <a:pPr marL="825500" lvl="1" indent="-327660">
              <a:lnSpc>
                <a:spcPts val="1485"/>
              </a:lnSpc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301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Moved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Permanently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685D46"/>
                </a:solidFill>
                <a:latin typeface="Arial"/>
                <a:cs typeface="Arial"/>
              </a:rPr>
              <a:t>URL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changed</a:t>
            </a:r>
            <a:endParaRPr sz="1300">
              <a:latin typeface="Arial"/>
              <a:cs typeface="Arial"/>
            </a:endParaRPr>
          </a:p>
          <a:p>
            <a:pPr marL="825500" lvl="1" indent="-327660">
              <a:lnSpc>
                <a:spcPts val="1470"/>
              </a:lnSpc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304</a:t>
            </a:r>
            <a:r>
              <a:rPr sz="13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Not</a:t>
            </a:r>
            <a:r>
              <a:rPr sz="13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Modiﬁed</a:t>
            </a:r>
            <a:r>
              <a:rPr sz="13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3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3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cached</a:t>
            </a:r>
            <a:r>
              <a:rPr sz="13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version</a:t>
            </a:r>
            <a:endParaRPr sz="1300">
              <a:latin typeface="Arial"/>
              <a:cs typeface="Arial"/>
            </a:endParaRPr>
          </a:p>
          <a:p>
            <a:pPr marL="368300" indent="-355600">
              <a:lnSpc>
                <a:spcPts val="1895"/>
              </a:lnSpc>
              <a:buChar char="●"/>
              <a:tabLst>
                <a:tab pos="368300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4xx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Errors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(Mistakes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8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request)</a:t>
            </a:r>
            <a:endParaRPr sz="1650">
              <a:latin typeface="Arial"/>
              <a:cs typeface="Arial"/>
            </a:endParaRPr>
          </a:p>
          <a:p>
            <a:pPr marL="825500" lvl="1" indent="-327660">
              <a:lnSpc>
                <a:spcPts val="1485"/>
              </a:lnSpc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400</a:t>
            </a:r>
            <a:r>
              <a:rPr sz="13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Bad</a:t>
            </a:r>
            <a:r>
              <a:rPr sz="13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13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3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Incorrect</a:t>
            </a:r>
            <a:r>
              <a:rPr sz="13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13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format</a:t>
            </a:r>
            <a:endParaRPr sz="1300">
              <a:latin typeface="Arial"/>
              <a:cs typeface="Arial"/>
            </a:endParaRPr>
          </a:p>
          <a:p>
            <a:pPr marL="825500" lvl="1" indent="-327660">
              <a:lnSpc>
                <a:spcPts val="1475"/>
              </a:lnSpc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401</a:t>
            </a:r>
            <a:r>
              <a:rPr sz="1300" spc="2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Unauthorized</a:t>
            </a:r>
            <a:r>
              <a:rPr sz="1300" spc="2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300" spc="2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Authentication</a:t>
            </a:r>
            <a:r>
              <a:rPr sz="1300" spc="2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required</a:t>
            </a:r>
            <a:endParaRPr sz="1300">
              <a:latin typeface="Arial"/>
              <a:cs typeface="Arial"/>
            </a:endParaRPr>
          </a:p>
          <a:p>
            <a:pPr marL="825500" lvl="1" indent="-327660">
              <a:lnSpc>
                <a:spcPts val="1475"/>
              </a:lnSpc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403</a:t>
            </a:r>
            <a:r>
              <a:rPr sz="13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Forbidden</a:t>
            </a:r>
            <a:r>
              <a:rPr sz="13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3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No</a:t>
            </a:r>
            <a:r>
              <a:rPr sz="13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permission</a:t>
            </a:r>
            <a:endParaRPr sz="1300">
              <a:latin typeface="Arial"/>
              <a:cs typeface="Arial"/>
            </a:endParaRPr>
          </a:p>
          <a:p>
            <a:pPr marL="825500" lvl="1" indent="-327660">
              <a:lnSpc>
                <a:spcPts val="1470"/>
              </a:lnSpc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404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Not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Found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doesn’t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exist</a:t>
            </a:r>
            <a:endParaRPr sz="1300">
              <a:latin typeface="Arial"/>
              <a:cs typeface="Arial"/>
            </a:endParaRPr>
          </a:p>
          <a:p>
            <a:pPr marL="368300" indent="-355600">
              <a:lnSpc>
                <a:spcPts val="1895"/>
              </a:lnSpc>
              <a:buChar char="●"/>
              <a:tabLst>
                <a:tab pos="368300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5xx</a:t>
            </a:r>
            <a:r>
              <a:rPr sz="165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6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65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Errors</a:t>
            </a:r>
            <a:r>
              <a:rPr sz="16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(Issue</a:t>
            </a:r>
            <a:r>
              <a:rPr sz="165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9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6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65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server)</a:t>
            </a:r>
            <a:endParaRPr sz="1650">
              <a:latin typeface="Arial"/>
              <a:cs typeface="Arial"/>
            </a:endParaRPr>
          </a:p>
          <a:p>
            <a:pPr marL="825500" lvl="1" indent="-327660">
              <a:lnSpc>
                <a:spcPts val="1485"/>
              </a:lnSpc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500</a:t>
            </a:r>
            <a:r>
              <a:rPr sz="13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Internal</a:t>
            </a:r>
            <a:r>
              <a:rPr sz="13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3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Error</a:t>
            </a:r>
            <a:r>
              <a:rPr sz="13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3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Unexpected</a:t>
            </a:r>
            <a:r>
              <a:rPr sz="13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3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failure</a:t>
            </a:r>
            <a:endParaRPr sz="1300">
              <a:latin typeface="Arial"/>
              <a:cs typeface="Arial"/>
            </a:endParaRPr>
          </a:p>
          <a:p>
            <a:pPr marL="825500" lvl="1" indent="-327660">
              <a:lnSpc>
                <a:spcPts val="1520"/>
              </a:lnSpc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503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 Service</a:t>
            </a:r>
            <a:r>
              <a:rPr sz="13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Unavailable</a:t>
            </a:r>
            <a:r>
              <a:rPr sz="13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3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3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overloaded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2976245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30" dirty="0"/>
              <a:t>What</a:t>
            </a:r>
            <a:r>
              <a:rPr spc="-165" dirty="0"/>
              <a:t> </a:t>
            </a:r>
            <a:r>
              <a:rPr spc="-265" dirty="0"/>
              <a:t>About</a:t>
            </a:r>
            <a:r>
              <a:rPr spc="-50" dirty="0"/>
              <a:t> </a:t>
            </a:r>
            <a:r>
              <a:rPr spc="-125" dirty="0"/>
              <a:t>HTTPS?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037705" cy="12877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spc="-120" dirty="0">
                <a:solidFill>
                  <a:srgbClr val="685D46"/>
                </a:solidFill>
                <a:latin typeface="Arial"/>
                <a:cs typeface="Arial"/>
              </a:rPr>
              <a:t>HTTPS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secure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version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685D46"/>
                </a:solidFill>
                <a:latin typeface="Arial"/>
                <a:cs typeface="Arial"/>
              </a:rPr>
              <a:t>HTTP,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using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14" dirty="0">
                <a:solidFill>
                  <a:srgbClr val="685D46"/>
                </a:solidFill>
                <a:latin typeface="Arial"/>
                <a:cs typeface="Arial"/>
              </a:rPr>
              <a:t>SSL/TLS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encryption.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ensures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conﬁdentiality,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integrity,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authentication.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secure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websites,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online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banking,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e-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commerce.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Works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Port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443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instead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Port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80.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35" dirty="0"/>
              <a:t>HTTP</a:t>
            </a:r>
            <a:r>
              <a:rPr spc="-150" dirty="0"/>
              <a:t> </a:t>
            </a:r>
            <a:r>
              <a:rPr spc="-215" dirty="0"/>
              <a:t>Interview</a:t>
            </a:r>
            <a:r>
              <a:rPr spc="-145" dirty="0"/>
              <a:t> </a:t>
            </a:r>
            <a:r>
              <a:rPr spc="-210" dirty="0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309958"/>
            <a:ext cx="8096884" cy="314198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259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Basic</a:t>
            </a:r>
            <a:r>
              <a:rPr sz="1800" spc="-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Questions: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12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685D46"/>
                </a:solidFill>
                <a:latin typeface="Arial"/>
                <a:cs typeface="Arial"/>
              </a:rPr>
              <a:t>HTTP,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work?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70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considered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stateless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protocol?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diﬀerences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70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HTTPS?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70"/>
              </a:spcBef>
              <a:buChar char="●"/>
              <a:tabLst>
                <a:tab pos="379095" algn="l"/>
              </a:tabLst>
            </a:pP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Intermediate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Questions: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12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70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request-response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cycle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example.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70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methods?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685D46"/>
                </a:solidFill>
                <a:latin typeface="Arial"/>
                <a:cs typeface="Arial"/>
              </a:rPr>
              <a:t>PUT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PATCH?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70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status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codes?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Give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examples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2xx,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3xx,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4xx,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5xx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status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codes.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7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Advanced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Questions: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12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cookies,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sessions,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tokens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help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maintain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state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HTTP?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diﬀerence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between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301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(Moved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Permanently)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302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(Found)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redirections?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work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685D46"/>
                </a:solidFill>
                <a:latin typeface="Arial"/>
                <a:cs typeface="Arial"/>
              </a:rPr>
              <a:t>HTTP,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and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which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headers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control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it?</a:t>
            </a:r>
            <a:endParaRPr sz="1400">
              <a:latin typeface="Arial"/>
              <a:cs typeface="Arial"/>
            </a:endParaRPr>
          </a:p>
          <a:p>
            <a:pPr marL="882015" lvl="1" indent="-381635">
              <a:lnSpc>
                <a:spcPct val="100000"/>
              </a:lnSpc>
              <a:spcBef>
                <a:spcPts val="85"/>
              </a:spcBef>
              <a:buChar char="○"/>
              <a:tabLst>
                <a:tab pos="882015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risks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associated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685D46"/>
                </a:solidFill>
                <a:latin typeface="Arial"/>
                <a:cs typeface="Arial"/>
              </a:rPr>
              <a:t>HTTP,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mitigated?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90" dirty="0"/>
              <a:t>Summary</a:t>
            </a:r>
            <a:r>
              <a:rPr spc="-160" dirty="0"/>
              <a:t> </a:t>
            </a:r>
            <a:r>
              <a:rPr dirty="0"/>
              <a:t>&amp;</a:t>
            </a:r>
            <a:r>
              <a:rPr spc="-130" dirty="0"/>
              <a:t> </a:t>
            </a:r>
            <a:r>
              <a:rPr spc="-240" dirty="0"/>
              <a:t>Key</a:t>
            </a:r>
            <a:r>
              <a:rPr spc="-254" dirty="0"/>
              <a:t> </a:t>
            </a:r>
            <a:r>
              <a:rPr spc="-285" dirty="0"/>
              <a:t>Takeaways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473315" cy="18592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spc="-85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foundation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8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follows</a:t>
            </a:r>
            <a:r>
              <a:rPr sz="18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request-response</a:t>
            </a:r>
            <a:r>
              <a:rPr sz="18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model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-85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stateless,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requiring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mechanisms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cookies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sessions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-85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methods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deﬁne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actions,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status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codes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indicate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responses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-150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685D46"/>
                </a:solidFill>
                <a:latin typeface="Arial"/>
                <a:cs typeface="Arial"/>
              </a:rPr>
              <a:t>RESTfulness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Principles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753</Words>
  <Application>Microsoft Office PowerPoint</Application>
  <PresentationFormat>On-screen Show (16:9)</PresentationFormat>
  <Paragraphs>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HTTP - The Backbone of the Web</vt:lpstr>
      <vt:lpstr>Introduction to HTTP</vt:lpstr>
      <vt:lpstr>How HTTP Works</vt:lpstr>
      <vt:lpstr>The HTTP Request-Response Cycle</vt:lpstr>
      <vt:lpstr>Stateless Nature of HTTP</vt:lpstr>
      <vt:lpstr>HTTP Methods</vt:lpstr>
      <vt:lpstr>HTTP Status Codes</vt:lpstr>
      <vt:lpstr>What About HTTPS?</vt:lpstr>
      <vt:lpstr>HTTP Interview Questions</vt:lpstr>
      <vt:lpstr>Summary &amp; 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3</dc:title>
  <cp:lastModifiedBy>RAVI GV</cp:lastModifiedBy>
  <cp:revision>1</cp:revision>
  <dcterms:created xsi:type="dcterms:W3CDTF">2025-11-15T15:13:02Z</dcterms:created>
  <dcterms:modified xsi:type="dcterms:W3CDTF">2025-11-15T15:20:17Z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2025-11-15T00:00:00Z</vt:filetime>
  </property>
</Properties>
</file>