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5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>
      <p:cViewPr varScale="1">
        <p:scale>
          <a:sx n="103" d="100"/>
          <a:sy n="103" d="100"/>
        </p:scale>
        <p:origin x="1013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9322" y="2146606"/>
            <a:ext cx="6845354" cy="54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53959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7513955" cy="270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2709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0"/>
              </a:spcBef>
            </a:pPr>
            <a:r>
              <a:rPr sz="2850" spc="-305" dirty="0"/>
              <a:t>Modern</a:t>
            </a:r>
            <a:r>
              <a:rPr sz="2850" spc="-125" dirty="0"/>
              <a:t> </a:t>
            </a:r>
            <a:r>
              <a:rPr sz="2850" spc="-195" dirty="0"/>
              <a:t>API</a:t>
            </a:r>
            <a:r>
              <a:rPr sz="2850" spc="-20" dirty="0"/>
              <a:t> </a:t>
            </a:r>
            <a:r>
              <a:rPr sz="2850" spc="-195" dirty="0"/>
              <a:t>Protocols</a:t>
            </a:r>
            <a:r>
              <a:rPr sz="2850" spc="-140" dirty="0"/>
              <a:t> </a:t>
            </a:r>
            <a:r>
              <a:rPr sz="2850" spc="-35" dirty="0"/>
              <a:t>-</a:t>
            </a:r>
            <a:r>
              <a:rPr sz="2850" spc="-215" dirty="0"/>
              <a:t> </a:t>
            </a:r>
            <a:r>
              <a:rPr sz="2850" spc="-254" dirty="0"/>
              <a:t>Beyond</a:t>
            </a:r>
            <a:r>
              <a:rPr sz="2850" spc="-15" dirty="0"/>
              <a:t> </a:t>
            </a:r>
            <a:r>
              <a:rPr sz="2850" spc="-150" dirty="0"/>
              <a:t>REST(gRPC,</a:t>
            </a:r>
            <a:r>
              <a:rPr sz="2850" spc="-240" dirty="0"/>
              <a:t> </a:t>
            </a:r>
            <a:r>
              <a:rPr sz="2850" spc="-185" dirty="0"/>
              <a:t>GraphQL)</a:t>
            </a:r>
            <a:endParaRPr sz="28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2098"/>
            <a:ext cx="5003165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360" dirty="0"/>
              <a:t>Why</a:t>
            </a:r>
            <a:r>
              <a:rPr sz="3100" spc="-145" dirty="0"/>
              <a:t> </a:t>
            </a:r>
            <a:r>
              <a:rPr sz="3100" spc="-275" dirty="0"/>
              <a:t>Do</a:t>
            </a:r>
            <a:r>
              <a:rPr sz="3100" spc="-105" dirty="0"/>
              <a:t> </a:t>
            </a:r>
            <a:r>
              <a:rPr sz="3100" spc="-465" dirty="0"/>
              <a:t>We</a:t>
            </a:r>
            <a:r>
              <a:rPr sz="3100" spc="-50" dirty="0"/>
              <a:t> </a:t>
            </a:r>
            <a:r>
              <a:rPr sz="3100" spc="-275" dirty="0"/>
              <a:t>Need</a:t>
            </a:r>
            <a:r>
              <a:rPr sz="3100" spc="-50" dirty="0"/>
              <a:t> </a:t>
            </a:r>
            <a:r>
              <a:rPr sz="3100" spc="-335" dirty="0"/>
              <a:t>More</a:t>
            </a:r>
            <a:r>
              <a:rPr sz="3100" spc="-140" dirty="0"/>
              <a:t> </a:t>
            </a:r>
            <a:r>
              <a:rPr sz="3100" spc="-215" dirty="0"/>
              <a:t>Than</a:t>
            </a:r>
            <a:r>
              <a:rPr sz="3100" spc="-50" dirty="0"/>
              <a:t> </a:t>
            </a:r>
            <a:r>
              <a:rPr sz="3100" spc="-95" dirty="0"/>
              <a:t>REST?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3687445" cy="3040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Limitations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9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marL="836294" marR="134620" lvl="1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Over-fetching</a:t>
            </a:r>
            <a:r>
              <a:rPr sz="1400" spc="2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2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Under-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fetching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(Clients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too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much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too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little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data).</a:t>
            </a:r>
            <a:endParaRPr sz="1400">
              <a:latin typeface="Arial"/>
              <a:cs typeface="Arial"/>
            </a:endParaRPr>
          </a:p>
          <a:p>
            <a:pPr marL="836294" marR="236854" lvl="1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(Multiple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requests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data).</a:t>
            </a:r>
            <a:endParaRPr sz="1400">
              <a:latin typeface="Arial"/>
              <a:cs typeface="Arial"/>
            </a:endParaRPr>
          </a:p>
          <a:p>
            <a:pPr marL="836294" marR="39370" lvl="1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optimized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time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(Polling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required).</a:t>
            </a:r>
            <a:endParaRPr sz="1400">
              <a:latin typeface="Arial"/>
              <a:cs typeface="Arial"/>
            </a:endParaRPr>
          </a:p>
          <a:p>
            <a:pPr marL="379095" marR="5080" indent="-367030">
              <a:lnSpc>
                <a:spcPts val="2270"/>
              </a:lnSpc>
              <a:spcBef>
                <a:spcPts val="5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solutions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like </a:t>
            </a: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GraphQL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handle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eﬃciency,</a:t>
            </a:r>
            <a:r>
              <a:rPr sz="1800" spc="2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ﬂexibility,</a:t>
            </a:r>
            <a:r>
              <a:rPr sz="1800" spc="2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performance.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200" cy="18953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0" dirty="0"/>
              <a:t>Introducing</a:t>
            </a:r>
            <a:r>
              <a:rPr spc="-35" dirty="0"/>
              <a:t> </a:t>
            </a:r>
            <a:r>
              <a:rPr spc="-180" dirty="0"/>
              <a:t>gRPC</a:t>
            </a:r>
            <a:r>
              <a:rPr spc="-140" dirty="0"/>
              <a:t> </a:t>
            </a:r>
            <a:r>
              <a:rPr spc="-90" dirty="0"/>
              <a:t>&amp;</a:t>
            </a:r>
            <a:r>
              <a:rPr spc="-75" dirty="0"/>
              <a:t> </a:t>
            </a:r>
            <a:r>
              <a:rPr spc="-265" dirty="0"/>
              <a:t>GraphQL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3992879" cy="29362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79095" marR="5080" indent="-367030">
              <a:lnSpc>
                <a:spcPts val="2050"/>
              </a:lnSpc>
              <a:spcBef>
                <a:spcPts val="260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spc="-90" dirty="0">
                <a:solidFill>
                  <a:srgbClr val="685D46"/>
                </a:solidFill>
                <a:latin typeface="Tahoma"/>
                <a:cs typeface="Tahoma"/>
              </a:rPr>
              <a:t>gRPC</a:t>
            </a:r>
            <a:r>
              <a:rPr sz="1800" spc="-9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high-performance,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binary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optimized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2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2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time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marR="403860" indent="-367030">
              <a:lnSpc>
                <a:spcPts val="2050"/>
              </a:lnSpc>
              <a:spcBef>
                <a:spcPts val="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685D46"/>
                </a:solidFill>
                <a:latin typeface="Tahoma"/>
                <a:cs typeface="Tahoma"/>
              </a:rPr>
              <a:t>GraphQL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ﬂexible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query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language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fetch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only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need.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ts val="1970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Diﬀerences:</a:t>
            </a:r>
            <a:endParaRPr sz="1800">
              <a:latin typeface="Arial"/>
              <a:cs typeface="Arial"/>
            </a:endParaRPr>
          </a:p>
          <a:p>
            <a:pPr marL="836294" marR="1304925" lvl="1" indent="-336550">
              <a:lnSpc>
                <a:spcPts val="16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-114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14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4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Fast,</a:t>
            </a:r>
            <a:r>
              <a:rPr sz="14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binary,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microservices-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focused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Flexible,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685D46"/>
                </a:solidFill>
                <a:latin typeface="Arial"/>
                <a:cs typeface="Arial"/>
              </a:rPr>
              <a:t>JSON-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based,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639"/>
              </a:lnSpc>
            </a:pP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frontend-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optimized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1966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0" dirty="0"/>
              <a:t>gRPC</a:t>
            </a:r>
            <a:r>
              <a:rPr spc="-280" dirty="0"/>
              <a:t> </a:t>
            </a:r>
            <a:r>
              <a:rPr spc="-10" dirty="0"/>
              <a:t>-</a:t>
            </a:r>
            <a:r>
              <a:rPr spc="-260" dirty="0"/>
              <a:t> </a:t>
            </a:r>
            <a:r>
              <a:rPr spc="-370" dirty="0"/>
              <a:t>How</a:t>
            </a:r>
            <a:r>
              <a:rPr spc="-110" dirty="0"/>
              <a:t> </a:t>
            </a:r>
            <a:r>
              <a:rPr spc="-135" dirty="0"/>
              <a:t>It</a:t>
            </a:r>
            <a:r>
              <a:rPr spc="-110" dirty="0"/>
              <a:t> </a:t>
            </a:r>
            <a:r>
              <a:rPr spc="-320" dirty="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923029" cy="25285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built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HTTP/2,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allowing:</a:t>
            </a:r>
            <a:endParaRPr sz="1800">
              <a:latin typeface="Arial"/>
              <a:cs typeface="Arial"/>
            </a:endParaRPr>
          </a:p>
          <a:p>
            <a:pPr marL="836294" marR="152400" lvl="1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Multiplexed</a:t>
            </a:r>
            <a:r>
              <a:rPr sz="140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40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(multiple</a:t>
            </a:r>
            <a:r>
              <a:rPr sz="140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calls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connection).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Compression</a:t>
            </a:r>
            <a:r>
              <a:rPr sz="14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(smaller</a:t>
            </a:r>
            <a:r>
              <a:rPr sz="14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payload</a:t>
            </a:r>
            <a:r>
              <a:rPr sz="14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sizes).</a:t>
            </a:r>
            <a:endParaRPr sz="1400">
              <a:latin typeface="Arial"/>
              <a:cs typeface="Arial"/>
            </a:endParaRPr>
          </a:p>
          <a:p>
            <a:pPr marL="836294" marR="443865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Full-duplex</a:t>
            </a:r>
            <a:r>
              <a:rPr sz="1400" spc="2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sz="1400" spc="2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(real-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time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bidirectional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communication).</a:t>
            </a:r>
            <a:endParaRPr sz="1400">
              <a:latin typeface="Arial"/>
              <a:cs typeface="Arial"/>
            </a:endParaRPr>
          </a:p>
          <a:p>
            <a:pPr marL="379095" marR="97155" indent="-367030">
              <a:lnSpc>
                <a:spcPts val="2480"/>
              </a:lnSpc>
              <a:spcBef>
                <a:spcPts val="2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Buﬀers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(ProtoBuf)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(smaller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JSON).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8574" y="1413658"/>
            <a:ext cx="4285900" cy="17578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5175" y="3297149"/>
            <a:ext cx="2736483" cy="1667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0" dirty="0"/>
              <a:t>gRPC</a:t>
            </a:r>
            <a:r>
              <a:rPr spc="-280" dirty="0"/>
              <a:t> </a:t>
            </a:r>
            <a:r>
              <a:rPr spc="-10" dirty="0"/>
              <a:t>-</a:t>
            </a:r>
            <a:r>
              <a:rPr spc="-260" dirty="0"/>
              <a:t> </a:t>
            </a:r>
            <a:r>
              <a:rPr spc="-270" dirty="0"/>
              <a:t>Use</a:t>
            </a:r>
            <a:r>
              <a:rPr spc="-85" dirty="0"/>
              <a:t> </a:t>
            </a:r>
            <a:r>
              <a:rPr spc="-204" dirty="0"/>
              <a:t>Cases</a:t>
            </a:r>
            <a:r>
              <a:rPr spc="-45" dirty="0"/>
              <a:t> </a:t>
            </a:r>
            <a:r>
              <a:rPr spc="-90" dirty="0"/>
              <a:t>&amp;</a:t>
            </a:r>
            <a:r>
              <a:rPr spc="-110" dirty="0"/>
              <a:t> </a:t>
            </a:r>
            <a:r>
              <a:rPr spc="-340" dirty="0"/>
              <a:t>When</a:t>
            </a:r>
            <a:r>
              <a:rPr spc="-45" dirty="0"/>
              <a:t> </a:t>
            </a:r>
            <a:r>
              <a:rPr spc="-235" dirty="0"/>
              <a:t>to</a:t>
            </a:r>
            <a:r>
              <a:rPr spc="-45" dirty="0"/>
              <a:t> </a:t>
            </a:r>
            <a:r>
              <a:rPr spc="-295" dirty="0"/>
              <a:t>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59333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sz="18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inter-service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8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sz="18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Full-duplex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bidirectional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transfer.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IoT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Low-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bandwidth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binary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Multi-language</a:t>
            </a:r>
            <a:r>
              <a:rPr sz="1800" spc="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ecosystems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Auto-generated</a:t>
            </a:r>
            <a:r>
              <a:rPr sz="1800" spc="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code.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4" dirty="0"/>
              <a:t>GraphQL</a:t>
            </a:r>
            <a:r>
              <a:rPr spc="-320" dirty="0"/>
              <a:t> </a:t>
            </a:r>
            <a:r>
              <a:rPr spc="-10" dirty="0"/>
              <a:t>-</a:t>
            </a:r>
            <a:r>
              <a:rPr spc="-260" dirty="0"/>
              <a:t> </a:t>
            </a:r>
            <a:r>
              <a:rPr spc="-370" dirty="0"/>
              <a:t>How</a:t>
            </a:r>
            <a:r>
              <a:rPr spc="-110" dirty="0"/>
              <a:t> </a:t>
            </a:r>
            <a:r>
              <a:rPr spc="-135" dirty="0"/>
              <a:t>It</a:t>
            </a:r>
            <a:r>
              <a:rPr spc="-114" dirty="0"/>
              <a:t> </a:t>
            </a:r>
            <a:r>
              <a:rPr spc="-320" dirty="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27170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REST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endpoints,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one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endpoint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specify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they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need.</a:t>
            </a:r>
            <a:endParaRPr sz="1800">
              <a:latin typeface="Arial"/>
              <a:cs typeface="Arial"/>
            </a:endParaRPr>
          </a:p>
          <a:p>
            <a:pPr marL="379095" marR="8064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deﬁnes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relationships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800">
              <a:latin typeface="Arial"/>
              <a:cs typeface="Arial"/>
            </a:endParaRPr>
          </a:p>
          <a:p>
            <a:pPr marL="379095" marR="3556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send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queries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GraphQL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resolves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ﬁelds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dynamically.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3849" y="1266324"/>
            <a:ext cx="4006238" cy="16588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7700" y="3097125"/>
            <a:ext cx="1318550" cy="1311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1025" y="3097125"/>
            <a:ext cx="2243649" cy="131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4" dirty="0"/>
              <a:t>GraphQL</a:t>
            </a:r>
            <a:r>
              <a:rPr spc="-325" dirty="0"/>
              <a:t> </a:t>
            </a:r>
            <a:r>
              <a:rPr spc="-10" dirty="0"/>
              <a:t>-</a:t>
            </a:r>
            <a:r>
              <a:rPr spc="-254" dirty="0"/>
              <a:t> </a:t>
            </a:r>
            <a:r>
              <a:rPr spc="-270" dirty="0"/>
              <a:t>Use</a:t>
            </a:r>
            <a:r>
              <a:rPr spc="-85" dirty="0"/>
              <a:t> </a:t>
            </a:r>
            <a:r>
              <a:rPr spc="-204" dirty="0"/>
              <a:t>Cases</a:t>
            </a:r>
            <a:r>
              <a:rPr spc="-45" dirty="0"/>
              <a:t> </a:t>
            </a:r>
            <a:r>
              <a:rPr spc="-90" dirty="0"/>
              <a:t>&amp;</a:t>
            </a:r>
            <a:r>
              <a:rPr spc="-110" dirty="0"/>
              <a:t> </a:t>
            </a:r>
            <a:r>
              <a:rPr spc="-340" dirty="0"/>
              <a:t>When</a:t>
            </a:r>
            <a:r>
              <a:rPr spc="-45" dirty="0"/>
              <a:t> </a:t>
            </a:r>
            <a:r>
              <a:rPr spc="-235" dirty="0"/>
              <a:t>to</a:t>
            </a:r>
            <a:r>
              <a:rPr spc="-40" dirty="0"/>
              <a:t> </a:t>
            </a:r>
            <a:r>
              <a:rPr spc="-295" dirty="0"/>
              <a:t>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929245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Frontend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Optimization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Clients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fetch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exactly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need.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Reducing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query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replaces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9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calls.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Handles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slow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networks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sources.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Aggregating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Simpliﬁes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fetching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from diﬀerent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APIs.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40" dirty="0"/>
              <a:t> </a:t>
            </a:r>
            <a:r>
              <a:rPr spc="-229" dirty="0"/>
              <a:t>Questions</a:t>
            </a:r>
            <a:r>
              <a:rPr spc="-30" dirty="0"/>
              <a:t> </a:t>
            </a:r>
            <a:r>
              <a:rPr spc="-275" dirty="0"/>
              <a:t>on</a:t>
            </a:r>
            <a:r>
              <a:rPr spc="-150" dirty="0"/>
              <a:t> </a:t>
            </a:r>
            <a:r>
              <a:rPr spc="-200" dirty="0"/>
              <a:t>API</a:t>
            </a:r>
            <a:r>
              <a:rPr spc="-30" dirty="0"/>
              <a:t> </a:t>
            </a:r>
            <a:r>
              <a:rPr spc="-19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341870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compare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685D46"/>
                </a:solidFill>
                <a:latin typeface="Arial"/>
                <a:cs typeface="Arial"/>
              </a:rPr>
              <a:t>REST,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685D46"/>
                </a:solidFill>
                <a:latin typeface="Arial"/>
                <a:cs typeface="Arial"/>
              </a:rPr>
              <a:t>gRPC,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GraphQL?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REST?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oﬀs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security?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eﬃciently?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880350" cy="249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microservices,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streaming,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performance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APIs.</a:t>
            </a:r>
            <a:endParaRPr sz="1800">
              <a:latin typeface="Arial"/>
              <a:cs typeface="Arial"/>
            </a:endParaRPr>
          </a:p>
          <a:p>
            <a:pPr marL="379095" marR="233679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frontend-driven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ﬂexible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fetching,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reducing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over-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fetching.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case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one-size-ﬁts-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all!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ready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justify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your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choices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interviews!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285" dirty="0"/>
              <a:t> </a:t>
            </a:r>
            <a:r>
              <a:rPr spc="-10" dirty="0"/>
              <a:t>-</a:t>
            </a:r>
            <a:r>
              <a:rPr spc="-265" dirty="0"/>
              <a:t> </a:t>
            </a:r>
            <a:r>
              <a:rPr spc="-19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22920" cy="294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section,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explored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protocols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14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Basics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Backbone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15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685D46"/>
                </a:solidFill>
                <a:latin typeface="Arial"/>
                <a:cs typeface="Arial"/>
              </a:rPr>
              <a:t>RESTfulness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Principles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Protocols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Beyond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Up: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3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  <a:p>
            <a:pPr marL="836294" marR="15113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now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shift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focus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patterns,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which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deﬁne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interact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505</Words>
  <Application>Microsoft Office PowerPoint</Application>
  <PresentationFormat>On-screen Show (16:9)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Tahoma</vt:lpstr>
      <vt:lpstr>Office Theme</vt:lpstr>
      <vt:lpstr>Modern API Protocols - Beyond REST(gRPC, GraphQL)</vt:lpstr>
      <vt:lpstr>Why Do We Need More Than REST?</vt:lpstr>
      <vt:lpstr>Introducing gRPC &amp; GraphQL</vt:lpstr>
      <vt:lpstr>gRPC - How It Works?</vt:lpstr>
      <vt:lpstr>gRPC - Use Cases &amp; When to Use</vt:lpstr>
      <vt:lpstr>GraphQL - How It Works?</vt:lpstr>
      <vt:lpstr>GraphQL - Use Cases &amp; When to Use</vt:lpstr>
      <vt:lpstr>Interview Questions on API Protocols</vt:lpstr>
      <vt:lpstr>Summary &amp; Key Takeaways</vt:lpstr>
      <vt:lpstr>Summary - Protocols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3</dc:title>
  <cp:lastModifiedBy>RAVI GV</cp:lastModifiedBy>
  <cp:revision>1</cp:revision>
  <dcterms:created xsi:type="dcterms:W3CDTF">2025-11-15T15:13:02Z</dcterms:created>
  <dcterms:modified xsi:type="dcterms:W3CDTF">2025-11-15T15:22:21Z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