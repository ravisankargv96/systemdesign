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9322" y="2146606"/>
            <a:ext cx="6845354" cy="540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553959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7513955" cy="270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10"/>
              </a:spcBef>
            </a:pPr>
            <a:r>
              <a:rPr sz="3350" spc="-155" dirty="0"/>
              <a:t>REST</a:t>
            </a:r>
            <a:r>
              <a:rPr sz="3350" spc="-185" dirty="0"/>
              <a:t> </a:t>
            </a:r>
            <a:r>
              <a:rPr sz="3350" dirty="0"/>
              <a:t>&amp;</a:t>
            </a:r>
            <a:r>
              <a:rPr sz="3350" spc="-55" dirty="0"/>
              <a:t> </a:t>
            </a:r>
            <a:r>
              <a:rPr sz="3350" spc="-190" dirty="0"/>
              <a:t>RESTfulness</a:t>
            </a:r>
            <a:r>
              <a:rPr sz="3350" spc="-195" dirty="0"/>
              <a:t> </a:t>
            </a:r>
            <a:r>
              <a:rPr sz="3350" spc="-40" dirty="0"/>
              <a:t>-</a:t>
            </a:r>
            <a:r>
              <a:rPr sz="3350" spc="-390" dirty="0"/>
              <a:t> </a:t>
            </a:r>
            <a:r>
              <a:rPr sz="3350" spc="-225" dirty="0"/>
              <a:t>API</a:t>
            </a:r>
            <a:r>
              <a:rPr sz="3350" spc="-60" dirty="0"/>
              <a:t> </a:t>
            </a:r>
            <a:r>
              <a:rPr sz="3350" spc="-210" dirty="0"/>
              <a:t>Design</a:t>
            </a:r>
            <a:r>
              <a:rPr sz="3350" spc="-55" dirty="0"/>
              <a:t> </a:t>
            </a:r>
            <a:r>
              <a:rPr sz="3350" spc="-165" dirty="0"/>
              <a:t>Principles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3892355" y="2910872"/>
            <a:ext cx="1358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30" dirty="0"/>
              <a:t>What</a:t>
            </a:r>
            <a:r>
              <a:rPr spc="-60" dirty="0"/>
              <a:t> </a:t>
            </a:r>
            <a:r>
              <a:rPr spc="-90" dirty="0"/>
              <a:t>is</a:t>
            </a:r>
            <a:r>
              <a:rPr spc="-85" dirty="0"/>
              <a:t> </a:t>
            </a:r>
            <a:r>
              <a:rPr spc="-130" dirty="0"/>
              <a:t>REST?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4017645" cy="2865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685D46"/>
                </a:solidFill>
                <a:latin typeface="Tahoma"/>
                <a:cs typeface="Tahoma"/>
              </a:rPr>
              <a:t>Deﬁnition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REST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(Representational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Transfer)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style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designing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networked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800">
              <a:latin typeface="Arial"/>
              <a:cs typeface="Arial"/>
            </a:endParaRPr>
          </a:p>
          <a:p>
            <a:pPr marL="379095" marR="396240" indent="-367030">
              <a:lnSpc>
                <a:spcPct val="114999"/>
              </a:lnSpc>
              <a:buFont typeface="Arial"/>
              <a:buChar char="●"/>
              <a:tabLst>
                <a:tab pos="379095" algn="l"/>
              </a:tabLst>
            </a:pPr>
            <a:r>
              <a:rPr sz="1800" b="1" spc="-30" dirty="0">
                <a:solidFill>
                  <a:srgbClr val="685D46"/>
                </a:solidFill>
                <a:latin typeface="Tahoma"/>
                <a:cs typeface="Tahoma"/>
              </a:rPr>
              <a:t>Key</a:t>
            </a:r>
            <a:r>
              <a:rPr sz="1800" b="1" spc="-80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1800" b="1" spc="-65" dirty="0">
                <a:solidFill>
                  <a:srgbClr val="685D46"/>
                </a:solidFill>
                <a:latin typeface="Tahoma"/>
                <a:cs typeface="Tahoma"/>
              </a:rPr>
              <a:t>Idea</a:t>
            </a:r>
            <a:r>
              <a:rPr sz="1800" spc="-65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standard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HTTP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methods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stateless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800">
              <a:latin typeface="Arial"/>
              <a:cs typeface="Arial"/>
            </a:endParaRPr>
          </a:p>
          <a:p>
            <a:pPr marL="379095" marR="156845" indent="-367030">
              <a:lnSpc>
                <a:spcPct val="114999"/>
              </a:lnSpc>
              <a:buFont typeface="Arial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685D46"/>
                </a:solidFill>
                <a:latin typeface="Tahoma"/>
                <a:cs typeface="Tahoma"/>
              </a:rPr>
              <a:t>Origin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Coined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Roy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Fielding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his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2000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dissertation.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4399" y="1390874"/>
            <a:ext cx="4067900" cy="15762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Why</a:t>
            </a:r>
            <a:r>
              <a:rPr spc="-145" dirty="0"/>
              <a:t> </a:t>
            </a:r>
            <a:r>
              <a:rPr spc="-135" dirty="0"/>
              <a:t>REST</a:t>
            </a:r>
            <a:r>
              <a:rPr spc="-150" dirty="0"/>
              <a:t> </a:t>
            </a:r>
            <a:r>
              <a:rPr spc="-275" dirty="0"/>
              <a:t>Matters?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6389370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685D46"/>
                </a:solidFill>
                <a:latin typeface="Tahoma"/>
                <a:cs typeface="Tahoma"/>
              </a:rPr>
              <a:t>Simplicity</a:t>
            </a:r>
            <a:r>
              <a:rPr sz="1800" b="1" spc="-85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1800" b="1" spc="-80" dirty="0">
                <a:solidFill>
                  <a:srgbClr val="685D46"/>
                </a:solidFill>
                <a:latin typeface="Tahoma"/>
                <a:cs typeface="Tahoma"/>
              </a:rPr>
              <a:t>&amp;</a:t>
            </a:r>
            <a:r>
              <a:rPr sz="1800" b="1" spc="-65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685D46"/>
                </a:solidFill>
                <a:latin typeface="Tahoma"/>
                <a:cs typeface="Tahoma"/>
              </a:rPr>
              <a:t>Scalability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standard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HTTP.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685D46"/>
                </a:solidFill>
                <a:latin typeface="Tahoma"/>
                <a:cs typeface="Tahoma"/>
              </a:rPr>
              <a:t>Interoperability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: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platforms.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685D46"/>
                </a:solidFill>
                <a:latin typeface="Tahoma"/>
                <a:cs typeface="Tahoma"/>
              </a:rPr>
              <a:t>Eﬃciency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caching,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statelessness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performance.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35" dirty="0"/>
              <a:t>REST</a:t>
            </a:r>
            <a:r>
              <a:rPr spc="-165" dirty="0"/>
              <a:t> </a:t>
            </a:r>
            <a:r>
              <a:rPr spc="-220" dirty="0"/>
              <a:t>Constraints</a:t>
            </a:r>
            <a:r>
              <a:rPr dirty="0"/>
              <a:t> </a:t>
            </a:r>
            <a:r>
              <a:rPr spc="-245" dirty="0"/>
              <a:t>(Core</a:t>
            </a:r>
            <a:r>
              <a:rPr spc="-5" dirty="0"/>
              <a:t> </a:t>
            </a:r>
            <a:r>
              <a:rPr spc="-145" dirty="0"/>
              <a:t>Principles)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122295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Statelessness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Cacheability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Layered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Uniform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Interface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2362199" cy="31813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35" dirty="0"/>
              <a:t>RESTful</a:t>
            </a:r>
            <a:r>
              <a:rPr spc="-140" dirty="0"/>
              <a:t> </a:t>
            </a:r>
            <a:r>
              <a:rPr spc="-200" dirty="0"/>
              <a:t>API</a:t>
            </a:r>
            <a:r>
              <a:rPr spc="-25" dirty="0"/>
              <a:t> </a:t>
            </a:r>
            <a:r>
              <a:rPr spc="-185" dirty="0"/>
              <a:t>Design</a:t>
            </a:r>
            <a:r>
              <a:rPr spc="-25" dirty="0"/>
              <a:t> </a:t>
            </a:r>
            <a:r>
              <a:rPr spc="-160" dirty="0"/>
              <a:t>Principles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3455670" cy="2500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Resource-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Approach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25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sz="1100" dirty="0">
                <a:solidFill>
                  <a:srgbClr val="188037"/>
                </a:solidFill>
                <a:latin typeface="Courier New"/>
                <a:cs typeface="Courier New"/>
              </a:rPr>
              <a:t>GET </a:t>
            </a:r>
            <a:r>
              <a:rPr sz="1100" spc="-20" dirty="0">
                <a:solidFill>
                  <a:srgbClr val="188037"/>
                </a:solidFill>
                <a:latin typeface="Courier New"/>
                <a:cs typeface="Courier New"/>
              </a:rPr>
              <a:t>/users/{id}</a:t>
            </a:r>
            <a:r>
              <a:rPr sz="1100" spc="-36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retrieve a </a:t>
            </a:r>
            <a:r>
              <a:rPr sz="1100" spc="-20" dirty="0">
                <a:latin typeface="Arial"/>
                <a:cs typeface="Arial"/>
              </a:rPr>
              <a:t>user</a:t>
            </a:r>
            <a:endParaRPr sz="1100">
              <a:latin typeface="Arial"/>
              <a:cs typeface="Arial"/>
            </a:endParaRPr>
          </a:p>
          <a:p>
            <a:pPr marL="836294" lvl="1" indent="-335915">
              <a:lnSpc>
                <a:spcPts val="1290"/>
              </a:lnSpc>
              <a:spcBef>
                <a:spcPts val="275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sz="1100" dirty="0">
                <a:solidFill>
                  <a:srgbClr val="188037"/>
                </a:solidFill>
                <a:latin typeface="Courier New"/>
                <a:cs typeface="Courier New"/>
              </a:rPr>
              <a:t>POST</a:t>
            </a:r>
            <a:r>
              <a:rPr sz="1100" spc="-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188037"/>
                </a:solidFill>
                <a:latin typeface="Courier New"/>
                <a:cs typeface="Courier New"/>
              </a:rPr>
              <a:t>/orders</a:t>
            </a:r>
            <a:r>
              <a:rPr sz="1100" spc="-36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new</a:t>
            </a:r>
            <a:r>
              <a:rPr sz="1100" spc="-10" dirty="0">
                <a:latin typeface="Arial"/>
                <a:cs typeface="Arial"/>
              </a:rPr>
              <a:t> order</a:t>
            </a:r>
            <a:endParaRPr sz="1100">
              <a:latin typeface="Arial"/>
              <a:cs typeface="Arial"/>
            </a:endParaRPr>
          </a:p>
          <a:p>
            <a:pPr marL="379095" indent="-366395">
              <a:lnSpc>
                <a:spcPts val="213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Proper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Methods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Usage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29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sz="1100" spc="-10" dirty="0">
                <a:solidFill>
                  <a:srgbClr val="188037"/>
                </a:solidFill>
                <a:latin typeface="Courier New"/>
                <a:cs typeface="Courier New"/>
              </a:rPr>
              <a:t>GET</a:t>
            </a:r>
            <a:r>
              <a:rPr sz="1100" spc="-36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retrieve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5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sz="1100" spc="-20" dirty="0">
                <a:solidFill>
                  <a:srgbClr val="188037"/>
                </a:solidFill>
                <a:latin typeface="Courier New"/>
                <a:cs typeface="Courier New"/>
              </a:rPr>
              <a:t>POST</a:t>
            </a:r>
            <a:r>
              <a:rPr sz="1100" spc="-36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create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new</a:t>
            </a:r>
            <a:r>
              <a:rPr sz="1100" spc="-10" dirty="0">
                <a:latin typeface="Arial"/>
                <a:cs typeface="Arial"/>
              </a:rPr>
              <a:t> resources</a:t>
            </a:r>
            <a:endParaRPr sz="11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5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sz="1100" spc="-10" dirty="0">
                <a:solidFill>
                  <a:srgbClr val="188037"/>
                </a:solidFill>
                <a:latin typeface="Courier New"/>
                <a:cs typeface="Courier New"/>
              </a:rPr>
              <a:t>PUT</a:t>
            </a:r>
            <a:r>
              <a:rPr sz="1100" spc="-36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update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existing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resources</a:t>
            </a:r>
            <a:endParaRPr sz="11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5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sz="1100" spc="-20" dirty="0">
                <a:solidFill>
                  <a:srgbClr val="188037"/>
                </a:solidFill>
                <a:latin typeface="Courier New"/>
                <a:cs typeface="Courier New"/>
              </a:rPr>
              <a:t>PATCH</a:t>
            </a:r>
            <a:r>
              <a:rPr sz="1100" spc="-3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for </a:t>
            </a:r>
            <a:r>
              <a:rPr sz="1100" b="1" dirty="0">
                <a:latin typeface="Arial"/>
                <a:cs typeface="Arial"/>
              </a:rPr>
              <a:t>partial </a:t>
            </a:r>
            <a:r>
              <a:rPr sz="1100" b="1" spc="-10" dirty="0">
                <a:latin typeface="Arial"/>
                <a:cs typeface="Arial"/>
              </a:rPr>
              <a:t>updates</a:t>
            </a:r>
            <a:endParaRPr sz="1100">
              <a:latin typeface="Arial"/>
              <a:cs typeface="Arial"/>
            </a:endParaRPr>
          </a:p>
          <a:p>
            <a:pPr marL="836294" lvl="1" indent="-335915">
              <a:lnSpc>
                <a:spcPts val="1290"/>
              </a:lnSpc>
              <a:spcBef>
                <a:spcPts val="280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sz="1100" spc="-20" dirty="0">
                <a:solidFill>
                  <a:srgbClr val="188037"/>
                </a:solidFill>
                <a:latin typeface="Courier New"/>
                <a:cs typeface="Courier New"/>
              </a:rPr>
              <a:t>DELETE</a:t>
            </a:r>
            <a:r>
              <a:rPr sz="1100" spc="-3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remove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resources</a:t>
            </a:r>
            <a:endParaRPr sz="1100">
              <a:latin typeface="Arial"/>
              <a:cs typeface="Arial"/>
            </a:endParaRPr>
          </a:p>
          <a:p>
            <a:pPr marL="379095" indent="-366395">
              <a:lnSpc>
                <a:spcPts val="2075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sz="1800" spc="-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Interactions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ts val="2105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Consistency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685D46"/>
                </a:solidFill>
                <a:latin typeface="Arial"/>
                <a:cs typeface="Arial"/>
              </a:rPr>
              <a:t>URL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Structure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11825" y="3845950"/>
            <a:ext cx="173990" cy="366395"/>
            <a:chOff x="1311825" y="3845950"/>
            <a:chExt cx="173990" cy="3663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3845950"/>
              <a:ext cx="173819" cy="16359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4048642"/>
              <a:ext cx="173819" cy="16359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1470" y="4048642"/>
            <a:ext cx="173819" cy="16359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3193" y="3823063"/>
            <a:ext cx="3835400" cy="60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 indent="-548005">
              <a:lnSpc>
                <a:spcPts val="1310"/>
              </a:lnSpc>
              <a:spcBef>
                <a:spcPts val="100"/>
              </a:spcBef>
              <a:buClr>
                <a:srgbClr val="685D46"/>
              </a:buClr>
              <a:buSzPct val="127272"/>
              <a:buChar char="○"/>
              <a:tabLst>
                <a:tab pos="560705" algn="l"/>
              </a:tabLst>
            </a:pPr>
            <a:r>
              <a:rPr sz="1100" dirty="0">
                <a:latin typeface="Arial"/>
                <a:cs typeface="Arial"/>
              </a:rPr>
              <a:t>Use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plural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nouns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collections: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88037"/>
                </a:solidFill>
                <a:latin typeface="Courier New"/>
                <a:cs typeface="Courier New"/>
              </a:rPr>
              <a:t>/users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88037"/>
                </a:solidFill>
                <a:latin typeface="Courier New"/>
                <a:cs typeface="Courier New"/>
              </a:rPr>
              <a:t>/orders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625"/>
              </a:lnSpc>
            </a:pP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39"/>
              </a:lnSpc>
            </a:pP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1286" y="4025755"/>
            <a:ext cx="18707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→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88037"/>
                </a:solidFill>
                <a:latin typeface="Courier New"/>
                <a:cs typeface="Courier New"/>
              </a:rPr>
              <a:t>/users/{id}</a:t>
            </a:r>
            <a:r>
              <a:rPr sz="1100" spc="-3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88037"/>
                </a:solidFill>
                <a:latin typeface="Courier New"/>
                <a:cs typeface="Courier New"/>
              </a:rPr>
              <a:t>PATCH</a:t>
            </a:r>
            <a:endParaRPr sz="11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7458" y="4048642"/>
            <a:ext cx="173819" cy="16359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4251334"/>
            <a:ext cx="173819" cy="16359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503957" y="3990703"/>
            <a:ext cx="3906520" cy="4311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latin typeface="Arial"/>
                <a:cs typeface="Arial"/>
              </a:rPr>
              <a:t>Avoid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including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actions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URLs: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88037"/>
                </a:solidFill>
                <a:latin typeface="Courier New"/>
                <a:cs typeface="Courier New"/>
              </a:rPr>
              <a:t>/users/{id}/activate</a:t>
            </a:r>
            <a:endParaRPr sz="1100">
              <a:latin typeface="Courier New"/>
              <a:cs typeface="Courier New"/>
            </a:endParaRPr>
          </a:p>
          <a:p>
            <a:pPr marL="20320">
              <a:lnSpc>
                <a:spcPct val="100000"/>
              </a:lnSpc>
              <a:spcBef>
                <a:spcPts val="275"/>
              </a:spcBef>
            </a:pPr>
            <a:r>
              <a:rPr sz="1100" dirty="0">
                <a:latin typeface="Arial"/>
                <a:cs typeface="Arial"/>
              </a:rPr>
              <a:t>Implement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versioning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backward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compatibility: </a:t>
            </a:r>
            <a:r>
              <a:rPr sz="1100" spc="-10" dirty="0">
                <a:solidFill>
                  <a:srgbClr val="188037"/>
                </a:solidFill>
                <a:latin typeface="Courier New"/>
                <a:cs typeface="Courier New"/>
              </a:rPr>
              <a:t>/v1/users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45" dirty="0"/>
              <a:t>Resources</a:t>
            </a:r>
            <a:r>
              <a:rPr spc="-6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spc="-195" dirty="0"/>
              <a:t>Endpoints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534410" cy="1719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Resources: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Entities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Users,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Orders,</a:t>
            </a:r>
            <a:r>
              <a:rPr sz="1800" spc="229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Products.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Endpoint</a:t>
            </a:r>
            <a:r>
              <a:rPr sz="1800" spc="3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14" dirty="0">
                <a:solidFill>
                  <a:srgbClr val="685D46"/>
                </a:solidFill>
                <a:latin typeface="Arial"/>
                <a:cs typeface="Arial"/>
              </a:rPr>
              <a:t>GET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/users/{id}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/orders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110" dirty="0">
                <a:solidFill>
                  <a:srgbClr val="685D46"/>
                </a:solidFill>
                <a:latin typeface="Arial"/>
                <a:cs typeface="Arial"/>
              </a:rPr>
              <a:t>DELETE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/products/{id}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7922" y="1266322"/>
            <a:ext cx="4826074" cy="18274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85064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45" dirty="0"/>
              <a:t>JSON</a:t>
            </a:r>
            <a:r>
              <a:rPr spc="-95" dirty="0"/>
              <a:t> </a:t>
            </a:r>
            <a:r>
              <a:rPr spc="-190" dirty="0"/>
              <a:t>vs.</a:t>
            </a:r>
            <a:r>
              <a:rPr spc="-320" dirty="0"/>
              <a:t> </a:t>
            </a:r>
            <a:r>
              <a:rPr spc="-245" dirty="0"/>
              <a:t>XML</a:t>
            </a:r>
            <a:r>
              <a:rPr spc="-185" dirty="0"/>
              <a:t> </a:t>
            </a:r>
            <a:r>
              <a:rPr spc="-170" dirty="0"/>
              <a:t>in</a:t>
            </a:r>
            <a:r>
              <a:rPr spc="-30" dirty="0"/>
              <a:t> </a:t>
            </a:r>
            <a:r>
              <a:rPr spc="-135" dirty="0"/>
              <a:t>REST</a:t>
            </a:r>
            <a:r>
              <a:rPr spc="-260" dirty="0"/>
              <a:t> </a:t>
            </a:r>
            <a:r>
              <a:rPr spc="-140" dirty="0"/>
              <a:t>APIs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2641600" cy="19088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JSON?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Lightweight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parsing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Readable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XML?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Legacy</a:t>
            </a:r>
            <a:r>
              <a:rPr sz="1400" spc="-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validation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needs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3450" y="1266321"/>
            <a:ext cx="5440550" cy="20843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380104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35" dirty="0"/>
              <a:t>HTTP</a:t>
            </a:r>
            <a:r>
              <a:rPr spc="-150" dirty="0"/>
              <a:t> </a:t>
            </a:r>
            <a:r>
              <a:rPr spc="-295" dirty="0"/>
              <a:t>Methods</a:t>
            </a:r>
            <a:r>
              <a:rPr spc="-40" dirty="0"/>
              <a:t> </a:t>
            </a:r>
            <a:r>
              <a:rPr spc="-170" dirty="0"/>
              <a:t>in</a:t>
            </a:r>
            <a:r>
              <a:rPr spc="-40" dirty="0"/>
              <a:t> </a:t>
            </a:r>
            <a:r>
              <a:rPr spc="-95" dirty="0"/>
              <a:t>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370579" cy="22339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spc="-60" dirty="0">
                <a:solidFill>
                  <a:srgbClr val="685D46"/>
                </a:solidFill>
                <a:latin typeface="Tahoma"/>
                <a:cs typeface="Tahoma"/>
              </a:rPr>
              <a:t>GET</a:t>
            </a:r>
            <a:r>
              <a:rPr sz="1800" spc="-6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Retrieve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spc="-60" dirty="0">
                <a:solidFill>
                  <a:srgbClr val="685D46"/>
                </a:solidFill>
                <a:latin typeface="Tahoma"/>
                <a:cs typeface="Tahoma"/>
              </a:rPr>
              <a:t>POST</a:t>
            </a:r>
            <a:r>
              <a:rPr sz="1800" spc="-6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Create a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resource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spc="-25" dirty="0">
                <a:solidFill>
                  <a:srgbClr val="685D46"/>
                </a:solidFill>
                <a:latin typeface="Tahoma"/>
                <a:cs typeface="Tahoma"/>
              </a:rPr>
              <a:t>PUT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Update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spc="-30" dirty="0">
                <a:solidFill>
                  <a:srgbClr val="685D46"/>
                </a:solidFill>
                <a:latin typeface="Tahoma"/>
                <a:cs typeface="Tahoma"/>
              </a:rPr>
              <a:t>PATCH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Partial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update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spc="-70" dirty="0">
                <a:solidFill>
                  <a:srgbClr val="685D46"/>
                </a:solidFill>
                <a:latin typeface="Tahoma"/>
                <a:cs typeface="Tahoma"/>
              </a:rPr>
              <a:t>DELETE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Remove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endParaRPr sz="1800">
              <a:latin typeface="Arial"/>
              <a:cs typeface="Arial"/>
            </a:endParaRPr>
          </a:p>
          <a:p>
            <a:pPr marL="379095" marR="5715" indent="-367030">
              <a:lnSpc>
                <a:spcPct val="114999"/>
              </a:lnSpc>
              <a:buFont typeface="Arial"/>
              <a:buChar char="●"/>
              <a:tabLst>
                <a:tab pos="379095" algn="l"/>
              </a:tabLst>
            </a:pPr>
            <a:r>
              <a:rPr sz="1800" b="1" spc="-65" dirty="0">
                <a:solidFill>
                  <a:srgbClr val="685D46"/>
                </a:solidFill>
                <a:latin typeface="Tahoma"/>
                <a:cs typeface="Tahoma"/>
              </a:rPr>
              <a:t>OPTIONS</a:t>
            </a:r>
            <a:r>
              <a:rPr sz="1800" spc="-65" dirty="0">
                <a:solidFill>
                  <a:srgbClr val="685D46"/>
                </a:solidFill>
                <a:latin typeface="Arial"/>
                <a:cs typeface="Arial"/>
              </a:rPr>
              <a:t>,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685D46"/>
                </a:solidFill>
                <a:latin typeface="Tahoma"/>
                <a:cs typeface="Tahoma"/>
              </a:rPr>
              <a:t>HEAD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Additional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functionalities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0250" y="1402724"/>
            <a:ext cx="5023749" cy="2126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85" dirty="0"/>
              <a:t>Real-</a:t>
            </a:r>
            <a:r>
              <a:rPr spc="-300" dirty="0"/>
              <a:t>World</a:t>
            </a:r>
            <a:r>
              <a:rPr spc="-30" dirty="0"/>
              <a:t> </a:t>
            </a:r>
            <a:r>
              <a:rPr spc="-135" dirty="0"/>
              <a:t>REST</a:t>
            </a:r>
            <a:r>
              <a:rPr spc="-250" dirty="0"/>
              <a:t> </a:t>
            </a:r>
            <a:r>
              <a:rPr spc="-200" dirty="0"/>
              <a:t>API</a:t>
            </a:r>
            <a:r>
              <a:rPr spc="-30" dirty="0"/>
              <a:t> </a:t>
            </a:r>
            <a:r>
              <a:rPr spc="-175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323590" cy="21545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Twitter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API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Fetch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tweets: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14" dirty="0">
                <a:solidFill>
                  <a:srgbClr val="685D46"/>
                </a:solidFill>
                <a:latin typeface="Arial"/>
                <a:cs typeface="Arial"/>
              </a:rPr>
              <a:t>GET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/tweets/{id}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tweet: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/tweets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GitHub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Get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repo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details: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GET</a:t>
            </a:r>
            <a:endParaRPr sz="1400">
              <a:latin typeface="Arial"/>
              <a:cs typeface="Arial"/>
            </a:endParaRPr>
          </a:p>
          <a:p>
            <a:pPr marR="628650" algn="r">
              <a:lnSpc>
                <a:spcPct val="100000"/>
              </a:lnSpc>
              <a:spcBef>
                <a:spcPts val="250"/>
              </a:spcBef>
            </a:pP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/repos/{owner}/{repo}</a:t>
            </a:r>
            <a:endParaRPr sz="1400">
              <a:latin typeface="Arial"/>
              <a:cs typeface="Arial"/>
            </a:endParaRPr>
          </a:p>
          <a:p>
            <a:pPr marL="335280" marR="677545" lvl="1" indent="-335280" algn="r">
              <a:lnSpc>
                <a:spcPct val="100000"/>
              </a:lnSpc>
              <a:spcBef>
                <a:spcPts val="254"/>
              </a:spcBef>
              <a:buChar char="○"/>
              <a:tabLst>
                <a:tab pos="33528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Create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issue: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ct val="100000"/>
              </a:lnSpc>
              <a:spcBef>
                <a:spcPts val="250"/>
              </a:spcBef>
            </a:pP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/repos/{owner}/{repo}/issues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2875" y="1304825"/>
            <a:ext cx="4815727" cy="2044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525" y="4058718"/>
            <a:ext cx="3022474" cy="97318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95" dirty="0"/>
              <a:t>Best</a:t>
            </a:r>
            <a:r>
              <a:rPr spc="-40" dirty="0"/>
              <a:t> </a:t>
            </a:r>
            <a:r>
              <a:rPr spc="-200" dirty="0"/>
              <a:t>Practices</a:t>
            </a:r>
            <a:r>
              <a:rPr spc="-35" dirty="0"/>
              <a:t> </a:t>
            </a:r>
            <a:r>
              <a:rPr spc="-90" dirty="0"/>
              <a:t>&amp;</a:t>
            </a:r>
            <a:r>
              <a:rPr spc="-70" dirty="0"/>
              <a:t> </a:t>
            </a:r>
            <a:r>
              <a:rPr spc="-350" dirty="0"/>
              <a:t>Common</a:t>
            </a:r>
            <a:r>
              <a:rPr spc="-40" dirty="0"/>
              <a:t> </a:t>
            </a:r>
            <a:r>
              <a:rPr spc="-100" dirty="0"/>
              <a:t>Pitfalls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5" y="1359426"/>
            <a:ext cx="284633" cy="2678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28566" y="1330206"/>
            <a:ext cx="5847080" cy="217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Proper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Codes (200,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201,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400,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404,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500)</a:t>
            </a:r>
            <a:endParaRPr sz="1800">
              <a:latin typeface="Arial"/>
              <a:cs typeface="Arial"/>
            </a:endParaRPr>
          </a:p>
          <a:p>
            <a:pPr marL="12700" marR="1645285">
              <a:lnSpc>
                <a:spcPct val="170600"/>
              </a:lnSpc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Versioning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(/v1/resource)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Implement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(OAuth,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25" dirty="0">
                <a:solidFill>
                  <a:srgbClr val="685D46"/>
                </a:solidFill>
                <a:latin typeface="Arial"/>
                <a:cs typeface="Arial"/>
              </a:rPr>
              <a:t>JWT)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Pagination</a:t>
            </a:r>
            <a:r>
              <a:rPr sz="1800" spc="2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(?page=2&amp;limit=20)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Verbs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URLs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(/createUser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20" dirty="0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/users)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5" y="1827294"/>
            <a:ext cx="284633" cy="2678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5" y="2295162"/>
            <a:ext cx="284633" cy="2678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5" y="2763029"/>
            <a:ext cx="284633" cy="2678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425" y="3230897"/>
            <a:ext cx="284633" cy="2678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93827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Interview</a:t>
            </a:r>
            <a:r>
              <a:rPr spc="-130" dirty="0"/>
              <a:t> </a:t>
            </a:r>
            <a:r>
              <a:rPr spc="-229" dirty="0"/>
              <a:t>Questions</a:t>
            </a:r>
            <a:r>
              <a:rPr spc="-165" dirty="0"/>
              <a:t> </a:t>
            </a:r>
            <a:r>
              <a:rPr spc="-10" dirty="0"/>
              <a:t>-</a:t>
            </a:r>
            <a:r>
              <a:rPr spc="-245" dirty="0"/>
              <a:t> </a:t>
            </a:r>
            <a:r>
              <a:rPr spc="-90" dirty="0"/>
              <a:t>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793" y="1325389"/>
            <a:ext cx="6997065" cy="13970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06705" indent="-294005">
              <a:lnSpc>
                <a:spcPct val="100000"/>
              </a:lnSpc>
              <a:spcBef>
                <a:spcPts val="180"/>
              </a:spcBef>
              <a:buChar char="●"/>
              <a:tabLst>
                <a:tab pos="306705" algn="l"/>
              </a:tabLst>
            </a:pPr>
            <a:r>
              <a:rPr sz="850" dirty="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sz="85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685D46"/>
                </a:solidFill>
                <a:latin typeface="Arial"/>
                <a:cs typeface="Arial"/>
              </a:rPr>
              <a:t>Questions</a:t>
            </a:r>
            <a:endParaRPr sz="8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75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55" dirty="0">
                <a:solidFill>
                  <a:srgbClr val="685D46"/>
                </a:solidFill>
                <a:latin typeface="Arial"/>
                <a:cs typeface="Arial"/>
              </a:rPr>
              <a:t>REST,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5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SOAP?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55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six</a:t>
            </a:r>
            <a:r>
              <a:rPr sz="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constraints</a:t>
            </a:r>
            <a:r>
              <a:rPr sz="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65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65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30" dirty="0">
                <a:solidFill>
                  <a:srgbClr val="685D46"/>
                </a:solidFill>
                <a:latin typeface="Arial"/>
                <a:cs typeface="Arial"/>
              </a:rPr>
              <a:t>RESTful</a:t>
            </a:r>
            <a:r>
              <a:rPr sz="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685D46"/>
                </a:solidFill>
                <a:latin typeface="Arial"/>
                <a:cs typeface="Arial"/>
              </a:rPr>
              <a:t>API?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sz="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55" dirty="0">
                <a:solidFill>
                  <a:srgbClr val="685D46"/>
                </a:solidFill>
                <a:latin typeface="Arial"/>
                <a:cs typeface="Arial"/>
              </a:rPr>
              <a:t>REST,</a:t>
            </a:r>
            <a:r>
              <a:rPr sz="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represented?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55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endpoints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65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685D46"/>
                </a:solidFill>
                <a:latin typeface="Arial"/>
                <a:cs typeface="Arial"/>
              </a:rPr>
              <a:t>API?</a:t>
            </a:r>
            <a:endParaRPr sz="650">
              <a:latin typeface="Arial"/>
              <a:cs typeface="Arial"/>
            </a:endParaRPr>
          </a:p>
          <a:p>
            <a:pPr marL="306705" indent="-294005">
              <a:lnSpc>
                <a:spcPct val="100000"/>
              </a:lnSpc>
              <a:spcBef>
                <a:spcPts val="40"/>
              </a:spcBef>
              <a:buChar char="●"/>
              <a:tabLst>
                <a:tab pos="306705" algn="l"/>
              </a:tabLst>
            </a:pPr>
            <a:r>
              <a:rPr sz="850" spc="-60" dirty="0">
                <a:solidFill>
                  <a:srgbClr val="685D46"/>
                </a:solidFill>
                <a:latin typeface="Arial"/>
                <a:cs typeface="Arial"/>
              </a:rPr>
              <a:t>TP</a:t>
            </a:r>
            <a:r>
              <a:rPr sz="8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685D46"/>
                </a:solidFill>
                <a:latin typeface="Arial"/>
                <a:cs typeface="Arial"/>
              </a:rPr>
              <a:t>Methods</a:t>
            </a:r>
            <a:r>
              <a:rPr sz="8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850" spc="5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8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sz="8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685D46"/>
                </a:solidFill>
                <a:latin typeface="Arial"/>
                <a:cs typeface="Arial"/>
              </a:rPr>
              <a:t>Codes</a:t>
            </a:r>
            <a:endParaRPr sz="8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75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45" dirty="0">
                <a:solidFill>
                  <a:srgbClr val="685D46"/>
                </a:solidFill>
                <a:latin typeface="Arial"/>
                <a:cs typeface="Arial"/>
              </a:rPr>
              <a:t>GET,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40" dirty="0">
                <a:solidFill>
                  <a:srgbClr val="685D46"/>
                </a:solidFill>
                <a:latin typeface="Arial"/>
                <a:cs typeface="Arial"/>
              </a:rPr>
              <a:t>POST,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685D46"/>
                </a:solidFill>
                <a:latin typeface="Arial"/>
                <a:cs typeface="Arial"/>
              </a:rPr>
              <a:t>PUT,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30" dirty="0">
                <a:solidFill>
                  <a:srgbClr val="685D46"/>
                </a:solidFill>
                <a:latin typeface="Arial"/>
                <a:cs typeface="Arial"/>
              </a:rPr>
              <a:t>PATCH,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DELETE.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30" dirty="0">
                <a:solidFill>
                  <a:srgbClr val="685D46"/>
                </a:solidFill>
                <a:latin typeface="Arial"/>
                <a:cs typeface="Arial"/>
              </a:rPr>
              <a:t>PUT</a:t>
            </a:r>
            <a:r>
              <a:rPr sz="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6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PATCH?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55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commonly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3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codes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65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APIs?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200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OK,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201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Created,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204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No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Content,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400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Bad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Request,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401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Unauthorized,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403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Forbidden,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404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Found,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500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Internal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Error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mean?</a:t>
            </a:r>
            <a:endParaRPr sz="650">
              <a:latin typeface="Arial"/>
              <a:cs typeface="Arial"/>
            </a:endParaRPr>
          </a:p>
          <a:p>
            <a:pPr marL="306705" indent="-294005">
              <a:lnSpc>
                <a:spcPct val="100000"/>
              </a:lnSpc>
              <a:spcBef>
                <a:spcPts val="40"/>
              </a:spcBef>
              <a:buChar char="●"/>
              <a:tabLst>
                <a:tab pos="306705" algn="l"/>
              </a:tabLst>
            </a:pPr>
            <a:r>
              <a:rPr sz="850" spc="-40" dirty="0">
                <a:solidFill>
                  <a:srgbClr val="685D46"/>
                </a:solidFill>
                <a:latin typeface="Arial"/>
                <a:cs typeface="Arial"/>
              </a:rPr>
              <a:t>RESTful</a:t>
            </a:r>
            <a:r>
              <a:rPr sz="85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850" spc="-25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8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685D46"/>
                </a:solidFill>
                <a:latin typeface="Arial"/>
                <a:cs typeface="Arial"/>
              </a:rPr>
              <a:t>Design </a:t>
            </a:r>
            <a:r>
              <a:rPr sz="850" spc="5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85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8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9555" y="2704142"/>
            <a:ext cx="3730625" cy="6591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14"/>
              </a:spcBef>
              <a:buChar char="○"/>
              <a:tabLst>
                <a:tab pos="313690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6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6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6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sz="6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6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designing</a:t>
            </a:r>
            <a:r>
              <a:rPr sz="6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30" dirty="0">
                <a:solidFill>
                  <a:srgbClr val="685D46"/>
                </a:solidFill>
                <a:latin typeface="Arial"/>
                <a:cs typeface="Arial"/>
              </a:rPr>
              <a:t>RESTful</a:t>
            </a:r>
            <a:r>
              <a:rPr sz="6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APIs?</a:t>
            </a:r>
            <a:endParaRPr sz="650">
              <a:latin typeface="Arial"/>
              <a:cs typeface="Arial"/>
            </a:endParaRPr>
          </a:p>
          <a:p>
            <a:pPr marL="292100" indent="-279400">
              <a:lnSpc>
                <a:spcPct val="100000"/>
              </a:lnSpc>
              <a:spcBef>
                <a:spcPts val="55"/>
              </a:spcBef>
              <a:buChar char="○"/>
              <a:tabLst>
                <a:tab pos="292100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30" dirty="0">
                <a:solidFill>
                  <a:srgbClr val="685D46"/>
                </a:solidFill>
                <a:latin typeface="Arial"/>
                <a:cs typeface="Arial"/>
              </a:rPr>
              <a:t>RESTful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blogging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platform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users,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posts,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comments)?</a:t>
            </a:r>
            <a:endParaRPr sz="650">
              <a:latin typeface="Arial"/>
              <a:cs typeface="Arial"/>
            </a:endParaRPr>
          </a:p>
          <a:p>
            <a:pPr marL="292100" indent="-279400">
              <a:lnSpc>
                <a:spcPct val="100000"/>
              </a:lnSpc>
              <a:spcBef>
                <a:spcPts val="60"/>
              </a:spcBef>
              <a:buChar char="○"/>
              <a:tabLst>
                <a:tab pos="292100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35" dirty="0">
                <a:solidFill>
                  <a:srgbClr val="685D46"/>
                </a:solidFill>
                <a:latin typeface="Arial"/>
                <a:cs typeface="Arial"/>
              </a:rPr>
              <a:t>HATEOAS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(Hypermedia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Engine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State)</a:t>
            </a:r>
            <a:r>
              <a:rPr sz="6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REST?</a:t>
            </a:r>
            <a:endParaRPr sz="650">
              <a:latin typeface="Arial"/>
              <a:cs typeface="Arial"/>
            </a:endParaRPr>
          </a:p>
          <a:p>
            <a:pPr marL="292100" indent="-279400">
              <a:lnSpc>
                <a:spcPct val="100000"/>
              </a:lnSpc>
              <a:spcBef>
                <a:spcPts val="55"/>
              </a:spcBef>
              <a:buChar char="○"/>
              <a:tabLst>
                <a:tab pos="292100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6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6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6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6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sz="6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6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authorization</a:t>
            </a:r>
            <a:r>
              <a:rPr sz="6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6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65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6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APIs?</a:t>
            </a:r>
            <a:endParaRPr sz="650">
              <a:latin typeface="Arial"/>
              <a:cs typeface="Arial"/>
            </a:endParaRPr>
          </a:p>
          <a:p>
            <a:pPr marL="292100" indent="-279400">
              <a:lnSpc>
                <a:spcPct val="100000"/>
              </a:lnSpc>
              <a:spcBef>
                <a:spcPts val="60"/>
              </a:spcBef>
              <a:buChar char="○"/>
              <a:tabLst>
                <a:tab pos="292100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limiting</a:t>
            </a:r>
            <a:r>
              <a:rPr sz="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throttling,</a:t>
            </a:r>
            <a:r>
              <a:rPr sz="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6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5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9125" y="3236209"/>
            <a:ext cx="2800350" cy="127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ensure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backward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compatibility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updating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65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685D46"/>
                </a:solidFill>
                <a:latin typeface="Arial"/>
                <a:cs typeface="Arial"/>
              </a:rPr>
              <a:t>API?</a:t>
            </a:r>
            <a:endParaRPr sz="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793" y="3332040"/>
            <a:ext cx="3691890" cy="101917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06705" indent="-294005">
              <a:lnSpc>
                <a:spcPct val="100000"/>
              </a:lnSpc>
              <a:spcBef>
                <a:spcPts val="180"/>
              </a:spcBef>
              <a:buChar char="●"/>
              <a:tabLst>
                <a:tab pos="306705" algn="l"/>
              </a:tabLst>
            </a:pPr>
            <a:r>
              <a:rPr sz="850" dirty="0">
                <a:solidFill>
                  <a:srgbClr val="685D46"/>
                </a:solidFill>
                <a:latin typeface="Arial"/>
                <a:cs typeface="Arial"/>
              </a:rPr>
              <a:t>Advanced</a:t>
            </a:r>
            <a:r>
              <a:rPr sz="8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850" spc="5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8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8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685D46"/>
                </a:solidFill>
                <a:latin typeface="Arial"/>
                <a:cs typeface="Arial"/>
              </a:rPr>
              <a:t>Questions</a:t>
            </a:r>
            <a:endParaRPr sz="8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75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30" dirty="0">
                <a:solidFill>
                  <a:srgbClr val="685D46"/>
                </a:solidFill>
                <a:latin typeface="Arial"/>
                <a:cs typeface="Arial"/>
              </a:rPr>
              <a:t>RESTful</a:t>
            </a:r>
            <a:r>
              <a:rPr sz="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APIs?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55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60" dirty="0">
                <a:solidFill>
                  <a:srgbClr val="685D46"/>
                </a:solidFill>
                <a:latin typeface="Arial"/>
                <a:cs typeface="Arial"/>
              </a:rPr>
              <a:t>JSON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XML</a:t>
            </a:r>
            <a:r>
              <a:rPr sz="6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REST?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implement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pagination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65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6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APIs?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versioning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6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65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6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APIs?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55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55" dirty="0">
                <a:solidFill>
                  <a:srgbClr val="685D46"/>
                </a:solidFill>
                <a:latin typeface="Arial"/>
                <a:cs typeface="Arial"/>
              </a:rPr>
              <a:t>REST,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GraphQL,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gRPC.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65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6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685D46"/>
                </a:solidFill>
                <a:latin typeface="Arial"/>
                <a:cs typeface="Arial"/>
              </a:rPr>
              <a:t>API?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55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6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65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6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stateful?</a:t>
            </a:r>
            <a:r>
              <a:rPr sz="6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6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6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685D46"/>
                </a:solidFill>
                <a:latin typeface="Arial"/>
                <a:cs typeface="Arial"/>
              </a:rPr>
              <a:t>not?</a:t>
            </a:r>
            <a:endParaRPr sz="650">
              <a:latin typeface="Arial"/>
              <a:cs typeface="Arial"/>
            </a:endParaRPr>
          </a:p>
          <a:p>
            <a:pPr marL="763905" lvl="1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65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vulnerabilities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35" dirty="0">
                <a:solidFill>
                  <a:srgbClr val="685D46"/>
                </a:solidFill>
                <a:latin typeface="Arial"/>
                <a:cs typeface="Arial"/>
              </a:rPr>
              <a:t>SQL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injection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685D46"/>
                </a:solidFill>
                <a:latin typeface="Arial"/>
                <a:cs typeface="Arial"/>
              </a:rPr>
              <a:t>CSRF?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60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240" dirty="0"/>
              <a:t>Key</a:t>
            </a:r>
            <a:r>
              <a:rPr spc="-254" dirty="0"/>
              <a:t> </a:t>
            </a:r>
            <a:r>
              <a:rPr spc="-285" dirty="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166734" cy="15443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-19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stateless,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scalable,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widely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adopted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style.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Proper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endpoint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structure,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methods,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formats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matter.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versioning,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quality.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82015" lvl="1" indent="-381635">
              <a:lnSpc>
                <a:spcPct val="100000"/>
              </a:lnSpc>
              <a:spcBef>
                <a:spcPts val="340"/>
              </a:spcBef>
              <a:buChar char="○"/>
              <a:tabLst>
                <a:tab pos="882015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Protocols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746</Words>
  <Application>Microsoft Office PowerPoint</Application>
  <PresentationFormat>On-screen Show (16:9)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Tahoma</vt:lpstr>
      <vt:lpstr>Office Theme</vt:lpstr>
      <vt:lpstr>REST &amp; RESTfulness - API Design Principles</vt:lpstr>
      <vt:lpstr>What is REST?</vt:lpstr>
      <vt:lpstr>Why REST Matters?</vt:lpstr>
      <vt:lpstr>REST Constraints (Core Principles)</vt:lpstr>
      <vt:lpstr>RESTful API Design Principles</vt:lpstr>
      <vt:lpstr>Resources &amp; Endpoints</vt:lpstr>
      <vt:lpstr>JSON vs. XML in REST APIs</vt:lpstr>
      <vt:lpstr>HTTP Methods in REST</vt:lpstr>
      <vt:lpstr>Real-World REST API Examples</vt:lpstr>
      <vt:lpstr>Best Practices &amp; Common Pitfalls</vt:lpstr>
      <vt:lpstr>Interview Questions - REST</vt:lpstr>
      <vt:lpstr>Summary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3</dc:title>
  <cp:lastModifiedBy>RAVI GV</cp:lastModifiedBy>
  <cp:revision>1</cp:revision>
  <dcterms:created xsi:type="dcterms:W3CDTF">2025-11-15T15:13:02Z</dcterms:created>
  <dcterms:modified xsi:type="dcterms:W3CDTF">2025-11-15T15:21:00Z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