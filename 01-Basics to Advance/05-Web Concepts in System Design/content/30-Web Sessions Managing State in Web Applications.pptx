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9312" y="2209598"/>
            <a:ext cx="6785374" cy="47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75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3997325" cy="286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10"/>
              </a:spcBef>
            </a:pPr>
            <a:r>
              <a:rPr sz="2950" spc="-405" dirty="0"/>
              <a:t>Web</a:t>
            </a:r>
            <a:r>
              <a:rPr sz="2950" spc="-30" dirty="0"/>
              <a:t> </a:t>
            </a:r>
            <a:r>
              <a:rPr sz="2950" spc="-170" dirty="0"/>
              <a:t>Sessions:</a:t>
            </a:r>
            <a:r>
              <a:rPr sz="2950" spc="-30" dirty="0"/>
              <a:t> </a:t>
            </a:r>
            <a:r>
              <a:rPr sz="2950" spc="-250" dirty="0"/>
              <a:t>Managing</a:t>
            </a:r>
            <a:r>
              <a:rPr sz="2950" spc="-35" dirty="0"/>
              <a:t> </a:t>
            </a:r>
            <a:r>
              <a:rPr sz="2950" spc="-185" dirty="0"/>
              <a:t>State</a:t>
            </a:r>
            <a:r>
              <a:rPr sz="2950" spc="-30" dirty="0"/>
              <a:t> </a:t>
            </a:r>
            <a:r>
              <a:rPr sz="2950" spc="-170" dirty="0"/>
              <a:t>in</a:t>
            </a:r>
            <a:r>
              <a:rPr sz="2950" spc="-90" dirty="0"/>
              <a:t> </a:t>
            </a:r>
            <a:r>
              <a:rPr sz="2950" spc="-405" dirty="0"/>
              <a:t>Web</a:t>
            </a:r>
            <a:r>
              <a:rPr sz="2950" spc="-130" dirty="0"/>
              <a:t> </a:t>
            </a:r>
            <a:r>
              <a:rPr sz="2950" spc="-165" dirty="0"/>
              <a:t>Applications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2672484" y="2881814"/>
            <a:ext cx="3797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System Design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Why</a:t>
            </a:r>
            <a:r>
              <a:rPr spc="-204" dirty="0"/>
              <a:t> </a:t>
            </a:r>
            <a:r>
              <a:rPr spc="-425" dirty="0"/>
              <a:t>Web</a:t>
            </a:r>
            <a:r>
              <a:rPr spc="-30" dirty="0"/>
              <a:t> </a:t>
            </a:r>
            <a:r>
              <a:rPr spc="-175" dirty="0"/>
              <a:t>Sessions</a:t>
            </a:r>
            <a:r>
              <a:rPr spc="-35" dirty="0"/>
              <a:t> </a:t>
            </a:r>
            <a:r>
              <a:rPr spc="-295" dirty="0"/>
              <a:t>Matter?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31393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often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login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status,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shopping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cart,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preferences)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stateless,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meaning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Goal: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Understand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applications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7939" y="3228327"/>
            <a:ext cx="5144624" cy="1633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499" y="2760073"/>
            <a:ext cx="6243168" cy="22695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548640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35" dirty="0"/>
              <a:t>Understanding</a:t>
            </a:r>
            <a:r>
              <a:rPr spc="10" dirty="0"/>
              <a:t> </a:t>
            </a:r>
            <a:r>
              <a:rPr spc="-185" dirty="0"/>
              <a:t>Statelessness</a:t>
            </a:r>
            <a:r>
              <a:rPr spc="15" dirty="0"/>
              <a:t> </a:t>
            </a:r>
            <a:r>
              <a:rPr spc="-170" dirty="0"/>
              <a:t>in</a:t>
            </a:r>
            <a:r>
              <a:rPr spc="10" dirty="0"/>
              <a:t> </a:t>
            </a:r>
            <a:r>
              <a:rPr spc="-50" dirty="0"/>
              <a:t>HTTP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289058"/>
            <a:ext cx="5965825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retain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previous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must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contain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all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necessary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challenge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0" dirty="0"/>
              <a:t>Techniques</a:t>
            </a:r>
            <a:r>
              <a:rPr spc="-10" dirty="0"/>
              <a:t> </a:t>
            </a:r>
            <a:r>
              <a:rPr spc="-215" dirty="0"/>
              <a:t>for</a:t>
            </a:r>
            <a:r>
              <a:rPr spc="-5" dirty="0"/>
              <a:t> </a:t>
            </a:r>
            <a:r>
              <a:rPr spc="-225" dirty="0"/>
              <a:t>Maintaining</a:t>
            </a:r>
            <a:r>
              <a:rPr spc="-5" dirty="0"/>
              <a:t> </a:t>
            </a:r>
            <a:r>
              <a:rPr spc="-135" dirty="0"/>
              <a:t>State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22590" cy="1964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Session-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(Server-side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+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IDs)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maintains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state.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holds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only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(usually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cookie).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Token-Based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685D46"/>
                </a:solidFill>
                <a:latin typeface="Arial"/>
                <a:cs typeface="Arial"/>
              </a:rPr>
              <a:t>(JWTs,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OAuth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Tokens)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 session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embedded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within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token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itself.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sessions.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5" dirty="0"/>
              <a:t>Session-</a:t>
            </a:r>
            <a:r>
              <a:rPr spc="-215" dirty="0"/>
              <a:t>Based</a:t>
            </a:r>
            <a:r>
              <a:rPr spc="-70" dirty="0"/>
              <a:t> </a:t>
            </a:r>
            <a:r>
              <a:rPr spc="-200" dirty="0"/>
              <a:t>Authentication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/>
              <a:t>Server-side</a:t>
            </a:r>
            <a:r>
              <a:rPr spc="30" dirty="0"/>
              <a:t> </a:t>
            </a:r>
            <a:r>
              <a:rPr dirty="0"/>
              <a:t>session</a:t>
            </a:r>
            <a:r>
              <a:rPr spc="30" dirty="0"/>
              <a:t> </a:t>
            </a:r>
            <a:r>
              <a:rPr spc="-10" dirty="0"/>
              <a:t>storage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Cookies</a:t>
            </a:r>
            <a:r>
              <a:rPr spc="5" dirty="0"/>
              <a:t> </a:t>
            </a:r>
            <a:r>
              <a:rPr spc="100" dirty="0"/>
              <a:t>for</a:t>
            </a:r>
            <a:r>
              <a:rPr spc="5" dirty="0"/>
              <a:t> </a:t>
            </a:r>
            <a:r>
              <a:rPr dirty="0"/>
              <a:t>session</a:t>
            </a:r>
            <a:r>
              <a:rPr spc="10" dirty="0"/>
              <a:t> </a:t>
            </a:r>
            <a:r>
              <a:rPr spc="-25" dirty="0"/>
              <a:t>IDs</a:t>
            </a:r>
          </a:p>
          <a:p>
            <a:pPr marL="379095" marR="31686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/>
              <a:t>User</a:t>
            </a:r>
            <a:r>
              <a:rPr spc="15" dirty="0"/>
              <a:t> </a:t>
            </a:r>
            <a:r>
              <a:rPr dirty="0"/>
              <a:t>logs</a:t>
            </a:r>
            <a:r>
              <a:rPr spc="20" dirty="0"/>
              <a:t> </a:t>
            </a:r>
            <a:r>
              <a:rPr spc="70" dirty="0"/>
              <a:t>in</a:t>
            </a:r>
            <a:r>
              <a:rPr spc="30" dirty="0"/>
              <a:t> </a:t>
            </a:r>
            <a:r>
              <a:rPr dirty="0"/>
              <a:t>→</a:t>
            </a:r>
            <a:r>
              <a:rPr spc="20" dirty="0"/>
              <a:t> </a:t>
            </a:r>
            <a:r>
              <a:rPr dirty="0"/>
              <a:t>Server</a:t>
            </a:r>
            <a:r>
              <a:rPr spc="15" dirty="0"/>
              <a:t> </a:t>
            </a:r>
            <a:r>
              <a:rPr dirty="0"/>
              <a:t>creates</a:t>
            </a:r>
            <a:r>
              <a:rPr spc="20" dirty="0"/>
              <a:t> </a:t>
            </a:r>
            <a:r>
              <a:rPr spc="-50" dirty="0"/>
              <a:t>a </a:t>
            </a:r>
            <a:r>
              <a:rPr dirty="0"/>
              <a:t>session</a:t>
            </a:r>
            <a:r>
              <a:rPr spc="-5" dirty="0"/>
              <a:t> </a:t>
            </a:r>
            <a:r>
              <a:rPr spc="105" dirty="0"/>
              <a:t>&amp;</a:t>
            </a:r>
            <a:r>
              <a:rPr spc="-5" dirty="0"/>
              <a:t> </a:t>
            </a:r>
            <a:r>
              <a:rPr dirty="0"/>
              <a:t>assigns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session</a:t>
            </a:r>
            <a:r>
              <a:rPr spc="-5" dirty="0"/>
              <a:t> </a:t>
            </a:r>
            <a:r>
              <a:rPr spc="-25" dirty="0"/>
              <a:t>ID</a:t>
            </a: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pc="-10" dirty="0"/>
              <a:t>Session</a:t>
            </a:r>
            <a:r>
              <a:rPr spc="40" dirty="0"/>
              <a:t> </a:t>
            </a:r>
            <a:r>
              <a:rPr dirty="0"/>
              <a:t>data</a:t>
            </a:r>
            <a:r>
              <a:rPr spc="40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spc="60" dirty="0"/>
              <a:t>stored</a:t>
            </a:r>
            <a:r>
              <a:rPr spc="35" dirty="0"/>
              <a:t> </a:t>
            </a:r>
            <a:r>
              <a:rPr dirty="0"/>
              <a:t>server-</a:t>
            </a:r>
            <a:r>
              <a:rPr spc="-10" dirty="0"/>
              <a:t>side, </a:t>
            </a:r>
            <a:r>
              <a:rPr spc="50" dirty="0"/>
              <a:t>while</a:t>
            </a:r>
            <a:r>
              <a:rPr spc="10" dirty="0"/>
              <a:t> </a:t>
            </a:r>
            <a:r>
              <a:rPr dirty="0"/>
              <a:t>session</a:t>
            </a:r>
            <a:r>
              <a:rPr spc="15" dirty="0"/>
              <a:t> </a:t>
            </a:r>
            <a:r>
              <a:rPr dirty="0"/>
              <a:t>ID</a:t>
            </a:r>
            <a:r>
              <a:rPr spc="15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sent</a:t>
            </a:r>
            <a:r>
              <a:rPr spc="10" dirty="0"/>
              <a:t> </a:t>
            </a:r>
            <a:r>
              <a:rPr spc="100" dirty="0"/>
              <a:t>to</a:t>
            </a:r>
            <a:r>
              <a:rPr spc="15" dirty="0"/>
              <a:t> </a:t>
            </a:r>
            <a:r>
              <a:rPr spc="50" dirty="0"/>
              <a:t>the </a:t>
            </a:r>
            <a:r>
              <a:rPr spc="-10" dirty="0"/>
              <a:t>client</a:t>
            </a:r>
          </a:p>
          <a:p>
            <a:pPr marL="379095" marR="8763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/>
              <a:t>The</a:t>
            </a:r>
            <a:r>
              <a:rPr spc="70" dirty="0"/>
              <a:t> </a:t>
            </a:r>
            <a:r>
              <a:rPr dirty="0"/>
              <a:t>client</a:t>
            </a:r>
            <a:r>
              <a:rPr spc="75" dirty="0"/>
              <a:t> </a:t>
            </a:r>
            <a:r>
              <a:rPr dirty="0"/>
              <a:t>stores</a:t>
            </a:r>
            <a:r>
              <a:rPr spc="75" dirty="0"/>
              <a:t> </a:t>
            </a:r>
            <a:r>
              <a:rPr spc="80" dirty="0"/>
              <a:t>the</a:t>
            </a:r>
            <a:r>
              <a:rPr spc="75" dirty="0"/>
              <a:t> </a:t>
            </a:r>
            <a:r>
              <a:rPr dirty="0"/>
              <a:t>session</a:t>
            </a:r>
            <a:r>
              <a:rPr spc="75" dirty="0"/>
              <a:t> </a:t>
            </a:r>
            <a:r>
              <a:rPr dirty="0"/>
              <a:t>Id</a:t>
            </a:r>
            <a:r>
              <a:rPr spc="70" dirty="0"/>
              <a:t> </a:t>
            </a:r>
            <a:r>
              <a:rPr spc="45" dirty="0"/>
              <a:t>in </a:t>
            </a:r>
            <a:r>
              <a:rPr spc="80" dirty="0"/>
              <a:t>the</a:t>
            </a:r>
            <a:r>
              <a:rPr spc="-45" dirty="0"/>
              <a:t> </a:t>
            </a:r>
            <a:r>
              <a:rPr spc="-10" dirty="0"/>
              <a:t>cookie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2685" y="1401395"/>
            <a:ext cx="4104236" cy="17382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4" dirty="0"/>
              <a:t>Token-</a:t>
            </a:r>
            <a:r>
              <a:rPr spc="-215" dirty="0"/>
              <a:t>Based</a:t>
            </a:r>
            <a:r>
              <a:rPr spc="-110" dirty="0"/>
              <a:t> </a:t>
            </a:r>
            <a:r>
              <a:rPr spc="-210" dirty="0"/>
              <a:t>Authentication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745865" cy="223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64135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Encodes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self-contained</a:t>
            </a:r>
            <a:r>
              <a:rPr sz="1800" spc="4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token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No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session storage</a:t>
            </a:r>
            <a:endParaRPr sz="1800">
              <a:latin typeface="Arial"/>
              <a:cs typeface="Arial"/>
            </a:endParaRPr>
          </a:p>
          <a:p>
            <a:pPr marL="379095" marR="4572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stateless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OAuth,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API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tokens)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2725" y="1304825"/>
            <a:ext cx="4178874" cy="3356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4" dirty="0"/>
              <a:t>Security</a:t>
            </a:r>
            <a:r>
              <a:rPr spc="-165" dirty="0"/>
              <a:t> </a:t>
            </a:r>
            <a:r>
              <a:rPr spc="-254" dirty="0"/>
              <a:t>Concerns</a:t>
            </a:r>
            <a:r>
              <a:rPr spc="-15" dirty="0"/>
              <a:t> </a:t>
            </a:r>
            <a:r>
              <a:rPr spc="-170" dirty="0"/>
              <a:t>in</a:t>
            </a:r>
            <a:r>
              <a:rPr spc="-15" dirty="0"/>
              <a:t> </a:t>
            </a:r>
            <a:r>
              <a:rPr spc="-190" dirty="0"/>
              <a:t>Session</a:t>
            </a:r>
            <a:r>
              <a:rPr spc="-10" dirty="0"/>
              <a:t> </a:t>
            </a:r>
            <a:r>
              <a:rPr spc="-30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25805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Hijacking: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Stolen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IDs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Cross-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Site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Forgery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(CSRF):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Unauthorized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actions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Cookie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Handling: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Avoiding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theft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Secure,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HttpOnly,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SameSite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ﬂags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95" dirty="0"/>
              <a:t>Best</a:t>
            </a:r>
            <a:r>
              <a:rPr spc="-35" dirty="0"/>
              <a:t> </a:t>
            </a:r>
            <a:r>
              <a:rPr spc="-200" dirty="0"/>
              <a:t>Practices</a:t>
            </a:r>
            <a:r>
              <a:rPr spc="-30" dirty="0"/>
              <a:t> </a:t>
            </a:r>
            <a:r>
              <a:rPr spc="-215" dirty="0"/>
              <a:t>for</a:t>
            </a:r>
            <a:r>
              <a:rPr spc="-35" dirty="0"/>
              <a:t> </a:t>
            </a:r>
            <a:r>
              <a:rPr spc="-145" dirty="0"/>
              <a:t>Scaling</a:t>
            </a:r>
            <a:r>
              <a:rPr spc="-30" dirty="0"/>
              <a:t> </a:t>
            </a:r>
            <a:r>
              <a:rPr spc="-190" dirty="0"/>
              <a:t>Session</a:t>
            </a:r>
            <a:r>
              <a:rPr spc="-30" dirty="0"/>
              <a:t> </a:t>
            </a:r>
            <a:r>
              <a:rPr spc="-30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1383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45085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Sticky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sz="1800" spc="-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800" spc="-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Distributed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endParaRPr sz="1800">
              <a:latin typeface="Arial"/>
              <a:cs typeface="Arial"/>
            </a:endParaRPr>
          </a:p>
          <a:p>
            <a:pPr marL="379095" marR="53467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Storing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Redis, Memcached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685D46"/>
                </a:solidFill>
                <a:latin typeface="Arial"/>
                <a:cs typeface="Arial"/>
              </a:rPr>
              <a:t>(JWTs)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1738" y="1482163"/>
            <a:ext cx="3901439" cy="19507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40" dirty="0"/>
              <a:t>Important</a:t>
            </a:r>
            <a:r>
              <a:rPr spc="-25" dirty="0"/>
              <a:t> </a:t>
            </a:r>
            <a:r>
              <a:rPr spc="-215" dirty="0"/>
              <a:t>Interview</a:t>
            </a:r>
            <a:r>
              <a:rPr spc="-130" dirty="0"/>
              <a:t> </a:t>
            </a:r>
            <a:r>
              <a:rPr spc="-229" dirty="0"/>
              <a:t>Questions</a:t>
            </a:r>
            <a:r>
              <a:rPr spc="-25" dirty="0"/>
              <a:t> </a:t>
            </a:r>
            <a:r>
              <a:rPr spc="-275" dirty="0"/>
              <a:t>on</a:t>
            </a:r>
            <a:r>
              <a:rPr spc="-95" dirty="0"/>
              <a:t> </a:t>
            </a:r>
            <a:r>
              <a:rPr spc="-425" dirty="0"/>
              <a:t>Web</a:t>
            </a:r>
            <a:r>
              <a:rPr spc="-20" dirty="0"/>
              <a:t> </a:t>
            </a:r>
            <a:r>
              <a:rPr spc="-145" dirty="0"/>
              <a:t>Sessions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349075"/>
            <a:ext cx="241827" cy="2276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6014" y="1888340"/>
            <a:ext cx="14287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915165"/>
            <a:ext cx="241827" cy="2276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79283" y="2113653"/>
            <a:ext cx="116839" cy="5518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90"/>
              </a:spcBef>
            </a:pP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55"/>
              </a:lnSpc>
            </a:pP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014" y="2626718"/>
            <a:ext cx="14287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653543"/>
            <a:ext cx="241827" cy="22760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79283" y="2852031"/>
            <a:ext cx="116839" cy="723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90"/>
              </a:spcBef>
            </a:pP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55"/>
              </a:lnSpc>
            </a:pP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55"/>
              </a:lnSpc>
            </a:pP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014" y="3537384"/>
            <a:ext cx="14287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3564209"/>
            <a:ext cx="241827" cy="2276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6014" y="1322250"/>
            <a:ext cx="7745095" cy="2992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50240" indent="-637540">
              <a:lnSpc>
                <a:spcPts val="1764"/>
              </a:lnSpc>
              <a:spcBef>
                <a:spcPts val="130"/>
              </a:spcBef>
              <a:buChar char="●"/>
              <a:tabLst>
                <a:tab pos="650240" algn="l"/>
              </a:tabLst>
            </a:pP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5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Statelessness</a:t>
            </a:r>
            <a:r>
              <a:rPr sz="15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sz="15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considered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protocol?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2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sz="12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despite</a:t>
            </a:r>
            <a:r>
              <a:rPr sz="12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being</a:t>
            </a:r>
            <a:r>
              <a:rPr sz="12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stateless?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30"/>
              </a:lnSpc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5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sz="15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endParaRPr sz="1500">
              <a:latin typeface="Arial"/>
              <a:cs typeface="Arial"/>
            </a:endParaRPr>
          </a:p>
          <a:p>
            <a:pPr marL="815340">
              <a:lnSpc>
                <a:spcPts val="1365"/>
              </a:lnSpc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2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client-side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tokens?</a:t>
            </a:r>
            <a:endParaRPr sz="1200">
              <a:latin typeface="Arial"/>
              <a:cs typeface="Arial"/>
            </a:endParaRPr>
          </a:p>
          <a:p>
            <a:pPr marL="815340" marR="716280">
              <a:lnSpc>
                <a:spcPts val="1360"/>
              </a:lnSpc>
              <a:spcBef>
                <a:spcPts val="70"/>
              </a:spcBef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685D46"/>
                </a:solidFill>
                <a:latin typeface="Arial"/>
                <a:cs typeface="Arial"/>
              </a:rPr>
              <a:t>JWT-</a:t>
            </a: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session-based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authentication?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together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session-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authentication?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660"/>
              </a:lnSpc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endParaRPr sz="1500">
              <a:latin typeface="Arial"/>
              <a:cs typeface="Arial"/>
            </a:endParaRPr>
          </a:p>
          <a:p>
            <a:pPr marL="815340">
              <a:lnSpc>
                <a:spcPts val="1365"/>
              </a:lnSpc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hijacking,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prevented?</a:t>
            </a:r>
            <a:endParaRPr sz="1200">
              <a:latin typeface="Arial"/>
              <a:cs typeface="Arial"/>
            </a:endParaRPr>
          </a:p>
          <a:p>
            <a:pPr marL="815340" marR="965835">
              <a:lnSpc>
                <a:spcPts val="1360"/>
              </a:lnSpc>
              <a:spcBef>
                <a:spcPts val="70"/>
              </a:spcBef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40" dirty="0">
                <a:solidFill>
                  <a:srgbClr val="685D46"/>
                </a:solidFill>
                <a:latin typeface="Arial"/>
                <a:cs typeface="Arial"/>
              </a:rPr>
              <a:t>CSRF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exploit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management,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mitigation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strategies?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set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Secure,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HttpOnly,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SameSite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attributes?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285"/>
              </a:lnSpc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2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sz="12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scaled</a:t>
            </a:r>
            <a:r>
              <a:rPr sz="12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2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systems?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30"/>
              </a:lnSpc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load-balanced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storage?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architecture,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you manage authentication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multiple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services?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400"/>
              </a:lnSpc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large-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Facebook,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Amazon,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Google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sessions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eﬃciently?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100570" cy="18592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stateless,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requiring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Cookies,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sessions,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685D46"/>
                </a:solidFill>
                <a:latin typeface="Arial"/>
                <a:cs typeface="Arial"/>
              </a:rPr>
              <a:t>JWTs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hijacking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4" dirty="0">
                <a:solidFill>
                  <a:srgbClr val="685D46"/>
                </a:solidFill>
                <a:latin typeface="Arial"/>
                <a:cs typeface="Arial"/>
              </a:rPr>
              <a:t>CSRF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must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mitigated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requires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solutions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Serialization: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Formats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505</Words>
  <Application>Microsoft Office PowerPoint</Application>
  <PresentationFormat>On-screen Show (16:9)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Web Sessions: Managing State in Web Applications</vt:lpstr>
      <vt:lpstr>Why Web Sessions Matter?</vt:lpstr>
      <vt:lpstr>Understanding Statelessness in HTTP</vt:lpstr>
      <vt:lpstr>Techniques for Maintaining State</vt:lpstr>
      <vt:lpstr>Session-Based Authentication</vt:lpstr>
      <vt:lpstr>Token-Based Authentication</vt:lpstr>
      <vt:lpstr>Security Concerns in Session Management</vt:lpstr>
      <vt:lpstr>Best Practices for Scaling Session Management</vt:lpstr>
      <vt:lpstr>Important Interview Questions on Web Sessions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5</dc:title>
  <cp:lastModifiedBy>RAVI GV</cp:lastModifiedBy>
  <cp:revision>1</cp:revision>
  <dcterms:created xsi:type="dcterms:W3CDTF">2025-11-26T16:47:13Z</dcterms:created>
  <dcterms:modified xsi:type="dcterms:W3CDTF">2025-11-26T16:49:34Z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