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7" r:id="rId2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007735" y="3176887"/>
            <a:ext cx="562610" cy="0"/>
          </a:xfrm>
          <a:custGeom>
            <a:avLst/>
            <a:gdLst/>
            <a:ahLst/>
            <a:cxnLst/>
            <a:rect l="l" t="t" r="r" b="b"/>
            <a:pathLst>
              <a:path w="562609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75034" y="3158251"/>
            <a:ext cx="562610" cy="0"/>
          </a:xfrm>
          <a:custGeom>
            <a:avLst/>
            <a:gdLst/>
            <a:ahLst/>
            <a:cxnLst/>
            <a:rect l="l" t="t" r="r" b="b"/>
            <a:pathLst>
              <a:path w="562610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04144" y="10220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004144" y="11744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004151" y="41214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04151" y="39690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79312" y="2209598"/>
            <a:ext cx="6785374" cy="477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74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4DB6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01590"/>
            <a:ext cx="7675880" cy="5194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5249" y="1289058"/>
            <a:ext cx="3997325" cy="2865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04" dirty="0"/>
              <a:t>Section</a:t>
            </a:r>
            <a:r>
              <a:rPr spc="-30" dirty="0"/>
              <a:t> </a:t>
            </a:r>
            <a:r>
              <a:rPr spc="-290" dirty="0"/>
              <a:t>Summary</a:t>
            </a:r>
            <a:r>
              <a:rPr spc="-265" dirty="0"/>
              <a:t> </a:t>
            </a:r>
            <a:r>
              <a:rPr spc="-10" dirty="0"/>
              <a:t>-</a:t>
            </a:r>
            <a:r>
              <a:rPr spc="-320" dirty="0"/>
              <a:t> </a:t>
            </a:r>
            <a:r>
              <a:rPr spc="-425" dirty="0"/>
              <a:t>Web</a:t>
            </a:r>
            <a:r>
              <a:rPr spc="-70" dirty="0"/>
              <a:t> </a:t>
            </a:r>
            <a:r>
              <a:rPr spc="-254" dirty="0"/>
              <a:t>Concepts</a:t>
            </a:r>
            <a:r>
              <a:rPr spc="-30" dirty="0"/>
              <a:t> </a:t>
            </a:r>
            <a:r>
              <a:rPr spc="-170" dirty="0"/>
              <a:t>in</a:t>
            </a:r>
            <a:r>
              <a:rPr spc="-25" dirty="0"/>
              <a:t> </a:t>
            </a:r>
            <a:r>
              <a:rPr spc="-229" dirty="0"/>
              <a:t>System</a:t>
            </a:r>
            <a:r>
              <a:rPr spc="-30" dirty="0"/>
              <a:t> </a:t>
            </a:r>
            <a:r>
              <a:rPr spc="-110" dirty="0"/>
              <a:t>Design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6690" y="1325268"/>
            <a:ext cx="5111750" cy="29349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37820" indent="-325120">
              <a:lnSpc>
                <a:spcPts val="1490"/>
              </a:lnSpc>
              <a:spcBef>
                <a:spcPts val="110"/>
              </a:spcBef>
              <a:buChar char="●"/>
              <a:tabLst>
                <a:tab pos="337820" algn="l"/>
              </a:tabLst>
            </a:pPr>
            <a:r>
              <a:rPr sz="1250" spc="55" dirty="0">
                <a:solidFill>
                  <a:srgbClr val="685D46"/>
                </a:solidFill>
                <a:latin typeface="Arial"/>
                <a:cs typeface="Arial"/>
              </a:rPr>
              <a:t>Introduction</a:t>
            </a:r>
            <a:r>
              <a:rPr sz="125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50" spc="7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25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sz="125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50" spc="-10" dirty="0">
                <a:solidFill>
                  <a:srgbClr val="685D46"/>
                </a:solidFill>
                <a:latin typeface="Arial"/>
                <a:cs typeface="Arial"/>
              </a:rPr>
              <a:t>Concepts</a:t>
            </a:r>
            <a:endParaRPr sz="1250">
              <a:latin typeface="Arial"/>
              <a:cs typeface="Arial"/>
            </a:endParaRPr>
          </a:p>
          <a:p>
            <a:pPr marL="795020" lvl="1" indent="-304165">
              <a:lnSpc>
                <a:spcPts val="1120"/>
              </a:lnSpc>
              <a:buChar char="○"/>
              <a:tabLst>
                <a:tab pos="795020" algn="l"/>
              </a:tabLst>
            </a:pPr>
            <a:r>
              <a:rPr sz="950" spc="50" dirty="0">
                <a:solidFill>
                  <a:srgbClr val="685D46"/>
                </a:solidFill>
                <a:latin typeface="Arial"/>
                <a:cs typeface="Arial"/>
              </a:rPr>
              <a:t>How </a:t>
            </a:r>
            <a:r>
              <a:rPr sz="950" spc="20" dirty="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sz="95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20" dirty="0">
                <a:solidFill>
                  <a:srgbClr val="685D46"/>
                </a:solidFill>
                <a:latin typeface="Arial"/>
                <a:cs typeface="Arial"/>
              </a:rPr>
              <a:t>applications</a:t>
            </a:r>
            <a:r>
              <a:rPr sz="95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60" dirty="0">
                <a:solidFill>
                  <a:srgbClr val="685D46"/>
                </a:solidFill>
                <a:latin typeface="Arial"/>
                <a:cs typeface="Arial"/>
              </a:rPr>
              <a:t>work</a:t>
            </a:r>
            <a:r>
              <a:rPr sz="95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10" dirty="0">
                <a:solidFill>
                  <a:srgbClr val="685D46"/>
                </a:solidFill>
                <a:latin typeface="Arial"/>
                <a:cs typeface="Arial"/>
              </a:rPr>
              <a:t>(Client-</a:t>
            </a:r>
            <a:r>
              <a:rPr sz="950" spc="20" dirty="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r>
              <a:rPr sz="95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20" dirty="0">
                <a:solidFill>
                  <a:srgbClr val="685D46"/>
                </a:solidFill>
                <a:latin typeface="Arial"/>
                <a:cs typeface="Arial"/>
              </a:rPr>
              <a:t>Model,</a:t>
            </a:r>
            <a:r>
              <a:rPr sz="95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10" dirty="0">
                <a:solidFill>
                  <a:srgbClr val="685D46"/>
                </a:solidFill>
                <a:latin typeface="Arial"/>
                <a:cs typeface="Arial"/>
              </a:rPr>
              <a:t>Request-</a:t>
            </a:r>
            <a:r>
              <a:rPr sz="950" spc="20" dirty="0">
                <a:solidFill>
                  <a:srgbClr val="685D46"/>
                </a:solidFill>
                <a:latin typeface="Arial"/>
                <a:cs typeface="Arial"/>
              </a:rPr>
              <a:t>Response</a:t>
            </a:r>
            <a:r>
              <a:rPr sz="95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685D46"/>
                </a:solidFill>
                <a:latin typeface="Arial"/>
                <a:cs typeface="Arial"/>
              </a:rPr>
              <a:t>Cycle)</a:t>
            </a:r>
            <a:endParaRPr sz="950">
              <a:latin typeface="Arial"/>
              <a:cs typeface="Arial"/>
            </a:endParaRPr>
          </a:p>
          <a:p>
            <a:pPr marL="795020" lvl="1" indent="-304165">
              <a:lnSpc>
                <a:spcPts val="1115"/>
              </a:lnSpc>
              <a:buChar char="○"/>
              <a:tabLst>
                <a:tab pos="795020" algn="l"/>
              </a:tabLst>
            </a:pPr>
            <a:r>
              <a:rPr sz="950" spc="10" dirty="0">
                <a:solidFill>
                  <a:srgbClr val="685D46"/>
                </a:solidFill>
                <a:latin typeface="Arial"/>
                <a:cs typeface="Arial"/>
              </a:rPr>
              <a:t>Stateless</a:t>
            </a:r>
            <a:r>
              <a:rPr sz="95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10" dirty="0">
                <a:solidFill>
                  <a:srgbClr val="685D46"/>
                </a:solidFill>
                <a:latin typeface="Arial"/>
                <a:cs typeface="Arial"/>
              </a:rPr>
              <a:t>vs.</a:t>
            </a:r>
            <a:r>
              <a:rPr sz="9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10" dirty="0">
                <a:solidFill>
                  <a:srgbClr val="685D46"/>
                </a:solidFill>
                <a:latin typeface="Arial"/>
                <a:cs typeface="Arial"/>
              </a:rPr>
              <a:t>Stateful</a:t>
            </a:r>
            <a:r>
              <a:rPr sz="9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685D46"/>
                </a:solidFill>
                <a:latin typeface="Arial"/>
                <a:cs typeface="Arial"/>
              </a:rPr>
              <a:t>interactions</a:t>
            </a:r>
            <a:endParaRPr sz="950">
              <a:latin typeface="Arial"/>
              <a:cs typeface="Arial"/>
            </a:endParaRPr>
          </a:p>
          <a:p>
            <a:pPr marL="795020" lvl="1" indent="-304165">
              <a:lnSpc>
                <a:spcPts val="1095"/>
              </a:lnSpc>
              <a:buChar char="○"/>
              <a:tabLst>
                <a:tab pos="795020" algn="l"/>
              </a:tabLst>
            </a:pPr>
            <a:r>
              <a:rPr sz="950" spc="30" dirty="0">
                <a:solidFill>
                  <a:srgbClr val="685D46"/>
                </a:solidFill>
                <a:latin typeface="Arial"/>
                <a:cs typeface="Arial"/>
              </a:rPr>
              <a:t>Importance</a:t>
            </a:r>
            <a:r>
              <a:rPr sz="95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60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95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30" dirty="0">
                <a:solidFill>
                  <a:srgbClr val="685D46"/>
                </a:solidFill>
                <a:latin typeface="Arial"/>
                <a:cs typeface="Arial"/>
              </a:rPr>
              <a:t>security,</a:t>
            </a:r>
            <a:r>
              <a:rPr sz="95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20" dirty="0">
                <a:solidFill>
                  <a:srgbClr val="685D46"/>
                </a:solidFill>
                <a:latin typeface="Arial"/>
                <a:cs typeface="Arial"/>
              </a:rPr>
              <a:t>scalability</a:t>
            </a:r>
            <a:r>
              <a:rPr sz="95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70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95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40" dirty="0">
                <a:solidFill>
                  <a:srgbClr val="685D46"/>
                </a:solidFill>
                <a:latin typeface="Arial"/>
                <a:cs typeface="Arial"/>
              </a:rPr>
              <a:t>performance</a:t>
            </a:r>
            <a:endParaRPr sz="950">
              <a:latin typeface="Arial"/>
              <a:cs typeface="Arial"/>
            </a:endParaRPr>
          </a:p>
          <a:p>
            <a:pPr marL="337820" indent="-325120">
              <a:lnSpc>
                <a:spcPts val="1455"/>
              </a:lnSpc>
              <a:buChar char="●"/>
              <a:tabLst>
                <a:tab pos="337820" algn="l"/>
              </a:tabLst>
            </a:pPr>
            <a:r>
              <a:rPr sz="1250" dirty="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sz="12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50" spc="-20" dirty="0">
                <a:solidFill>
                  <a:srgbClr val="685D46"/>
                </a:solidFill>
                <a:latin typeface="Arial"/>
                <a:cs typeface="Arial"/>
              </a:rPr>
              <a:t>Sessions:</a:t>
            </a:r>
            <a:r>
              <a:rPr sz="12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685D46"/>
                </a:solidFill>
                <a:latin typeface="Arial"/>
                <a:cs typeface="Arial"/>
              </a:rPr>
              <a:t>Managing</a:t>
            </a:r>
            <a:r>
              <a:rPr sz="12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50" spc="-10" dirty="0">
                <a:solidFill>
                  <a:srgbClr val="685D46"/>
                </a:solidFill>
                <a:latin typeface="Arial"/>
                <a:cs typeface="Arial"/>
              </a:rPr>
              <a:t>State</a:t>
            </a:r>
            <a:endParaRPr sz="1250">
              <a:latin typeface="Arial"/>
              <a:cs typeface="Arial"/>
            </a:endParaRPr>
          </a:p>
          <a:p>
            <a:pPr marL="795020" lvl="1" indent="-304165">
              <a:lnSpc>
                <a:spcPts val="1120"/>
              </a:lnSpc>
              <a:buChar char="○"/>
              <a:tabLst>
                <a:tab pos="795020" algn="l"/>
              </a:tabLst>
            </a:pP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Cookies,</a:t>
            </a:r>
            <a:r>
              <a:rPr sz="9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Server-Side</a:t>
            </a:r>
            <a:r>
              <a:rPr sz="95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Sessions,</a:t>
            </a:r>
            <a:r>
              <a:rPr sz="9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-65" dirty="0">
                <a:solidFill>
                  <a:srgbClr val="685D46"/>
                </a:solidFill>
                <a:latin typeface="Arial"/>
                <a:cs typeface="Arial"/>
              </a:rPr>
              <a:t>JWTs,</a:t>
            </a:r>
            <a:r>
              <a:rPr sz="95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Token-Based</a:t>
            </a:r>
            <a:r>
              <a:rPr sz="9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685D46"/>
                </a:solidFill>
                <a:latin typeface="Arial"/>
                <a:cs typeface="Arial"/>
              </a:rPr>
              <a:t>Authentication</a:t>
            </a:r>
            <a:endParaRPr sz="950">
              <a:latin typeface="Arial"/>
              <a:cs typeface="Arial"/>
            </a:endParaRPr>
          </a:p>
          <a:p>
            <a:pPr marL="795020" lvl="1" indent="-304165">
              <a:lnSpc>
                <a:spcPts val="1115"/>
              </a:lnSpc>
              <a:buChar char="○"/>
              <a:tabLst>
                <a:tab pos="795020" algn="l"/>
              </a:tabLst>
            </a:pPr>
            <a:r>
              <a:rPr sz="950" spc="10" dirty="0">
                <a:solidFill>
                  <a:srgbClr val="685D46"/>
                </a:solidFill>
                <a:latin typeface="Arial"/>
                <a:cs typeface="Arial"/>
              </a:rPr>
              <a:t>Security</a:t>
            </a:r>
            <a:r>
              <a:rPr sz="95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10" dirty="0">
                <a:solidFill>
                  <a:srgbClr val="685D46"/>
                </a:solidFill>
                <a:latin typeface="Arial"/>
                <a:cs typeface="Arial"/>
              </a:rPr>
              <a:t>concerns</a:t>
            </a:r>
            <a:r>
              <a:rPr sz="95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(Session</a:t>
            </a:r>
            <a:r>
              <a:rPr sz="95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10" dirty="0">
                <a:solidFill>
                  <a:srgbClr val="685D46"/>
                </a:solidFill>
                <a:latin typeface="Arial"/>
                <a:cs typeface="Arial"/>
              </a:rPr>
              <a:t>Hijacking,</a:t>
            </a:r>
            <a:r>
              <a:rPr sz="95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685D46"/>
                </a:solidFill>
                <a:latin typeface="Arial"/>
                <a:cs typeface="Arial"/>
              </a:rPr>
              <a:t>CSRF)</a:t>
            </a:r>
            <a:endParaRPr sz="950">
              <a:latin typeface="Arial"/>
              <a:cs typeface="Arial"/>
            </a:endParaRPr>
          </a:p>
          <a:p>
            <a:pPr marL="795020" lvl="1" indent="-304165">
              <a:lnSpc>
                <a:spcPts val="1095"/>
              </a:lnSpc>
              <a:buChar char="○"/>
              <a:tabLst>
                <a:tab pos="795020" algn="l"/>
              </a:tabLst>
            </a:pPr>
            <a:r>
              <a:rPr sz="950" spc="10" dirty="0">
                <a:solidFill>
                  <a:srgbClr val="685D46"/>
                </a:solidFill>
                <a:latin typeface="Arial"/>
                <a:cs typeface="Arial"/>
              </a:rPr>
              <a:t>Best</a:t>
            </a:r>
            <a:r>
              <a:rPr sz="95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10" dirty="0">
                <a:solidFill>
                  <a:srgbClr val="685D46"/>
                </a:solidFill>
                <a:latin typeface="Arial"/>
                <a:cs typeface="Arial"/>
              </a:rPr>
              <a:t>practices</a:t>
            </a:r>
            <a:r>
              <a:rPr sz="95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65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95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10" dirty="0">
                <a:solidFill>
                  <a:srgbClr val="685D46"/>
                </a:solidFill>
                <a:latin typeface="Arial"/>
                <a:cs typeface="Arial"/>
              </a:rPr>
              <a:t>scaling</a:t>
            </a:r>
            <a:r>
              <a:rPr sz="95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10" dirty="0">
                <a:solidFill>
                  <a:srgbClr val="685D46"/>
                </a:solidFill>
                <a:latin typeface="Arial"/>
                <a:cs typeface="Arial"/>
              </a:rPr>
              <a:t>session</a:t>
            </a:r>
            <a:r>
              <a:rPr sz="95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40" dirty="0">
                <a:solidFill>
                  <a:srgbClr val="685D46"/>
                </a:solidFill>
                <a:latin typeface="Arial"/>
                <a:cs typeface="Arial"/>
              </a:rPr>
              <a:t>management</a:t>
            </a:r>
            <a:endParaRPr sz="950">
              <a:latin typeface="Arial"/>
              <a:cs typeface="Arial"/>
            </a:endParaRPr>
          </a:p>
          <a:p>
            <a:pPr marL="337820" indent="-325120">
              <a:lnSpc>
                <a:spcPts val="1455"/>
              </a:lnSpc>
              <a:buChar char="●"/>
              <a:tabLst>
                <a:tab pos="337820" algn="l"/>
              </a:tabLst>
            </a:pPr>
            <a:r>
              <a:rPr sz="1250" dirty="0">
                <a:solidFill>
                  <a:srgbClr val="685D46"/>
                </a:solidFill>
                <a:latin typeface="Arial"/>
                <a:cs typeface="Arial"/>
              </a:rPr>
              <a:t>Serialization:</a:t>
            </a:r>
            <a:r>
              <a:rPr sz="12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sz="125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685D46"/>
                </a:solidFill>
                <a:latin typeface="Arial"/>
                <a:cs typeface="Arial"/>
              </a:rPr>
              <a:t>Exchange</a:t>
            </a:r>
            <a:r>
              <a:rPr sz="125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50" spc="7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25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50" spc="-10" dirty="0">
                <a:solidFill>
                  <a:srgbClr val="685D46"/>
                </a:solidFill>
                <a:latin typeface="Arial"/>
                <a:cs typeface="Arial"/>
              </a:rPr>
              <a:t>Storage</a:t>
            </a:r>
            <a:endParaRPr sz="1250">
              <a:latin typeface="Arial"/>
              <a:cs typeface="Arial"/>
            </a:endParaRPr>
          </a:p>
          <a:p>
            <a:pPr marL="795020" lvl="1" indent="-304165">
              <a:lnSpc>
                <a:spcPts val="1120"/>
              </a:lnSpc>
              <a:buChar char="○"/>
              <a:tabLst>
                <a:tab pos="795020" algn="l"/>
              </a:tabLst>
            </a:pP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Formats:</a:t>
            </a:r>
            <a:r>
              <a:rPr sz="95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-60" dirty="0">
                <a:solidFill>
                  <a:srgbClr val="685D46"/>
                </a:solidFill>
                <a:latin typeface="Arial"/>
                <a:cs typeface="Arial"/>
              </a:rPr>
              <a:t>JSON,</a:t>
            </a:r>
            <a:r>
              <a:rPr sz="95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XML,</a:t>
            </a:r>
            <a:r>
              <a:rPr sz="95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Protocol</a:t>
            </a:r>
            <a:r>
              <a:rPr sz="95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685D46"/>
                </a:solidFill>
                <a:latin typeface="Arial"/>
                <a:cs typeface="Arial"/>
              </a:rPr>
              <a:t>Buﬀers,</a:t>
            </a:r>
            <a:endParaRPr sz="950">
              <a:latin typeface="Arial"/>
              <a:cs typeface="Arial"/>
            </a:endParaRPr>
          </a:p>
          <a:p>
            <a:pPr marL="795020" lvl="1" indent="-304165">
              <a:lnSpc>
                <a:spcPts val="1115"/>
              </a:lnSpc>
              <a:buChar char="○"/>
              <a:tabLst>
                <a:tab pos="795020" algn="l"/>
              </a:tabLst>
            </a:pP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Trade-oﬀs:</a:t>
            </a:r>
            <a:r>
              <a:rPr sz="950" spc="229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Readability,</a:t>
            </a:r>
            <a:r>
              <a:rPr sz="950" spc="229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Eﬃciency,</a:t>
            </a:r>
            <a:r>
              <a:rPr sz="950" spc="229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685D46"/>
                </a:solidFill>
                <a:latin typeface="Arial"/>
                <a:cs typeface="Arial"/>
              </a:rPr>
              <a:t>Compatibility</a:t>
            </a:r>
            <a:endParaRPr sz="950">
              <a:latin typeface="Arial"/>
              <a:cs typeface="Arial"/>
            </a:endParaRPr>
          </a:p>
          <a:p>
            <a:pPr marL="795020" lvl="1" indent="-304165">
              <a:lnSpc>
                <a:spcPts val="1095"/>
              </a:lnSpc>
              <a:buChar char="○"/>
              <a:tabLst>
                <a:tab pos="795020" algn="l"/>
              </a:tabLst>
            </a:pP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Serialization</a:t>
            </a:r>
            <a:r>
              <a:rPr sz="95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5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95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-20" dirty="0">
                <a:solidFill>
                  <a:srgbClr val="685D46"/>
                </a:solidFill>
                <a:latin typeface="Arial"/>
                <a:cs typeface="Arial"/>
              </a:rPr>
              <a:t>APIs,</a:t>
            </a:r>
            <a:r>
              <a:rPr sz="95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caching,</a:t>
            </a:r>
            <a:r>
              <a:rPr sz="95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95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685D46"/>
                </a:solidFill>
                <a:latin typeface="Arial"/>
                <a:cs typeface="Arial"/>
              </a:rPr>
              <a:t>databases</a:t>
            </a:r>
            <a:endParaRPr sz="950">
              <a:latin typeface="Arial"/>
              <a:cs typeface="Arial"/>
            </a:endParaRPr>
          </a:p>
          <a:p>
            <a:pPr marL="337820" indent="-325120">
              <a:lnSpc>
                <a:spcPts val="1455"/>
              </a:lnSpc>
              <a:buChar char="●"/>
              <a:tabLst>
                <a:tab pos="337820" algn="l"/>
              </a:tabLst>
            </a:pPr>
            <a:r>
              <a:rPr sz="1250" spc="-110" dirty="0">
                <a:solidFill>
                  <a:srgbClr val="685D46"/>
                </a:solidFill>
                <a:latin typeface="Arial"/>
                <a:cs typeface="Arial"/>
              </a:rPr>
              <a:t>CORS</a:t>
            </a:r>
            <a:r>
              <a:rPr sz="125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50" spc="7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250" dirty="0">
                <a:solidFill>
                  <a:srgbClr val="685D46"/>
                </a:solidFill>
                <a:latin typeface="Arial"/>
                <a:cs typeface="Arial"/>
              </a:rPr>
              <a:t> Web</a:t>
            </a:r>
            <a:r>
              <a:rPr sz="125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50" spc="-10" dirty="0">
                <a:solidFill>
                  <a:srgbClr val="685D46"/>
                </a:solidFill>
                <a:latin typeface="Arial"/>
                <a:cs typeface="Arial"/>
              </a:rPr>
              <a:t>Security</a:t>
            </a:r>
            <a:endParaRPr sz="1250">
              <a:latin typeface="Arial"/>
              <a:cs typeface="Arial"/>
            </a:endParaRPr>
          </a:p>
          <a:p>
            <a:pPr marL="795020" lvl="1" indent="-304165">
              <a:lnSpc>
                <a:spcPts val="1120"/>
              </a:lnSpc>
              <a:buChar char="○"/>
              <a:tabLst>
                <a:tab pos="795020" algn="l"/>
              </a:tabLst>
            </a:pP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Same-Origin</a:t>
            </a:r>
            <a:r>
              <a:rPr sz="95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Policy</a:t>
            </a:r>
            <a:r>
              <a:rPr sz="950" spc="70" dirty="0">
                <a:solidFill>
                  <a:srgbClr val="685D46"/>
                </a:solidFill>
                <a:latin typeface="Arial"/>
                <a:cs typeface="Arial"/>
              </a:rPr>
              <a:t> &amp;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why</a:t>
            </a:r>
            <a:r>
              <a:rPr sz="95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-75" dirty="0">
                <a:solidFill>
                  <a:srgbClr val="685D46"/>
                </a:solidFill>
                <a:latin typeface="Arial"/>
                <a:cs typeface="Arial"/>
              </a:rPr>
              <a:t>CORS</a:t>
            </a:r>
            <a:r>
              <a:rPr sz="95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95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685D46"/>
                </a:solidFill>
                <a:latin typeface="Arial"/>
                <a:cs typeface="Arial"/>
              </a:rPr>
              <a:t>needed</a:t>
            </a:r>
            <a:endParaRPr sz="950">
              <a:latin typeface="Arial"/>
              <a:cs typeface="Arial"/>
            </a:endParaRPr>
          </a:p>
          <a:p>
            <a:pPr marL="795020" lvl="1" indent="-304165">
              <a:lnSpc>
                <a:spcPts val="1115"/>
              </a:lnSpc>
              <a:buChar char="○"/>
              <a:tabLst>
                <a:tab pos="795020" algn="l"/>
              </a:tabLst>
            </a:pPr>
            <a:r>
              <a:rPr sz="950" spc="5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950" spc="1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-75" dirty="0">
                <a:solidFill>
                  <a:srgbClr val="685D46"/>
                </a:solidFill>
                <a:latin typeface="Arial"/>
                <a:cs typeface="Arial"/>
              </a:rPr>
              <a:t>CORS</a:t>
            </a:r>
            <a:r>
              <a:rPr sz="950" spc="1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works</a:t>
            </a:r>
            <a:r>
              <a:rPr sz="950" spc="1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(Preﬂight</a:t>
            </a:r>
            <a:r>
              <a:rPr sz="950" spc="1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Requests,</a:t>
            </a:r>
            <a:r>
              <a:rPr sz="950" spc="1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Allowed</a:t>
            </a:r>
            <a:r>
              <a:rPr sz="950" spc="1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Headers</a:t>
            </a:r>
            <a:r>
              <a:rPr sz="950" spc="1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70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950" spc="1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685D46"/>
                </a:solidFill>
                <a:latin typeface="Arial"/>
                <a:cs typeface="Arial"/>
              </a:rPr>
              <a:t>Methods)</a:t>
            </a:r>
            <a:endParaRPr sz="950">
              <a:latin typeface="Arial"/>
              <a:cs typeface="Arial"/>
            </a:endParaRPr>
          </a:p>
          <a:p>
            <a:pPr marL="795020" lvl="1" indent="-304165">
              <a:lnSpc>
                <a:spcPts val="1115"/>
              </a:lnSpc>
              <a:buChar char="○"/>
              <a:tabLst>
                <a:tab pos="795020" algn="l"/>
              </a:tabLst>
            </a:pPr>
            <a:r>
              <a:rPr sz="950" spc="50" dirty="0">
                <a:solidFill>
                  <a:srgbClr val="685D46"/>
                </a:solidFill>
                <a:latin typeface="Arial"/>
                <a:cs typeface="Arial"/>
              </a:rPr>
              <a:t>Common</a:t>
            </a:r>
            <a:r>
              <a:rPr sz="95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40" dirty="0">
                <a:solidFill>
                  <a:srgbClr val="685D46"/>
                </a:solidFill>
                <a:latin typeface="Arial"/>
                <a:cs typeface="Arial"/>
              </a:rPr>
              <a:t>misconﬁgurations</a:t>
            </a:r>
            <a:r>
              <a:rPr sz="95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70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95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30" dirty="0">
                <a:solidFill>
                  <a:srgbClr val="685D46"/>
                </a:solidFill>
                <a:latin typeface="Arial"/>
                <a:cs typeface="Arial"/>
              </a:rPr>
              <a:t>security</a:t>
            </a:r>
            <a:r>
              <a:rPr sz="95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685D46"/>
                </a:solidFill>
                <a:latin typeface="Arial"/>
                <a:cs typeface="Arial"/>
              </a:rPr>
              <a:t>risks</a:t>
            </a:r>
            <a:endParaRPr sz="950">
              <a:latin typeface="Arial"/>
              <a:cs typeface="Arial"/>
            </a:endParaRPr>
          </a:p>
          <a:p>
            <a:pPr marL="795020" lvl="1" indent="-304165">
              <a:lnSpc>
                <a:spcPts val="1095"/>
              </a:lnSpc>
              <a:buChar char="○"/>
              <a:tabLst>
                <a:tab pos="795020" algn="l"/>
              </a:tabLst>
            </a:pPr>
            <a:r>
              <a:rPr sz="950" spc="-20" dirty="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sz="95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Gateways</a:t>
            </a:r>
            <a:r>
              <a:rPr sz="95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70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9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Reverse</a:t>
            </a:r>
            <a:r>
              <a:rPr sz="95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Proxies</a:t>
            </a:r>
            <a:r>
              <a:rPr sz="95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65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9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-75" dirty="0">
                <a:solidFill>
                  <a:srgbClr val="685D46"/>
                </a:solidFill>
                <a:latin typeface="Arial"/>
                <a:cs typeface="Arial"/>
              </a:rPr>
              <a:t>CORS</a:t>
            </a:r>
            <a:r>
              <a:rPr sz="95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685D46"/>
                </a:solidFill>
                <a:latin typeface="Arial"/>
                <a:cs typeface="Arial"/>
              </a:rPr>
              <a:t>handling</a:t>
            </a:r>
            <a:endParaRPr sz="950">
              <a:latin typeface="Arial"/>
              <a:cs typeface="Arial"/>
            </a:endParaRPr>
          </a:p>
          <a:p>
            <a:pPr marL="337820" indent="-325120">
              <a:lnSpc>
                <a:spcPts val="1455"/>
              </a:lnSpc>
              <a:buChar char="●"/>
              <a:tabLst>
                <a:tab pos="337820" algn="l"/>
              </a:tabLst>
            </a:pPr>
            <a:r>
              <a:rPr sz="1250" dirty="0">
                <a:solidFill>
                  <a:srgbClr val="685D46"/>
                </a:solidFill>
                <a:latin typeface="Arial"/>
                <a:cs typeface="Arial"/>
              </a:rPr>
              <a:t>What’s</a:t>
            </a:r>
            <a:r>
              <a:rPr sz="125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50" spc="-10" dirty="0">
                <a:solidFill>
                  <a:srgbClr val="685D46"/>
                </a:solidFill>
                <a:latin typeface="Arial"/>
                <a:cs typeface="Arial"/>
              </a:rPr>
              <a:t>next:</a:t>
            </a:r>
            <a:endParaRPr sz="1250">
              <a:latin typeface="Arial"/>
              <a:cs typeface="Arial"/>
            </a:endParaRPr>
          </a:p>
          <a:p>
            <a:pPr marL="795020" lvl="1" indent="-304165">
              <a:lnSpc>
                <a:spcPts val="1130"/>
              </a:lnSpc>
              <a:buChar char="○"/>
              <a:tabLst>
                <a:tab pos="795020" algn="l"/>
              </a:tabLst>
            </a:pP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Scalability</a:t>
            </a:r>
            <a:r>
              <a:rPr sz="95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5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95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sz="95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685D46"/>
                </a:solidFill>
                <a:latin typeface="Arial"/>
                <a:cs typeface="Arial"/>
              </a:rPr>
              <a:t>Design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685D46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136</Words>
  <Application>Microsoft Office PowerPoint</Application>
  <PresentationFormat>On-screen Show (16:9)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Section Summary - Web Concepts in System Design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Mastering System Design - Section 5</dc:title>
  <cp:lastModifiedBy>RAVI GV</cp:lastModifiedBy>
  <cp:revision>1</cp:revision>
  <dcterms:created xsi:type="dcterms:W3CDTF">2025-11-26T16:47:13Z</dcterms:created>
  <dcterms:modified xsi:type="dcterms:W3CDTF">2025-11-26T17:22:47Z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2025-11-26T00:00:00Z</vt:filetime>
  </property>
  <property fmtid="{D5CDD505-2E9C-101B-9397-08002B2CF9AE}" pid="3" name="Creator">
    <vt:lpwstr>Google</vt:lpwstr>
  </property>
  <property fmtid="{D5CDD505-2E9C-101B-9397-08002B2CF9AE}" pid="4" name="LastSaved">
    <vt:filetime>2025-11-26T00:00:00Z</vt:filetime>
  </property>
</Properties>
</file>