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8" r:id="rId2"/>
    <p:sldId id="279" r:id="rId3"/>
    <p:sldId id="280" r:id="rId4"/>
    <p:sldId id="281" r:id="rId5"/>
    <p:sldId id="282" r:id="rId6"/>
    <p:sldId id="283" r:id="rId7"/>
    <p:sldId id="284" r:id="rId8"/>
    <p:sldId id="285" r:id="rId9"/>
    <p:sldId id="286" r:id="rId10"/>
    <p:sldId id="287" r:id="rId11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007735" y="3176887"/>
            <a:ext cx="562610" cy="0"/>
          </a:xfrm>
          <a:custGeom>
            <a:avLst/>
            <a:gdLst/>
            <a:ahLst/>
            <a:cxnLst/>
            <a:rect l="l" t="t" r="r" b="b"/>
            <a:pathLst>
              <a:path w="562609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75034" y="3158251"/>
            <a:ext cx="562610" cy="0"/>
          </a:xfrm>
          <a:custGeom>
            <a:avLst/>
            <a:gdLst/>
            <a:ahLst/>
            <a:cxnLst/>
            <a:rect l="l" t="t" r="r" b="b"/>
            <a:pathLst>
              <a:path w="562610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04144" y="10220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004144" y="11744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004151" y="41214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004151" y="39690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79312" y="2209598"/>
            <a:ext cx="6785374" cy="477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74" y="5045700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4DB6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501590"/>
            <a:ext cx="7675880" cy="5194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5249" y="1289058"/>
            <a:ext cx="3997325" cy="2865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hyperlink" Target="https://example.com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45085">
              <a:lnSpc>
                <a:spcPct val="100000"/>
              </a:lnSpc>
              <a:spcBef>
                <a:spcPts val="110"/>
              </a:spcBef>
            </a:pPr>
            <a:r>
              <a:rPr sz="2750" spc="-229" dirty="0"/>
              <a:t>CORS</a:t>
            </a:r>
            <a:r>
              <a:rPr sz="2750" spc="-160" dirty="0"/>
              <a:t> </a:t>
            </a:r>
            <a:r>
              <a:rPr sz="2750" spc="110" dirty="0"/>
              <a:t>–</a:t>
            </a:r>
            <a:r>
              <a:rPr sz="2750" spc="-254" dirty="0"/>
              <a:t> </a:t>
            </a:r>
            <a:r>
              <a:rPr sz="2750" spc="-175" dirty="0"/>
              <a:t>Cross-</a:t>
            </a:r>
            <a:r>
              <a:rPr sz="2750" spc="-170" dirty="0"/>
              <a:t>Origin</a:t>
            </a:r>
            <a:r>
              <a:rPr sz="2750" spc="-30" dirty="0"/>
              <a:t> </a:t>
            </a:r>
            <a:r>
              <a:rPr sz="2750" spc="-215" dirty="0"/>
              <a:t>Resource</a:t>
            </a:r>
            <a:r>
              <a:rPr sz="2750" spc="-30" dirty="0"/>
              <a:t> </a:t>
            </a:r>
            <a:r>
              <a:rPr sz="2750" spc="-165" dirty="0"/>
              <a:t>Sharing</a:t>
            </a:r>
            <a:r>
              <a:rPr sz="2750" spc="-30" dirty="0"/>
              <a:t> </a:t>
            </a:r>
            <a:r>
              <a:rPr sz="2750" spc="-105" dirty="0"/>
              <a:t>&amp;</a:t>
            </a:r>
            <a:r>
              <a:rPr sz="2750" spc="-90" dirty="0"/>
              <a:t> </a:t>
            </a:r>
            <a:r>
              <a:rPr sz="2750" spc="-375" dirty="0"/>
              <a:t>Web</a:t>
            </a:r>
            <a:r>
              <a:rPr sz="2750" spc="-30" dirty="0"/>
              <a:t> </a:t>
            </a:r>
            <a:r>
              <a:rPr sz="2750" spc="-130" dirty="0"/>
              <a:t>Security</a:t>
            </a:r>
            <a:endParaRPr sz="2750"/>
          </a:p>
        </p:txBody>
      </p:sp>
      <p:sp>
        <p:nvSpPr>
          <p:cNvPr id="3" name="object 3"/>
          <p:cNvSpPr txBox="1"/>
          <p:nvPr/>
        </p:nvSpPr>
        <p:spPr>
          <a:xfrm>
            <a:off x="2672484" y="2881814"/>
            <a:ext cx="37979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System Design</a:t>
            </a:r>
            <a:r>
              <a:rPr sz="14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Fundamentals</a:t>
            </a:r>
            <a:r>
              <a:rPr sz="14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-</a:t>
            </a:r>
            <a:r>
              <a:rPr sz="14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sz="14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Concepts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370" dirty="0"/>
              <a:t>Why</a:t>
            </a:r>
            <a:r>
              <a:rPr spc="-195" dirty="0"/>
              <a:t> </a:t>
            </a:r>
            <a:r>
              <a:rPr spc="-250" dirty="0"/>
              <a:t>CORS</a:t>
            </a:r>
            <a:r>
              <a:rPr spc="-50" dirty="0"/>
              <a:t> </a:t>
            </a:r>
            <a:r>
              <a:rPr spc="-265" dirty="0"/>
              <a:t>Matters?</a:t>
            </a:r>
            <a:r>
              <a:rPr spc="-50" dirty="0"/>
              <a:t> </a:t>
            </a:r>
            <a:r>
              <a:rPr spc="-170" dirty="0"/>
              <a:t>(The</a:t>
            </a:r>
            <a:r>
              <a:rPr spc="-50" dirty="0"/>
              <a:t> </a:t>
            </a:r>
            <a:r>
              <a:rPr spc="-250" dirty="0"/>
              <a:t>Problem</a:t>
            </a:r>
            <a:r>
              <a:rPr spc="-50" dirty="0"/>
              <a:t> </a:t>
            </a:r>
            <a:r>
              <a:rPr dirty="0"/>
              <a:t>&amp;</a:t>
            </a:r>
            <a:r>
              <a:rPr spc="-50" dirty="0"/>
              <a:t> </a:t>
            </a:r>
            <a:r>
              <a:rPr spc="-145" dirty="0"/>
              <a:t>Solution)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8077200" cy="1719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79120" indent="-367030">
              <a:lnSpc>
                <a:spcPct val="114999"/>
              </a:lnSpc>
              <a:spcBef>
                <a:spcPts val="100"/>
              </a:spcBef>
              <a:buFont typeface="Arial"/>
              <a:buChar char="●"/>
              <a:tabLst>
                <a:tab pos="379095" algn="l"/>
              </a:tabLst>
            </a:pPr>
            <a:r>
              <a:rPr sz="1800" spc="-155" dirty="0">
                <a:solidFill>
                  <a:srgbClr val="685D46"/>
                </a:solidFill>
                <a:latin typeface="Arial Black"/>
                <a:cs typeface="Arial Black"/>
              </a:rPr>
              <a:t>The</a:t>
            </a:r>
            <a:r>
              <a:rPr sz="1800" spc="-65" dirty="0">
                <a:solidFill>
                  <a:srgbClr val="685D46"/>
                </a:solidFill>
                <a:latin typeface="Arial Black"/>
                <a:cs typeface="Arial Black"/>
              </a:rPr>
              <a:t> </a:t>
            </a:r>
            <a:r>
              <a:rPr sz="1800" spc="-85" dirty="0">
                <a:solidFill>
                  <a:srgbClr val="685D46"/>
                </a:solidFill>
                <a:latin typeface="Arial Black"/>
                <a:cs typeface="Arial Black"/>
              </a:rPr>
              <a:t>Problem</a:t>
            </a:r>
            <a:r>
              <a:rPr sz="1800" spc="-85" dirty="0">
                <a:solidFill>
                  <a:srgbClr val="685D46"/>
                </a:solidFill>
                <a:latin typeface="Arial"/>
                <a:cs typeface="Arial"/>
              </a:rPr>
              <a:t>: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Browsers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enforce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Same-Origin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Policy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5" dirty="0">
                <a:solidFill>
                  <a:srgbClr val="685D46"/>
                </a:solidFill>
                <a:latin typeface="Arial"/>
                <a:cs typeface="Arial"/>
              </a:rPr>
              <a:t>(SOP),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blocking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cross-origin</a:t>
            </a:r>
            <a:r>
              <a:rPr sz="1800" spc="25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requests</a:t>
            </a:r>
            <a:r>
              <a:rPr sz="1800" spc="2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by</a:t>
            </a:r>
            <a:r>
              <a:rPr sz="1800" spc="2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default.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Need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CORS:</a:t>
            </a:r>
            <a:endParaRPr sz="1800">
              <a:latin typeface="Arial"/>
              <a:cs typeface="Arial"/>
            </a:endParaRPr>
          </a:p>
          <a:p>
            <a:pPr marL="836294" marR="5080" lvl="1" indent="-336550">
              <a:lnSpc>
                <a:spcPct val="114999"/>
              </a:lnSpc>
              <a:spcBef>
                <a:spcPts val="85"/>
              </a:spcBef>
              <a:buChar char="○"/>
              <a:tabLst>
                <a:tab pos="836294" algn="l"/>
              </a:tabLst>
            </a:pP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Modern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apps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rely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on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50" dirty="0">
                <a:solidFill>
                  <a:srgbClr val="685D46"/>
                </a:solidFill>
                <a:latin typeface="Arial"/>
                <a:cs typeface="Arial"/>
              </a:rPr>
              <a:t>APIs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hosted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on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diﬀerent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domains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(e.g.,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Frontend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on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app.com, </a:t>
            </a:r>
            <a:r>
              <a:rPr sz="1400" spc="-60" dirty="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sz="14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on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api.com).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sz="1400" spc="-135" dirty="0">
                <a:solidFill>
                  <a:srgbClr val="685D46"/>
                </a:solidFill>
                <a:latin typeface="Arial"/>
                <a:cs typeface="Arial"/>
              </a:rPr>
              <a:t>CORS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mechanism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that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allows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secure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cross-origin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communication.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975" y="3568125"/>
            <a:ext cx="8782049" cy="104774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370" dirty="0"/>
              <a:t>How</a:t>
            </a:r>
            <a:r>
              <a:rPr spc="-155" dirty="0"/>
              <a:t> </a:t>
            </a:r>
            <a:r>
              <a:rPr spc="-250" dirty="0"/>
              <a:t>CORS</a:t>
            </a:r>
            <a:r>
              <a:rPr spc="-114" dirty="0"/>
              <a:t> </a:t>
            </a:r>
            <a:r>
              <a:rPr spc="-280" dirty="0"/>
              <a:t>Works:</a:t>
            </a:r>
            <a:r>
              <a:rPr spc="-50" dirty="0"/>
              <a:t> </a:t>
            </a:r>
            <a:r>
              <a:rPr spc="-240" dirty="0"/>
              <a:t>Requests</a:t>
            </a:r>
            <a:r>
              <a:rPr spc="-50" dirty="0"/>
              <a:t> </a:t>
            </a:r>
            <a:r>
              <a:rPr dirty="0"/>
              <a:t>&amp;</a:t>
            </a:r>
            <a:r>
              <a:rPr spc="-50" dirty="0"/>
              <a:t> </a:t>
            </a:r>
            <a:r>
              <a:rPr spc="-195" dirty="0"/>
              <a:t>Responses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5567680" cy="3016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spc="-155" dirty="0">
                <a:solidFill>
                  <a:srgbClr val="685D46"/>
                </a:solidFill>
                <a:latin typeface="Arial"/>
                <a:cs typeface="Arial"/>
              </a:rPr>
              <a:t>CORS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server-driven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0" dirty="0">
                <a:solidFill>
                  <a:srgbClr val="685D46"/>
                </a:solidFill>
                <a:latin typeface="Arial"/>
                <a:cs typeface="Arial"/>
              </a:rPr>
              <a:t>–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 the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server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must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explicitly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allow</a:t>
            </a:r>
            <a:r>
              <a:rPr sz="1800" spc="1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access.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Two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types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requests: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Simple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requests: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0" dirty="0">
                <a:solidFill>
                  <a:srgbClr val="685D46"/>
                </a:solidFill>
                <a:latin typeface="Arial"/>
                <a:cs typeface="Arial"/>
              </a:rPr>
              <a:t>GET,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95" dirty="0">
                <a:solidFill>
                  <a:srgbClr val="685D46"/>
                </a:solidFill>
                <a:latin typeface="Arial"/>
                <a:cs typeface="Arial"/>
              </a:rPr>
              <a:t>POST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(without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custom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headers).</a:t>
            </a:r>
            <a:endParaRPr sz="1400">
              <a:latin typeface="Arial"/>
              <a:cs typeface="Arial"/>
            </a:endParaRPr>
          </a:p>
          <a:p>
            <a:pPr marL="836294" marR="212090" lvl="1" indent="-336550">
              <a:lnSpc>
                <a:spcPct val="114999"/>
              </a:lnSpc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Preﬂight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requests: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Needed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60" dirty="0">
                <a:solidFill>
                  <a:srgbClr val="685D46"/>
                </a:solidFill>
                <a:latin typeface="Arial"/>
                <a:cs typeface="Arial"/>
              </a:rPr>
              <a:t>PUT,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5" dirty="0">
                <a:solidFill>
                  <a:srgbClr val="685D46"/>
                </a:solidFill>
                <a:latin typeface="Arial"/>
                <a:cs typeface="Arial"/>
              </a:rPr>
              <a:t>DELETE,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or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custom headers.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235"/>
              </a:spcBef>
              <a:buChar char="●"/>
              <a:tabLst>
                <a:tab pos="379095" algn="l"/>
              </a:tabLst>
            </a:pPr>
            <a:r>
              <a:rPr sz="1800" spc="-155" dirty="0">
                <a:solidFill>
                  <a:srgbClr val="685D46"/>
                </a:solidFill>
                <a:latin typeface="Arial"/>
                <a:cs typeface="Arial"/>
              </a:rPr>
              <a:t>CORS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Headers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control: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Access-Control-Allow-Origin</a:t>
            </a:r>
            <a:r>
              <a:rPr sz="1400" spc="1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(which</a:t>
            </a:r>
            <a:r>
              <a:rPr sz="1400" spc="1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origins</a:t>
            </a:r>
            <a:r>
              <a:rPr sz="1400" spc="1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can</a:t>
            </a:r>
            <a:r>
              <a:rPr sz="1400" spc="1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access).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Access-Control-Allow-Methods</a:t>
            </a:r>
            <a:r>
              <a:rPr sz="1400" spc="1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(allowed</a:t>
            </a:r>
            <a:r>
              <a:rPr sz="1400" spc="1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70" dirty="0">
                <a:solidFill>
                  <a:srgbClr val="685D46"/>
                </a:solidFill>
                <a:latin typeface="Arial"/>
                <a:cs typeface="Arial"/>
              </a:rPr>
              <a:t>HTTP</a:t>
            </a:r>
            <a:r>
              <a:rPr sz="1400" spc="1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methods).</a:t>
            </a:r>
            <a:endParaRPr sz="1400">
              <a:latin typeface="Arial"/>
              <a:cs typeface="Arial"/>
            </a:endParaRPr>
          </a:p>
          <a:p>
            <a:pPr marL="836294" marR="93980" lvl="1" indent="-336550">
              <a:lnSpc>
                <a:spcPct val="114999"/>
              </a:lnSpc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Access-Control-Allow-Headers</a:t>
            </a:r>
            <a:r>
              <a:rPr sz="1400" spc="1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(custom</a:t>
            </a:r>
            <a:r>
              <a:rPr sz="1400" spc="1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headers</a:t>
            </a:r>
            <a:r>
              <a:rPr sz="1400" spc="1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that</a:t>
            </a:r>
            <a:r>
              <a:rPr sz="1400" spc="1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685D46"/>
                </a:solidFill>
                <a:latin typeface="Arial"/>
                <a:cs typeface="Arial"/>
              </a:rPr>
              <a:t>can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be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sent).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79445" y="1353545"/>
            <a:ext cx="2578426" cy="312933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4725" y="501590"/>
            <a:ext cx="5197475" cy="5194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185" dirty="0"/>
              <a:t>Preﬂight</a:t>
            </a:r>
            <a:r>
              <a:rPr spc="-20" dirty="0"/>
              <a:t> </a:t>
            </a:r>
            <a:r>
              <a:rPr spc="-240" dirty="0"/>
              <a:t>Requests</a:t>
            </a:r>
            <a:r>
              <a:rPr spc="-15" dirty="0"/>
              <a:t> </a:t>
            </a:r>
            <a:r>
              <a:rPr spc="-90" dirty="0"/>
              <a:t>&amp;</a:t>
            </a:r>
            <a:r>
              <a:rPr spc="-60" dirty="0"/>
              <a:t> </a:t>
            </a:r>
            <a:r>
              <a:rPr spc="-250" dirty="0"/>
              <a:t>CORS</a:t>
            </a:r>
            <a:r>
              <a:rPr spc="-15" dirty="0"/>
              <a:t> </a:t>
            </a:r>
            <a:r>
              <a:rPr spc="-200" dirty="0"/>
              <a:t>Headers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319233"/>
            <a:ext cx="4948555" cy="293624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377825" marR="398145" indent="-365760" algn="just">
              <a:lnSpc>
                <a:spcPts val="2050"/>
              </a:lnSpc>
              <a:spcBef>
                <a:spcPts val="26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Some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requests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require 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preﬂight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checks 	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(sent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via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65" dirty="0">
                <a:solidFill>
                  <a:srgbClr val="685D46"/>
                </a:solidFill>
                <a:latin typeface="Arial"/>
                <a:cs typeface="Arial"/>
              </a:rPr>
              <a:t>OPTIONS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request).</a:t>
            </a:r>
            <a:endParaRPr sz="1800">
              <a:latin typeface="Arial"/>
              <a:cs typeface="Arial"/>
            </a:endParaRPr>
          </a:p>
          <a:p>
            <a:pPr marL="377825" marR="490220" indent="-365760" algn="just">
              <a:lnSpc>
                <a:spcPts val="2050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Browser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ﬁrst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sends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preﬂight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request 	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before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making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actual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request.</a:t>
            </a:r>
            <a:endParaRPr sz="1800">
              <a:latin typeface="Arial"/>
              <a:cs typeface="Arial"/>
            </a:endParaRPr>
          </a:p>
          <a:p>
            <a:pPr marL="377825" marR="456565" indent="-365760" algn="just">
              <a:lnSpc>
                <a:spcPts val="2050"/>
              </a:lnSpc>
              <a:spcBef>
                <a:spcPts val="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If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server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responds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with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valid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CORS 	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headers,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browser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allows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actual 	request.</a:t>
            </a:r>
            <a:endParaRPr sz="1800">
              <a:latin typeface="Arial"/>
              <a:cs typeface="Arial"/>
            </a:endParaRPr>
          </a:p>
          <a:p>
            <a:pPr marL="378460" indent="-365760" algn="just">
              <a:lnSpc>
                <a:spcPts val="1970"/>
              </a:lnSpc>
              <a:buChar char="●"/>
              <a:tabLst>
                <a:tab pos="378460" algn="l"/>
              </a:tabLst>
            </a:pP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Key</a:t>
            </a:r>
            <a:r>
              <a:rPr sz="1800" spc="-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Headers: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ts val="1600"/>
              </a:lnSpc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Access-Control-Allow-Origin: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 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  <a:hlinkClick r:id="rId2"/>
              </a:rPr>
              <a:t>https://example.com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ts val="1595"/>
              </a:lnSpc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Access-Control-Allow-Methods:</a:t>
            </a:r>
            <a:r>
              <a:rPr sz="1400" spc="20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0" dirty="0">
                <a:solidFill>
                  <a:srgbClr val="685D46"/>
                </a:solidFill>
                <a:latin typeface="Arial"/>
                <a:cs typeface="Arial"/>
              </a:rPr>
              <a:t>GET,</a:t>
            </a:r>
            <a:r>
              <a:rPr sz="1400" spc="20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POST</a:t>
            </a:r>
            <a:endParaRPr sz="1400">
              <a:latin typeface="Arial"/>
              <a:cs typeface="Arial"/>
            </a:endParaRPr>
          </a:p>
          <a:p>
            <a:pPr marL="836294" marR="363855" lvl="1" indent="-336550">
              <a:lnSpc>
                <a:spcPts val="1600"/>
              </a:lnSpc>
              <a:spcBef>
                <a:spcPts val="8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Access-Control-Allow-Headers:</a:t>
            </a:r>
            <a:r>
              <a:rPr sz="1400" spc="2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Authorization,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Content-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Type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17200" y="1544193"/>
            <a:ext cx="3523654" cy="165800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04" dirty="0"/>
              <a:t>Security</a:t>
            </a:r>
            <a:r>
              <a:rPr spc="-135" dirty="0"/>
              <a:t> </a:t>
            </a:r>
            <a:r>
              <a:rPr spc="-155" dirty="0"/>
              <a:t>Risks</a:t>
            </a:r>
            <a:r>
              <a:rPr spc="-30" dirty="0"/>
              <a:t> </a:t>
            </a:r>
            <a:r>
              <a:rPr spc="-90" dirty="0"/>
              <a:t>&amp;</a:t>
            </a:r>
            <a:r>
              <a:rPr spc="-70" dirty="0"/>
              <a:t> </a:t>
            </a:r>
            <a:r>
              <a:rPr spc="-350" dirty="0"/>
              <a:t>Common</a:t>
            </a:r>
            <a:r>
              <a:rPr spc="-25" dirty="0"/>
              <a:t> </a:t>
            </a:r>
            <a:r>
              <a:rPr spc="-220" dirty="0"/>
              <a:t>Misconﬁgurations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319233"/>
            <a:ext cx="5099685" cy="2994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ts val="2125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Common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security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risks: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ts val="1600"/>
              </a:lnSpc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Overly</a:t>
            </a:r>
            <a:r>
              <a:rPr sz="1400" spc="1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permissive</a:t>
            </a:r>
            <a:r>
              <a:rPr sz="1400" spc="1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CORS</a:t>
            </a:r>
            <a:endParaRPr sz="1400">
              <a:latin typeface="Arial"/>
              <a:cs typeface="Arial"/>
            </a:endParaRPr>
          </a:p>
          <a:p>
            <a:pPr marL="836294" marR="524510">
              <a:lnSpc>
                <a:spcPts val="1600"/>
              </a:lnSpc>
              <a:spcBef>
                <a:spcPts val="75"/>
              </a:spcBef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(Access-Control-Allow-Origin: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*)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→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Allows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685D46"/>
                </a:solidFill>
                <a:latin typeface="Arial"/>
                <a:cs typeface="Arial"/>
              </a:rPr>
              <a:t>any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website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access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sensitive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data.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ts val="1510"/>
              </a:lnSpc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Allowing</a:t>
            </a:r>
            <a:r>
              <a:rPr sz="1400" spc="1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credentials</a:t>
            </a:r>
            <a:r>
              <a:rPr sz="1400" spc="1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with</a:t>
            </a:r>
            <a:r>
              <a:rPr sz="1400" spc="1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70" dirty="0">
                <a:solidFill>
                  <a:srgbClr val="685D46"/>
                </a:solidFill>
                <a:latin typeface="Arial"/>
                <a:cs typeface="Arial"/>
              </a:rPr>
              <a:t>*</a:t>
            </a:r>
            <a:endParaRPr sz="1400">
              <a:latin typeface="Arial"/>
              <a:cs typeface="Arial"/>
            </a:endParaRPr>
          </a:p>
          <a:p>
            <a:pPr marL="836294" marR="499109">
              <a:lnSpc>
                <a:spcPts val="1600"/>
              </a:lnSpc>
              <a:spcBef>
                <a:spcPts val="80"/>
              </a:spcBef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(Access-Control-Allow-Credentials: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true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with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70" dirty="0">
                <a:solidFill>
                  <a:srgbClr val="685D46"/>
                </a:solidFill>
                <a:latin typeface="Arial"/>
                <a:cs typeface="Arial"/>
              </a:rPr>
              <a:t>*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origin)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→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Leads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security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vulnerabilities.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ts val="1490"/>
              </a:lnSpc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Exposing</a:t>
            </a:r>
            <a:r>
              <a:rPr sz="14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sensitive</a:t>
            </a:r>
            <a:r>
              <a:rPr sz="14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50" dirty="0">
                <a:solidFill>
                  <a:srgbClr val="685D46"/>
                </a:solidFill>
                <a:latin typeface="Arial"/>
                <a:cs typeface="Arial"/>
              </a:rPr>
              <a:t>APIs</a:t>
            </a: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via</a:t>
            </a:r>
            <a:r>
              <a:rPr sz="14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improper</a:t>
            </a: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35" dirty="0">
                <a:solidFill>
                  <a:srgbClr val="685D46"/>
                </a:solidFill>
                <a:latin typeface="Arial"/>
                <a:cs typeface="Arial"/>
              </a:rPr>
              <a:t>CORS</a:t>
            </a:r>
            <a:r>
              <a:rPr sz="14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settings.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ts val="2065"/>
              </a:lnSpc>
              <a:buChar char="●"/>
              <a:tabLst>
                <a:tab pos="379095" algn="l"/>
              </a:tabLst>
            </a:pP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Mitigation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Strategies: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ts val="1600"/>
              </a:lnSpc>
              <a:buChar char="○"/>
              <a:tabLst>
                <a:tab pos="836294" algn="l"/>
              </a:tabLst>
            </a:pP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whitelist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trusted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origins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instead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*.</a:t>
            </a:r>
            <a:endParaRPr sz="1400">
              <a:latin typeface="Arial"/>
              <a:cs typeface="Arial"/>
            </a:endParaRPr>
          </a:p>
          <a:p>
            <a:pPr marL="836294" marR="830580" lvl="1" indent="-336550">
              <a:lnSpc>
                <a:spcPts val="1600"/>
              </a:lnSpc>
              <a:spcBef>
                <a:spcPts val="80"/>
              </a:spcBef>
              <a:buChar char="○"/>
              <a:tabLst>
                <a:tab pos="836294" algn="l"/>
              </a:tabLst>
            </a:pP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Set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correct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35" dirty="0">
                <a:solidFill>
                  <a:srgbClr val="685D46"/>
                </a:solidFill>
                <a:latin typeface="Arial"/>
                <a:cs typeface="Arial"/>
              </a:rPr>
              <a:t>CORS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policies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diﬀerent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685D46"/>
                </a:solidFill>
                <a:latin typeface="Arial"/>
                <a:cs typeface="Arial"/>
              </a:rPr>
              <a:t>API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endpoints.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ts val="1510"/>
              </a:lnSpc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Reverse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Proxies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or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60" dirty="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Gateways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handle</a:t>
            </a:r>
            <a:endParaRPr sz="1400">
              <a:latin typeface="Arial"/>
              <a:cs typeface="Arial"/>
            </a:endParaRPr>
          </a:p>
          <a:p>
            <a:pPr marL="836294">
              <a:lnSpc>
                <a:spcPts val="1639"/>
              </a:lnSpc>
            </a:pPr>
            <a:r>
              <a:rPr sz="1400" spc="-135" dirty="0">
                <a:solidFill>
                  <a:srgbClr val="685D46"/>
                </a:solidFill>
                <a:latin typeface="Arial"/>
                <a:cs typeface="Arial"/>
              </a:rPr>
              <a:t>CORS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securely.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15195" y="1563070"/>
            <a:ext cx="2968350" cy="13592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4725" y="501590"/>
            <a:ext cx="6057900" cy="5194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00" dirty="0"/>
              <a:t>Handling</a:t>
            </a:r>
            <a:r>
              <a:rPr spc="-75" dirty="0"/>
              <a:t> </a:t>
            </a:r>
            <a:r>
              <a:rPr spc="-250" dirty="0"/>
              <a:t>CORS</a:t>
            </a:r>
            <a:r>
              <a:rPr spc="-35" dirty="0"/>
              <a:t> </a:t>
            </a:r>
            <a:r>
              <a:rPr spc="-165" dirty="0"/>
              <a:t>in</a:t>
            </a:r>
            <a:r>
              <a:rPr spc="-145" dirty="0"/>
              <a:t> </a:t>
            </a:r>
            <a:r>
              <a:rPr spc="-180" dirty="0"/>
              <a:t>APIs</a:t>
            </a:r>
            <a:r>
              <a:rPr spc="-30" dirty="0"/>
              <a:t> </a:t>
            </a:r>
            <a:r>
              <a:rPr spc="-125" dirty="0"/>
              <a:t>(REST</a:t>
            </a:r>
            <a:r>
              <a:rPr spc="-145" dirty="0"/>
              <a:t> </a:t>
            </a:r>
            <a:r>
              <a:rPr spc="-90" dirty="0"/>
              <a:t>&amp;</a:t>
            </a:r>
            <a:r>
              <a:rPr spc="-70" dirty="0"/>
              <a:t> </a:t>
            </a:r>
            <a:r>
              <a:rPr spc="-210" dirty="0"/>
              <a:t>GraphQL)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74688"/>
            <a:ext cx="8242300" cy="166370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535"/>
              </a:spcBef>
              <a:buChar char="●"/>
              <a:tabLst>
                <a:tab pos="379095" algn="l"/>
              </a:tabLst>
            </a:pPr>
            <a:r>
              <a:rPr sz="1800" spc="-155" dirty="0">
                <a:solidFill>
                  <a:srgbClr val="685D46"/>
                </a:solidFill>
                <a:latin typeface="Arial"/>
                <a:cs typeface="Arial"/>
              </a:rPr>
              <a:t>CORS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90" dirty="0">
                <a:solidFill>
                  <a:srgbClr val="685D46"/>
                </a:solidFill>
                <a:latin typeface="Arial"/>
                <a:cs typeface="Arial"/>
              </a:rPr>
              <a:t>REST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APIs: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spc="-45" dirty="0">
                <a:solidFill>
                  <a:srgbClr val="685D46"/>
                </a:solidFill>
                <a:latin typeface="Arial"/>
                <a:cs typeface="Arial"/>
              </a:rPr>
              <a:t>JSON-</a:t>
            </a:r>
            <a:r>
              <a:rPr sz="1400" spc="-30" dirty="0">
                <a:solidFill>
                  <a:srgbClr val="685D46"/>
                </a:solidFill>
                <a:latin typeface="Arial"/>
                <a:cs typeface="Arial"/>
              </a:rPr>
              <a:t>based</a:t>
            </a:r>
            <a:r>
              <a:rPr sz="14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50" dirty="0">
                <a:solidFill>
                  <a:srgbClr val="685D46"/>
                </a:solidFill>
                <a:latin typeface="Arial"/>
                <a:cs typeface="Arial"/>
              </a:rPr>
              <a:t>APIs</a:t>
            </a:r>
            <a:r>
              <a:rPr sz="14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commonly</a:t>
            </a:r>
            <a:r>
              <a:rPr sz="14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sz="14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CORS.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Conﬁgure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headers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properly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backend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frameworks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(e.g.,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Express.js,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Spring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Boot,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Django).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235"/>
              </a:spcBef>
              <a:buChar char="●"/>
              <a:tabLst>
                <a:tab pos="379095" algn="l"/>
              </a:tabLst>
            </a:pPr>
            <a:r>
              <a:rPr sz="1800" spc="-155" dirty="0">
                <a:solidFill>
                  <a:srgbClr val="685D46"/>
                </a:solidFill>
                <a:latin typeface="Arial"/>
                <a:cs typeface="Arial"/>
              </a:rPr>
              <a:t>CORS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GraphQL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APIs: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GraphQL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50" dirty="0">
                <a:solidFill>
                  <a:srgbClr val="685D46"/>
                </a:solidFill>
                <a:latin typeface="Arial"/>
                <a:cs typeface="Arial"/>
              </a:rPr>
              <a:t>APIs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also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need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35" dirty="0">
                <a:solidFill>
                  <a:srgbClr val="685D46"/>
                </a:solidFill>
                <a:latin typeface="Arial"/>
                <a:cs typeface="Arial"/>
              </a:rPr>
              <a:t>CORS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handling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since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they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operate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over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HTTP.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Preﬂight</a:t>
            </a:r>
            <a:r>
              <a:rPr sz="1400" spc="1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requests</a:t>
            </a:r>
            <a:r>
              <a:rPr sz="1400" spc="1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occur</a:t>
            </a:r>
            <a:r>
              <a:rPr sz="1400" spc="1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due</a:t>
            </a:r>
            <a:r>
              <a:rPr sz="1400" spc="1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400" spc="1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complex</a:t>
            </a:r>
            <a:r>
              <a:rPr sz="1400" spc="1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queries</a:t>
            </a:r>
            <a:r>
              <a:rPr sz="1400" spc="1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400" spc="1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mutations.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195" dirty="0"/>
              <a:t>Alternatives</a:t>
            </a:r>
            <a:r>
              <a:rPr spc="-45" dirty="0"/>
              <a:t> </a:t>
            </a:r>
            <a:r>
              <a:rPr spc="-235" dirty="0"/>
              <a:t>to</a:t>
            </a:r>
            <a:r>
              <a:rPr spc="-85" dirty="0"/>
              <a:t> </a:t>
            </a:r>
            <a:r>
              <a:rPr spc="-250" dirty="0"/>
              <a:t>CORS</a:t>
            </a:r>
            <a:r>
              <a:rPr spc="-40" dirty="0"/>
              <a:t> </a:t>
            </a:r>
            <a:r>
              <a:rPr dirty="0"/>
              <a:t>&amp;</a:t>
            </a:r>
            <a:r>
              <a:rPr spc="-45" dirty="0"/>
              <a:t> </a:t>
            </a:r>
            <a:r>
              <a:rPr spc="-220" dirty="0"/>
              <a:t>Role</a:t>
            </a:r>
            <a:r>
              <a:rPr spc="-40" dirty="0"/>
              <a:t> </a:t>
            </a:r>
            <a:r>
              <a:rPr spc="-250" dirty="0"/>
              <a:t>of</a:t>
            </a:r>
            <a:r>
              <a:rPr spc="-160" dirty="0"/>
              <a:t> </a:t>
            </a:r>
            <a:r>
              <a:rPr spc="-200" dirty="0"/>
              <a:t>API</a:t>
            </a:r>
            <a:r>
              <a:rPr spc="-75" dirty="0"/>
              <a:t> </a:t>
            </a:r>
            <a:r>
              <a:rPr spc="-290" dirty="0"/>
              <a:t>Gateways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311825" y="3460998"/>
            <a:ext cx="221615" cy="699135"/>
            <a:chOff x="1311825" y="3460998"/>
            <a:chExt cx="221615" cy="6991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1825" y="3460998"/>
              <a:ext cx="221258" cy="20824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1825" y="3706362"/>
              <a:ext cx="221258" cy="20824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1825" y="3951726"/>
              <a:ext cx="221258" cy="20824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475249" y="1274688"/>
            <a:ext cx="7795259" cy="289052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53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Alternatives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55" dirty="0">
                <a:solidFill>
                  <a:srgbClr val="685D46"/>
                </a:solidFill>
                <a:latin typeface="Arial"/>
                <a:cs typeface="Arial"/>
              </a:rPr>
              <a:t>CORS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Cross-Origin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Requests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Reverse</a:t>
            </a:r>
            <a:r>
              <a:rPr sz="1400" spc="-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Proxy:</a:t>
            </a:r>
            <a:endParaRPr sz="1400">
              <a:latin typeface="Arial"/>
              <a:cs typeface="Arial"/>
            </a:endParaRPr>
          </a:p>
          <a:p>
            <a:pPr marL="1293495" lvl="2" indent="-335915">
              <a:lnSpc>
                <a:spcPct val="100000"/>
              </a:lnSpc>
              <a:spcBef>
                <a:spcPts val="254"/>
              </a:spcBef>
              <a:buChar char="■"/>
              <a:tabLst>
                <a:tab pos="1293495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Forwards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client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requests</a:t>
            </a:r>
            <a:r>
              <a:rPr sz="14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backend,</a:t>
            </a:r>
            <a:r>
              <a:rPr sz="14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bypassing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browser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35" dirty="0">
                <a:solidFill>
                  <a:srgbClr val="685D46"/>
                </a:solidFill>
                <a:latin typeface="Arial"/>
                <a:cs typeface="Arial"/>
              </a:rPr>
              <a:t>CORS</a:t>
            </a:r>
            <a:r>
              <a:rPr sz="14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restrictions.</a:t>
            </a:r>
            <a:endParaRPr sz="1400">
              <a:latin typeface="Arial"/>
              <a:cs typeface="Arial"/>
            </a:endParaRPr>
          </a:p>
          <a:p>
            <a:pPr marL="1293495" lvl="2" indent="-335915">
              <a:lnSpc>
                <a:spcPct val="100000"/>
              </a:lnSpc>
              <a:spcBef>
                <a:spcPts val="250"/>
              </a:spcBef>
              <a:buChar char="■"/>
              <a:tabLst>
                <a:tab pos="1293495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Example:</a:t>
            </a:r>
            <a:r>
              <a:rPr sz="14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Nginx</a:t>
            </a:r>
            <a:r>
              <a:rPr sz="1400" spc="1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proxying</a:t>
            </a:r>
            <a:r>
              <a:rPr sz="14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requests</a:t>
            </a:r>
            <a:r>
              <a:rPr sz="1400" spc="1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4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400" spc="1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backend</a:t>
            </a:r>
            <a:r>
              <a:rPr sz="14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API.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sz="1400" spc="-60" dirty="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sz="14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Gateway</a:t>
            </a:r>
            <a:r>
              <a:rPr sz="14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Handling</a:t>
            </a:r>
            <a:r>
              <a:rPr sz="14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CORS:</a:t>
            </a:r>
            <a:endParaRPr sz="1400">
              <a:latin typeface="Arial"/>
              <a:cs typeface="Arial"/>
            </a:endParaRPr>
          </a:p>
          <a:p>
            <a:pPr marL="1293495" lvl="2" indent="-335915">
              <a:lnSpc>
                <a:spcPct val="100000"/>
              </a:lnSpc>
              <a:spcBef>
                <a:spcPts val="254"/>
              </a:spcBef>
              <a:buChar char="■"/>
              <a:tabLst>
                <a:tab pos="1293495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Centralized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control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35" dirty="0">
                <a:solidFill>
                  <a:srgbClr val="685D46"/>
                </a:solidFill>
                <a:latin typeface="Arial"/>
                <a:cs typeface="Arial"/>
              </a:rPr>
              <a:t>CORS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policies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multiple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services.</a:t>
            </a:r>
            <a:endParaRPr sz="1400">
              <a:latin typeface="Arial"/>
              <a:cs typeface="Arial"/>
            </a:endParaRPr>
          </a:p>
          <a:p>
            <a:pPr marL="1293495" lvl="2" indent="-335915">
              <a:lnSpc>
                <a:spcPct val="100000"/>
              </a:lnSpc>
              <a:spcBef>
                <a:spcPts val="250"/>
              </a:spcBef>
              <a:buChar char="■"/>
              <a:tabLst>
                <a:tab pos="1293495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Example:</a:t>
            </a:r>
            <a:r>
              <a:rPr sz="1400" spc="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95" dirty="0">
                <a:solidFill>
                  <a:srgbClr val="685D46"/>
                </a:solidFill>
                <a:latin typeface="Arial"/>
                <a:cs typeface="Arial"/>
              </a:rPr>
              <a:t>AWS</a:t>
            </a:r>
            <a:r>
              <a:rPr sz="1400" spc="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60" dirty="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sz="1400" spc="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Gateway</a:t>
            </a:r>
            <a:r>
              <a:rPr sz="140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conﬁguring</a:t>
            </a:r>
            <a:r>
              <a:rPr sz="1400" spc="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allowed</a:t>
            </a:r>
            <a:r>
              <a:rPr sz="1400" spc="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origins.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235"/>
              </a:spcBef>
              <a:buChar char="●"/>
              <a:tabLst>
                <a:tab pos="379095" algn="l"/>
              </a:tabLst>
            </a:pP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70" dirty="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Gateways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Reverse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Proxies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Help?</a:t>
            </a:r>
            <a:endParaRPr sz="1800">
              <a:latin typeface="Arial"/>
              <a:cs typeface="Arial"/>
            </a:endParaRPr>
          </a:p>
          <a:p>
            <a:pPr marL="1103630" lvl="1" indent="-603250">
              <a:lnSpc>
                <a:spcPct val="100000"/>
              </a:lnSpc>
              <a:spcBef>
                <a:spcPts val="340"/>
              </a:spcBef>
              <a:buChar char="○"/>
              <a:tabLst>
                <a:tab pos="1103630" algn="l"/>
              </a:tabLst>
            </a:pP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Reverse</a:t>
            </a:r>
            <a:r>
              <a:rPr sz="1400" spc="1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Proxies</a:t>
            </a:r>
            <a:r>
              <a:rPr sz="1400" spc="1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handle</a:t>
            </a:r>
            <a:r>
              <a:rPr sz="1400" spc="1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cross-origin</a:t>
            </a:r>
            <a:r>
              <a:rPr sz="1400" spc="1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requests</a:t>
            </a:r>
            <a:r>
              <a:rPr sz="1400" spc="1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internally</a:t>
            </a:r>
            <a:r>
              <a:rPr sz="1400" spc="1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400" spc="1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avoid</a:t>
            </a:r>
            <a:r>
              <a:rPr sz="1400" spc="1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35" dirty="0">
                <a:solidFill>
                  <a:srgbClr val="685D46"/>
                </a:solidFill>
                <a:latin typeface="Arial"/>
                <a:cs typeface="Arial"/>
              </a:rPr>
              <a:t>CORS</a:t>
            </a:r>
            <a:r>
              <a:rPr sz="1400" spc="1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issues.</a:t>
            </a:r>
            <a:endParaRPr sz="1400">
              <a:latin typeface="Arial"/>
              <a:cs typeface="Arial"/>
            </a:endParaRPr>
          </a:p>
          <a:p>
            <a:pPr marL="1103630" lvl="1" indent="-603250">
              <a:lnSpc>
                <a:spcPct val="100000"/>
              </a:lnSpc>
              <a:spcBef>
                <a:spcPts val="254"/>
              </a:spcBef>
              <a:buChar char="○"/>
              <a:tabLst>
                <a:tab pos="1103630" algn="l"/>
              </a:tabLst>
            </a:pPr>
            <a:r>
              <a:rPr sz="1400" spc="-60" dirty="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sz="140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Gateways</a:t>
            </a:r>
            <a:r>
              <a:rPr sz="140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enforce</a:t>
            </a:r>
            <a:r>
              <a:rPr sz="140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35" dirty="0">
                <a:solidFill>
                  <a:srgbClr val="685D46"/>
                </a:solidFill>
                <a:latin typeface="Arial"/>
                <a:cs typeface="Arial"/>
              </a:rPr>
              <a:t>CORS</a:t>
            </a:r>
            <a:r>
              <a:rPr sz="140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policies</a:t>
            </a:r>
            <a:r>
              <a:rPr sz="140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centrally,</a:t>
            </a:r>
            <a:r>
              <a:rPr sz="140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ensuring</a:t>
            </a:r>
            <a:r>
              <a:rPr sz="140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security</a:t>
            </a:r>
            <a:r>
              <a:rPr sz="140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40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consistency.</a:t>
            </a:r>
            <a:endParaRPr sz="1400">
              <a:latin typeface="Arial"/>
              <a:cs typeface="Arial"/>
            </a:endParaRPr>
          </a:p>
          <a:p>
            <a:pPr marL="1103630" lvl="1" indent="-603250">
              <a:lnSpc>
                <a:spcPct val="100000"/>
              </a:lnSpc>
              <a:spcBef>
                <a:spcPts val="250"/>
              </a:spcBef>
              <a:buChar char="○"/>
              <a:tabLst>
                <a:tab pos="1103630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Both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improve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performance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by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reducing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unnecessary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browser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preﬂight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requests.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15" dirty="0"/>
              <a:t>Interview</a:t>
            </a:r>
            <a:r>
              <a:rPr spc="-145" dirty="0"/>
              <a:t> </a:t>
            </a:r>
            <a:r>
              <a:rPr spc="-229" dirty="0"/>
              <a:t>Questions</a:t>
            </a:r>
            <a:r>
              <a:rPr spc="-40" dirty="0"/>
              <a:t> </a:t>
            </a:r>
            <a:r>
              <a:rPr spc="-275" dirty="0"/>
              <a:t>on</a:t>
            </a:r>
            <a:r>
              <a:rPr spc="-80" dirty="0"/>
              <a:t> </a:t>
            </a:r>
            <a:r>
              <a:rPr spc="-250" dirty="0"/>
              <a:t>CORS</a:t>
            </a:r>
            <a:r>
              <a:rPr spc="-40" dirty="0"/>
              <a:t> </a:t>
            </a:r>
            <a:r>
              <a:rPr spc="-90" dirty="0"/>
              <a:t>&amp;</a:t>
            </a:r>
            <a:r>
              <a:rPr spc="-105" dirty="0"/>
              <a:t> </a:t>
            </a:r>
            <a:r>
              <a:rPr spc="-420" dirty="0"/>
              <a:t>Web</a:t>
            </a:r>
            <a:r>
              <a:rPr spc="-40" dirty="0"/>
              <a:t> </a:t>
            </a:r>
            <a:r>
              <a:rPr spc="-165" dirty="0"/>
              <a:t>Security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2564" y="1289058"/>
            <a:ext cx="7378700" cy="223393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431800" indent="-419100">
              <a:lnSpc>
                <a:spcPct val="100000"/>
              </a:lnSpc>
              <a:spcBef>
                <a:spcPts val="420"/>
              </a:spcBef>
              <a:buAutoNum type="arabicPeriod"/>
              <a:tabLst>
                <a:tab pos="431800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Same-Origin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Policy,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why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 does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it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exist?</a:t>
            </a:r>
            <a:endParaRPr sz="1800">
              <a:latin typeface="Arial"/>
              <a:cs typeface="Arial"/>
            </a:endParaRPr>
          </a:p>
          <a:p>
            <a:pPr marL="431800" indent="-41910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31800" algn="l"/>
              </a:tabLst>
            </a:pP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sz="18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55" dirty="0">
                <a:solidFill>
                  <a:srgbClr val="685D46"/>
                </a:solidFill>
                <a:latin typeface="Arial"/>
                <a:cs typeface="Arial"/>
              </a:rPr>
              <a:t>CORS</a:t>
            </a:r>
            <a:r>
              <a:rPr sz="18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enable</a:t>
            </a:r>
            <a:r>
              <a:rPr sz="18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cross-origin</a:t>
            </a:r>
            <a:r>
              <a:rPr sz="18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requests?</a:t>
            </a:r>
            <a:endParaRPr sz="1800">
              <a:latin typeface="Arial"/>
              <a:cs typeface="Arial"/>
            </a:endParaRPr>
          </a:p>
          <a:p>
            <a:pPr marL="431800" indent="-41910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31800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preﬂight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request,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when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it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required?</a:t>
            </a:r>
            <a:endParaRPr sz="1800">
              <a:latin typeface="Arial"/>
              <a:cs typeface="Arial"/>
            </a:endParaRPr>
          </a:p>
          <a:p>
            <a:pPr marL="431800" indent="-41910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31800" algn="l"/>
              </a:tabLst>
            </a:pP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8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do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conﬁgure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55" dirty="0">
                <a:solidFill>
                  <a:srgbClr val="685D46"/>
                </a:solidFill>
                <a:latin typeface="Arial"/>
                <a:cs typeface="Arial"/>
              </a:rPr>
              <a:t>CORS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 headers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on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 a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server?</a:t>
            </a:r>
            <a:endParaRPr sz="1800">
              <a:latin typeface="Arial"/>
              <a:cs typeface="Arial"/>
            </a:endParaRPr>
          </a:p>
          <a:p>
            <a:pPr marL="431800" indent="-41910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31800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18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sz="18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common</a:t>
            </a:r>
            <a:r>
              <a:rPr sz="18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security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risks</a:t>
            </a:r>
            <a:r>
              <a:rPr sz="18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associated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 with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CORS?</a:t>
            </a:r>
            <a:endParaRPr sz="1800">
              <a:latin typeface="Arial"/>
              <a:cs typeface="Arial"/>
            </a:endParaRPr>
          </a:p>
          <a:p>
            <a:pPr marL="431800" indent="-41910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31800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1800" spc="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sz="180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alternatives</a:t>
            </a:r>
            <a:r>
              <a:rPr sz="180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800" spc="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55" dirty="0">
                <a:solidFill>
                  <a:srgbClr val="685D46"/>
                </a:solidFill>
                <a:latin typeface="Arial"/>
                <a:cs typeface="Arial"/>
              </a:rPr>
              <a:t>CORS</a:t>
            </a:r>
            <a:r>
              <a:rPr sz="180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80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handling</a:t>
            </a:r>
            <a:r>
              <a:rPr sz="1800" spc="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cross-origin</a:t>
            </a:r>
            <a:r>
              <a:rPr sz="1800" spc="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requests?</a:t>
            </a:r>
            <a:endParaRPr sz="1800">
              <a:latin typeface="Arial"/>
              <a:cs typeface="Arial"/>
            </a:endParaRPr>
          </a:p>
          <a:p>
            <a:pPr marL="431800" indent="-419100">
              <a:lnSpc>
                <a:spcPct val="100000"/>
              </a:lnSpc>
              <a:spcBef>
                <a:spcPts val="320"/>
              </a:spcBef>
              <a:buAutoNum type="arabicPeriod"/>
              <a:tabLst>
                <a:tab pos="431800" algn="l"/>
              </a:tabLst>
            </a:pP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800" spc="-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do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70" dirty="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Gateways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Reverse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Proxies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help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with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CORS?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90" dirty="0"/>
              <a:t>Summary</a:t>
            </a:r>
            <a:r>
              <a:rPr spc="-160" dirty="0"/>
              <a:t> </a:t>
            </a:r>
            <a:r>
              <a:rPr dirty="0"/>
              <a:t>&amp;</a:t>
            </a:r>
            <a:r>
              <a:rPr spc="-130" dirty="0"/>
              <a:t> </a:t>
            </a:r>
            <a:r>
              <a:rPr spc="-240" dirty="0"/>
              <a:t>Key</a:t>
            </a:r>
            <a:r>
              <a:rPr spc="-254" dirty="0"/>
              <a:t> </a:t>
            </a:r>
            <a:r>
              <a:rPr spc="-285" dirty="0"/>
              <a:t>Takeaways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7573009" cy="2490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94615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Same-Origin</a:t>
            </a:r>
            <a:r>
              <a:rPr sz="1800" spc="1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Policy</a:t>
            </a:r>
            <a:r>
              <a:rPr sz="1800" spc="1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10" dirty="0">
                <a:solidFill>
                  <a:srgbClr val="685D46"/>
                </a:solidFill>
                <a:latin typeface="Arial"/>
                <a:cs typeface="Arial"/>
              </a:rPr>
              <a:t>(SOP)</a:t>
            </a:r>
            <a:r>
              <a:rPr sz="1800" spc="1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restricts</a:t>
            </a:r>
            <a:r>
              <a:rPr sz="1800" spc="1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cross-origin</a:t>
            </a:r>
            <a:r>
              <a:rPr sz="1800" spc="1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requests</a:t>
            </a:r>
            <a:r>
              <a:rPr sz="1800" spc="1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800" spc="1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security reasons.</a:t>
            </a:r>
            <a:endParaRPr sz="1800">
              <a:latin typeface="Arial"/>
              <a:cs typeface="Arial"/>
            </a:endParaRPr>
          </a:p>
          <a:p>
            <a:pPr marL="379095" marR="508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sz="1800" spc="-155" dirty="0">
                <a:solidFill>
                  <a:srgbClr val="685D46"/>
                </a:solidFill>
                <a:latin typeface="Arial"/>
                <a:cs typeface="Arial"/>
              </a:rPr>
              <a:t>CORS</a:t>
            </a:r>
            <a:r>
              <a:rPr sz="18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8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server-side</a:t>
            </a:r>
            <a:r>
              <a:rPr sz="18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mechanism</a:t>
            </a:r>
            <a:r>
              <a:rPr sz="18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that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allows</a:t>
            </a:r>
            <a:r>
              <a:rPr sz="18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controlled</a:t>
            </a:r>
            <a:r>
              <a:rPr sz="18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cross-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origin access.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Properly</a:t>
            </a:r>
            <a:r>
              <a:rPr sz="1800" spc="1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conﬁgured</a:t>
            </a:r>
            <a:r>
              <a:rPr sz="1800" spc="1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55" dirty="0">
                <a:solidFill>
                  <a:srgbClr val="685D46"/>
                </a:solidFill>
                <a:latin typeface="Arial"/>
                <a:cs typeface="Arial"/>
              </a:rPr>
              <a:t>CORS</a:t>
            </a:r>
            <a:r>
              <a:rPr sz="1800" spc="1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prevents</a:t>
            </a:r>
            <a:r>
              <a:rPr sz="1800" spc="1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security</a:t>
            </a:r>
            <a:r>
              <a:rPr sz="1800" spc="1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risks.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Alternatives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like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backend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proxying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can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bypass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55" dirty="0">
                <a:solidFill>
                  <a:srgbClr val="685D46"/>
                </a:solidFill>
                <a:latin typeface="Arial"/>
                <a:cs typeface="Arial"/>
              </a:rPr>
              <a:t>CORS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when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needed.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What’s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next: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Moving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to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Summary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Practical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Applications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Concepts.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04" dirty="0"/>
              <a:t>Section</a:t>
            </a:r>
            <a:r>
              <a:rPr spc="-30" dirty="0"/>
              <a:t> </a:t>
            </a:r>
            <a:r>
              <a:rPr spc="-290" dirty="0"/>
              <a:t>Summary</a:t>
            </a:r>
            <a:r>
              <a:rPr spc="-265" dirty="0"/>
              <a:t> </a:t>
            </a:r>
            <a:r>
              <a:rPr spc="-10" dirty="0"/>
              <a:t>-</a:t>
            </a:r>
            <a:r>
              <a:rPr spc="-320" dirty="0"/>
              <a:t> </a:t>
            </a:r>
            <a:r>
              <a:rPr spc="-425" dirty="0"/>
              <a:t>Web</a:t>
            </a:r>
            <a:r>
              <a:rPr spc="-70" dirty="0"/>
              <a:t> </a:t>
            </a:r>
            <a:r>
              <a:rPr spc="-254" dirty="0"/>
              <a:t>Concepts</a:t>
            </a:r>
            <a:r>
              <a:rPr spc="-30" dirty="0"/>
              <a:t> </a:t>
            </a:r>
            <a:r>
              <a:rPr spc="-170" dirty="0"/>
              <a:t>in</a:t>
            </a:r>
            <a:r>
              <a:rPr spc="-25" dirty="0"/>
              <a:t> </a:t>
            </a:r>
            <a:r>
              <a:rPr spc="-229" dirty="0"/>
              <a:t>System</a:t>
            </a:r>
            <a:r>
              <a:rPr spc="-30" dirty="0"/>
              <a:t> </a:t>
            </a:r>
            <a:r>
              <a:rPr spc="-110" dirty="0"/>
              <a:t>Design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6690" y="1325268"/>
            <a:ext cx="5111750" cy="29349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37820" indent="-325120">
              <a:lnSpc>
                <a:spcPts val="1490"/>
              </a:lnSpc>
              <a:spcBef>
                <a:spcPts val="110"/>
              </a:spcBef>
              <a:buChar char="●"/>
              <a:tabLst>
                <a:tab pos="337820" algn="l"/>
              </a:tabLst>
            </a:pPr>
            <a:r>
              <a:rPr sz="1250" spc="55" dirty="0">
                <a:solidFill>
                  <a:srgbClr val="685D46"/>
                </a:solidFill>
                <a:latin typeface="Arial"/>
                <a:cs typeface="Arial"/>
              </a:rPr>
              <a:t>Introduction</a:t>
            </a:r>
            <a:r>
              <a:rPr sz="125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50" spc="7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25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sz="125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50" spc="-10" dirty="0">
                <a:solidFill>
                  <a:srgbClr val="685D46"/>
                </a:solidFill>
                <a:latin typeface="Arial"/>
                <a:cs typeface="Arial"/>
              </a:rPr>
              <a:t>Concepts</a:t>
            </a:r>
            <a:endParaRPr sz="1250">
              <a:latin typeface="Arial"/>
              <a:cs typeface="Arial"/>
            </a:endParaRPr>
          </a:p>
          <a:p>
            <a:pPr marL="795020" lvl="1" indent="-304165">
              <a:lnSpc>
                <a:spcPts val="1120"/>
              </a:lnSpc>
              <a:buChar char="○"/>
              <a:tabLst>
                <a:tab pos="795020" algn="l"/>
              </a:tabLst>
            </a:pPr>
            <a:r>
              <a:rPr sz="950" spc="50" dirty="0">
                <a:solidFill>
                  <a:srgbClr val="685D46"/>
                </a:solidFill>
                <a:latin typeface="Arial"/>
                <a:cs typeface="Arial"/>
              </a:rPr>
              <a:t>How </a:t>
            </a:r>
            <a:r>
              <a:rPr sz="950" spc="20" dirty="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sz="95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20" dirty="0">
                <a:solidFill>
                  <a:srgbClr val="685D46"/>
                </a:solidFill>
                <a:latin typeface="Arial"/>
                <a:cs typeface="Arial"/>
              </a:rPr>
              <a:t>applications</a:t>
            </a:r>
            <a:r>
              <a:rPr sz="95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60" dirty="0">
                <a:solidFill>
                  <a:srgbClr val="685D46"/>
                </a:solidFill>
                <a:latin typeface="Arial"/>
                <a:cs typeface="Arial"/>
              </a:rPr>
              <a:t>work</a:t>
            </a:r>
            <a:r>
              <a:rPr sz="95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10" dirty="0">
                <a:solidFill>
                  <a:srgbClr val="685D46"/>
                </a:solidFill>
                <a:latin typeface="Arial"/>
                <a:cs typeface="Arial"/>
              </a:rPr>
              <a:t>(Client-</a:t>
            </a:r>
            <a:r>
              <a:rPr sz="950" spc="20" dirty="0">
                <a:solidFill>
                  <a:srgbClr val="685D46"/>
                </a:solidFill>
                <a:latin typeface="Arial"/>
                <a:cs typeface="Arial"/>
              </a:rPr>
              <a:t>Server</a:t>
            </a:r>
            <a:r>
              <a:rPr sz="95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20" dirty="0">
                <a:solidFill>
                  <a:srgbClr val="685D46"/>
                </a:solidFill>
                <a:latin typeface="Arial"/>
                <a:cs typeface="Arial"/>
              </a:rPr>
              <a:t>Model,</a:t>
            </a:r>
            <a:r>
              <a:rPr sz="95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10" dirty="0">
                <a:solidFill>
                  <a:srgbClr val="685D46"/>
                </a:solidFill>
                <a:latin typeface="Arial"/>
                <a:cs typeface="Arial"/>
              </a:rPr>
              <a:t>Request-</a:t>
            </a:r>
            <a:r>
              <a:rPr sz="950" spc="20" dirty="0">
                <a:solidFill>
                  <a:srgbClr val="685D46"/>
                </a:solidFill>
                <a:latin typeface="Arial"/>
                <a:cs typeface="Arial"/>
              </a:rPr>
              <a:t>Response</a:t>
            </a:r>
            <a:r>
              <a:rPr sz="95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685D46"/>
                </a:solidFill>
                <a:latin typeface="Arial"/>
                <a:cs typeface="Arial"/>
              </a:rPr>
              <a:t>Cycle)</a:t>
            </a:r>
            <a:endParaRPr sz="950">
              <a:latin typeface="Arial"/>
              <a:cs typeface="Arial"/>
            </a:endParaRPr>
          </a:p>
          <a:p>
            <a:pPr marL="795020" lvl="1" indent="-304165">
              <a:lnSpc>
                <a:spcPts val="1115"/>
              </a:lnSpc>
              <a:buChar char="○"/>
              <a:tabLst>
                <a:tab pos="795020" algn="l"/>
              </a:tabLst>
            </a:pPr>
            <a:r>
              <a:rPr sz="950" spc="10" dirty="0">
                <a:solidFill>
                  <a:srgbClr val="685D46"/>
                </a:solidFill>
                <a:latin typeface="Arial"/>
                <a:cs typeface="Arial"/>
              </a:rPr>
              <a:t>Stateless</a:t>
            </a:r>
            <a:r>
              <a:rPr sz="95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10" dirty="0">
                <a:solidFill>
                  <a:srgbClr val="685D46"/>
                </a:solidFill>
                <a:latin typeface="Arial"/>
                <a:cs typeface="Arial"/>
              </a:rPr>
              <a:t>vs.</a:t>
            </a:r>
            <a:r>
              <a:rPr sz="95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10" dirty="0">
                <a:solidFill>
                  <a:srgbClr val="685D46"/>
                </a:solidFill>
                <a:latin typeface="Arial"/>
                <a:cs typeface="Arial"/>
              </a:rPr>
              <a:t>Stateful</a:t>
            </a:r>
            <a:r>
              <a:rPr sz="95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685D46"/>
                </a:solidFill>
                <a:latin typeface="Arial"/>
                <a:cs typeface="Arial"/>
              </a:rPr>
              <a:t>interactions</a:t>
            </a:r>
            <a:endParaRPr sz="950">
              <a:latin typeface="Arial"/>
              <a:cs typeface="Arial"/>
            </a:endParaRPr>
          </a:p>
          <a:p>
            <a:pPr marL="795020" lvl="1" indent="-304165">
              <a:lnSpc>
                <a:spcPts val="1095"/>
              </a:lnSpc>
              <a:buChar char="○"/>
              <a:tabLst>
                <a:tab pos="795020" algn="l"/>
              </a:tabLst>
            </a:pPr>
            <a:r>
              <a:rPr sz="950" spc="30" dirty="0">
                <a:solidFill>
                  <a:srgbClr val="685D46"/>
                </a:solidFill>
                <a:latin typeface="Arial"/>
                <a:cs typeface="Arial"/>
              </a:rPr>
              <a:t>Importance</a:t>
            </a:r>
            <a:r>
              <a:rPr sz="95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60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95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30" dirty="0">
                <a:solidFill>
                  <a:srgbClr val="685D46"/>
                </a:solidFill>
                <a:latin typeface="Arial"/>
                <a:cs typeface="Arial"/>
              </a:rPr>
              <a:t>security,</a:t>
            </a:r>
            <a:r>
              <a:rPr sz="95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20" dirty="0">
                <a:solidFill>
                  <a:srgbClr val="685D46"/>
                </a:solidFill>
                <a:latin typeface="Arial"/>
                <a:cs typeface="Arial"/>
              </a:rPr>
              <a:t>scalability</a:t>
            </a:r>
            <a:r>
              <a:rPr sz="95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70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95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40" dirty="0">
                <a:solidFill>
                  <a:srgbClr val="685D46"/>
                </a:solidFill>
                <a:latin typeface="Arial"/>
                <a:cs typeface="Arial"/>
              </a:rPr>
              <a:t>performance</a:t>
            </a:r>
            <a:endParaRPr sz="950">
              <a:latin typeface="Arial"/>
              <a:cs typeface="Arial"/>
            </a:endParaRPr>
          </a:p>
          <a:p>
            <a:pPr marL="337820" indent="-325120">
              <a:lnSpc>
                <a:spcPts val="1455"/>
              </a:lnSpc>
              <a:buChar char="●"/>
              <a:tabLst>
                <a:tab pos="337820" algn="l"/>
              </a:tabLst>
            </a:pPr>
            <a:r>
              <a:rPr sz="1250" dirty="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sz="12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50" spc="-20" dirty="0">
                <a:solidFill>
                  <a:srgbClr val="685D46"/>
                </a:solidFill>
                <a:latin typeface="Arial"/>
                <a:cs typeface="Arial"/>
              </a:rPr>
              <a:t>Sessions:</a:t>
            </a:r>
            <a:r>
              <a:rPr sz="12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685D46"/>
                </a:solidFill>
                <a:latin typeface="Arial"/>
                <a:cs typeface="Arial"/>
              </a:rPr>
              <a:t>Managing</a:t>
            </a:r>
            <a:r>
              <a:rPr sz="12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50" spc="-10" dirty="0">
                <a:solidFill>
                  <a:srgbClr val="685D46"/>
                </a:solidFill>
                <a:latin typeface="Arial"/>
                <a:cs typeface="Arial"/>
              </a:rPr>
              <a:t>State</a:t>
            </a:r>
            <a:endParaRPr sz="1250">
              <a:latin typeface="Arial"/>
              <a:cs typeface="Arial"/>
            </a:endParaRPr>
          </a:p>
          <a:p>
            <a:pPr marL="795020" lvl="1" indent="-304165">
              <a:lnSpc>
                <a:spcPts val="1120"/>
              </a:lnSpc>
              <a:buChar char="○"/>
              <a:tabLst>
                <a:tab pos="795020" algn="l"/>
              </a:tabLst>
            </a:pP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Cookies,</a:t>
            </a:r>
            <a:r>
              <a:rPr sz="9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Server-Side</a:t>
            </a:r>
            <a:r>
              <a:rPr sz="95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Sessions,</a:t>
            </a:r>
            <a:r>
              <a:rPr sz="9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-65" dirty="0">
                <a:solidFill>
                  <a:srgbClr val="685D46"/>
                </a:solidFill>
                <a:latin typeface="Arial"/>
                <a:cs typeface="Arial"/>
              </a:rPr>
              <a:t>JWTs,</a:t>
            </a:r>
            <a:r>
              <a:rPr sz="95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Token-Based</a:t>
            </a:r>
            <a:r>
              <a:rPr sz="9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685D46"/>
                </a:solidFill>
                <a:latin typeface="Arial"/>
                <a:cs typeface="Arial"/>
              </a:rPr>
              <a:t>Authentication</a:t>
            </a:r>
            <a:endParaRPr sz="950">
              <a:latin typeface="Arial"/>
              <a:cs typeface="Arial"/>
            </a:endParaRPr>
          </a:p>
          <a:p>
            <a:pPr marL="795020" lvl="1" indent="-304165">
              <a:lnSpc>
                <a:spcPts val="1115"/>
              </a:lnSpc>
              <a:buChar char="○"/>
              <a:tabLst>
                <a:tab pos="795020" algn="l"/>
              </a:tabLst>
            </a:pPr>
            <a:r>
              <a:rPr sz="950" spc="10" dirty="0">
                <a:solidFill>
                  <a:srgbClr val="685D46"/>
                </a:solidFill>
                <a:latin typeface="Arial"/>
                <a:cs typeface="Arial"/>
              </a:rPr>
              <a:t>Security</a:t>
            </a:r>
            <a:r>
              <a:rPr sz="95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10" dirty="0">
                <a:solidFill>
                  <a:srgbClr val="685D46"/>
                </a:solidFill>
                <a:latin typeface="Arial"/>
                <a:cs typeface="Arial"/>
              </a:rPr>
              <a:t>concerns</a:t>
            </a:r>
            <a:r>
              <a:rPr sz="95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(Session</a:t>
            </a:r>
            <a:r>
              <a:rPr sz="95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10" dirty="0">
                <a:solidFill>
                  <a:srgbClr val="685D46"/>
                </a:solidFill>
                <a:latin typeface="Arial"/>
                <a:cs typeface="Arial"/>
              </a:rPr>
              <a:t>Hijacking,</a:t>
            </a:r>
            <a:r>
              <a:rPr sz="95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685D46"/>
                </a:solidFill>
                <a:latin typeface="Arial"/>
                <a:cs typeface="Arial"/>
              </a:rPr>
              <a:t>CSRF)</a:t>
            </a:r>
            <a:endParaRPr sz="950">
              <a:latin typeface="Arial"/>
              <a:cs typeface="Arial"/>
            </a:endParaRPr>
          </a:p>
          <a:p>
            <a:pPr marL="795020" lvl="1" indent="-304165">
              <a:lnSpc>
                <a:spcPts val="1095"/>
              </a:lnSpc>
              <a:buChar char="○"/>
              <a:tabLst>
                <a:tab pos="795020" algn="l"/>
              </a:tabLst>
            </a:pPr>
            <a:r>
              <a:rPr sz="950" spc="10" dirty="0">
                <a:solidFill>
                  <a:srgbClr val="685D46"/>
                </a:solidFill>
                <a:latin typeface="Arial"/>
                <a:cs typeface="Arial"/>
              </a:rPr>
              <a:t>Best</a:t>
            </a:r>
            <a:r>
              <a:rPr sz="95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10" dirty="0">
                <a:solidFill>
                  <a:srgbClr val="685D46"/>
                </a:solidFill>
                <a:latin typeface="Arial"/>
                <a:cs typeface="Arial"/>
              </a:rPr>
              <a:t>practices</a:t>
            </a:r>
            <a:r>
              <a:rPr sz="95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65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95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10" dirty="0">
                <a:solidFill>
                  <a:srgbClr val="685D46"/>
                </a:solidFill>
                <a:latin typeface="Arial"/>
                <a:cs typeface="Arial"/>
              </a:rPr>
              <a:t>scaling</a:t>
            </a:r>
            <a:r>
              <a:rPr sz="95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10" dirty="0">
                <a:solidFill>
                  <a:srgbClr val="685D46"/>
                </a:solidFill>
                <a:latin typeface="Arial"/>
                <a:cs typeface="Arial"/>
              </a:rPr>
              <a:t>session</a:t>
            </a:r>
            <a:r>
              <a:rPr sz="95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40" dirty="0">
                <a:solidFill>
                  <a:srgbClr val="685D46"/>
                </a:solidFill>
                <a:latin typeface="Arial"/>
                <a:cs typeface="Arial"/>
              </a:rPr>
              <a:t>management</a:t>
            </a:r>
            <a:endParaRPr sz="950">
              <a:latin typeface="Arial"/>
              <a:cs typeface="Arial"/>
            </a:endParaRPr>
          </a:p>
          <a:p>
            <a:pPr marL="337820" indent="-325120">
              <a:lnSpc>
                <a:spcPts val="1455"/>
              </a:lnSpc>
              <a:buChar char="●"/>
              <a:tabLst>
                <a:tab pos="337820" algn="l"/>
              </a:tabLst>
            </a:pPr>
            <a:r>
              <a:rPr sz="1250" dirty="0">
                <a:solidFill>
                  <a:srgbClr val="685D46"/>
                </a:solidFill>
                <a:latin typeface="Arial"/>
                <a:cs typeface="Arial"/>
              </a:rPr>
              <a:t>Serialization:</a:t>
            </a:r>
            <a:r>
              <a:rPr sz="125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sz="125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685D46"/>
                </a:solidFill>
                <a:latin typeface="Arial"/>
                <a:cs typeface="Arial"/>
              </a:rPr>
              <a:t>Exchange</a:t>
            </a:r>
            <a:r>
              <a:rPr sz="125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50" spc="7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25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50" spc="-10" dirty="0">
                <a:solidFill>
                  <a:srgbClr val="685D46"/>
                </a:solidFill>
                <a:latin typeface="Arial"/>
                <a:cs typeface="Arial"/>
              </a:rPr>
              <a:t>Storage</a:t>
            </a:r>
            <a:endParaRPr sz="1250">
              <a:latin typeface="Arial"/>
              <a:cs typeface="Arial"/>
            </a:endParaRPr>
          </a:p>
          <a:p>
            <a:pPr marL="795020" lvl="1" indent="-304165">
              <a:lnSpc>
                <a:spcPts val="1120"/>
              </a:lnSpc>
              <a:buChar char="○"/>
              <a:tabLst>
                <a:tab pos="795020" algn="l"/>
              </a:tabLst>
            </a:pP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Formats:</a:t>
            </a:r>
            <a:r>
              <a:rPr sz="95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-60" dirty="0">
                <a:solidFill>
                  <a:srgbClr val="685D46"/>
                </a:solidFill>
                <a:latin typeface="Arial"/>
                <a:cs typeface="Arial"/>
              </a:rPr>
              <a:t>JSON,</a:t>
            </a:r>
            <a:r>
              <a:rPr sz="95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XML,</a:t>
            </a:r>
            <a:r>
              <a:rPr sz="95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Protocol</a:t>
            </a:r>
            <a:r>
              <a:rPr sz="95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685D46"/>
                </a:solidFill>
                <a:latin typeface="Arial"/>
                <a:cs typeface="Arial"/>
              </a:rPr>
              <a:t>Buﬀers,</a:t>
            </a:r>
            <a:endParaRPr sz="950">
              <a:latin typeface="Arial"/>
              <a:cs typeface="Arial"/>
            </a:endParaRPr>
          </a:p>
          <a:p>
            <a:pPr marL="795020" lvl="1" indent="-304165">
              <a:lnSpc>
                <a:spcPts val="1115"/>
              </a:lnSpc>
              <a:buChar char="○"/>
              <a:tabLst>
                <a:tab pos="795020" algn="l"/>
              </a:tabLst>
            </a:pP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Trade-oﬀs:</a:t>
            </a:r>
            <a:r>
              <a:rPr sz="950" spc="229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Readability,</a:t>
            </a:r>
            <a:r>
              <a:rPr sz="950" spc="229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Eﬃciency,</a:t>
            </a:r>
            <a:r>
              <a:rPr sz="950" spc="229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685D46"/>
                </a:solidFill>
                <a:latin typeface="Arial"/>
                <a:cs typeface="Arial"/>
              </a:rPr>
              <a:t>Compatibility</a:t>
            </a:r>
            <a:endParaRPr sz="950">
              <a:latin typeface="Arial"/>
              <a:cs typeface="Arial"/>
            </a:endParaRPr>
          </a:p>
          <a:p>
            <a:pPr marL="795020" lvl="1" indent="-304165">
              <a:lnSpc>
                <a:spcPts val="1095"/>
              </a:lnSpc>
              <a:buChar char="○"/>
              <a:tabLst>
                <a:tab pos="795020" algn="l"/>
              </a:tabLst>
            </a:pP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Serialization</a:t>
            </a:r>
            <a:r>
              <a:rPr sz="95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5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95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-20" dirty="0">
                <a:solidFill>
                  <a:srgbClr val="685D46"/>
                </a:solidFill>
                <a:latin typeface="Arial"/>
                <a:cs typeface="Arial"/>
              </a:rPr>
              <a:t>APIs,</a:t>
            </a:r>
            <a:r>
              <a:rPr sz="95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caching,</a:t>
            </a:r>
            <a:r>
              <a:rPr sz="95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95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685D46"/>
                </a:solidFill>
                <a:latin typeface="Arial"/>
                <a:cs typeface="Arial"/>
              </a:rPr>
              <a:t>databases</a:t>
            </a:r>
            <a:endParaRPr sz="950">
              <a:latin typeface="Arial"/>
              <a:cs typeface="Arial"/>
            </a:endParaRPr>
          </a:p>
          <a:p>
            <a:pPr marL="337820" indent="-325120">
              <a:lnSpc>
                <a:spcPts val="1455"/>
              </a:lnSpc>
              <a:buChar char="●"/>
              <a:tabLst>
                <a:tab pos="337820" algn="l"/>
              </a:tabLst>
            </a:pPr>
            <a:r>
              <a:rPr sz="1250" spc="-110" dirty="0">
                <a:solidFill>
                  <a:srgbClr val="685D46"/>
                </a:solidFill>
                <a:latin typeface="Arial"/>
                <a:cs typeface="Arial"/>
              </a:rPr>
              <a:t>CORS</a:t>
            </a:r>
            <a:r>
              <a:rPr sz="125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50" spc="7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250" dirty="0">
                <a:solidFill>
                  <a:srgbClr val="685D46"/>
                </a:solidFill>
                <a:latin typeface="Arial"/>
                <a:cs typeface="Arial"/>
              </a:rPr>
              <a:t> Web</a:t>
            </a:r>
            <a:r>
              <a:rPr sz="125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50" spc="-10" dirty="0">
                <a:solidFill>
                  <a:srgbClr val="685D46"/>
                </a:solidFill>
                <a:latin typeface="Arial"/>
                <a:cs typeface="Arial"/>
              </a:rPr>
              <a:t>Security</a:t>
            </a:r>
            <a:endParaRPr sz="1250">
              <a:latin typeface="Arial"/>
              <a:cs typeface="Arial"/>
            </a:endParaRPr>
          </a:p>
          <a:p>
            <a:pPr marL="795020" lvl="1" indent="-304165">
              <a:lnSpc>
                <a:spcPts val="1120"/>
              </a:lnSpc>
              <a:buChar char="○"/>
              <a:tabLst>
                <a:tab pos="795020" algn="l"/>
              </a:tabLst>
            </a:pP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Same-Origin</a:t>
            </a:r>
            <a:r>
              <a:rPr sz="95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Policy</a:t>
            </a:r>
            <a:r>
              <a:rPr sz="950" spc="70" dirty="0">
                <a:solidFill>
                  <a:srgbClr val="685D46"/>
                </a:solidFill>
                <a:latin typeface="Arial"/>
                <a:cs typeface="Arial"/>
              </a:rPr>
              <a:t> &amp;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why</a:t>
            </a:r>
            <a:r>
              <a:rPr sz="95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-75" dirty="0">
                <a:solidFill>
                  <a:srgbClr val="685D46"/>
                </a:solidFill>
                <a:latin typeface="Arial"/>
                <a:cs typeface="Arial"/>
              </a:rPr>
              <a:t>CORS</a:t>
            </a:r>
            <a:r>
              <a:rPr sz="95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95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685D46"/>
                </a:solidFill>
                <a:latin typeface="Arial"/>
                <a:cs typeface="Arial"/>
              </a:rPr>
              <a:t>needed</a:t>
            </a:r>
            <a:endParaRPr sz="950">
              <a:latin typeface="Arial"/>
              <a:cs typeface="Arial"/>
            </a:endParaRPr>
          </a:p>
          <a:p>
            <a:pPr marL="795020" lvl="1" indent="-304165">
              <a:lnSpc>
                <a:spcPts val="1115"/>
              </a:lnSpc>
              <a:buChar char="○"/>
              <a:tabLst>
                <a:tab pos="795020" algn="l"/>
              </a:tabLst>
            </a:pPr>
            <a:r>
              <a:rPr sz="950" spc="5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950" spc="1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-75" dirty="0">
                <a:solidFill>
                  <a:srgbClr val="685D46"/>
                </a:solidFill>
                <a:latin typeface="Arial"/>
                <a:cs typeface="Arial"/>
              </a:rPr>
              <a:t>CORS</a:t>
            </a:r>
            <a:r>
              <a:rPr sz="950" spc="1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works</a:t>
            </a:r>
            <a:r>
              <a:rPr sz="950" spc="1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(Preﬂight</a:t>
            </a:r>
            <a:r>
              <a:rPr sz="950" spc="1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Requests,</a:t>
            </a:r>
            <a:r>
              <a:rPr sz="950" spc="1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Allowed</a:t>
            </a:r>
            <a:r>
              <a:rPr sz="950" spc="1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Headers</a:t>
            </a:r>
            <a:r>
              <a:rPr sz="950" spc="1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70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950" spc="1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685D46"/>
                </a:solidFill>
                <a:latin typeface="Arial"/>
                <a:cs typeface="Arial"/>
              </a:rPr>
              <a:t>Methods)</a:t>
            </a:r>
            <a:endParaRPr sz="950">
              <a:latin typeface="Arial"/>
              <a:cs typeface="Arial"/>
            </a:endParaRPr>
          </a:p>
          <a:p>
            <a:pPr marL="795020" lvl="1" indent="-304165">
              <a:lnSpc>
                <a:spcPts val="1115"/>
              </a:lnSpc>
              <a:buChar char="○"/>
              <a:tabLst>
                <a:tab pos="795020" algn="l"/>
              </a:tabLst>
            </a:pPr>
            <a:r>
              <a:rPr sz="950" spc="50" dirty="0">
                <a:solidFill>
                  <a:srgbClr val="685D46"/>
                </a:solidFill>
                <a:latin typeface="Arial"/>
                <a:cs typeface="Arial"/>
              </a:rPr>
              <a:t>Common</a:t>
            </a:r>
            <a:r>
              <a:rPr sz="95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40" dirty="0">
                <a:solidFill>
                  <a:srgbClr val="685D46"/>
                </a:solidFill>
                <a:latin typeface="Arial"/>
                <a:cs typeface="Arial"/>
              </a:rPr>
              <a:t>misconﬁgurations</a:t>
            </a:r>
            <a:r>
              <a:rPr sz="95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70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95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30" dirty="0">
                <a:solidFill>
                  <a:srgbClr val="685D46"/>
                </a:solidFill>
                <a:latin typeface="Arial"/>
                <a:cs typeface="Arial"/>
              </a:rPr>
              <a:t>security</a:t>
            </a:r>
            <a:r>
              <a:rPr sz="95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685D46"/>
                </a:solidFill>
                <a:latin typeface="Arial"/>
                <a:cs typeface="Arial"/>
              </a:rPr>
              <a:t>risks</a:t>
            </a:r>
            <a:endParaRPr sz="950">
              <a:latin typeface="Arial"/>
              <a:cs typeface="Arial"/>
            </a:endParaRPr>
          </a:p>
          <a:p>
            <a:pPr marL="795020" lvl="1" indent="-304165">
              <a:lnSpc>
                <a:spcPts val="1095"/>
              </a:lnSpc>
              <a:buChar char="○"/>
              <a:tabLst>
                <a:tab pos="795020" algn="l"/>
              </a:tabLst>
            </a:pPr>
            <a:r>
              <a:rPr sz="950" spc="-20" dirty="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sz="95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Gateways</a:t>
            </a:r>
            <a:r>
              <a:rPr sz="95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70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95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Reverse</a:t>
            </a:r>
            <a:r>
              <a:rPr sz="95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Proxies</a:t>
            </a:r>
            <a:r>
              <a:rPr sz="95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65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95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-75" dirty="0">
                <a:solidFill>
                  <a:srgbClr val="685D46"/>
                </a:solidFill>
                <a:latin typeface="Arial"/>
                <a:cs typeface="Arial"/>
              </a:rPr>
              <a:t>CORS</a:t>
            </a:r>
            <a:r>
              <a:rPr sz="95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685D46"/>
                </a:solidFill>
                <a:latin typeface="Arial"/>
                <a:cs typeface="Arial"/>
              </a:rPr>
              <a:t>handling</a:t>
            </a:r>
            <a:endParaRPr sz="950">
              <a:latin typeface="Arial"/>
              <a:cs typeface="Arial"/>
            </a:endParaRPr>
          </a:p>
          <a:p>
            <a:pPr marL="337820" indent="-325120">
              <a:lnSpc>
                <a:spcPts val="1455"/>
              </a:lnSpc>
              <a:buChar char="●"/>
              <a:tabLst>
                <a:tab pos="337820" algn="l"/>
              </a:tabLst>
            </a:pPr>
            <a:r>
              <a:rPr sz="1250" dirty="0">
                <a:solidFill>
                  <a:srgbClr val="685D46"/>
                </a:solidFill>
                <a:latin typeface="Arial"/>
                <a:cs typeface="Arial"/>
              </a:rPr>
              <a:t>What’s</a:t>
            </a:r>
            <a:r>
              <a:rPr sz="125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50" spc="-10" dirty="0">
                <a:solidFill>
                  <a:srgbClr val="685D46"/>
                </a:solidFill>
                <a:latin typeface="Arial"/>
                <a:cs typeface="Arial"/>
              </a:rPr>
              <a:t>next:</a:t>
            </a:r>
            <a:endParaRPr sz="1250">
              <a:latin typeface="Arial"/>
              <a:cs typeface="Arial"/>
            </a:endParaRPr>
          </a:p>
          <a:p>
            <a:pPr marL="795020" lvl="1" indent="-304165">
              <a:lnSpc>
                <a:spcPts val="1130"/>
              </a:lnSpc>
              <a:buChar char="○"/>
              <a:tabLst>
                <a:tab pos="795020" algn="l"/>
              </a:tabLst>
            </a:pP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Scalability</a:t>
            </a:r>
            <a:r>
              <a:rPr sz="95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5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95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sz="95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685D46"/>
                </a:solidFill>
                <a:latin typeface="Arial"/>
                <a:cs typeface="Arial"/>
              </a:rPr>
              <a:t>Design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685D46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747</Words>
  <Application>Microsoft Office PowerPoint</Application>
  <PresentationFormat>On-screen Show (16:9)</PresentationFormat>
  <Paragraphs>90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Arial Black</vt:lpstr>
      <vt:lpstr>Calibri</vt:lpstr>
      <vt:lpstr>Office Theme</vt:lpstr>
      <vt:lpstr>CORS – Cross-Origin Resource Sharing &amp; Web Security</vt:lpstr>
      <vt:lpstr>Why CORS Matters? (The Problem &amp; Solution)</vt:lpstr>
      <vt:lpstr>How CORS Works: Requests &amp; Responses</vt:lpstr>
      <vt:lpstr>Preﬂight Requests &amp; CORS Headers</vt:lpstr>
      <vt:lpstr>Security Risks &amp; Common Misconﬁgurations</vt:lpstr>
      <vt:lpstr>Handling CORS in APIs (REST &amp; GraphQL)</vt:lpstr>
      <vt:lpstr>Alternatives to CORS &amp; Role of API Gateways</vt:lpstr>
      <vt:lpstr>Interview Questions on CORS &amp; Web Security</vt:lpstr>
      <vt:lpstr>Summary &amp; Key Takeaways</vt:lpstr>
      <vt:lpstr>Section Summary - Web Concepts in System Design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Mastering System Design - Section 5</dc:title>
  <cp:lastModifiedBy>RAVI GV</cp:lastModifiedBy>
  <cp:revision>1</cp:revision>
  <dcterms:created xsi:type="dcterms:W3CDTF">2025-11-26T16:47:13Z</dcterms:created>
  <dcterms:modified xsi:type="dcterms:W3CDTF">2025-11-26T16:50:35Z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2025-11-26T00:00:00Z</vt:filetime>
  </property>
  <property fmtid="{D5CDD505-2E9C-101B-9397-08002B2CF9AE}" pid="3" name="Creator">
    <vt:lpwstr>Google</vt:lpwstr>
  </property>
  <property fmtid="{D5CDD505-2E9C-101B-9397-08002B2CF9AE}" pid="4" name="LastSaved">
    <vt:filetime>2025-11-26T00:00:00Z</vt:filetime>
  </property>
</Properties>
</file>