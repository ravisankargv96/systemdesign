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9312" y="2209598"/>
            <a:ext cx="6785374" cy="477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67588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3997325" cy="2865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1351305" y="2209598"/>
            <a:ext cx="6444615" cy="4768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950" b="1" spc="-150" dirty="0">
                <a:solidFill>
                  <a:srgbClr val="EE6C00"/>
                </a:solidFill>
                <a:latin typeface="Calibri"/>
                <a:cs typeface="Calibri"/>
              </a:rPr>
              <a:t>Serialization:</a:t>
            </a:r>
            <a:r>
              <a:rPr sz="2950" b="1" spc="-45" dirty="0">
                <a:solidFill>
                  <a:srgbClr val="EE6C00"/>
                </a:solidFill>
                <a:latin typeface="Calibri"/>
                <a:cs typeface="Calibri"/>
              </a:rPr>
              <a:t> </a:t>
            </a:r>
            <a:r>
              <a:rPr sz="2950" b="1" spc="-240" dirty="0">
                <a:solidFill>
                  <a:srgbClr val="EE6C00"/>
                </a:solidFill>
                <a:latin typeface="Calibri"/>
                <a:cs typeface="Calibri"/>
              </a:rPr>
              <a:t>Data</a:t>
            </a:r>
            <a:r>
              <a:rPr sz="2950" b="1" spc="-35" dirty="0">
                <a:solidFill>
                  <a:srgbClr val="EE6C00"/>
                </a:solidFill>
                <a:latin typeface="Calibri"/>
                <a:cs typeface="Calibri"/>
              </a:rPr>
              <a:t> </a:t>
            </a:r>
            <a:r>
              <a:rPr sz="2950" b="1" spc="-204" dirty="0">
                <a:solidFill>
                  <a:srgbClr val="EE6C00"/>
                </a:solidFill>
                <a:latin typeface="Calibri"/>
                <a:cs typeface="Calibri"/>
              </a:rPr>
              <a:t>Exchange</a:t>
            </a:r>
            <a:r>
              <a:rPr sz="2950" b="1" spc="-35" dirty="0">
                <a:solidFill>
                  <a:srgbClr val="EE6C00"/>
                </a:solidFill>
                <a:latin typeface="Calibri"/>
                <a:cs typeface="Calibri"/>
              </a:rPr>
              <a:t> </a:t>
            </a:r>
            <a:r>
              <a:rPr sz="2950" b="1" spc="-110" dirty="0">
                <a:solidFill>
                  <a:srgbClr val="EE6C00"/>
                </a:solidFill>
                <a:latin typeface="Calibri"/>
                <a:cs typeface="Calibri"/>
              </a:rPr>
              <a:t>&amp;</a:t>
            </a:r>
            <a:r>
              <a:rPr sz="2950" b="1" spc="-35" dirty="0">
                <a:solidFill>
                  <a:srgbClr val="EE6C00"/>
                </a:solidFill>
                <a:latin typeface="Calibri"/>
                <a:cs typeface="Calibri"/>
              </a:rPr>
              <a:t> </a:t>
            </a:r>
            <a:r>
              <a:rPr sz="2950" b="1" spc="-195" dirty="0">
                <a:solidFill>
                  <a:srgbClr val="EE6C00"/>
                </a:solidFill>
                <a:latin typeface="Calibri"/>
                <a:cs typeface="Calibri"/>
              </a:rPr>
              <a:t>Storage</a:t>
            </a:r>
            <a:r>
              <a:rPr sz="2950" b="1" spc="-30" dirty="0">
                <a:solidFill>
                  <a:srgbClr val="EE6C00"/>
                </a:solidFill>
                <a:latin typeface="Calibri"/>
                <a:cs typeface="Calibri"/>
              </a:rPr>
              <a:t> </a:t>
            </a:r>
            <a:r>
              <a:rPr sz="2950" b="1" spc="-180" dirty="0">
                <a:solidFill>
                  <a:srgbClr val="EE6C00"/>
                </a:solidFill>
                <a:latin typeface="Calibri"/>
                <a:cs typeface="Calibri"/>
              </a:rPr>
              <a:t>Formats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2484" y="2881814"/>
            <a:ext cx="37979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System Design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Concepts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70" dirty="0"/>
              <a:t>Why</a:t>
            </a:r>
            <a:r>
              <a:rPr spc="-105" dirty="0"/>
              <a:t> </a:t>
            </a:r>
            <a:r>
              <a:rPr spc="-160" dirty="0"/>
              <a:t>Serialization</a:t>
            </a:r>
            <a:r>
              <a:rPr spc="5" dirty="0"/>
              <a:t> </a:t>
            </a:r>
            <a:r>
              <a:rPr spc="-275" dirty="0"/>
              <a:t>Matters?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895090" cy="223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32384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sz="18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sz="180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r>
              <a:rPr sz="1800" spc="1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&amp;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store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structured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eﬃciently.</a:t>
            </a:r>
            <a:endParaRPr sz="1800">
              <a:latin typeface="Arial"/>
              <a:cs typeface="Arial"/>
            </a:endParaRPr>
          </a:p>
          <a:p>
            <a:pPr marL="379095" marR="4445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sz="1800" spc="2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converts</a:t>
            </a:r>
            <a:r>
              <a:rPr sz="1800" spc="2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complex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objects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into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format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be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easily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transferred.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Used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APIs,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 databases,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caching,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systems.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199" cy="17842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30" dirty="0"/>
              <a:t>What</a:t>
            </a:r>
            <a:r>
              <a:rPr spc="-60" dirty="0"/>
              <a:t> </a:t>
            </a:r>
            <a:r>
              <a:rPr spc="-90" dirty="0"/>
              <a:t>is</a:t>
            </a:r>
            <a:r>
              <a:rPr spc="-85" dirty="0"/>
              <a:t> </a:t>
            </a:r>
            <a:r>
              <a:rPr spc="-150" dirty="0"/>
              <a:t>Serialization?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213995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/>
              <a:t>Serialization:</a:t>
            </a:r>
            <a:r>
              <a:rPr spc="275" dirty="0"/>
              <a:t> </a:t>
            </a:r>
            <a:r>
              <a:rPr dirty="0"/>
              <a:t>Converting</a:t>
            </a:r>
            <a:r>
              <a:rPr spc="275" dirty="0"/>
              <a:t> </a:t>
            </a:r>
            <a:r>
              <a:rPr spc="-10" dirty="0"/>
              <a:t>objects </a:t>
            </a:r>
            <a:r>
              <a:rPr spc="90" dirty="0"/>
              <a:t>into</a:t>
            </a:r>
            <a:r>
              <a:rPr spc="-3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spc="95" dirty="0"/>
              <a:t>format</a:t>
            </a:r>
            <a:r>
              <a:rPr spc="-30" dirty="0"/>
              <a:t> </a:t>
            </a:r>
            <a:r>
              <a:rPr spc="75" dirty="0"/>
              <a:t>for </a:t>
            </a:r>
            <a:r>
              <a:rPr spc="-10" dirty="0"/>
              <a:t>transmission/storage.</a:t>
            </a: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/>
              <a:t>Deserialization:</a:t>
            </a:r>
            <a:r>
              <a:rPr spc="225" dirty="0"/>
              <a:t> </a:t>
            </a:r>
            <a:r>
              <a:rPr dirty="0"/>
              <a:t>Converting</a:t>
            </a:r>
            <a:r>
              <a:rPr spc="229" dirty="0"/>
              <a:t> </a:t>
            </a:r>
            <a:r>
              <a:rPr spc="90" dirty="0"/>
              <a:t>it</a:t>
            </a:r>
            <a:r>
              <a:rPr spc="240" dirty="0"/>
              <a:t> </a:t>
            </a:r>
            <a:r>
              <a:rPr spc="-20" dirty="0"/>
              <a:t>back </a:t>
            </a:r>
            <a:r>
              <a:rPr spc="90" dirty="0"/>
              <a:t>into</a:t>
            </a:r>
            <a:r>
              <a:rPr spc="10" dirty="0"/>
              <a:t> </a:t>
            </a:r>
            <a:r>
              <a:rPr dirty="0"/>
              <a:t>an</a:t>
            </a:r>
            <a:r>
              <a:rPr spc="15" dirty="0"/>
              <a:t> </a:t>
            </a:r>
            <a:r>
              <a:rPr spc="-10" dirty="0"/>
              <a:t>object.</a:t>
            </a:r>
          </a:p>
          <a:p>
            <a:pPr marL="379095" marR="16002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/>
              <a:t>Essential</a:t>
            </a:r>
            <a:r>
              <a:rPr spc="-20" dirty="0"/>
              <a:t> </a:t>
            </a:r>
            <a:r>
              <a:rPr spc="100" dirty="0"/>
              <a:t>for</a:t>
            </a:r>
            <a:r>
              <a:rPr spc="-25" dirty="0"/>
              <a:t> </a:t>
            </a:r>
            <a:r>
              <a:rPr spc="70" dirty="0"/>
              <a:t>distributed</a:t>
            </a:r>
            <a:r>
              <a:rPr spc="-25" dirty="0"/>
              <a:t> </a:t>
            </a:r>
            <a:r>
              <a:rPr spc="-10" dirty="0"/>
              <a:t>systems </a:t>
            </a:r>
            <a:r>
              <a:rPr spc="105" dirty="0"/>
              <a:t>&amp;</a:t>
            </a:r>
            <a:r>
              <a:rPr spc="90" dirty="0"/>
              <a:t> </a:t>
            </a:r>
            <a:r>
              <a:rPr dirty="0"/>
              <a:t>inter-</a:t>
            </a:r>
            <a:r>
              <a:rPr spc="45" dirty="0"/>
              <a:t>process</a:t>
            </a:r>
            <a:r>
              <a:rPr spc="90" dirty="0"/>
              <a:t> </a:t>
            </a:r>
            <a:r>
              <a:rPr spc="45" dirty="0"/>
              <a:t>communication.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801054"/>
            <a:ext cx="4111614" cy="29064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50" dirty="0"/>
              <a:t>Common</a:t>
            </a:r>
            <a:r>
              <a:rPr spc="5" dirty="0"/>
              <a:t> </a:t>
            </a:r>
            <a:r>
              <a:rPr spc="-160" dirty="0"/>
              <a:t>Serialization</a:t>
            </a:r>
            <a:r>
              <a:rPr spc="10" dirty="0"/>
              <a:t> </a:t>
            </a:r>
            <a:r>
              <a:rPr spc="-215" dirty="0"/>
              <a:t>Formats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6014" y="1314367"/>
            <a:ext cx="5534660" cy="291909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58140" indent="-345440">
              <a:lnSpc>
                <a:spcPct val="100000"/>
              </a:lnSpc>
              <a:spcBef>
                <a:spcPts val="265"/>
              </a:spcBef>
              <a:buChar char="●"/>
              <a:tabLst>
                <a:tab pos="358140" algn="l"/>
              </a:tabLst>
            </a:pPr>
            <a:r>
              <a:rPr sz="1500" spc="-120" dirty="0">
                <a:solidFill>
                  <a:srgbClr val="685D46"/>
                </a:solidFill>
                <a:latin typeface="Arial"/>
                <a:cs typeface="Arial"/>
              </a:rPr>
              <a:t>JSON</a:t>
            </a:r>
            <a:r>
              <a:rPr sz="15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5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Human-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readable,</a:t>
            </a:r>
            <a:r>
              <a:rPr sz="15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widely</a:t>
            </a:r>
            <a:r>
              <a:rPr sz="15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5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5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50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15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APIs.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10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Human-readable,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widely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50" dirty="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2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Simple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key-value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structure,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easy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2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parse.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Text-based,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so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larger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size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compared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 to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binary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formats.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85"/>
              </a:spcBef>
              <a:buChar char="●"/>
              <a:tabLst>
                <a:tab pos="358140" algn="l"/>
              </a:tabLst>
            </a:pP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XML</a:t>
            </a:r>
            <a:r>
              <a:rPr sz="15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5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55" dirty="0">
                <a:solidFill>
                  <a:srgbClr val="685D46"/>
                </a:solidFill>
                <a:latin typeface="Arial"/>
                <a:cs typeface="Arial"/>
              </a:rPr>
              <a:t>Structured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00" dirty="0">
                <a:solidFill>
                  <a:srgbClr val="685D46"/>
                </a:solidFill>
                <a:latin typeface="Arial"/>
                <a:cs typeface="Arial"/>
              </a:rPr>
              <a:t>but</a:t>
            </a:r>
            <a:r>
              <a:rPr sz="15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verbose,</a:t>
            </a:r>
            <a:r>
              <a:rPr sz="15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5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5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legacy</a:t>
            </a:r>
            <a:r>
              <a:rPr sz="15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systems.</a:t>
            </a:r>
            <a:endParaRPr sz="1500">
              <a:latin typeface="Arial"/>
              <a:cs typeface="Arial"/>
            </a:endParaRPr>
          </a:p>
          <a:p>
            <a:pPr marL="815340" marR="897255" lvl="1" indent="-320040">
              <a:lnSpc>
                <a:spcPct val="104099"/>
              </a:lnSpc>
              <a:spcBef>
                <a:spcPts val="40"/>
              </a:spcBef>
              <a:buChar char="○"/>
              <a:tabLst>
                <a:tab pos="815340" algn="l"/>
              </a:tabLst>
            </a:pPr>
            <a:r>
              <a:rPr sz="1200" spc="-20" dirty="0">
                <a:solidFill>
                  <a:srgbClr val="685D46"/>
                </a:solidFill>
                <a:latin typeface="Arial"/>
                <a:cs typeface="Arial"/>
              </a:rPr>
              <a:t>Tag-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markup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language,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legacy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systems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10" dirty="0">
                <a:solidFill>
                  <a:srgbClr val="685D46"/>
                </a:solidFill>
                <a:latin typeface="Arial"/>
                <a:cs typeface="Arial"/>
              </a:rPr>
              <a:t>&amp; </a:t>
            </a:r>
            <a:r>
              <a:rPr sz="1200" spc="20" dirty="0">
                <a:solidFill>
                  <a:srgbClr val="685D46"/>
                </a:solidFill>
                <a:latin typeface="Arial"/>
                <a:cs typeface="Arial"/>
              </a:rPr>
              <a:t>conﬁguration</a:t>
            </a:r>
            <a:r>
              <a:rPr sz="1200" spc="2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ﬁles.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More</a:t>
            </a:r>
            <a:r>
              <a:rPr sz="12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complex</a:t>
            </a:r>
            <a:r>
              <a:rPr sz="12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than</a:t>
            </a:r>
            <a:r>
              <a:rPr sz="12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5" dirty="0">
                <a:solidFill>
                  <a:srgbClr val="685D46"/>
                </a:solidFill>
                <a:latin typeface="Arial"/>
                <a:cs typeface="Arial"/>
              </a:rPr>
              <a:t>JSON,</a:t>
            </a:r>
            <a:r>
              <a:rPr sz="12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supports</a:t>
            </a:r>
            <a:r>
              <a:rPr sz="12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rich</a:t>
            </a:r>
            <a:r>
              <a:rPr sz="12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2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structures.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Verbose,</a:t>
            </a:r>
            <a:r>
              <a:rPr sz="12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leading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larger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payloads.</a:t>
            </a:r>
            <a:endParaRPr sz="1200">
              <a:latin typeface="Arial"/>
              <a:cs typeface="Arial"/>
            </a:endParaRPr>
          </a:p>
          <a:p>
            <a:pPr marL="358140" marR="5080" indent="-346075">
              <a:lnSpc>
                <a:spcPts val="1930"/>
              </a:lnSpc>
              <a:spcBef>
                <a:spcPts val="45"/>
              </a:spcBef>
              <a:buChar char="●"/>
              <a:tabLst>
                <a:tab pos="358140" algn="l"/>
              </a:tabLst>
            </a:pPr>
            <a:r>
              <a:rPr sz="1500" spc="50" dirty="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Buﬀers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(Protobuf)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Compact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11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65" dirty="0">
                <a:solidFill>
                  <a:srgbClr val="685D46"/>
                </a:solidFill>
                <a:latin typeface="Arial"/>
                <a:cs typeface="Arial"/>
              </a:rPr>
              <a:t>eﬃcient,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5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500" spc="40" dirty="0">
                <a:solidFill>
                  <a:srgbClr val="685D46"/>
                </a:solidFill>
                <a:latin typeface="Arial"/>
                <a:cs typeface="Arial"/>
              </a:rPr>
              <a:t>in </a:t>
            </a:r>
            <a:r>
              <a:rPr sz="1500" spc="-10" dirty="0">
                <a:solidFill>
                  <a:srgbClr val="685D46"/>
                </a:solidFill>
                <a:latin typeface="Arial"/>
                <a:cs typeface="Arial"/>
              </a:rPr>
              <a:t>gRPC.</a:t>
            </a:r>
            <a:endParaRPr sz="15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1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Binary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55" dirty="0">
                <a:solidFill>
                  <a:srgbClr val="685D46"/>
                </a:solidFill>
                <a:latin typeface="Arial"/>
                <a:cs typeface="Arial"/>
              </a:rPr>
              <a:t>format</a:t>
            </a:r>
            <a:r>
              <a:rPr sz="12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developed</a:t>
            </a:r>
            <a:r>
              <a:rPr sz="12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by</a:t>
            </a:r>
            <a:r>
              <a:rPr sz="12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Google.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Faster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&amp;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smaller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than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55" dirty="0">
                <a:solidFill>
                  <a:srgbClr val="685D46"/>
                </a:solidFill>
                <a:latin typeface="Arial"/>
                <a:cs typeface="Arial"/>
              </a:rPr>
              <a:t>JSON/XML,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5" dirty="0">
                <a:solidFill>
                  <a:srgbClr val="685D46"/>
                </a:solidFill>
                <a:latin typeface="Arial"/>
                <a:cs typeface="Arial"/>
              </a:rPr>
              <a:t>but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requires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schema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deﬁnition.</a:t>
            </a:r>
            <a:endParaRPr sz="1200">
              <a:latin typeface="Arial"/>
              <a:cs typeface="Arial"/>
            </a:endParaRPr>
          </a:p>
          <a:p>
            <a:pPr marL="815340" lvl="1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0" dirty="0">
                <a:solidFill>
                  <a:srgbClr val="685D46"/>
                </a:solidFill>
                <a:latin typeface="Arial"/>
                <a:cs typeface="Arial"/>
              </a:rPr>
              <a:t>gRPC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6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2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685D46"/>
                </a:solidFill>
                <a:latin typeface="Arial"/>
                <a:cs typeface="Arial"/>
              </a:rPr>
              <a:t>high-performance</a:t>
            </a:r>
            <a:r>
              <a:rPr sz="12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685D46"/>
                </a:solidFill>
                <a:latin typeface="Arial"/>
                <a:cs typeface="Arial"/>
              </a:rPr>
              <a:t>APIs.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4800" y="1060985"/>
            <a:ext cx="2879204" cy="17465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2975" y="3078067"/>
            <a:ext cx="2796146" cy="6609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35" dirty="0"/>
              <a:t>Trade-</a:t>
            </a:r>
            <a:r>
              <a:rPr spc="-170" dirty="0"/>
              <a:t>offs:</a:t>
            </a:r>
            <a:r>
              <a:rPr dirty="0"/>
              <a:t> </a:t>
            </a:r>
            <a:r>
              <a:rPr spc="-210" dirty="0"/>
              <a:t>Readability</a:t>
            </a:r>
            <a:r>
              <a:rPr spc="-165" dirty="0"/>
              <a:t> </a:t>
            </a:r>
            <a:r>
              <a:rPr spc="-190" dirty="0"/>
              <a:t>vs.</a:t>
            </a:r>
            <a:r>
              <a:rPr spc="-210" dirty="0"/>
              <a:t> Efﬁciency</a:t>
            </a:r>
            <a:r>
              <a:rPr spc="-165" dirty="0"/>
              <a:t> </a:t>
            </a:r>
            <a:r>
              <a:rPr spc="-190" dirty="0"/>
              <a:t>vs.</a:t>
            </a:r>
            <a:r>
              <a:rPr spc="-250" dirty="0"/>
              <a:t> </a:t>
            </a:r>
            <a:r>
              <a:rPr spc="-180" dirty="0"/>
              <a:t>Compatibility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050530" cy="972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Readability: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55" dirty="0">
                <a:solidFill>
                  <a:srgbClr val="685D46"/>
                </a:solidFill>
                <a:latin typeface="Arial"/>
                <a:cs typeface="Arial"/>
              </a:rPr>
              <a:t>JSON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XML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human-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readable,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but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ineﬃcient.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Eﬃciency: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Protobuf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&amp;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Avro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compact,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reducing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bandwidth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usage.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Compatibility: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XML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support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schema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evolution,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55" dirty="0">
                <a:solidFill>
                  <a:srgbClr val="685D46"/>
                </a:solidFill>
                <a:latin typeface="Arial"/>
                <a:cs typeface="Arial"/>
              </a:rPr>
              <a:t>JSON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has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limited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 support.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160" dirty="0"/>
              <a:t>Serialization</a:t>
            </a:r>
            <a:r>
              <a:rPr dirty="0"/>
              <a:t> </a:t>
            </a:r>
            <a:r>
              <a:rPr spc="-170" dirty="0"/>
              <a:t>in</a:t>
            </a:r>
            <a:r>
              <a:rPr spc="5" dirty="0"/>
              <a:t> </a:t>
            </a:r>
            <a:r>
              <a:rPr spc="-190" dirty="0"/>
              <a:t>action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6522720" cy="215455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sz="18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1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150" dirty="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mostly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JSON.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spc="-114" dirty="0">
                <a:solidFill>
                  <a:srgbClr val="685D46"/>
                </a:solidFill>
                <a:latin typeface="Arial"/>
                <a:cs typeface="Arial"/>
              </a:rPr>
              <a:t>gRPC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Protobuf</a:t>
            </a:r>
            <a:r>
              <a:rPr sz="14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 eﬃciency.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XML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still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40" dirty="0">
                <a:solidFill>
                  <a:srgbClr val="685D46"/>
                </a:solidFill>
                <a:latin typeface="Arial"/>
                <a:cs typeface="Arial"/>
              </a:rPr>
              <a:t>SOAP-</a:t>
            </a:r>
            <a:r>
              <a:rPr sz="1400" spc="-2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services.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Redis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Memcached: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Store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serialized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JSON/Protobuf</a:t>
            </a:r>
            <a:r>
              <a:rPr sz="14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data.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Databases: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685D46"/>
                </a:solidFill>
                <a:latin typeface="Arial"/>
                <a:cs typeface="Arial"/>
              </a:rPr>
              <a:t>NoSQL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databases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MongoDB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685D46"/>
                </a:solidFill>
                <a:latin typeface="Arial"/>
                <a:cs typeface="Arial"/>
              </a:rPr>
              <a:t>BSON</a:t>
            </a:r>
            <a:r>
              <a:rPr sz="14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(Binary</a:t>
            </a:r>
            <a:r>
              <a:rPr sz="14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JSON).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Big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Data: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Protobuf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4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685D46"/>
                </a:solidFill>
                <a:latin typeface="Arial"/>
                <a:cs typeface="Arial"/>
              </a:rPr>
              <a:t>eﬃcient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schema</a:t>
            </a:r>
            <a:r>
              <a:rPr sz="14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evolution.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54" dirty="0"/>
              <a:t>Performance</a:t>
            </a:r>
            <a:r>
              <a:rPr spc="-65" dirty="0"/>
              <a:t> </a:t>
            </a:r>
            <a:r>
              <a:rPr spc="-204" dirty="0"/>
              <a:t>Considerations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346950" cy="972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choice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impacts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Bandwidth,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685D46"/>
                </a:solidFill>
                <a:latin typeface="Arial"/>
                <a:cs typeface="Arial"/>
              </a:rPr>
              <a:t>CPU,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Memory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Usage.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-75" dirty="0">
                <a:solidFill>
                  <a:srgbClr val="685D46"/>
                </a:solidFill>
                <a:latin typeface="Arial"/>
                <a:cs typeface="Arial"/>
              </a:rPr>
              <a:t>JSON/XML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Larger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payloads,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slower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parsing.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Protobuf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Smaller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payloads,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faster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parsing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but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needs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schema.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40" dirty="0"/>
              <a:t>Important</a:t>
            </a:r>
            <a:r>
              <a:rPr spc="-20" dirty="0"/>
              <a:t> </a:t>
            </a:r>
            <a:r>
              <a:rPr spc="-215" dirty="0"/>
              <a:t>Interview</a:t>
            </a:r>
            <a:r>
              <a:rPr spc="-125" dirty="0"/>
              <a:t> </a:t>
            </a:r>
            <a:r>
              <a:rPr spc="-229" dirty="0"/>
              <a:t>Questions</a:t>
            </a:r>
            <a:r>
              <a:rPr spc="-20" dirty="0"/>
              <a:t> </a:t>
            </a:r>
            <a:r>
              <a:rPr spc="-275" dirty="0"/>
              <a:t>on</a:t>
            </a:r>
            <a:r>
              <a:rPr spc="-20" dirty="0"/>
              <a:t> </a:t>
            </a:r>
            <a:r>
              <a:rPr spc="-140" dirty="0"/>
              <a:t>Serialization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1349559"/>
            <a:ext cx="199206" cy="187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6690" y="1791459"/>
            <a:ext cx="12255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50" dirty="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1815751"/>
            <a:ext cx="199206" cy="18748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95374" y="1977011"/>
            <a:ext cx="100965" cy="3168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130"/>
              </a:lnSpc>
              <a:spcBef>
                <a:spcPts val="130"/>
              </a:spcBef>
            </a:pPr>
            <a:r>
              <a:rPr sz="95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1130"/>
              </a:lnSpc>
            </a:pPr>
            <a:r>
              <a:rPr sz="95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6690" y="2257651"/>
            <a:ext cx="12255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50" dirty="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2281943"/>
            <a:ext cx="199206" cy="18748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95374" y="2443203"/>
            <a:ext cx="100965" cy="4591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130"/>
              </a:lnSpc>
              <a:spcBef>
                <a:spcPts val="130"/>
              </a:spcBef>
            </a:pPr>
            <a:r>
              <a:rPr sz="95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1115"/>
              </a:lnSpc>
            </a:pPr>
            <a:r>
              <a:rPr sz="95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1130"/>
              </a:lnSpc>
            </a:pPr>
            <a:r>
              <a:rPr sz="95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6690" y="2865727"/>
            <a:ext cx="12255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50" dirty="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2890018"/>
            <a:ext cx="199206" cy="18748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95374" y="3051279"/>
            <a:ext cx="100965" cy="3168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130"/>
              </a:lnSpc>
              <a:spcBef>
                <a:spcPts val="130"/>
              </a:spcBef>
            </a:pPr>
            <a:r>
              <a:rPr sz="95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1130"/>
              </a:lnSpc>
            </a:pPr>
            <a:r>
              <a:rPr sz="95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6690" y="3331918"/>
            <a:ext cx="12255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50" dirty="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3356210"/>
            <a:ext cx="199206" cy="18748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95374" y="3517470"/>
            <a:ext cx="100965" cy="3168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130"/>
              </a:lnSpc>
              <a:spcBef>
                <a:spcPts val="130"/>
              </a:spcBef>
            </a:pPr>
            <a:r>
              <a:rPr sz="95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1130"/>
              </a:lnSpc>
            </a:pPr>
            <a:r>
              <a:rPr sz="950" spc="-50" dirty="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6690" y="3798110"/>
            <a:ext cx="12255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-50" dirty="0">
                <a:solidFill>
                  <a:srgbClr val="685D46"/>
                </a:solidFill>
                <a:latin typeface="Arial"/>
                <a:cs typeface="Arial"/>
              </a:rPr>
              <a:t>●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625" y="3822401"/>
            <a:ext cx="199206" cy="18748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16690" y="1325268"/>
            <a:ext cx="6418580" cy="2975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78485" indent="-565785">
              <a:lnSpc>
                <a:spcPts val="1490"/>
              </a:lnSpc>
              <a:spcBef>
                <a:spcPts val="110"/>
              </a:spcBef>
              <a:buChar char="●"/>
              <a:tabLst>
                <a:tab pos="578485" algn="l"/>
              </a:tabLst>
            </a:pPr>
            <a:r>
              <a:rPr sz="1250" spc="20" dirty="0">
                <a:solidFill>
                  <a:srgbClr val="685D46"/>
                </a:solidFill>
                <a:latin typeface="Arial"/>
                <a:cs typeface="Arial"/>
              </a:rPr>
              <a:t>Understanding</a:t>
            </a:r>
            <a:r>
              <a:rPr sz="1250" spc="2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endParaRPr sz="1250">
              <a:latin typeface="Arial"/>
              <a:cs typeface="Arial"/>
            </a:endParaRPr>
          </a:p>
          <a:p>
            <a:pPr marL="795020" lvl="1" indent="-304165">
              <a:lnSpc>
                <a:spcPts val="1120"/>
              </a:lnSpc>
              <a:buChar char="○"/>
              <a:tabLst>
                <a:tab pos="795020" algn="l"/>
              </a:tabLst>
            </a:pP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9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serialization,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needed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95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design?</a:t>
            </a:r>
            <a:endParaRPr sz="950">
              <a:latin typeface="Arial"/>
              <a:cs typeface="Arial"/>
            </a:endParaRPr>
          </a:p>
          <a:p>
            <a:pPr marL="795020" lvl="1" indent="-304165">
              <a:lnSpc>
                <a:spcPts val="1095"/>
              </a:lnSpc>
              <a:buChar char="○"/>
              <a:tabLst>
                <a:tab pos="795020" algn="l"/>
              </a:tabLst>
            </a:pP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9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sz="9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impact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9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95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storage?</a:t>
            </a:r>
            <a:endParaRPr sz="950">
              <a:latin typeface="Arial"/>
              <a:cs typeface="Arial"/>
            </a:endParaRPr>
          </a:p>
          <a:p>
            <a:pPr marL="578485">
              <a:lnSpc>
                <a:spcPts val="1455"/>
              </a:lnSpc>
            </a:pP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Comparing</a:t>
            </a:r>
            <a:r>
              <a:rPr sz="1250" spc="2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sz="1250" spc="2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Formats</a:t>
            </a:r>
            <a:endParaRPr sz="1250">
              <a:latin typeface="Arial"/>
              <a:cs typeface="Arial"/>
            </a:endParaRPr>
          </a:p>
          <a:p>
            <a:pPr marL="795020" marR="1146175">
              <a:lnSpc>
                <a:spcPts val="1120"/>
              </a:lnSpc>
              <a:spcBef>
                <a:spcPts val="45"/>
              </a:spcBef>
            </a:pP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9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9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9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9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diﬀerences</a:t>
            </a:r>
            <a:r>
              <a:rPr sz="9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45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9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60" dirty="0">
                <a:solidFill>
                  <a:srgbClr val="685D46"/>
                </a:solidFill>
                <a:latin typeface="Arial"/>
                <a:cs typeface="Arial"/>
              </a:rPr>
              <a:t>JSON,</a:t>
            </a:r>
            <a:r>
              <a:rPr sz="9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XML,</a:t>
            </a:r>
            <a:r>
              <a:rPr sz="9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sz="9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Buﬀers,</a:t>
            </a:r>
            <a:r>
              <a:rPr sz="9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9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Avro?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sz="95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choose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Protobuf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JSON?</a:t>
            </a:r>
            <a:endParaRPr sz="950">
              <a:latin typeface="Arial"/>
              <a:cs typeface="Arial"/>
            </a:endParaRPr>
          </a:p>
          <a:p>
            <a:pPr marL="578485">
              <a:lnSpc>
                <a:spcPts val="1385"/>
              </a:lnSpc>
            </a:pP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sz="125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25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-45" dirty="0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sz="125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5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sz="1250" spc="1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Systems</a:t>
            </a:r>
            <a:endParaRPr sz="1250">
              <a:latin typeface="Arial"/>
              <a:cs typeface="Arial"/>
            </a:endParaRPr>
          </a:p>
          <a:p>
            <a:pPr marL="795020" marR="1859914">
              <a:lnSpc>
                <a:spcPts val="1120"/>
              </a:lnSpc>
              <a:spcBef>
                <a:spcPts val="45"/>
              </a:spcBef>
            </a:pP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9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9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sz="9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impact</a:t>
            </a:r>
            <a:r>
              <a:rPr sz="9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2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9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sz="9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9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eﬃciency?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9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Buﬀers</a:t>
            </a:r>
            <a:r>
              <a:rPr sz="9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commonly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sz="9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9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60" dirty="0">
                <a:solidFill>
                  <a:srgbClr val="685D46"/>
                </a:solidFill>
                <a:latin typeface="Arial"/>
                <a:cs typeface="Arial"/>
              </a:rPr>
              <a:t>gRPC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sz="9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25" dirty="0">
                <a:solidFill>
                  <a:srgbClr val="685D46"/>
                </a:solidFill>
                <a:latin typeface="Arial"/>
                <a:cs typeface="Arial"/>
              </a:rPr>
              <a:t>JSON?</a:t>
            </a:r>
            <a:endParaRPr sz="950">
              <a:latin typeface="Arial"/>
              <a:cs typeface="Arial"/>
            </a:endParaRPr>
          </a:p>
          <a:p>
            <a:pPr marL="795020">
              <a:lnSpc>
                <a:spcPts val="1045"/>
              </a:lnSpc>
            </a:pP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aﬀect</a:t>
            </a:r>
            <a:r>
              <a:rPr sz="9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strategies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9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systems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sz="95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Redis?</a:t>
            </a:r>
            <a:endParaRPr sz="950">
              <a:latin typeface="Arial"/>
              <a:cs typeface="Arial"/>
            </a:endParaRPr>
          </a:p>
          <a:p>
            <a:pPr marL="578485">
              <a:lnSpc>
                <a:spcPts val="1455"/>
              </a:lnSpc>
            </a:pPr>
            <a:r>
              <a:rPr sz="1250" spc="10" dirty="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sz="1250" spc="2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1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250" spc="2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10" dirty="0">
                <a:solidFill>
                  <a:srgbClr val="685D46"/>
                </a:solidFill>
                <a:latin typeface="Arial"/>
                <a:cs typeface="Arial"/>
              </a:rPr>
              <a:t>Trade-</a:t>
            </a:r>
            <a:r>
              <a:rPr sz="1250" spc="-25" dirty="0">
                <a:solidFill>
                  <a:srgbClr val="685D46"/>
                </a:solidFill>
                <a:latin typeface="Arial"/>
                <a:cs typeface="Arial"/>
              </a:rPr>
              <a:t>oﬀs</a:t>
            </a:r>
            <a:endParaRPr sz="1250">
              <a:latin typeface="Arial"/>
              <a:cs typeface="Arial"/>
            </a:endParaRPr>
          </a:p>
          <a:p>
            <a:pPr marL="795020" marR="5080">
              <a:lnSpc>
                <a:spcPts val="1120"/>
              </a:lnSpc>
              <a:spcBef>
                <a:spcPts val="40"/>
              </a:spcBef>
            </a:pP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9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are 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 trade-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oﬀs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45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 readability,</a:t>
            </a:r>
            <a:r>
              <a:rPr sz="9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eﬃciency, and compatibility 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 serialization</a:t>
            </a:r>
            <a:r>
              <a:rPr sz="9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formats? 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9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sz="9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sz="9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impact</a:t>
            </a:r>
            <a:r>
              <a:rPr sz="9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25" dirty="0">
                <a:solidFill>
                  <a:srgbClr val="685D46"/>
                </a:solidFill>
                <a:latin typeface="Arial"/>
                <a:cs typeface="Arial"/>
              </a:rPr>
              <a:t>CPU</a:t>
            </a:r>
            <a:r>
              <a:rPr sz="9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95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memory</a:t>
            </a:r>
            <a:r>
              <a:rPr sz="950" spc="1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usage?</a:t>
            </a:r>
            <a:endParaRPr sz="950">
              <a:latin typeface="Arial"/>
              <a:cs typeface="Arial"/>
            </a:endParaRPr>
          </a:p>
          <a:p>
            <a:pPr marL="578485">
              <a:lnSpc>
                <a:spcPts val="1385"/>
              </a:lnSpc>
            </a:pP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sz="125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endParaRPr sz="1250">
              <a:latin typeface="Arial"/>
              <a:cs typeface="Arial"/>
            </a:endParaRPr>
          </a:p>
          <a:p>
            <a:pPr marL="795020">
              <a:lnSpc>
                <a:spcPts val="1120"/>
              </a:lnSpc>
            </a:pP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Avro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beneﬁcial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big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systems?</a:t>
            </a:r>
            <a:endParaRPr sz="950">
              <a:latin typeface="Arial"/>
              <a:cs typeface="Arial"/>
            </a:endParaRPr>
          </a:p>
          <a:p>
            <a:pPr marL="795020">
              <a:lnSpc>
                <a:spcPts val="1095"/>
              </a:lnSpc>
            </a:pP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65" dirty="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sz="9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sz="9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databases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sz="9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MongoDB</a:t>
            </a:r>
            <a:r>
              <a:rPr sz="9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BSON</a:t>
            </a:r>
            <a:r>
              <a:rPr sz="9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sz="95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60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95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JSON?</a:t>
            </a:r>
            <a:endParaRPr sz="950">
              <a:latin typeface="Arial"/>
              <a:cs typeface="Arial"/>
            </a:endParaRPr>
          </a:p>
          <a:p>
            <a:pPr marL="578485">
              <a:lnSpc>
                <a:spcPts val="1455"/>
              </a:lnSpc>
            </a:pPr>
            <a:r>
              <a:rPr sz="125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125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685D46"/>
                </a:solidFill>
                <a:latin typeface="Arial"/>
                <a:cs typeface="Arial"/>
              </a:rPr>
              <a:t>Considerations</a:t>
            </a:r>
            <a:endParaRPr sz="1250">
              <a:latin typeface="Arial"/>
              <a:cs typeface="Arial"/>
            </a:endParaRPr>
          </a:p>
          <a:p>
            <a:pPr marL="795020" lvl="1" indent="-304165">
              <a:lnSpc>
                <a:spcPts val="1120"/>
              </a:lnSpc>
              <a:buChar char="○"/>
              <a:tabLst>
                <a:tab pos="795020" algn="l"/>
              </a:tabLst>
            </a:pP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9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sz="9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risks</a:t>
            </a:r>
            <a:r>
              <a:rPr sz="9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sz="9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10" dirty="0">
                <a:solidFill>
                  <a:srgbClr val="685D46"/>
                </a:solidFill>
                <a:latin typeface="Arial"/>
                <a:cs typeface="Arial"/>
              </a:rPr>
              <a:t>associated</a:t>
            </a:r>
            <a:r>
              <a:rPr sz="95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55" dirty="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sz="950" spc="8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serialization?</a:t>
            </a:r>
            <a:endParaRPr sz="950">
              <a:latin typeface="Arial"/>
              <a:cs typeface="Arial"/>
            </a:endParaRPr>
          </a:p>
          <a:p>
            <a:pPr marL="795020" lvl="1" indent="-304165">
              <a:lnSpc>
                <a:spcPts val="1130"/>
              </a:lnSpc>
              <a:buChar char="○"/>
              <a:tabLst>
                <a:tab pos="795020" algn="l"/>
              </a:tabLst>
            </a:pPr>
            <a:r>
              <a:rPr sz="950" spc="50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9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sz="9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65" dirty="0">
                <a:solidFill>
                  <a:srgbClr val="685D46"/>
                </a:solidFill>
                <a:latin typeface="Arial"/>
                <a:cs typeface="Arial"/>
              </a:rPr>
              <a:t>improper</a:t>
            </a:r>
            <a:r>
              <a:rPr sz="9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deserialization</a:t>
            </a:r>
            <a:r>
              <a:rPr sz="95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20" dirty="0">
                <a:solidFill>
                  <a:srgbClr val="685D46"/>
                </a:solidFill>
                <a:latin typeface="Arial"/>
                <a:cs typeface="Arial"/>
              </a:rPr>
              <a:t>lead</a:t>
            </a:r>
            <a:r>
              <a:rPr sz="9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7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95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950" spc="-10" dirty="0">
                <a:solidFill>
                  <a:srgbClr val="685D46"/>
                </a:solidFill>
                <a:latin typeface="Arial"/>
                <a:cs typeface="Arial"/>
              </a:rPr>
              <a:t>vulnerabilities?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90" dirty="0"/>
              <a:t>Summary</a:t>
            </a:r>
            <a:r>
              <a:rPr spc="-160" dirty="0"/>
              <a:t> </a:t>
            </a:r>
            <a:r>
              <a:rPr dirty="0"/>
              <a:t>&amp;</a:t>
            </a:r>
            <a:r>
              <a:rPr spc="-130" dirty="0"/>
              <a:t> </a:t>
            </a:r>
            <a:r>
              <a:rPr spc="-240" dirty="0"/>
              <a:t>Key</a:t>
            </a:r>
            <a:r>
              <a:rPr spc="-254" dirty="0"/>
              <a:t> </a:t>
            </a:r>
            <a:r>
              <a:rPr spc="-285" dirty="0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187565" cy="217487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enables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eﬃcient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&amp;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storage.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Choose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right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5" dirty="0">
                <a:solidFill>
                  <a:srgbClr val="685D46"/>
                </a:solidFill>
                <a:latin typeface="Arial"/>
                <a:cs typeface="Arial"/>
              </a:rPr>
              <a:t>format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performance,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readability,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and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compatibility.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-155" dirty="0">
                <a:solidFill>
                  <a:srgbClr val="685D46"/>
                </a:solidFill>
                <a:latin typeface="Arial"/>
                <a:cs typeface="Arial"/>
              </a:rPr>
              <a:t>JSON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APIs,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Protobuf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eﬃciency,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Avro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big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data.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Impacts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bandwidth,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processing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speed,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r>
              <a:rPr sz="18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eﬃciency.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sz="1400" spc="-110" dirty="0">
                <a:solidFill>
                  <a:srgbClr val="685D46"/>
                </a:solidFill>
                <a:latin typeface="Arial"/>
                <a:cs typeface="Arial"/>
              </a:rPr>
              <a:t>CORS: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Cross-Origin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Sharing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4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85D4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589</Words>
  <Application>Microsoft Office PowerPoint</Application>
  <PresentationFormat>On-screen Show (16:9)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Why Serialization Matters?</vt:lpstr>
      <vt:lpstr>What is Serialization?</vt:lpstr>
      <vt:lpstr>Common Serialization Formats</vt:lpstr>
      <vt:lpstr>Trade-offs: Readability vs. Efﬁciency vs. Compatibility</vt:lpstr>
      <vt:lpstr>Serialization in action</vt:lpstr>
      <vt:lpstr>Performance Considerations</vt:lpstr>
      <vt:lpstr>Important Interview Questions on Serialization</vt:lpstr>
      <vt:lpstr>Summary &amp;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5</dc:title>
  <cp:lastModifiedBy>RAVI GV</cp:lastModifiedBy>
  <cp:revision>2</cp:revision>
  <dcterms:created xsi:type="dcterms:W3CDTF">2025-11-26T16:47:13Z</dcterms:created>
  <dcterms:modified xsi:type="dcterms:W3CDTF">2025-11-26T16:50:00Z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2025-11-26T00:00:00Z</vt:filetime>
  </property>
</Properties>
</file>