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png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9312" y="2209598"/>
            <a:ext cx="6785374" cy="4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75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399732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Relationship Id="rId3" Type="http://schemas.openxmlformats.org/officeDocument/2006/relationships/image" Target="../media/image15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50" spc="-330"/>
              <a:t>Mastering</a:t>
            </a:r>
            <a:r>
              <a:rPr dirty="0" sz="4350" spc="-80"/>
              <a:t> </a:t>
            </a:r>
            <a:r>
              <a:rPr dirty="0" sz="4350" spc="-330"/>
              <a:t>System</a:t>
            </a:r>
            <a:r>
              <a:rPr dirty="0" sz="4350" spc="-65"/>
              <a:t> </a:t>
            </a:r>
            <a:r>
              <a:rPr dirty="0" sz="4350" spc="-275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1566643" y="2297787"/>
            <a:ext cx="6005195" cy="1004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5: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9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2400">
              <a:latin typeface="Arial"/>
              <a:cs typeface="Arial"/>
            </a:endParaRPr>
          </a:p>
          <a:p>
            <a:pPr algn="ctr" marL="1905">
              <a:lnSpc>
                <a:spcPct val="100000"/>
              </a:lnSpc>
              <a:spcBef>
                <a:spcPts val="1945"/>
              </a:spcBef>
            </a:pP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System Design </a:t>
            </a: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811904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Why</a:t>
            </a:r>
            <a:r>
              <a:rPr dirty="0" spc="-145"/>
              <a:t> </a:t>
            </a:r>
            <a:r>
              <a:rPr dirty="0" spc="-215"/>
              <a:t>Learn</a:t>
            </a:r>
            <a:r>
              <a:rPr dirty="0" spc="-105"/>
              <a:t> </a:t>
            </a:r>
            <a:r>
              <a:rPr dirty="0" spc="-425"/>
              <a:t>Web</a:t>
            </a:r>
            <a:r>
              <a:rPr dirty="0" spc="-80"/>
              <a:t> </a:t>
            </a:r>
            <a:r>
              <a:rPr dirty="0" spc="-220"/>
              <a:t>Concepts?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807460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6223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379095" marR="24384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security,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these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interviews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811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0"/>
              <a:t>Section</a:t>
            </a:r>
            <a:r>
              <a:rPr dirty="0" spc="-145"/>
              <a:t> </a:t>
            </a:r>
            <a:r>
              <a:rPr dirty="0" spc="-265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605155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Sessions: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-135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Sharing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10"/>
              </a:spcBef>
            </a:pPr>
            <a:r>
              <a:rPr dirty="0" sz="2950" spc="-405"/>
              <a:t>Web</a:t>
            </a:r>
            <a:r>
              <a:rPr dirty="0" sz="2950" spc="-30"/>
              <a:t> </a:t>
            </a:r>
            <a:r>
              <a:rPr dirty="0" sz="2950" spc="-170"/>
              <a:t>Sessions:</a:t>
            </a:r>
            <a:r>
              <a:rPr dirty="0" sz="2950" spc="-30"/>
              <a:t> </a:t>
            </a:r>
            <a:r>
              <a:rPr dirty="0" sz="2950" spc="-250"/>
              <a:t>Managing</a:t>
            </a:r>
            <a:r>
              <a:rPr dirty="0" sz="2950" spc="-35"/>
              <a:t> </a:t>
            </a:r>
            <a:r>
              <a:rPr dirty="0" sz="2950" spc="-185"/>
              <a:t>State</a:t>
            </a:r>
            <a:r>
              <a:rPr dirty="0" sz="2950" spc="-30"/>
              <a:t> </a:t>
            </a:r>
            <a:r>
              <a:rPr dirty="0" sz="2950" spc="-170"/>
              <a:t>in</a:t>
            </a:r>
            <a:r>
              <a:rPr dirty="0" sz="2950" spc="-90"/>
              <a:t> </a:t>
            </a:r>
            <a:r>
              <a:rPr dirty="0" sz="2950" spc="-405"/>
              <a:t>Web</a:t>
            </a:r>
            <a:r>
              <a:rPr dirty="0" sz="2950" spc="-130"/>
              <a:t> </a:t>
            </a:r>
            <a:r>
              <a:rPr dirty="0" sz="2950" spc="-165"/>
              <a:t>Applications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2672484" y="2881814"/>
            <a:ext cx="3797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 Design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Why</a:t>
            </a:r>
            <a:r>
              <a:rPr dirty="0" spc="-204"/>
              <a:t> </a:t>
            </a:r>
            <a:r>
              <a:rPr dirty="0" spc="-425"/>
              <a:t>Web</a:t>
            </a:r>
            <a:r>
              <a:rPr dirty="0" spc="-30"/>
              <a:t> </a:t>
            </a:r>
            <a:r>
              <a:rPr dirty="0" spc="-175"/>
              <a:t>Sessions</a:t>
            </a:r>
            <a:r>
              <a:rPr dirty="0" spc="-35"/>
              <a:t> </a:t>
            </a:r>
            <a:r>
              <a:rPr dirty="0" spc="-295"/>
              <a:t>Matter?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13930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often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login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status,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shopping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cart,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preferences)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stateless,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meaning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Goal: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Understand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applications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7939" y="3228327"/>
            <a:ext cx="5144624" cy="16338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499" y="2760073"/>
            <a:ext cx="6243168" cy="22695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48640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35"/>
              <a:t>Understanding</a:t>
            </a:r>
            <a:r>
              <a:rPr dirty="0" spc="10"/>
              <a:t> </a:t>
            </a:r>
            <a:r>
              <a:rPr dirty="0" spc="-185"/>
              <a:t>Statelessness</a:t>
            </a:r>
            <a:r>
              <a:rPr dirty="0" spc="15"/>
              <a:t> </a:t>
            </a:r>
            <a:r>
              <a:rPr dirty="0" spc="-170"/>
              <a:t>in</a:t>
            </a:r>
            <a:r>
              <a:rPr dirty="0" spc="10"/>
              <a:t> </a:t>
            </a:r>
            <a:r>
              <a:rPr dirty="0" spc="-50"/>
              <a:t>HTTP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249" y="1289058"/>
            <a:ext cx="5965825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retain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previous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contain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necessary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challenge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0"/>
              <a:t>Techniques</a:t>
            </a:r>
            <a:r>
              <a:rPr dirty="0" spc="-10"/>
              <a:t> </a:t>
            </a:r>
            <a:r>
              <a:rPr dirty="0" spc="-215"/>
              <a:t>for</a:t>
            </a:r>
            <a:r>
              <a:rPr dirty="0" spc="-5"/>
              <a:t> </a:t>
            </a:r>
            <a:r>
              <a:rPr dirty="0" spc="-225"/>
              <a:t>Maintaining</a:t>
            </a:r>
            <a:r>
              <a:rPr dirty="0" spc="-5"/>
              <a:t> </a:t>
            </a:r>
            <a:r>
              <a:rPr dirty="0" spc="-135"/>
              <a:t>State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22590" cy="19646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Session-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(Server-side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+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IDs)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maintains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state.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holds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only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(usually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cookie).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Token-Based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685D46"/>
                </a:solidFill>
                <a:latin typeface="Arial"/>
                <a:cs typeface="Arial"/>
              </a:rPr>
              <a:t>(JWTs,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OAuth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Tokens)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 session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embedded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within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token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itself.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track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sessions.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5"/>
              <a:t>Session-</a:t>
            </a:r>
            <a:r>
              <a:rPr dirty="0" spc="-215"/>
              <a:t>Based</a:t>
            </a:r>
            <a:r>
              <a:rPr dirty="0" spc="-70"/>
              <a:t> </a:t>
            </a:r>
            <a:r>
              <a:rPr dirty="0" spc="-200"/>
              <a:t>Authentication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/>
              <a:t>Server-side</a:t>
            </a:r>
            <a:r>
              <a:rPr dirty="0" spc="30"/>
              <a:t> </a:t>
            </a:r>
            <a:r>
              <a:rPr dirty="0"/>
              <a:t>session</a:t>
            </a:r>
            <a:r>
              <a:rPr dirty="0" spc="30"/>
              <a:t> </a:t>
            </a:r>
            <a:r>
              <a:rPr dirty="0" spc="-10"/>
              <a:t>storage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Cookies</a:t>
            </a:r>
            <a:r>
              <a:rPr dirty="0" spc="5"/>
              <a:t> </a:t>
            </a:r>
            <a:r>
              <a:rPr dirty="0" spc="100"/>
              <a:t>for</a:t>
            </a:r>
            <a:r>
              <a:rPr dirty="0" spc="5"/>
              <a:t> </a:t>
            </a:r>
            <a:r>
              <a:rPr dirty="0"/>
              <a:t>session</a:t>
            </a:r>
            <a:r>
              <a:rPr dirty="0" spc="10"/>
              <a:t> </a:t>
            </a:r>
            <a:r>
              <a:rPr dirty="0" spc="-25"/>
              <a:t>IDs</a:t>
            </a:r>
          </a:p>
          <a:p>
            <a:pPr marL="379095" marR="31686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User</a:t>
            </a:r>
            <a:r>
              <a:rPr dirty="0" spc="15"/>
              <a:t> </a:t>
            </a:r>
            <a:r>
              <a:rPr dirty="0"/>
              <a:t>logs</a:t>
            </a:r>
            <a:r>
              <a:rPr dirty="0" spc="20"/>
              <a:t> </a:t>
            </a:r>
            <a:r>
              <a:rPr dirty="0" spc="70"/>
              <a:t>in</a:t>
            </a:r>
            <a:r>
              <a:rPr dirty="0" spc="30"/>
              <a:t> </a:t>
            </a:r>
            <a:r>
              <a:rPr dirty="0"/>
              <a:t>→</a:t>
            </a:r>
            <a:r>
              <a:rPr dirty="0" spc="20"/>
              <a:t> </a:t>
            </a:r>
            <a:r>
              <a:rPr dirty="0"/>
              <a:t>Server</a:t>
            </a:r>
            <a:r>
              <a:rPr dirty="0" spc="15"/>
              <a:t> </a:t>
            </a:r>
            <a:r>
              <a:rPr dirty="0"/>
              <a:t>creates</a:t>
            </a:r>
            <a:r>
              <a:rPr dirty="0" spc="20"/>
              <a:t> </a:t>
            </a:r>
            <a:r>
              <a:rPr dirty="0" spc="-50"/>
              <a:t>a </a:t>
            </a:r>
            <a:r>
              <a:rPr dirty="0"/>
              <a:t>session</a:t>
            </a:r>
            <a:r>
              <a:rPr dirty="0" spc="-5"/>
              <a:t> </a:t>
            </a:r>
            <a:r>
              <a:rPr dirty="0" spc="105"/>
              <a:t>&amp;</a:t>
            </a:r>
            <a:r>
              <a:rPr dirty="0" spc="-5"/>
              <a:t> </a:t>
            </a:r>
            <a:r>
              <a:rPr dirty="0"/>
              <a:t>assigns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/>
              <a:t>session</a:t>
            </a:r>
            <a:r>
              <a:rPr dirty="0" spc="-5"/>
              <a:t> </a:t>
            </a:r>
            <a:r>
              <a:rPr dirty="0" spc="-25"/>
              <a:t>ID</a:t>
            </a: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pc="-10"/>
              <a:t>Session</a:t>
            </a:r>
            <a:r>
              <a:rPr dirty="0" spc="40"/>
              <a:t> </a:t>
            </a:r>
            <a:r>
              <a:rPr dirty="0"/>
              <a:t>data</a:t>
            </a:r>
            <a:r>
              <a:rPr dirty="0" spc="40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 spc="60"/>
              <a:t>stored</a:t>
            </a:r>
            <a:r>
              <a:rPr dirty="0" spc="35"/>
              <a:t> </a:t>
            </a:r>
            <a:r>
              <a:rPr dirty="0"/>
              <a:t>server-</a:t>
            </a:r>
            <a:r>
              <a:rPr dirty="0" spc="-10"/>
              <a:t>side, </a:t>
            </a:r>
            <a:r>
              <a:rPr dirty="0" spc="50"/>
              <a:t>while</a:t>
            </a:r>
            <a:r>
              <a:rPr dirty="0" spc="10"/>
              <a:t> </a:t>
            </a:r>
            <a:r>
              <a:rPr dirty="0"/>
              <a:t>session</a:t>
            </a:r>
            <a:r>
              <a:rPr dirty="0" spc="15"/>
              <a:t> </a:t>
            </a:r>
            <a:r>
              <a:rPr dirty="0"/>
              <a:t>ID</a:t>
            </a:r>
            <a:r>
              <a:rPr dirty="0" spc="15"/>
              <a:t> </a:t>
            </a:r>
            <a:r>
              <a:rPr dirty="0"/>
              <a:t>is</a:t>
            </a:r>
            <a:r>
              <a:rPr dirty="0" spc="15"/>
              <a:t> </a:t>
            </a:r>
            <a:r>
              <a:rPr dirty="0"/>
              <a:t>sent</a:t>
            </a:r>
            <a:r>
              <a:rPr dirty="0" spc="10"/>
              <a:t> </a:t>
            </a:r>
            <a:r>
              <a:rPr dirty="0" spc="100"/>
              <a:t>to</a:t>
            </a:r>
            <a:r>
              <a:rPr dirty="0" spc="15"/>
              <a:t> </a:t>
            </a:r>
            <a:r>
              <a:rPr dirty="0" spc="50"/>
              <a:t>the </a:t>
            </a:r>
            <a:r>
              <a:rPr dirty="0" spc="-10"/>
              <a:t>client</a:t>
            </a:r>
          </a:p>
          <a:p>
            <a:pPr marL="379095" marR="8763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The</a:t>
            </a:r>
            <a:r>
              <a:rPr dirty="0" spc="70"/>
              <a:t> </a:t>
            </a:r>
            <a:r>
              <a:rPr dirty="0"/>
              <a:t>client</a:t>
            </a:r>
            <a:r>
              <a:rPr dirty="0" spc="75"/>
              <a:t> </a:t>
            </a:r>
            <a:r>
              <a:rPr dirty="0"/>
              <a:t>stores</a:t>
            </a:r>
            <a:r>
              <a:rPr dirty="0" spc="75"/>
              <a:t> </a:t>
            </a:r>
            <a:r>
              <a:rPr dirty="0" spc="80"/>
              <a:t>the</a:t>
            </a:r>
            <a:r>
              <a:rPr dirty="0" spc="75"/>
              <a:t> </a:t>
            </a:r>
            <a:r>
              <a:rPr dirty="0"/>
              <a:t>session</a:t>
            </a:r>
            <a:r>
              <a:rPr dirty="0" spc="75"/>
              <a:t> </a:t>
            </a:r>
            <a:r>
              <a:rPr dirty="0"/>
              <a:t>Id</a:t>
            </a:r>
            <a:r>
              <a:rPr dirty="0" spc="70"/>
              <a:t> </a:t>
            </a:r>
            <a:r>
              <a:rPr dirty="0" spc="45"/>
              <a:t>in </a:t>
            </a:r>
            <a:r>
              <a:rPr dirty="0" spc="80"/>
              <a:t>the</a:t>
            </a:r>
            <a:r>
              <a:rPr dirty="0" spc="-45"/>
              <a:t> </a:t>
            </a:r>
            <a:r>
              <a:rPr dirty="0" spc="-10"/>
              <a:t>cookie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2685" y="1401395"/>
            <a:ext cx="4104236" cy="1738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4"/>
              <a:t>Token-</a:t>
            </a:r>
            <a:r>
              <a:rPr dirty="0" spc="-215"/>
              <a:t>Based</a:t>
            </a:r>
            <a:r>
              <a:rPr dirty="0" spc="-110"/>
              <a:t> </a:t>
            </a:r>
            <a:r>
              <a:rPr dirty="0" spc="-210"/>
              <a:t>Authentication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745865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64135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Encodes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self-contained</a:t>
            </a:r>
            <a:r>
              <a:rPr dirty="0" sz="1800" spc="4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token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No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session storage</a:t>
            </a:r>
            <a:endParaRPr sz="1800">
              <a:latin typeface="Arial"/>
              <a:cs typeface="Arial"/>
            </a:endParaRPr>
          </a:p>
          <a:p>
            <a:pPr marL="379095" marR="4572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stateless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OAuth,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API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tokens)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2725" y="1304825"/>
            <a:ext cx="4178874" cy="33563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Security</a:t>
            </a:r>
            <a:r>
              <a:rPr dirty="0" spc="-165"/>
              <a:t> </a:t>
            </a:r>
            <a:r>
              <a:rPr dirty="0" spc="-254"/>
              <a:t>Concerns</a:t>
            </a:r>
            <a:r>
              <a:rPr dirty="0" spc="-15"/>
              <a:t> </a:t>
            </a:r>
            <a:r>
              <a:rPr dirty="0" spc="-170"/>
              <a:t>in</a:t>
            </a:r>
            <a:r>
              <a:rPr dirty="0" spc="-15"/>
              <a:t> </a:t>
            </a:r>
            <a:r>
              <a:rPr dirty="0" spc="-190"/>
              <a:t>Session</a:t>
            </a:r>
            <a:r>
              <a:rPr dirty="0" spc="-10"/>
              <a:t> </a:t>
            </a:r>
            <a:r>
              <a:rPr dirty="0" spc="-30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25805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Hijacking: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Stolen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IDs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Cross-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Site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Forgery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(CSRF):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Unauthorized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actions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Cookie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Handling: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Avoiding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theft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Secure,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HttpOnly,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SameSite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ﬂags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5"/>
              <a:t>Best</a:t>
            </a:r>
            <a:r>
              <a:rPr dirty="0" spc="-35"/>
              <a:t> </a:t>
            </a:r>
            <a:r>
              <a:rPr dirty="0" spc="-200"/>
              <a:t>Practices</a:t>
            </a:r>
            <a:r>
              <a:rPr dirty="0" spc="-30"/>
              <a:t> </a:t>
            </a:r>
            <a:r>
              <a:rPr dirty="0" spc="-215"/>
              <a:t>for</a:t>
            </a:r>
            <a:r>
              <a:rPr dirty="0" spc="-35"/>
              <a:t> </a:t>
            </a:r>
            <a:r>
              <a:rPr dirty="0" spc="-145"/>
              <a:t>Scaling</a:t>
            </a:r>
            <a:r>
              <a:rPr dirty="0" spc="-30"/>
              <a:t> </a:t>
            </a:r>
            <a:r>
              <a:rPr dirty="0" spc="-190"/>
              <a:t>Session</a:t>
            </a:r>
            <a:r>
              <a:rPr dirty="0" spc="-30"/>
              <a:t> </a:t>
            </a:r>
            <a:r>
              <a:rPr dirty="0" spc="-30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13835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45085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Sticky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dirty="0" sz="1800" spc="-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800" spc="-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Distributed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endParaRPr sz="1800">
              <a:latin typeface="Arial"/>
              <a:cs typeface="Arial"/>
            </a:endParaRPr>
          </a:p>
          <a:p>
            <a:pPr marL="379095" marR="53467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Storing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Redis, Memcached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685D46"/>
                </a:solidFill>
                <a:latin typeface="Arial"/>
                <a:cs typeface="Arial"/>
              </a:rPr>
              <a:t>(JWTs)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1738" y="1482163"/>
            <a:ext cx="3901439" cy="19507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0"/>
              <a:t>Important</a:t>
            </a:r>
            <a:r>
              <a:rPr dirty="0" spc="-25"/>
              <a:t> </a:t>
            </a:r>
            <a:r>
              <a:rPr dirty="0" spc="-215"/>
              <a:t>Interview</a:t>
            </a:r>
            <a:r>
              <a:rPr dirty="0" spc="-130"/>
              <a:t> </a:t>
            </a:r>
            <a:r>
              <a:rPr dirty="0" spc="-229"/>
              <a:t>Questions</a:t>
            </a:r>
            <a:r>
              <a:rPr dirty="0" spc="-25"/>
              <a:t> </a:t>
            </a:r>
            <a:r>
              <a:rPr dirty="0" spc="-275"/>
              <a:t>on</a:t>
            </a:r>
            <a:r>
              <a:rPr dirty="0" spc="-95"/>
              <a:t> </a:t>
            </a:r>
            <a:r>
              <a:rPr dirty="0" spc="-425"/>
              <a:t>Web</a:t>
            </a:r>
            <a:r>
              <a:rPr dirty="0" spc="-20"/>
              <a:t> </a:t>
            </a:r>
            <a:r>
              <a:rPr dirty="0" spc="-145"/>
              <a:t>Sessions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49075"/>
            <a:ext cx="241827" cy="2276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014" y="1888340"/>
            <a:ext cx="14287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915165"/>
            <a:ext cx="241827" cy="2276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9283" y="2113653"/>
            <a:ext cx="116839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400"/>
              </a:lnSpc>
              <a:spcBef>
                <a:spcPts val="90"/>
              </a:spcBef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55"/>
              </a:lnSpc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6014" y="2626718"/>
            <a:ext cx="14287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653543"/>
            <a:ext cx="241827" cy="22760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9283" y="2852031"/>
            <a:ext cx="116839" cy="723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400"/>
              </a:lnSpc>
              <a:spcBef>
                <a:spcPts val="90"/>
              </a:spcBef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55"/>
              </a:lnSpc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55"/>
              </a:lnSpc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</a:pP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014" y="3537384"/>
            <a:ext cx="14287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564209"/>
            <a:ext cx="241827" cy="2276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6014" y="1322250"/>
            <a:ext cx="7745095" cy="2992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50240" indent="-637540">
              <a:lnSpc>
                <a:spcPts val="1764"/>
              </a:lnSpc>
              <a:spcBef>
                <a:spcPts val="130"/>
              </a:spcBef>
              <a:buChar char="●"/>
              <a:tabLst>
                <a:tab pos="650240" algn="l"/>
              </a:tabLst>
            </a:pP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Statelessness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protocol?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6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2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2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despite</a:t>
            </a:r>
            <a:r>
              <a:rPr dirty="0" sz="12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7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being</a:t>
            </a:r>
            <a:r>
              <a:rPr dirty="0" sz="12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stateless?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65"/>
              </a:lnSpc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2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client-side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tokens?</a:t>
            </a:r>
            <a:endParaRPr sz="1200">
              <a:latin typeface="Arial"/>
              <a:cs typeface="Arial"/>
            </a:endParaRPr>
          </a:p>
          <a:p>
            <a:pPr marL="815340" marR="716280">
              <a:lnSpc>
                <a:spcPts val="1360"/>
              </a:lnSpc>
              <a:spcBef>
                <a:spcPts val="70"/>
              </a:spcBef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685D46"/>
                </a:solidFill>
                <a:latin typeface="Arial"/>
                <a:cs typeface="Arial"/>
              </a:rPr>
              <a:t>JWT-</a:t>
            </a: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session-based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authentication?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together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session-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authentication?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660"/>
              </a:lnSpc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1500">
              <a:latin typeface="Arial"/>
              <a:cs typeface="Arial"/>
            </a:endParaRPr>
          </a:p>
          <a:p>
            <a:pPr marL="815340">
              <a:lnSpc>
                <a:spcPts val="1365"/>
              </a:lnSpc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hijacking,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prevented?</a:t>
            </a:r>
            <a:endParaRPr sz="1200">
              <a:latin typeface="Arial"/>
              <a:cs typeface="Arial"/>
            </a:endParaRPr>
          </a:p>
          <a:p>
            <a:pPr marL="815340" marR="965835">
              <a:lnSpc>
                <a:spcPts val="1360"/>
              </a:lnSpc>
              <a:spcBef>
                <a:spcPts val="70"/>
              </a:spcBef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40">
                <a:solidFill>
                  <a:srgbClr val="685D46"/>
                </a:solidFill>
                <a:latin typeface="Arial"/>
                <a:cs typeface="Arial"/>
              </a:rPr>
              <a:t>CSRF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exploit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management,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mitigation</a:t>
            </a:r>
            <a:r>
              <a:rPr dirty="0" sz="12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strategies?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should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set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Secure,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HttpOnly,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SameSite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attributes?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285"/>
              </a:lnSpc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2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dirty="0" sz="12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scaled</a:t>
            </a:r>
            <a:r>
              <a:rPr dirty="0" sz="12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2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200">
              <a:latin typeface="Arial"/>
              <a:cs typeface="Arial"/>
            </a:endParaRPr>
          </a:p>
          <a:p>
            <a:pPr marL="650240">
              <a:lnSpc>
                <a:spcPts val="1730"/>
              </a:lnSpc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load-balanced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storage?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architecture,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2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you manage authentication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 multiple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services?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400"/>
              </a:lnSpc>
              <a:buChar char="○"/>
              <a:tabLst>
                <a:tab pos="815340" algn="l"/>
              </a:tabLst>
            </a:pP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large-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Facebook,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Amazon,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Google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sessions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eﬃciently?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100570" cy="1859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stateless,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requiring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70">
                <a:solidFill>
                  <a:srgbClr val="685D46"/>
                </a:solidFill>
                <a:latin typeface="Arial"/>
                <a:cs typeface="Arial"/>
              </a:rPr>
              <a:t>JWTs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hijacking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4">
                <a:solidFill>
                  <a:srgbClr val="685D46"/>
                </a:solidFill>
                <a:latin typeface="Arial"/>
                <a:cs typeface="Arial"/>
              </a:rPr>
              <a:t>CSRF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mitigated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solutions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351305" y="2209598"/>
            <a:ext cx="6444615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150" b="1">
                <a:solidFill>
                  <a:srgbClr val="EE6C00"/>
                </a:solidFill>
                <a:latin typeface="Calibri"/>
                <a:cs typeface="Calibri"/>
              </a:rPr>
              <a:t>Serialization:</a:t>
            </a:r>
            <a:r>
              <a:rPr dirty="0" sz="2950" spc="-45" b="1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dirty="0" sz="2950" spc="-240" b="1">
                <a:solidFill>
                  <a:srgbClr val="EE6C00"/>
                </a:solidFill>
                <a:latin typeface="Calibri"/>
                <a:cs typeface="Calibri"/>
              </a:rPr>
              <a:t>Data</a:t>
            </a:r>
            <a:r>
              <a:rPr dirty="0" sz="2950" spc="-35" b="1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dirty="0" sz="2950" spc="-204" b="1">
                <a:solidFill>
                  <a:srgbClr val="EE6C00"/>
                </a:solidFill>
                <a:latin typeface="Calibri"/>
                <a:cs typeface="Calibri"/>
              </a:rPr>
              <a:t>Exchange</a:t>
            </a:r>
            <a:r>
              <a:rPr dirty="0" sz="2950" spc="-35" b="1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dirty="0" sz="2950" spc="-110" b="1">
                <a:solidFill>
                  <a:srgbClr val="EE6C00"/>
                </a:solidFill>
                <a:latin typeface="Calibri"/>
                <a:cs typeface="Calibri"/>
              </a:rPr>
              <a:t>&amp;</a:t>
            </a:r>
            <a:r>
              <a:rPr dirty="0" sz="2950" spc="-35" b="1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dirty="0" sz="2950" spc="-195" b="1">
                <a:solidFill>
                  <a:srgbClr val="EE6C00"/>
                </a:solidFill>
                <a:latin typeface="Calibri"/>
                <a:cs typeface="Calibri"/>
              </a:rPr>
              <a:t>Storage</a:t>
            </a:r>
            <a:r>
              <a:rPr dirty="0" sz="2950" spc="-30" b="1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dirty="0" sz="2950" spc="-180" b="1">
                <a:solidFill>
                  <a:srgbClr val="EE6C00"/>
                </a:solidFill>
                <a:latin typeface="Calibri"/>
                <a:cs typeface="Calibri"/>
              </a:rPr>
              <a:t>Formats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2484" y="2881814"/>
            <a:ext cx="3797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 Design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Why</a:t>
            </a:r>
            <a:r>
              <a:rPr dirty="0" spc="-105"/>
              <a:t> </a:t>
            </a:r>
            <a:r>
              <a:rPr dirty="0" spc="-160"/>
              <a:t>Serialization</a:t>
            </a:r>
            <a:r>
              <a:rPr dirty="0" spc="5"/>
              <a:t> </a:t>
            </a:r>
            <a:r>
              <a:rPr dirty="0" spc="-275"/>
              <a:t>Matters?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895090" cy="2233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32384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structured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800">
              <a:latin typeface="Arial"/>
              <a:cs typeface="Arial"/>
            </a:endParaRPr>
          </a:p>
          <a:p>
            <a:pPr marL="379095" marR="4445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800" spc="2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converts</a:t>
            </a:r>
            <a:r>
              <a:rPr dirty="0" sz="1800" spc="2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complex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objects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be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easily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transferred.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Used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databases,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caching,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17842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60"/>
              <a:t> </a:t>
            </a:r>
            <a:r>
              <a:rPr dirty="0" spc="-90"/>
              <a:t>is</a:t>
            </a:r>
            <a:r>
              <a:rPr dirty="0" spc="-85"/>
              <a:t> </a:t>
            </a:r>
            <a:r>
              <a:rPr dirty="0" spc="-150"/>
              <a:t>Serialization?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9095" marR="21399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/>
              <a:t>Serialization:</a:t>
            </a:r>
            <a:r>
              <a:rPr dirty="0" spc="275"/>
              <a:t> </a:t>
            </a:r>
            <a:r>
              <a:rPr dirty="0"/>
              <a:t>Converting</a:t>
            </a:r>
            <a:r>
              <a:rPr dirty="0" spc="275"/>
              <a:t> </a:t>
            </a:r>
            <a:r>
              <a:rPr dirty="0" spc="-10"/>
              <a:t>objects </a:t>
            </a:r>
            <a:r>
              <a:rPr dirty="0" spc="90"/>
              <a:t>into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95"/>
              <a:t>format</a:t>
            </a:r>
            <a:r>
              <a:rPr dirty="0" spc="-30"/>
              <a:t> </a:t>
            </a:r>
            <a:r>
              <a:rPr dirty="0" spc="75"/>
              <a:t>for </a:t>
            </a:r>
            <a:r>
              <a:rPr dirty="0" spc="-10"/>
              <a:t>transmission/storage.</a:t>
            </a: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Deserialization:</a:t>
            </a:r>
            <a:r>
              <a:rPr dirty="0" spc="225"/>
              <a:t> </a:t>
            </a:r>
            <a:r>
              <a:rPr dirty="0"/>
              <a:t>Converting</a:t>
            </a:r>
            <a:r>
              <a:rPr dirty="0" spc="229"/>
              <a:t> </a:t>
            </a:r>
            <a:r>
              <a:rPr dirty="0" spc="90"/>
              <a:t>it</a:t>
            </a:r>
            <a:r>
              <a:rPr dirty="0" spc="240"/>
              <a:t> </a:t>
            </a:r>
            <a:r>
              <a:rPr dirty="0" spc="-20"/>
              <a:t>back </a:t>
            </a:r>
            <a:r>
              <a:rPr dirty="0" spc="90"/>
              <a:t>into</a:t>
            </a:r>
            <a:r>
              <a:rPr dirty="0" spc="10"/>
              <a:t> </a:t>
            </a:r>
            <a:r>
              <a:rPr dirty="0"/>
              <a:t>an</a:t>
            </a:r>
            <a:r>
              <a:rPr dirty="0" spc="15"/>
              <a:t> </a:t>
            </a:r>
            <a:r>
              <a:rPr dirty="0" spc="-10"/>
              <a:t>object.</a:t>
            </a:r>
          </a:p>
          <a:p>
            <a:pPr marL="379095" marR="16002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Essential</a:t>
            </a:r>
            <a:r>
              <a:rPr dirty="0" spc="-20"/>
              <a:t> </a:t>
            </a:r>
            <a:r>
              <a:rPr dirty="0" spc="100"/>
              <a:t>for</a:t>
            </a:r>
            <a:r>
              <a:rPr dirty="0" spc="-25"/>
              <a:t> </a:t>
            </a:r>
            <a:r>
              <a:rPr dirty="0" spc="70"/>
              <a:t>distributed</a:t>
            </a:r>
            <a:r>
              <a:rPr dirty="0" spc="-25"/>
              <a:t> </a:t>
            </a:r>
            <a:r>
              <a:rPr dirty="0" spc="-10"/>
              <a:t>systems </a:t>
            </a:r>
            <a:r>
              <a:rPr dirty="0" spc="105"/>
              <a:t>&amp;</a:t>
            </a:r>
            <a:r>
              <a:rPr dirty="0" spc="90"/>
              <a:t> </a:t>
            </a:r>
            <a:r>
              <a:rPr dirty="0"/>
              <a:t>inter-</a:t>
            </a:r>
            <a:r>
              <a:rPr dirty="0" spc="45"/>
              <a:t>process</a:t>
            </a:r>
            <a:r>
              <a:rPr dirty="0" spc="90"/>
              <a:t> </a:t>
            </a:r>
            <a:r>
              <a:rPr dirty="0" spc="45"/>
              <a:t>communication.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801054"/>
            <a:ext cx="4111614" cy="29064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50"/>
              <a:t>Common</a:t>
            </a:r>
            <a:r>
              <a:rPr dirty="0" spc="5"/>
              <a:t> </a:t>
            </a:r>
            <a:r>
              <a:rPr dirty="0" spc="-160"/>
              <a:t>Serialization</a:t>
            </a:r>
            <a:r>
              <a:rPr dirty="0" spc="10"/>
              <a:t> </a:t>
            </a:r>
            <a:r>
              <a:rPr dirty="0" spc="-215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14367"/>
            <a:ext cx="5534660" cy="291909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Char char="●"/>
              <a:tabLst>
                <a:tab pos="358140" algn="l"/>
              </a:tabLst>
            </a:pPr>
            <a:r>
              <a:rPr dirty="0" sz="1500" spc="-12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Human-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readable,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Human-readable,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key-value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structure,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parse.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Text-based,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so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size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compared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to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formats.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Structured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verbose,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legacy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500">
              <a:latin typeface="Arial"/>
              <a:cs typeface="Arial"/>
            </a:endParaRPr>
          </a:p>
          <a:p>
            <a:pPr lvl="1" marL="815340" marR="897255" indent="-320040">
              <a:lnSpc>
                <a:spcPct val="104099"/>
              </a:lnSpc>
              <a:spcBef>
                <a:spcPts val="40"/>
              </a:spcBef>
              <a:buChar char="○"/>
              <a:tabLst>
                <a:tab pos="815340" algn="l"/>
              </a:tabLst>
            </a:pP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Tag-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markup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language,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legacy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dirty="0" sz="1200" spc="20">
                <a:solidFill>
                  <a:srgbClr val="685D46"/>
                </a:solidFill>
                <a:latin typeface="Arial"/>
                <a:cs typeface="Arial"/>
              </a:rPr>
              <a:t>conﬁguration</a:t>
            </a:r>
            <a:r>
              <a:rPr dirty="0" sz="1200" spc="2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ﬁles.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5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rich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2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structures.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Verbose,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leading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payloads.</a:t>
            </a:r>
            <a:endParaRPr sz="1200">
              <a:latin typeface="Arial"/>
              <a:cs typeface="Arial"/>
            </a:endParaRPr>
          </a:p>
          <a:p>
            <a:pPr marL="358140" marR="5080" indent="-346075">
              <a:lnSpc>
                <a:spcPts val="1930"/>
              </a:lnSpc>
              <a:spcBef>
                <a:spcPts val="45"/>
              </a:spcBef>
              <a:buChar char="●"/>
              <a:tabLst>
                <a:tab pos="358140" algn="l"/>
              </a:tabLst>
            </a:pP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Buﬀers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(Protobuf)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Compact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eﬃcient,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gRPC.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1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developed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Google.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smaller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685D46"/>
                </a:solidFill>
                <a:latin typeface="Arial"/>
                <a:cs typeface="Arial"/>
              </a:rPr>
              <a:t>JSON/XML,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deﬁnition.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high-performance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4800" y="1060985"/>
            <a:ext cx="2879204" cy="17465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2975" y="3078067"/>
            <a:ext cx="2796146" cy="6609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35"/>
              <a:t>Trade-</a:t>
            </a:r>
            <a:r>
              <a:rPr dirty="0" spc="-170"/>
              <a:t>offs:</a:t>
            </a:r>
            <a:r>
              <a:rPr dirty="0"/>
              <a:t> </a:t>
            </a:r>
            <a:r>
              <a:rPr dirty="0" spc="-210"/>
              <a:t>Readability</a:t>
            </a:r>
            <a:r>
              <a:rPr dirty="0" spc="-165"/>
              <a:t> </a:t>
            </a:r>
            <a:r>
              <a:rPr dirty="0" spc="-190"/>
              <a:t>vs.</a:t>
            </a:r>
            <a:r>
              <a:rPr dirty="0" spc="-210"/>
              <a:t> Efﬁciency</a:t>
            </a:r>
            <a:r>
              <a:rPr dirty="0" spc="-165"/>
              <a:t> </a:t>
            </a:r>
            <a:r>
              <a:rPr dirty="0" spc="-190"/>
              <a:t>vs.</a:t>
            </a:r>
            <a:r>
              <a:rPr dirty="0" spc="-250"/>
              <a:t> </a:t>
            </a:r>
            <a:r>
              <a:rPr dirty="0" spc="-180"/>
              <a:t>Compatibility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50530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Readability: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human-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readable,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ineﬃcient.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Eﬃciency: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Avro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compact,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reducing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usage.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Compatibility: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support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evolution,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limited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support.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60"/>
              <a:t>Serialization</a:t>
            </a:r>
            <a:r>
              <a:rPr dirty="0"/>
              <a:t> </a:t>
            </a:r>
            <a:r>
              <a:rPr dirty="0" spc="-170"/>
              <a:t>in</a:t>
            </a:r>
            <a:r>
              <a:rPr dirty="0" spc="5"/>
              <a:t> </a:t>
            </a:r>
            <a:r>
              <a:rPr dirty="0" spc="-190"/>
              <a:t>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522720" cy="21545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mostly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JSON.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eﬃciency.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still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SOAP-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Redis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Memcached: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serialized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JSON/Protobuf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Databases: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NoSQL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MongoDB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BSON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(Binary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JSON).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Big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Data: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evolution.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4"/>
              <a:t>Performance</a:t>
            </a:r>
            <a:r>
              <a:rPr dirty="0" spc="-65"/>
              <a:t> </a:t>
            </a:r>
            <a:r>
              <a:rPr dirty="0" spc="-204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46950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choice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impacts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Bandwidth,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685D46"/>
                </a:solidFill>
                <a:latin typeface="Arial"/>
                <a:cs typeface="Arial"/>
              </a:rPr>
              <a:t>CPU,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Usage.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75">
                <a:solidFill>
                  <a:srgbClr val="685D46"/>
                </a:solidFill>
                <a:latin typeface="Arial"/>
                <a:cs typeface="Arial"/>
              </a:rPr>
              <a:t>JSON/XML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payloads,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slower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parsing.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Smaller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payloads,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parsing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schema.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0"/>
              <a:t>Important</a:t>
            </a:r>
            <a:r>
              <a:rPr dirty="0" spc="-20"/>
              <a:t> </a:t>
            </a:r>
            <a:r>
              <a:rPr dirty="0" spc="-215"/>
              <a:t>Interview</a:t>
            </a:r>
            <a:r>
              <a:rPr dirty="0" spc="-125"/>
              <a:t> </a:t>
            </a:r>
            <a:r>
              <a:rPr dirty="0" spc="-229"/>
              <a:t>Questions</a:t>
            </a:r>
            <a:r>
              <a:rPr dirty="0" spc="-20"/>
              <a:t> </a:t>
            </a:r>
            <a:r>
              <a:rPr dirty="0" spc="-275"/>
              <a:t>on</a:t>
            </a:r>
            <a:r>
              <a:rPr dirty="0" spc="-20"/>
              <a:t> </a:t>
            </a:r>
            <a:r>
              <a:rPr dirty="0" spc="-140"/>
              <a:t>Serialization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49559"/>
            <a:ext cx="199206" cy="187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6690" y="1791459"/>
            <a:ext cx="12255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815751"/>
            <a:ext cx="199206" cy="1874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5374" y="1977011"/>
            <a:ext cx="100965" cy="316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690" y="2257651"/>
            <a:ext cx="12255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281943"/>
            <a:ext cx="199206" cy="1874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5374" y="2443203"/>
            <a:ext cx="100965" cy="4591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15"/>
              </a:lnSpc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690" y="2865727"/>
            <a:ext cx="12255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890018"/>
            <a:ext cx="199206" cy="18748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5374" y="3051279"/>
            <a:ext cx="100965" cy="316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690" y="3331918"/>
            <a:ext cx="12255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356210"/>
            <a:ext cx="199206" cy="18748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95374" y="3517470"/>
            <a:ext cx="100965" cy="3168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dirty="0" sz="9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6690" y="3798110"/>
            <a:ext cx="12255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50" spc="-5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822401"/>
            <a:ext cx="199206" cy="187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16690" y="1325268"/>
            <a:ext cx="6418580" cy="2975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8485" indent="-565785">
              <a:lnSpc>
                <a:spcPts val="1490"/>
              </a:lnSpc>
              <a:spcBef>
                <a:spcPts val="110"/>
              </a:spcBef>
              <a:buChar char="●"/>
              <a:tabLst>
                <a:tab pos="578485" algn="l"/>
              </a:tabLst>
            </a:pPr>
            <a:r>
              <a:rPr dirty="0" sz="1250" spc="2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250" spc="2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serialization,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storage?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455"/>
              </a:lnSpc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Comparing</a:t>
            </a:r>
            <a:r>
              <a:rPr dirty="0" sz="125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25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endParaRPr sz="1250">
              <a:latin typeface="Arial"/>
              <a:cs typeface="Arial"/>
            </a:endParaRPr>
          </a:p>
          <a:p>
            <a:pPr marL="795020" marR="1146175">
              <a:lnSpc>
                <a:spcPts val="1120"/>
              </a:lnSpc>
              <a:spcBef>
                <a:spcPts val="45"/>
              </a:spcBef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60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XML,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Buﬀers,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Avro?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9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385"/>
              </a:lnSpc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25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5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45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25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5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25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250">
              <a:latin typeface="Arial"/>
              <a:cs typeface="Arial"/>
            </a:endParaRPr>
          </a:p>
          <a:p>
            <a:pPr marL="795020" marR="1859914">
              <a:lnSpc>
                <a:spcPts val="1120"/>
              </a:lnSpc>
              <a:spcBef>
                <a:spcPts val="45"/>
              </a:spcBef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eﬃciency?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Buﬀers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commonly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6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950">
              <a:latin typeface="Arial"/>
              <a:cs typeface="Arial"/>
            </a:endParaRPr>
          </a:p>
          <a:p>
            <a:pPr marL="795020">
              <a:lnSpc>
                <a:spcPts val="1045"/>
              </a:lnSpc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aﬀect</a:t>
            </a:r>
            <a:r>
              <a:rPr dirty="0" sz="9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Redis?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455"/>
              </a:lnSpc>
            </a:pPr>
            <a:r>
              <a:rPr dirty="0" sz="1250" spc="1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25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5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dirty="0" sz="1250" spc="-25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endParaRPr sz="1250">
              <a:latin typeface="Arial"/>
              <a:cs typeface="Arial"/>
            </a:endParaRPr>
          </a:p>
          <a:p>
            <a:pPr marL="795020" marR="5080">
              <a:lnSpc>
                <a:spcPts val="1120"/>
              </a:lnSpc>
              <a:spcBef>
                <a:spcPts val="40"/>
              </a:spcBef>
            </a:pP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trade-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readability,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eﬃciency, and compatibility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serialization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formats?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685D46"/>
                </a:solidFill>
                <a:latin typeface="Arial"/>
                <a:cs typeface="Arial"/>
              </a:rPr>
              <a:t>CPU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usage?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385"/>
              </a:lnSpc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2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250">
              <a:latin typeface="Arial"/>
              <a:cs typeface="Arial"/>
            </a:endParaRPr>
          </a:p>
          <a:p>
            <a:pPr marL="795020">
              <a:lnSpc>
                <a:spcPts val="1120"/>
              </a:lnSpc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Avro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beneﬁcial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big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950">
              <a:latin typeface="Arial"/>
              <a:cs typeface="Arial"/>
            </a:endParaRPr>
          </a:p>
          <a:p>
            <a:pPr marL="795020">
              <a:lnSpc>
                <a:spcPts val="1095"/>
              </a:lnSpc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MongoDB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BSON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455"/>
              </a:lnSpc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2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Considerations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associated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serialization?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130"/>
              </a:lnSpc>
              <a:buChar char="○"/>
              <a:tabLst>
                <a:tab pos="795020" algn="l"/>
              </a:tabLst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improper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deserialization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lead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vulnerabilities?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187565" cy="21748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storage.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readability,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compatibility.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Avro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big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Impacts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bandwidth,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speed,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eﬃciency.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1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Sharing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10"/>
              </a:spcBef>
            </a:pPr>
            <a:r>
              <a:rPr dirty="0" sz="2750" spc="-229"/>
              <a:t>CORS</a:t>
            </a:r>
            <a:r>
              <a:rPr dirty="0" sz="2750" spc="-160"/>
              <a:t> </a:t>
            </a:r>
            <a:r>
              <a:rPr dirty="0" sz="2750" spc="110"/>
              <a:t>–</a:t>
            </a:r>
            <a:r>
              <a:rPr dirty="0" sz="2750" spc="-254"/>
              <a:t> </a:t>
            </a:r>
            <a:r>
              <a:rPr dirty="0" sz="2750" spc="-175"/>
              <a:t>Cross-</a:t>
            </a:r>
            <a:r>
              <a:rPr dirty="0" sz="2750" spc="-170"/>
              <a:t>Origin</a:t>
            </a:r>
            <a:r>
              <a:rPr dirty="0" sz="2750" spc="-30"/>
              <a:t> </a:t>
            </a:r>
            <a:r>
              <a:rPr dirty="0" sz="2750" spc="-215"/>
              <a:t>Resource</a:t>
            </a:r>
            <a:r>
              <a:rPr dirty="0" sz="2750" spc="-30"/>
              <a:t> </a:t>
            </a:r>
            <a:r>
              <a:rPr dirty="0" sz="2750" spc="-165"/>
              <a:t>Sharing</a:t>
            </a:r>
            <a:r>
              <a:rPr dirty="0" sz="2750" spc="-30"/>
              <a:t> </a:t>
            </a:r>
            <a:r>
              <a:rPr dirty="0" sz="2750" spc="-105"/>
              <a:t>&amp;</a:t>
            </a:r>
            <a:r>
              <a:rPr dirty="0" sz="2750" spc="-90"/>
              <a:t> </a:t>
            </a:r>
            <a:r>
              <a:rPr dirty="0" sz="2750" spc="-375"/>
              <a:t>Web</a:t>
            </a:r>
            <a:r>
              <a:rPr dirty="0" sz="2750" spc="-30"/>
              <a:t> </a:t>
            </a:r>
            <a:r>
              <a:rPr dirty="0" sz="2750" spc="-130"/>
              <a:t>Security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2672484" y="2881814"/>
            <a:ext cx="3797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System Design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Why</a:t>
            </a:r>
            <a:r>
              <a:rPr dirty="0" spc="-195"/>
              <a:t> </a:t>
            </a:r>
            <a:r>
              <a:rPr dirty="0" spc="-250"/>
              <a:t>CORS</a:t>
            </a:r>
            <a:r>
              <a:rPr dirty="0" spc="-50"/>
              <a:t> </a:t>
            </a:r>
            <a:r>
              <a:rPr dirty="0" spc="-265"/>
              <a:t>Matters?</a:t>
            </a:r>
            <a:r>
              <a:rPr dirty="0" spc="-50"/>
              <a:t> </a:t>
            </a:r>
            <a:r>
              <a:rPr dirty="0" spc="-170"/>
              <a:t>(The</a:t>
            </a:r>
            <a:r>
              <a:rPr dirty="0" spc="-50"/>
              <a:t> </a:t>
            </a:r>
            <a:r>
              <a:rPr dirty="0" spc="-250"/>
              <a:t>Problem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45"/>
              <a:t>Solution)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77200" cy="1719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7912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 Black"/>
                <a:cs typeface="Arial Black"/>
              </a:rPr>
              <a:t>The</a:t>
            </a:r>
            <a:r>
              <a:rPr dirty="0" sz="1800" spc="-65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 Black"/>
                <a:cs typeface="Arial Black"/>
              </a:rPr>
              <a:t>Problem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Browsers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enforce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685D46"/>
                </a:solidFill>
                <a:latin typeface="Arial"/>
                <a:cs typeface="Arial"/>
              </a:rPr>
              <a:t>(SOP),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blocking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800" spc="25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2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800" spc="2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default.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endParaRPr sz="1800">
              <a:latin typeface="Arial"/>
              <a:cs typeface="Arial"/>
            </a:endParaRPr>
          </a:p>
          <a:p>
            <a:pPr lvl="1" marL="836294" marR="5080" indent="-336550">
              <a:lnSpc>
                <a:spcPct val="114999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rely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hosted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domains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Frontend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app.com,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api.com).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mechanism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" y="3568125"/>
            <a:ext cx="8782049" cy="10477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How</a:t>
            </a:r>
            <a:r>
              <a:rPr dirty="0" spc="-155"/>
              <a:t> </a:t>
            </a:r>
            <a:r>
              <a:rPr dirty="0" spc="-250"/>
              <a:t>CORS</a:t>
            </a:r>
            <a:r>
              <a:rPr dirty="0" spc="-114"/>
              <a:t> </a:t>
            </a:r>
            <a:r>
              <a:rPr dirty="0" spc="-280"/>
              <a:t>Works:</a:t>
            </a:r>
            <a:r>
              <a:rPr dirty="0" spc="-50"/>
              <a:t> </a:t>
            </a:r>
            <a:r>
              <a:rPr dirty="0" spc="-240"/>
              <a:t>Requests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95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567680" cy="3016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server-driven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the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explicitly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allow</a:t>
            </a:r>
            <a:r>
              <a:rPr dirty="0" sz="18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access.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requests: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0">
                <a:solidFill>
                  <a:srgbClr val="685D46"/>
                </a:solidFill>
                <a:latin typeface="Arial"/>
                <a:cs typeface="Arial"/>
              </a:rPr>
              <a:t>GET,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(without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custom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headers).</a:t>
            </a:r>
            <a:endParaRPr sz="1400">
              <a:latin typeface="Arial"/>
              <a:cs typeface="Arial"/>
            </a:endParaRPr>
          </a:p>
          <a:p>
            <a:pPr lvl="1" marL="836294" marR="21209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requests: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PUT,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5">
                <a:solidFill>
                  <a:srgbClr val="685D46"/>
                </a:solidFill>
                <a:latin typeface="Arial"/>
                <a:cs typeface="Arial"/>
              </a:rPr>
              <a:t>DELETE,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custom headers.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control: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Access-Control-Allow-Origin</a:t>
            </a:r>
            <a:r>
              <a:rPr dirty="0" sz="14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(which</a:t>
            </a:r>
            <a:r>
              <a:rPr dirty="0" sz="14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origins</a:t>
            </a:r>
            <a:r>
              <a:rPr dirty="0" sz="14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access).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Access-Control-Allow-Methods</a:t>
            </a:r>
            <a:r>
              <a:rPr dirty="0" sz="1400" spc="1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(allowed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methods).</a:t>
            </a:r>
            <a:endParaRPr sz="1400">
              <a:latin typeface="Arial"/>
              <a:cs typeface="Arial"/>
            </a:endParaRPr>
          </a:p>
          <a:p>
            <a:pPr lvl="1" marL="836294" marR="9398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Access-Control-Allow-Headers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(custom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can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sent).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9445" y="1353545"/>
            <a:ext cx="2578426" cy="312933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19747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5"/>
              <a:t>Preﬂight</a:t>
            </a:r>
            <a:r>
              <a:rPr dirty="0" spc="-20"/>
              <a:t> </a:t>
            </a:r>
            <a:r>
              <a:rPr dirty="0" spc="-240"/>
              <a:t>Requests</a:t>
            </a:r>
            <a:r>
              <a:rPr dirty="0" spc="-15"/>
              <a:t> </a:t>
            </a:r>
            <a:r>
              <a:rPr dirty="0" spc="-90"/>
              <a:t>&amp;</a:t>
            </a:r>
            <a:r>
              <a:rPr dirty="0" spc="-60"/>
              <a:t> </a:t>
            </a:r>
            <a:r>
              <a:rPr dirty="0" spc="-250"/>
              <a:t>CORS</a:t>
            </a:r>
            <a:r>
              <a:rPr dirty="0" spc="-15"/>
              <a:t> </a:t>
            </a:r>
            <a:r>
              <a:rPr dirty="0" spc="-200"/>
              <a:t>Headers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4948555" cy="293624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algn="just" marL="377825" marR="398145" indent="-365760">
              <a:lnSpc>
                <a:spcPts val="2050"/>
              </a:lnSpc>
              <a:spcBef>
                <a:spcPts val="26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require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checks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(sent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685D46"/>
                </a:solidFill>
                <a:latin typeface="Arial"/>
                <a:cs typeface="Arial"/>
              </a:rPr>
              <a:t>OPTIONS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request).</a:t>
            </a:r>
            <a:endParaRPr sz="1800">
              <a:latin typeface="Arial"/>
              <a:cs typeface="Arial"/>
            </a:endParaRPr>
          </a:p>
          <a:p>
            <a:pPr algn="just" marL="377825" marR="490220" indent="-365760">
              <a:lnSpc>
                <a:spcPts val="2050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ﬁrst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before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making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actual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800">
              <a:latin typeface="Arial"/>
              <a:cs typeface="Arial"/>
            </a:endParaRPr>
          </a:p>
          <a:p>
            <a:pPr algn="just" marL="377825" marR="456565" indent="-365760">
              <a:lnSpc>
                <a:spcPts val="205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responds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valid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CORS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headers,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actual 	request.</a:t>
            </a:r>
            <a:endParaRPr sz="1800">
              <a:latin typeface="Arial"/>
              <a:cs typeface="Arial"/>
            </a:endParaRPr>
          </a:p>
          <a:p>
            <a:pPr algn="just" marL="378460" indent="-365760">
              <a:lnSpc>
                <a:spcPts val="1970"/>
              </a:lnSpc>
              <a:buChar char="●"/>
              <a:tabLst>
                <a:tab pos="378460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Headers: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Access-Control-Allow-Origin: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  <a:hlinkClick r:id="rId2"/>
              </a:rPr>
              <a:t>https://example.com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Access-Control-Allow-Methods: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0">
                <a:solidFill>
                  <a:srgbClr val="685D46"/>
                </a:solidFill>
                <a:latin typeface="Arial"/>
                <a:cs typeface="Arial"/>
              </a:rPr>
              <a:t>GET,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endParaRPr sz="1400">
              <a:latin typeface="Arial"/>
              <a:cs typeface="Arial"/>
            </a:endParaRPr>
          </a:p>
          <a:p>
            <a:pPr lvl="1" marL="836294" marR="363855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Access-Control-Allow-Headers:</a:t>
            </a:r>
            <a:r>
              <a:rPr dirty="0" sz="140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Authorization,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Content-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Type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7200" y="1544193"/>
            <a:ext cx="3523654" cy="16580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Security</a:t>
            </a:r>
            <a:r>
              <a:rPr dirty="0" spc="-135"/>
              <a:t> </a:t>
            </a:r>
            <a:r>
              <a:rPr dirty="0" spc="-155"/>
              <a:t>Risks</a:t>
            </a:r>
            <a:r>
              <a:rPr dirty="0" spc="-30"/>
              <a:t> </a:t>
            </a:r>
            <a:r>
              <a:rPr dirty="0" spc="-90"/>
              <a:t>&amp;</a:t>
            </a:r>
            <a:r>
              <a:rPr dirty="0" spc="-70"/>
              <a:t> </a:t>
            </a:r>
            <a:r>
              <a:rPr dirty="0" spc="-350"/>
              <a:t>Common</a:t>
            </a:r>
            <a:r>
              <a:rPr dirty="0" spc="-25"/>
              <a:t> </a:t>
            </a:r>
            <a:r>
              <a:rPr dirty="0" spc="-220"/>
              <a:t>Misconﬁgurations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5099685" cy="299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risks: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Overly</a:t>
            </a:r>
            <a:r>
              <a:rPr dirty="0" sz="14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permissive</a:t>
            </a:r>
            <a:r>
              <a:rPr dirty="0" sz="1400" spc="1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endParaRPr sz="1400">
              <a:latin typeface="Arial"/>
              <a:cs typeface="Arial"/>
            </a:endParaRPr>
          </a:p>
          <a:p>
            <a:pPr marL="836294" marR="524510">
              <a:lnSpc>
                <a:spcPts val="1600"/>
              </a:lnSpc>
              <a:spcBef>
                <a:spcPts val="75"/>
              </a:spcBef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(Access-Control-Allow-Origin: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*)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any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website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access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sensitive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Allowing</a:t>
            </a:r>
            <a:r>
              <a:rPr dirty="0" sz="14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credentials</a:t>
            </a:r>
            <a:r>
              <a:rPr dirty="0" sz="14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1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*</a:t>
            </a:r>
            <a:endParaRPr sz="1400">
              <a:latin typeface="Arial"/>
              <a:cs typeface="Arial"/>
            </a:endParaRPr>
          </a:p>
          <a:p>
            <a:pPr marL="836294" marR="499109">
              <a:lnSpc>
                <a:spcPts val="1600"/>
              </a:lnSpc>
              <a:spcBef>
                <a:spcPts val="80"/>
              </a:spcBef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(Access-Control-Allow-Credentials: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true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70">
                <a:solidFill>
                  <a:srgbClr val="685D46"/>
                </a:solidFill>
                <a:latin typeface="Arial"/>
                <a:cs typeface="Arial"/>
              </a:rPr>
              <a:t>*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origin)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Leads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vulnerabilities.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49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Exposing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sensitive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improper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settings.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Mitigation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whitelist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trusted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origins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*.</a:t>
            </a:r>
            <a:endParaRPr sz="1400">
              <a:latin typeface="Arial"/>
              <a:cs typeface="Arial"/>
            </a:endParaRPr>
          </a:p>
          <a:p>
            <a:pPr lvl="1" marL="836294" marR="830580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correct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policies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API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endpoints.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639"/>
              </a:lnSpc>
            </a:pP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securely.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195" y="1563070"/>
            <a:ext cx="2968350" cy="13592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05790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0"/>
              <a:t>Handling</a:t>
            </a:r>
            <a:r>
              <a:rPr dirty="0" spc="-75"/>
              <a:t> </a:t>
            </a:r>
            <a:r>
              <a:rPr dirty="0" spc="-250"/>
              <a:t>CORS</a:t>
            </a:r>
            <a:r>
              <a:rPr dirty="0" spc="-35"/>
              <a:t> </a:t>
            </a:r>
            <a:r>
              <a:rPr dirty="0" spc="-165"/>
              <a:t>in</a:t>
            </a:r>
            <a:r>
              <a:rPr dirty="0" spc="-145"/>
              <a:t> </a:t>
            </a:r>
            <a:r>
              <a:rPr dirty="0" spc="-180"/>
              <a:t>APIs</a:t>
            </a:r>
            <a:r>
              <a:rPr dirty="0" spc="-30"/>
              <a:t> </a:t>
            </a:r>
            <a:r>
              <a:rPr dirty="0" spc="-125"/>
              <a:t>(REST</a:t>
            </a:r>
            <a:r>
              <a:rPr dirty="0" spc="-145"/>
              <a:t> </a:t>
            </a:r>
            <a:r>
              <a:rPr dirty="0" spc="-90"/>
              <a:t>&amp;</a:t>
            </a:r>
            <a:r>
              <a:rPr dirty="0" spc="-70"/>
              <a:t> </a:t>
            </a:r>
            <a:r>
              <a:rPr dirty="0" spc="-210"/>
              <a:t>GraphQL)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8242300" cy="166370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JSON-</a:t>
            </a:r>
            <a:r>
              <a:rPr dirty="0" sz="1400" spc="-3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commonly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CORS.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Conﬁgure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properly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frameworks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Express.js,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Spring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Boot,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Django).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also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since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operate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HTTP.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occur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queries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mutations.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5"/>
              <a:t>Alternatives</a:t>
            </a:r>
            <a:r>
              <a:rPr dirty="0" spc="-45"/>
              <a:t> </a:t>
            </a:r>
            <a:r>
              <a:rPr dirty="0" spc="-235"/>
              <a:t>to</a:t>
            </a:r>
            <a:r>
              <a:rPr dirty="0" spc="-85"/>
              <a:t> </a:t>
            </a:r>
            <a:r>
              <a:rPr dirty="0" spc="-250"/>
              <a:t>CORS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220"/>
              <a:t>Role</a:t>
            </a:r>
            <a:r>
              <a:rPr dirty="0" spc="-40"/>
              <a:t> </a:t>
            </a:r>
            <a:r>
              <a:rPr dirty="0" spc="-250"/>
              <a:t>of</a:t>
            </a:r>
            <a:r>
              <a:rPr dirty="0" spc="-160"/>
              <a:t> </a:t>
            </a:r>
            <a:r>
              <a:rPr dirty="0" spc="-200"/>
              <a:t>API</a:t>
            </a:r>
            <a:r>
              <a:rPr dirty="0" spc="-75"/>
              <a:t> </a:t>
            </a:r>
            <a:r>
              <a:rPr dirty="0" spc="-290"/>
              <a:t>Gateways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1825" y="3460998"/>
            <a:ext cx="221615" cy="699135"/>
            <a:chOff x="1311825" y="3460998"/>
            <a:chExt cx="221615" cy="699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460998"/>
              <a:ext cx="221258" cy="2082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706362"/>
              <a:ext cx="221258" cy="2082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951726"/>
              <a:ext cx="221258" cy="2082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5249" y="1274688"/>
            <a:ext cx="7795259" cy="289052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4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Proxy: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Forwards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backend,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bypassing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restrictions.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Nginx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proxying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API.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Centralized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control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policies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conﬁguring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allowed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origins.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Help?</a:t>
            </a:r>
            <a:endParaRPr sz="18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internally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issues.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254"/>
              </a:spcBef>
              <a:buChar char="○"/>
              <a:tabLst>
                <a:tab pos="1103630" algn="l"/>
              </a:tabLst>
            </a:pP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enforce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3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policies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centrally,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ensuring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consistency.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Both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reducing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unnecessary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45"/>
              <a:t> </a:t>
            </a:r>
            <a:r>
              <a:rPr dirty="0" spc="-229"/>
              <a:t>Questions</a:t>
            </a:r>
            <a:r>
              <a:rPr dirty="0" spc="-40"/>
              <a:t> </a:t>
            </a:r>
            <a:r>
              <a:rPr dirty="0" spc="-275"/>
              <a:t>on</a:t>
            </a:r>
            <a:r>
              <a:rPr dirty="0" spc="-80"/>
              <a:t> </a:t>
            </a:r>
            <a:r>
              <a:rPr dirty="0" spc="-250"/>
              <a:t>CORS</a:t>
            </a:r>
            <a:r>
              <a:rPr dirty="0" spc="-40"/>
              <a:t> </a:t>
            </a:r>
            <a:r>
              <a:rPr dirty="0" spc="-90"/>
              <a:t>&amp;</a:t>
            </a:r>
            <a:r>
              <a:rPr dirty="0" spc="-105"/>
              <a:t> </a:t>
            </a:r>
            <a:r>
              <a:rPr dirty="0" spc="-420"/>
              <a:t>Web</a:t>
            </a:r>
            <a:r>
              <a:rPr dirty="0" spc="-40"/>
              <a:t> </a:t>
            </a:r>
            <a:r>
              <a:rPr dirty="0" spc="-165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7378700" cy="22339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Policy,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does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exist?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enable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request,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required?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conﬁgure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headers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a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associated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with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CORS?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431800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CORS?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73009" cy="249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9461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685D46"/>
                </a:solidFill>
                <a:latin typeface="Arial"/>
                <a:cs typeface="Arial"/>
              </a:rPr>
              <a:t>(SOP)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restricts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security reasons.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mechanism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controlled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cross-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origin access.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Properly</a:t>
            </a:r>
            <a:r>
              <a:rPr dirty="0" sz="18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conﬁgured</a:t>
            </a:r>
            <a:r>
              <a:rPr dirty="0" sz="18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dirty="0" sz="1800" spc="1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8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risks.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proxying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bypass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needed.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Moving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to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Concepts.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4"/>
              <a:t>Section</a:t>
            </a:r>
            <a:r>
              <a:rPr dirty="0" spc="-30"/>
              <a:t> </a:t>
            </a:r>
            <a:r>
              <a:rPr dirty="0" spc="-290"/>
              <a:t>Summary</a:t>
            </a:r>
            <a:r>
              <a:rPr dirty="0" spc="-265"/>
              <a:t> </a:t>
            </a:r>
            <a:r>
              <a:rPr dirty="0" spc="-10"/>
              <a:t>-</a:t>
            </a:r>
            <a:r>
              <a:rPr dirty="0" spc="-320"/>
              <a:t> </a:t>
            </a:r>
            <a:r>
              <a:rPr dirty="0" spc="-425"/>
              <a:t>Web</a:t>
            </a:r>
            <a:r>
              <a:rPr dirty="0" spc="-70"/>
              <a:t> </a:t>
            </a:r>
            <a:r>
              <a:rPr dirty="0" spc="-254"/>
              <a:t>Concepts</a:t>
            </a:r>
            <a:r>
              <a:rPr dirty="0" spc="-30"/>
              <a:t> </a:t>
            </a:r>
            <a:r>
              <a:rPr dirty="0" spc="-170"/>
              <a:t>in</a:t>
            </a:r>
            <a:r>
              <a:rPr dirty="0" spc="-25"/>
              <a:t> </a:t>
            </a:r>
            <a:r>
              <a:rPr dirty="0" spc="-229"/>
              <a:t>System</a:t>
            </a:r>
            <a:r>
              <a:rPr dirty="0" spc="-30"/>
              <a:t> </a:t>
            </a:r>
            <a:r>
              <a:rPr dirty="0" spc="-11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690" y="1325268"/>
            <a:ext cx="5111750" cy="29349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37820" indent="-325120">
              <a:lnSpc>
                <a:spcPts val="1490"/>
              </a:lnSpc>
              <a:spcBef>
                <a:spcPts val="110"/>
              </a:spcBef>
              <a:buChar char="●"/>
              <a:tabLst>
                <a:tab pos="337820" algn="l"/>
              </a:tabLst>
            </a:pPr>
            <a:r>
              <a:rPr dirty="0" sz="1250" spc="55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2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(Client-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Model,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9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Cycle)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interactions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9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2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85D46"/>
                </a:solidFill>
                <a:latin typeface="Arial"/>
                <a:cs typeface="Arial"/>
              </a:rPr>
              <a:t>Sessions:</a:t>
            </a:r>
            <a:r>
              <a:rPr dirty="0" sz="12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dirty="0" sz="12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65">
                <a:solidFill>
                  <a:srgbClr val="685D46"/>
                </a:solidFill>
                <a:latin typeface="Arial"/>
                <a:cs typeface="Arial"/>
              </a:rPr>
              <a:t>JWTs,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Token-Based</a:t>
            </a:r>
            <a:r>
              <a:rPr dirty="0" sz="9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concerns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(Session</a:t>
            </a:r>
            <a:r>
              <a:rPr dirty="0" sz="9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Hijacking,</a:t>
            </a:r>
            <a:r>
              <a:rPr dirty="0" sz="9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CSRF)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dirty="0" sz="12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2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2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2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Formats: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60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XML,</a:t>
            </a:r>
            <a:r>
              <a:rPr dirty="0" sz="95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9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Buﬀers,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Trade-oﬀs:</a:t>
            </a:r>
            <a:r>
              <a:rPr dirty="0" sz="950" spc="229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Readability,</a:t>
            </a:r>
            <a:r>
              <a:rPr dirty="0" sz="950" spc="229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dirty="0" sz="950" spc="229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Compatibility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9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9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dirty="0" sz="1250" spc="-11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12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 Web</a:t>
            </a:r>
            <a:r>
              <a:rPr dirty="0" sz="12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7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9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7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(Preﬂight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Allowed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9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Methods)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9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misconﬁgurations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9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9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endParaRPr sz="950">
              <a:latin typeface="Arial"/>
              <a:cs typeface="Arial"/>
            </a:endParaRPr>
          </a:p>
          <a:p>
            <a:pPr lvl="1" marL="795020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dirty="0" sz="950" spc="-2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7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9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75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dirty="0" sz="9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dirty="0" sz="125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25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250">
              <a:latin typeface="Arial"/>
              <a:cs typeface="Arial"/>
            </a:endParaRPr>
          </a:p>
          <a:p>
            <a:pPr lvl="1" marL="795020" indent="-304165">
              <a:lnSpc>
                <a:spcPts val="1130"/>
              </a:lnSpc>
              <a:buChar char="○"/>
              <a:tabLst>
                <a:tab pos="795020" algn="l"/>
              </a:tabLst>
            </a:pP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dirty="0" sz="9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9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9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5</dc:title>
  <dcterms:created xsi:type="dcterms:W3CDTF">2025-11-26T16:47:13Z</dcterms:created>
  <dcterms:modified xsi:type="dcterms:W3CDTF">2025-11-26T16:47:13Z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