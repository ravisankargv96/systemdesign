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65071" y="2146606"/>
            <a:ext cx="6018530" cy="5378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7687945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289058"/>
            <a:ext cx="6102350" cy="2595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92225">
              <a:lnSpc>
                <a:spcPct val="100000"/>
              </a:lnSpc>
              <a:spcBef>
                <a:spcPts val="110"/>
              </a:spcBef>
            </a:pPr>
            <a:r>
              <a:rPr sz="3350" spc="-254" dirty="0"/>
              <a:t>Multi-</a:t>
            </a:r>
            <a:r>
              <a:rPr sz="3350" spc="-165" dirty="0"/>
              <a:t>Tier </a:t>
            </a:r>
            <a:r>
              <a:rPr sz="3350" spc="-225" dirty="0"/>
              <a:t>Architecture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2363938" y="2881814"/>
            <a:ext cx="44151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Fundamentals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Patterns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30" dirty="0"/>
              <a:t>What</a:t>
            </a:r>
            <a:r>
              <a:rPr spc="-50" dirty="0"/>
              <a:t> </a:t>
            </a:r>
            <a:r>
              <a:rPr spc="-90" dirty="0"/>
              <a:t>is</a:t>
            </a:r>
            <a:r>
              <a:rPr spc="-45" dirty="0"/>
              <a:t> </a:t>
            </a:r>
            <a:r>
              <a:rPr spc="-235" dirty="0"/>
              <a:t>Multi-</a:t>
            </a:r>
            <a:r>
              <a:rPr spc="-145" dirty="0"/>
              <a:t>Tier</a:t>
            </a:r>
            <a:r>
              <a:rPr spc="-160" dirty="0"/>
              <a:t> </a:t>
            </a:r>
            <a:r>
              <a:rPr spc="-204" dirty="0"/>
              <a:t>Architecture?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677" y="1292830"/>
            <a:ext cx="4987290" cy="3148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935" marR="5080" indent="-356870">
              <a:lnSpc>
                <a:spcPct val="115999"/>
              </a:lnSpc>
              <a:spcBef>
                <a:spcPts val="95"/>
              </a:spcBef>
              <a:buChar char="●"/>
              <a:tabLst>
                <a:tab pos="368935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Multi-</a:t>
            </a:r>
            <a:r>
              <a:rPr sz="1650" spc="50" dirty="0">
                <a:solidFill>
                  <a:srgbClr val="685D46"/>
                </a:solidFill>
                <a:latin typeface="Arial"/>
                <a:cs typeface="Arial"/>
              </a:rPr>
              <a:t>Tier Architecture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6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6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software</a:t>
            </a:r>
            <a:r>
              <a:rPr sz="16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design </a:t>
            </a:r>
            <a:r>
              <a:rPr sz="1650" spc="80" dirty="0">
                <a:solidFill>
                  <a:srgbClr val="685D46"/>
                </a:solidFill>
                <a:latin typeface="Arial"/>
                <a:cs typeface="Arial"/>
              </a:rPr>
              <a:t>pattern</a:t>
            </a:r>
            <a:r>
              <a:rPr sz="1650" spc="85" dirty="0">
                <a:solidFill>
                  <a:srgbClr val="685D46"/>
                </a:solidFill>
                <a:latin typeface="Arial"/>
                <a:cs typeface="Arial"/>
              </a:rPr>
              <a:t> that 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structures</a:t>
            </a:r>
            <a:r>
              <a:rPr sz="16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10" dirty="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r>
              <a:rPr sz="16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into </a:t>
            </a:r>
            <a:r>
              <a:rPr sz="1650" spc="80" dirty="0">
                <a:solidFill>
                  <a:srgbClr val="685D46"/>
                </a:solidFill>
                <a:latin typeface="Arial"/>
                <a:cs typeface="Arial"/>
              </a:rPr>
              <a:t>multiple</a:t>
            </a:r>
            <a:r>
              <a:rPr sz="16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10" dirty="0">
                <a:solidFill>
                  <a:srgbClr val="685D46"/>
                </a:solidFill>
                <a:latin typeface="Arial"/>
                <a:cs typeface="Arial"/>
              </a:rPr>
              <a:t>layers,</a:t>
            </a:r>
            <a:r>
              <a:rPr sz="16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10" dirty="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sz="16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10" dirty="0">
                <a:solidFill>
                  <a:srgbClr val="685D46"/>
                </a:solidFill>
                <a:latin typeface="Arial"/>
                <a:cs typeface="Arial"/>
              </a:rPr>
              <a:t>responsible</a:t>
            </a:r>
            <a:r>
              <a:rPr sz="16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95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6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speciﬁc </a:t>
            </a:r>
            <a:r>
              <a:rPr sz="1650" spc="50" dirty="0">
                <a:solidFill>
                  <a:srgbClr val="685D46"/>
                </a:solidFill>
                <a:latin typeface="Arial"/>
                <a:cs typeface="Arial"/>
              </a:rPr>
              <a:t>functions.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This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separation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enhances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scalability, 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maintainability,</a:t>
            </a:r>
            <a:r>
              <a:rPr sz="165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 security.</a:t>
            </a:r>
            <a:endParaRPr sz="1650">
              <a:latin typeface="Arial"/>
              <a:cs typeface="Arial"/>
            </a:endParaRPr>
          </a:p>
          <a:p>
            <a:pPr marL="368300" indent="-355600">
              <a:lnSpc>
                <a:spcPct val="100000"/>
              </a:lnSpc>
              <a:spcBef>
                <a:spcPts val="320"/>
              </a:spcBef>
              <a:buChar char="●"/>
              <a:tabLst>
                <a:tab pos="368300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sz="1650" spc="-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Points:</a:t>
            </a:r>
            <a:endParaRPr sz="1650">
              <a:latin typeface="Arial"/>
              <a:cs typeface="Arial"/>
            </a:endParaRPr>
          </a:p>
          <a:p>
            <a:pPr marL="825500" lvl="1" indent="-327660">
              <a:lnSpc>
                <a:spcPct val="100000"/>
              </a:lnSpc>
              <a:spcBef>
                <a:spcPts val="310"/>
              </a:spcBef>
              <a:buChar char="○"/>
              <a:tabLst>
                <a:tab pos="825500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Organizes</a:t>
            </a:r>
            <a:r>
              <a:rPr sz="1300" spc="1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r>
              <a:rPr sz="1300" spc="1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into</a:t>
            </a:r>
            <a:r>
              <a:rPr sz="1300" spc="1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independent</a:t>
            </a:r>
            <a:r>
              <a:rPr sz="1300" spc="1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layers</a:t>
            </a:r>
            <a:endParaRPr sz="1300">
              <a:latin typeface="Arial"/>
              <a:cs typeface="Arial"/>
            </a:endParaRPr>
          </a:p>
          <a:p>
            <a:pPr marL="826135" marR="493395" lvl="1" indent="-328295">
              <a:lnSpc>
                <a:spcPct val="114599"/>
              </a:lnSpc>
              <a:buChar char="○"/>
              <a:tabLst>
                <a:tab pos="826135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Separates</a:t>
            </a:r>
            <a:r>
              <a:rPr sz="13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concerns:</a:t>
            </a:r>
            <a:r>
              <a:rPr sz="13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UI,</a:t>
            </a:r>
            <a:r>
              <a:rPr sz="13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business</a:t>
            </a:r>
            <a:r>
              <a:rPr sz="13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logic,</a:t>
            </a:r>
            <a:r>
              <a:rPr sz="13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3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685D46"/>
                </a:solidFill>
                <a:latin typeface="Arial"/>
                <a:cs typeface="Arial"/>
              </a:rPr>
              <a:t>data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storage</a:t>
            </a:r>
            <a:endParaRPr sz="1300">
              <a:latin typeface="Arial"/>
              <a:cs typeface="Arial"/>
            </a:endParaRPr>
          </a:p>
          <a:p>
            <a:pPr marL="825500" lvl="1" indent="-327660">
              <a:lnSpc>
                <a:spcPct val="100000"/>
              </a:lnSpc>
              <a:spcBef>
                <a:spcPts val="229"/>
              </a:spcBef>
              <a:buChar char="○"/>
              <a:tabLst>
                <a:tab pos="825500" algn="l"/>
              </a:tabLst>
            </a:pP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Enables</a:t>
            </a:r>
            <a:r>
              <a:rPr sz="13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better</a:t>
            </a:r>
            <a:r>
              <a:rPr sz="13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scalability,</a:t>
            </a:r>
            <a:r>
              <a:rPr sz="13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performance,</a:t>
            </a:r>
            <a:r>
              <a:rPr sz="13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3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endParaRPr sz="1300">
              <a:latin typeface="Arial"/>
              <a:cs typeface="Arial"/>
            </a:endParaRPr>
          </a:p>
          <a:p>
            <a:pPr marL="826135" marR="334010" lvl="1" indent="-328295">
              <a:lnSpc>
                <a:spcPct val="114599"/>
              </a:lnSpc>
              <a:buChar char="○"/>
              <a:tabLst>
                <a:tab pos="826135" algn="l"/>
              </a:tabLst>
            </a:pP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sz="13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3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3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applications,</a:t>
            </a:r>
            <a:r>
              <a:rPr sz="13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enterprise</a:t>
            </a:r>
            <a:r>
              <a:rPr sz="13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systems,</a:t>
            </a:r>
            <a:r>
              <a:rPr sz="13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cloud</a:t>
            </a:r>
            <a:r>
              <a:rPr sz="13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architectures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3200" y="1084750"/>
            <a:ext cx="3278399" cy="35901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60" dirty="0"/>
              <a:t>2-</a:t>
            </a:r>
            <a:r>
              <a:rPr spc="-145" dirty="0"/>
              <a:t>Tier</a:t>
            </a:r>
            <a:r>
              <a:rPr spc="-130" dirty="0"/>
              <a:t> </a:t>
            </a:r>
            <a:r>
              <a:rPr spc="-204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6014" y="2725168"/>
            <a:ext cx="142875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-50" dirty="0">
                <a:solidFill>
                  <a:srgbClr val="685D46"/>
                </a:solidFill>
                <a:latin typeface="Arial"/>
                <a:cs typeface="Arial"/>
              </a:rPr>
              <a:t>●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2751993"/>
            <a:ext cx="241827" cy="22760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96014" y="1322250"/>
            <a:ext cx="5786120" cy="166179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358140" marR="5080" indent="-346075">
              <a:lnSpc>
                <a:spcPts val="1739"/>
              </a:lnSpc>
              <a:spcBef>
                <a:spcPts val="235"/>
              </a:spcBef>
              <a:buFont typeface="Arial"/>
              <a:buChar char="●"/>
              <a:tabLst>
                <a:tab pos="358140" algn="l"/>
              </a:tabLst>
            </a:pPr>
            <a:r>
              <a:rPr sz="1500" spc="-30" dirty="0">
                <a:solidFill>
                  <a:srgbClr val="685D46"/>
                </a:solidFill>
                <a:latin typeface="Arial Black"/>
                <a:cs typeface="Arial Black"/>
              </a:rPr>
              <a:t>Deﬁnition</a:t>
            </a:r>
            <a:r>
              <a:rPr sz="1500" spc="-30" dirty="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sz="15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5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2-Tier</a:t>
            </a:r>
            <a:r>
              <a:rPr sz="15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55" dirty="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sz="15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consists</a:t>
            </a:r>
            <a:r>
              <a:rPr sz="15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5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5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sz="15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Layer 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sz="150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10" dirty="0">
                <a:solidFill>
                  <a:srgbClr val="685D46"/>
                </a:solidFill>
                <a:latin typeface="Arial"/>
                <a:cs typeface="Arial"/>
              </a:rPr>
              <a:t>Database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10" dirty="0">
                <a:solidFill>
                  <a:srgbClr val="685D46"/>
                </a:solidFill>
                <a:latin typeface="Arial"/>
                <a:cs typeface="Arial"/>
              </a:rPr>
              <a:t>Layer.</a:t>
            </a: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1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10" dirty="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interacts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10" dirty="0">
                <a:solidFill>
                  <a:srgbClr val="685D46"/>
                </a:solidFill>
                <a:latin typeface="Arial"/>
                <a:cs typeface="Arial"/>
              </a:rPr>
              <a:t>directly</a:t>
            </a: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85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database,</a:t>
            </a:r>
            <a:r>
              <a:rPr sz="15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90" dirty="0">
                <a:solidFill>
                  <a:srgbClr val="685D46"/>
                </a:solidFill>
                <a:latin typeface="Arial"/>
                <a:cs typeface="Arial"/>
              </a:rPr>
              <a:t>without</a:t>
            </a:r>
            <a:r>
              <a:rPr sz="15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15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70" dirty="0">
                <a:solidFill>
                  <a:srgbClr val="685D46"/>
                </a:solidFill>
                <a:latin typeface="Arial"/>
                <a:cs typeface="Arial"/>
              </a:rPr>
              <a:t>intermediate</a:t>
            </a:r>
            <a:r>
              <a:rPr sz="15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business</a:t>
            </a:r>
            <a:r>
              <a:rPr sz="15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logic</a:t>
            </a:r>
            <a:r>
              <a:rPr sz="15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layer.</a:t>
            </a:r>
            <a:endParaRPr sz="1500">
              <a:latin typeface="Arial"/>
              <a:cs typeface="Arial"/>
            </a:endParaRPr>
          </a:p>
          <a:p>
            <a:pPr marL="358140" indent="-345440">
              <a:lnSpc>
                <a:spcPts val="1670"/>
              </a:lnSpc>
              <a:buChar char="●"/>
              <a:tabLst>
                <a:tab pos="358140" algn="l"/>
              </a:tabLst>
            </a:pP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5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15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Works:</a:t>
            </a:r>
            <a:endParaRPr sz="1500">
              <a:latin typeface="Arial"/>
              <a:cs typeface="Arial"/>
            </a:endParaRPr>
          </a:p>
          <a:p>
            <a:pPr marL="815340" lvl="1" indent="-319405">
              <a:lnSpc>
                <a:spcPts val="1365"/>
              </a:lnSpc>
              <a:buChar char="○"/>
              <a:tabLst>
                <a:tab pos="815340" algn="l"/>
              </a:tabLst>
            </a:pP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sz="12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Layer:</a:t>
            </a:r>
            <a:r>
              <a:rPr sz="12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User</a:t>
            </a:r>
            <a:r>
              <a:rPr sz="12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interface,</a:t>
            </a:r>
            <a:r>
              <a:rPr sz="12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application</a:t>
            </a:r>
            <a:r>
              <a:rPr sz="12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logic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ts val="1355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Database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Layer: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Stores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retrieves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ts val="1360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2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ﬂows</a:t>
            </a:r>
            <a:r>
              <a:rPr sz="12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directly</a:t>
            </a:r>
            <a:r>
              <a:rPr sz="12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12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2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sz="12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2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2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database</a:t>
            </a:r>
            <a:endParaRPr sz="1200">
              <a:latin typeface="Arial"/>
              <a:cs typeface="Arial"/>
            </a:endParaRPr>
          </a:p>
          <a:p>
            <a:pPr marL="650240">
              <a:lnSpc>
                <a:spcPts val="1764"/>
              </a:lnSpc>
            </a:pP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Pros: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1825" y="2974167"/>
            <a:ext cx="188088" cy="3493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4625" y="3318083"/>
            <a:ext cx="241827" cy="22760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11825" y="3540257"/>
            <a:ext cx="188088" cy="34931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96014" y="2950482"/>
            <a:ext cx="3747770" cy="9455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42669" indent="-546735">
              <a:lnSpc>
                <a:spcPts val="1400"/>
              </a:lnSpc>
              <a:spcBef>
                <a:spcPts val="90"/>
              </a:spcBef>
              <a:buChar char="○"/>
              <a:tabLst>
                <a:tab pos="1042669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Simple</a:t>
            </a:r>
            <a:r>
              <a:rPr sz="12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2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40" dirty="0">
                <a:solidFill>
                  <a:srgbClr val="685D46"/>
                </a:solidFill>
                <a:latin typeface="Arial"/>
                <a:cs typeface="Arial"/>
              </a:rPr>
              <a:t>implement</a:t>
            </a:r>
            <a:endParaRPr sz="1200">
              <a:latin typeface="Arial"/>
              <a:cs typeface="Arial"/>
            </a:endParaRPr>
          </a:p>
          <a:p>
            <a:pPr marL="1042669" indent="-546735">
              <a:lnSpc>
                <a:spcPts val="1360"/>
              </a:lnSpc>
              <a:buChar char="○"/>
              <a:tabLst>
                <a:tab pos="1042669" algn="l"/>
              </a:tabLst>
            </a:pPr>
            <a:r>
              <a:rPr sz="1200" spc="-20" dirty="0">
                <a:solidFill>
                  <a:srgbClr val="685D46"/>
                </a:solidFill>
                <a:latin typeface="Arial"/>
                <a:cs typeface="Arial"/>
              </a:rPr>
              <a:t>Fast</a:t>
            </a:r>
            <a:r>
              <a:rPr sz="12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2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small-scale</a:t>
            </a:r>
            <a:r>
              <a:rPr sz="12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endParaRPr sz="1200">
              <a:latin typeface="Arial"/>
              <a:cs typeface="Arial"/>
            </a:endParaRPr>
          </a:p>
          <a:p>
            <a:pPr marL="650240" indent="-637540">
              <a:lnSpc>
                <a:spcPts val="1730"/>
              </a:lnSpc>
              <a:buChar char="●"/>
              <a:tabLst>
                <a:tab pos="650240" algn="l"/>
              </a:tabLst>
            </a:pP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Cons:</a:t>
            </a:r>
            <a:endParaRPr sz="1500">
              <a:latin typeface="Arial"/>
              <a:cs typeface="Arial"/>
            </a:endParaRPr>
          </a:p>
          <a:p>
            <a:pPr marL="1042669" lvl="1" indent="-546735">
              <a:lnSpc>
                <a:spcPts val="1365"/>
              </a:lnSpc>
              <a:buChar char="○"/>
              <a:tabLst>
                <a:tab pos="1042669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Poor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12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(limited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2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few</a:t>
            </a:r>
            <a:r>
              <a:rPr sz="12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users)</a:t>
            </a:r>
            <a:endParaRPr sz="1200">
              <a:latin typeface="Arial"/>
              <a:cs typeface="Arial"/>
            </a:endParaRPr>
          </a:p>
          <a:p>
            <a:pPr marL="1042669" lvl="1" indent="-546735">
              <a:lnSpc>
                <a:spcPts val="1400"/>
              </a:lnSpc>
              <a:buChar char="○"/>
              <a:tabLst>
                <a:tab pos="1042669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risks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(direct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database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access)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6014" y="3857348"/>
            <a:ext cx="2071370" cy="4806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8140" indent="-345440">
              <a:lnSpc>
                <a:spcPts val="1770"/>
              </a:lnSpc>
              <a:spcBef>
                <a:spcPts val="130"/>
              </a:spcBef>
              <a:buChar char="●"/>
              <a:tabLst>
                <a:tab pos="358140" algn="l"/>
              </a:tabLst>
            </a:pP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Example</a:t>
            </a:r>
            <a:r>
              <a:rPr sz="15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5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Case: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ts val="1770"/>
              </a:lnSpc>
            </a:pPr>
            <a:r>
              <a:rPr sz="1500" spc="-50" dirty="0">
                <a:solidFill>
                  <a:srgbClr val="685D46"/>
                </a:solidFill>
                <a:latin typeface="Arial"/>
                <a:cs typeface="Arial"/>
              </a:rPr>
              <a:t>●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4625" y="4105686"/>
            <a:ext cx="241827" cy="22760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34078" y="4078861"/>
            <a:ext cx="5103495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55" dirty="0">
                <a:solidFill>
                  <a:srgbClr val="685D46"/>
                </a:solidFill>
                <a:latin typeface="Arial"/>
                <a:cs typeface="Arial"/>
              </a:rPr>
              <a:t>desktop</a:t>
            </a: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 application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directly</a:t>
            </a:r>
            <a:r>
              <a:rPr sz="15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querying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65" dirty="0">
                <a:solidFill>
                  <a:srgbClr val="685D46"/>
                </a:solidFill>
                <a:latin typeface="Arial"/>
                <a:cs typeface="Arial"/>
              </a:rPr>
              <a:t>SQL</a:t>
            </a:r>
            <a:r>
              <a:rPr sz="15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database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88449" y="1193375"/>
            <a:ext cx="1625324" cy="3588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60" dirty="0"/>
              <a:t>3-</a:t>
            </a:r>
            <a:r>
              <a:rPr spc="-145" dirty="0"/>
              <a:t>Tier</a:t>
            </a:r>
            <a:r>
              <a:rPr spc="-130" dirty="0"/>
              <a:t> </a:t>
            </a:r>
            <a:r>
              <a:rPr spc="-204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1825" y="3146456"/>
            <a:ext cx="188088" cy="5216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6014" y="1322250"/>
            <a:ext cx="5010785" cy="314007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354965" marR="5080" indent="-342900" algn="just">
              <a:lnSpc>
                <a:spcPts val="1739"/>
              </a:lnSpc>
              <a:spcBef>
                <a:spcPts val="235"/>
              </a:spcBef>
              <a:buFont typeface="Arial"/>
              <a:buChar char="●"/>
              <a:tabLst>
                <a:tab pos="358140" algn="l"/>
              </a:tabLst>
            </a:pPr>
            <a:r>
              <a:rPr sz="1500" spc="-30" dirty="0">
                <a:solidFill>
                  <a:srgbClr val="685D46"/>
                </a:solidFill>
                <a:latin typeface="Arial Black"/>
                <a:cs typeface="Arial Black"/>
              </a:rPr>
              <a:t>Deﬁnition</a:t>
            </a:r>
            <a:r>
              <a:rPr sz="1500" spc="-30" dirty="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 3-Tier</a:t>
            </a:r>
            <a:r>
              <a:rPr sz="15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55" dirty="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sz="15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55" dirty="0">
                <a:solidFill>
                  <a:srgbClr val="685D46"/>
                </a:solidFill>
                <a:latin typeface="Arial"/>
                <a:cs typeface="Arial"/>
              </a:rPr>
              <a:t>introduces</a:t>
            </a:r>
            <a:r>
              <a:rPr sz="15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a </a:t>
            </a:r>
            <a:r>
              <a:rPr sz="1500" spc="55" dirty="0">
                <a:solidFill>
                  <a:srgbClr val="685D46"/>
                </a:solidFill>
                <a:latin typeface="Arial"/>
                <a:cs typeface="Arial"/>
              </a:rPr>
              <a:t>middle 	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layer</a:t>
            </a:r>
            <a:r>
              <a:rPr sz="15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(Business</a:t>
            </a:r>
            <a:r>
              <a:rPr sz="15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Logic</a:t>
            </a:r>
            <a:r>
              <a:rPr sz="15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Layer)</a:t>
            </a:r>
            <a:r>
              <a:rPr sz="15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15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5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UI</a:t>
            </a:r>
            <a:r>
              <a:rPr sz="15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5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the 	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database.</a:t>
            </a:r>
            <a:endParaRPr sz="1500">
              <a:latin typeface="Arial"/>
              <a:cs typeface="Arial"/>
            </a:endParaRPr>
          </a:p>
          <a:p>
            <a:pPr marL="355600" indent="-342900" algn="just">
              <a:lnSpc>
                <a:spcPts val="1670"/>
              </a:lnSpc>
              <a:buChar char="●"/>
              <a:tabLst>
                <a:tab pos="355600" algn="l"/>
              </a:tabLst>
            </a:pP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5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85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15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works:</a:t>
            </a:r>
            <a:endParaRPr sz="1500">
              <a:latin typeface="Arial"/>
              <a:cs typeface="Arial"/>
            </a:endParaRPr>
          </a:p>
          <a:p>
            <a:pPr marL="815340" marR="293370" lvl="1" indent="-320040">
              <a:lnSpc>
                <a:spcPts val="1360"/>
              </a:lnSpc>
              <a:spcBef>
                <a:spcPts val="80"/>
              </a:spcBef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frontend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interacts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 with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business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logic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layer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685D46"/>
                </a:solidFill>
                <a:latin typeface="Arial"/>
                <a:cs typeface="Arial"/>
              </a:rPr>
              <a:t>(API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Server).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ts val="1280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2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business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logic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layer</a:t>
            </a:r>
            <a:r>
              <a:rPr sz="12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processes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endParaRPr sz="1200">
              <a:latin typeface="Arial"/>
              <a:cs typeface="Arial"/>
            </a:endParaRPr>
          </a:p>
          <a:p>
            <a:pPr marL="815340">
              <a:lnSpc>
                <a:spcPts val="1360"/>
              </a:lnSpc>
            </a:pP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communicates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database.</a:t>
            </a:r>
            <a:endParaRPr sz="1200">
              <a:latin typeface="Arial"/>
              <a:cs typeface="Arial"/>
            </a:endParaRPr>
          </a:p>
          <a:p>
            <a:pPr marL="355600" indent="-342900" algn="just">
              <a:lnSpc>
                <a:spcPts val="1730"/>
              </a:lnSpc>
              <a:buChar char="●"/>
              <a:tabLst>
                <a:tab pos="355600" algn="l"/>
              </a:tabLst>
            </a:pP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Pros:</a:t>
            </a:r>
            <a:endParaRPr sz="1500">
              <a:latin typeface="Arial"/>
              <a:cs typeface="Arial"/>
            </a:endParaRPr>
          </a:p>
          <a:p>
            <a:pPr marL="1042669" lvl="1" indent="-546735">
              <a:lnSpc>
                <a:spcPts val="1365"/>
              </a:lnSpc>
              <a:buChar char="○"/>
              <a:tabLst>
                <a:tab pos="1042669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Improves</a:t>
            </a:r>
            <a:r>
              <a:rPr sz="12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security.</a:t>
            </a:r>
            <a:endParaRPr sz="1200">
              <a:latin typeface="Arial"/>
              <a:cs typeface="Arial"/>
            </a:endParaRPr>
          </a:p>
          <a:p>
            <a:pPr marL="1042669" lvl="1" indent="-546735">
              <a:lnSpc>
                <a:spcPts val="1355"/>
              </a:lnSpc>
              <a:buChar char="○"/>
              <a:tabLst>
                <a:tab pos="1042669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Better</a:t>
            </a:r>
            <a:r>
              <a:rPr sz="12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separation</a:t>
            </a:r>
            <a:r>
              <a:rPr sz="12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2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concerns.</a:t>
            </a:r>
            <a:endParaRPr sz="1200">
              <a:latin typeface="Arial"/>
              <a:cs typeface="Arial"/>
            </a:endParaRPr>
          </a:p>
          <a:p>
            <a:pPr marL="1042669" lvl="1" indent="-546735">
              <a:lnSpc>
                <a:spcPts val="1360"/>
              </a:lnSpc>
              <a:buChar char="○"/>
              <a:tabLst>
                <a:tab pos="1042669" algn="l"/>
              </a:tabLst>
            </a:pP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Easier</a:t>
            </a:r>
            <a:r>
              <a:rPr sz="1200" spc="-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maintenance.</a:t>
            </a:r>
            <a:endParaRPr sz="1200">
              <a:latin typeface="Arial"/>
              <a:cs typeface="Arial"/>
            </a:endParaRPr>
          </a:p>
          <a:p>
            <a:pPr marL="355600" indent="-342900" algn="just">
              <a:lnSpc>
                <a:spcPts val="1730"/>
              </a:lnSpc>
              <a:buChar char="●"/>
              <a:tabLst>
                <a:tab pos="355600" algn="l"/>
              </a:tabLst>
            </a:pP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Cons:</a:t>
            </a:r>
            <a:endParaRPr sz="1500">
              <a:latin typeface="Arial"/>
              <a:cs typeface="Arial"/>
            </a:endParaRPr>
          </a:p>
          <a:p>
            <a:pPr marL="815340" lvl="1" indent="-319405">
              <a:lnSpc>
                <a:spcPts val="1370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Slightly</a:t>
            </a:r>
            <a:r>
              <a:rPr sz="12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higher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latency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due</a:t>
            </a:r>
            <a:r>
              <a:rPr sz="12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extra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processing.</a:t>
            </a:r>
            <a:endParaRPr sz="1200">
              <a:latin typeface="Arial"/>
              <a:cs typeface="Arial"/>
            </a:endParaRPr>
          </a:p>
          <a:p>
            <a:pPr marL="355600" indent="-342900" algn="just">
              <a:lnSpc>
                <a:spcPts val="1730"/>
              </a:lnSpc>
              <a:buChar char="●"/>
              <a:tabLst>
                <a:tab pos="355600" algn="l"/>
              </a:tabLst>
            </a:pP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Example:</a:t>
            </a:r>
            <a:endParaRPr sz="1500">
              <a:latin typeface="Arial"/>
              <a:cs typeface="Arial"/>
            </a:endParaRPr>
          </a:p>
          <a:p>
            <a:pPr marL="815340" lvl="1" indent="-319405">
              <a:lnSpc>
                <a:spcPts val="1405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Traditional</a:t>
            </a:r>
            <a:r>
              <a:rPr sz="1200" spc="1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200" spc="1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9100" y="1304825"/>
            <a:ext cx="3172499" cy="34741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00" dirty="0"/>
              <a:t>N-</a:t>
            </a:r>
            <a:r>
              <a:rPr spc="-145" dirty="0"/>
              <a:t>Tier</a:t>
            </a:r>
            <a:r>
              <a:rPr spc="-150" dirty="0"/>
              <a:t> </a:t>
            </a:r>
            <a:r>
              <a:rPr spc="-204" dirty="0"/>
              <a:t>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11825" y="3425947"/>
            <a:ext cx="221615" cy="454025"/>
            <a:chOff x="1311825" y="3425947"/>
            <a:chExt cx="221615" cy="4540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1825" y="3425947"/>
              <a:ext cx="221258" cy="20824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1825" y="3671311"/>
              <a:ext cx="221258" cy="20824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</a:tabLst>
            </a:pPr>
            <a:r>
              <a:rPr spc="-55" dirty="0">
                <a:latin typeface="Arial Black"/>
                <a:cs typeface="Arial Black"/>
              </a:rPr>
              <a:t>Deﬁnition</a:t>
            </a:r>
            <a:r>
              <a:rPr spc="-55" dirty="0"/>
              <a:t>:</a:t>
            </a:r>
            <a:r>
              <a:rPr spc="45" dirty="0"/>
              <a:t> </a:t>
            </a:r>
            <a:r>
              <a:rPr dirty="0"/>
              <a:t>N-Tier</a:t>
            </a:r>
            <a:r>
              <a:rPr spc="45" dirty="0"/>
              <a:t> </a:t>
            </a:r>
            <a:r>
              <a:rPr spc="50" dirty="0"/>
              <a:t>Architecture</a:t>
            </a:r>
            <a:r>
              <a:rPr spc="55" dirty="0"/>
              <a:t> </a:t>
            </a:r>
            <a:r>
              <a:rPr dirty="0"/>
              <a:t>extends</a:t>
            </a:r>
            <a:r>
              <a:rPr spc="55" dirty="0"/>
              <a:t> </a:t>
            </a:r>
            <a:r>
              <a:rPr spc="50" dirty="0"/>
              <a:t>beyond</a:t>
            </a:r>
            <a:r>
              <a:rPr spc="45" dirty="0"/>
              <a:t> </a:t>
            </a:r>
            <a:r>
              <a:rPr dirty="0"/>
              <a:t>3-</a:t>
            </a:r>
            <a:r>
              <a:rPr spc="-20" dirty="0"/>
              <a:t>Tier </a:t>
            </a:r>
            <a:r>
              <a:rPr dirty="0"/>
              <a:t>by</a:t>
            </a:r>
            <a:r>
              <a:rPr spc="75" dirty="0"/>
              <a:t> </a:t>
            </a:r>
            <a:r>
              <a:rPr dirty="0"/>
              <a:t>adding</a:t>
            </a:r>
            <a:r>
              <a:rPr spc="80" dirty="0"/>
              <a:t> </a:t>
            </a:r>
            <a:r>
              <a:rPr spc="85" dirty="0"/>
              <a:t>more</a:t>
            </a:r>
            <a:r>
              <a:rPr spc="80" dirty="0"/>
              <a:t> </a:t>
            </a:r>
            <a:r>
              <a:rPr dirty="0"/>
              <a:t>specialized</a:t>
            </a:r>
            <a:r>
              <a:rPr spc="80" dirty="0"/>
              <a:t> </a:t>
            </a:r>
            <a:r>
              <a:rPr dirty="0"/>
              <a:t>layers</a:t>
            </a:r>
            <a:r>
              <a:rPr spc="85" dirty="0"/>
              <a:t> </a:t>
            </a:r>
            <a:r>
              <a:rPr dirty="0"/>
              <a:t>like</a:t>
            </a:r>
            <a:r>
              <a:rPr spc="85" dirty="0"/>
              <a:t> </a:t>
            </a:r>
            <a:r>
              <a:rPr dirty="0"/>
              <a:t>caching,</a:t>
            </a:r>
            <a:r>
              <a:rPr spc="75" dirty="0"/>
              <a:t> </a:t>
            </a:r>
            <a:r>
              <a:rPr spc="-25" dirty="0"/>
              <a:t>API </a:t>
            </a:r>
            <a:r>
              <a:rPr dirty="0"/>
              <a:t>gateway,</a:t>
            </a:r>
            <a:r>
              <a:rPr spc="150" dirty="0"/>
              <a:t> </a:t>
            </a:r>
            <a:r>
              <a:rPr dirty="0"/>
              <a:t>microservices,</a:t>
            </a:r>
            <a:r>
              <a:rPr spc="155" dirty="0"/>
              <a:t> </a:t>
            </a:r>
            <a:r>
              <a:rPr spc="-20" dirty="0"/>
              <a:t>etc.</a:t>
            </a: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/>
              <a:t>Why use</a:t>
            </a:r>
            <a:r>
              <a:rPr spc="10" dirty="0"/>
              <a:t> </a:t>
            </a:r>
            <a:r>
              <a:rPr spc="-30" dirty="0"/>
              <a:t>N-</a:t>
            </a:r>
            <a:r>
              <a:rPr spc="-10" dirty="0"/>
              <a:t>Tier?</a:t>
            </a: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Handles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high-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complex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business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logic.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Allows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independent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diﬀerent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services.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pc="-10" dirty="0"/>
              <a:t>Examples:</a:t>
            </a:r>
          </a:p>
          <a:p>
            <a:pPr marL="1103630" lvl="1" indent="-603250">
              <a:lnSpc>
                <a:spcPct val="100000"/>
              </a:lnSpc>
              <a:spcBef>
                <a:spcPts val="340"/>
              </a:spcBef>
              <a:buChar char="○"/>
              <a:tabLst>
                <a:tab pos="1103630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Microservices-based</a:t>
            </a:r>
            <a:r>
              <a:rPr sz="1400" spc="2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applications.</a:t>
            </a:r>
            <a:endParaRPr sz="1400">
              <a:latin typeface="Arial"/>
              <a:cs typeface="Arial"/>
            </a:endParaRPr>
          </a:p>
          <a:p>
            <a:pPr marL="1103630" lvl="1" indent="-603250">
              <a:lnSpc>
                <a:spcPct val="100000"/>
              </a:lnSpc>
              <a:spcBef>
                <a:spcPts val="250"/>
              </a:spcBef>
              <a:buChar char="○"/>
              <a:tabLst>
                <a:tab pos="1103630" algn="l"/>
              </a:tabLst>
            </a:pP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Large-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scale</a:t>
            </a:r>
            <a:r>
              <a:rPr sz="1400" spc="2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enterprise</a:t>
            </a:r>
            <a:r>
              <a:rPr sz="1400" spc="2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software.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00608" y="598300"/>
            <a:ext cx="1451682" cy="42549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54" dirty="0"/>
              <a:t>Performance</a:t>
            </a:r>
            <a:r>
              <a:rPr spc="-60" dirty="0"/>
              <a:t> </a:t>
            </a:r>
            <a:r>
              <a:rPr dirty="0"/>
              <a:t>&amp;</a:t>
            </a:r>
            <a:r>
              <a:rPr spc="-85" dirty="0"/>
              <a:t> </a:t>
            </a:r>
            <a:r>
              <a:rPr spc="-160" dirty="0"/>
              <a:t>Scalability</a:t>
            </a:r>
            <a:r>
              <a:rPr spc="-155" dirty="0"/>
              <a:t> </a:t>
            </a:r>
            <a:r>
              <a:rPr spc="-195" dirty="0"/>
              <a:t>Impacts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pc="55" dirty="0"/>
              <a:t>How</a:t>
            </a:r>
            <a:r>
              <a:rPr spc="-10" dirty="0"/>
              <a:t> </a:t>
            </a:r>
            <a:r>
              <a:rPr spc="50" dirty="0"/>
              <a:t>tiers</a:t>
            </a:r>
            <a:r>
              <a:rPr spc="10" dirty="0"/>
              <a:t> </a:t>
            </a:r>
            <a:r>
              <a:rPr spc="65" dirty="0"/>
              <a:t>impact</a:t>
            </a:r>
            <a:r>
              <a:rPr spc="10" dirty="0"/>
              <a:t> </a:t>
            </a:r>
            <a:r>
              <a:rPr dirty="0"/>
              <a:t>system</a:t>
            </a:r>
            <a:r>
              <a:rPr spc="5" dirty="0"/>
              <a:t> </a:t>
            </a:r>
            <a:r>
              <a:rPr spc="65" dirty="0"/>
              <a:t>performance</a:t>
            </a:r>
            <a:r>
              <a:rPr spc="10" dirty="0"/>
              <a:t> </a:t>
            </a:r>
            <a:r>
              <a:rPr spc="105" dirty="0"/>
              <a:t>&amp;</a:t>
            </a:r>
            <a:r>
              <a:rPr spc="10" dirty="0"/>
              <a:t> </a:t>
            </a:r>
            <a:r>
              <a:rPr spc="-10" dirty="0"/>
              <a:t>scalability:</a:t>
            </a: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Latency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Considerations:</a:t>
            </a:r>
            <a:endParaRPr sz="1400">
              <a:latin typeface="Arial"/>
              <a:cs typeface="Arial"/>
            </a:endParaRPr>
          </a:p>
          <a:p>
            <a:pPr marL="1293495" lvl="2" indent="-335915">
              <a:lnSpc>
                <a:spcPct val="100000"/>
              </a:lnSpc>
              <a:spcBef>
                <a:spcPts val="254"/>
              </a:spcBef>
              <a:buChar char="■"/>
              <a:tabLst>
                <a:tab pos="1293495" algn="l"/>
              </a:tabLst>
            </a:pP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More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layers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higher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latency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if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not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optimized.</a:t>
            </a:r>
            <a:endParaRPr sz="1400">
              <a:latin typeface="Arial"/>
              <a:cs typeface="Arial"/>
            </a:endParaRPr>
          </a:p>
          <a:p>
            <a:pPr marL="1293495" lvl="2" indent="-335915">
              <a:lnSpc>
                <a:spcPct val="100000"/>
              </a:lnSpc>
              <a:spcBef>
                <a:spcPts val="250"/>
              </a:spcBef>
              <a:buChar char="■"/>
              <a:tabLst>
                <a:tab pos="1293495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Solution: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(Redis,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Memcached),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Balancing.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sz="1400" spc="-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Strategies:</a:t>
            </a:r>
            <a:endParaRPr sz="1400">
              <a:latin typeface="Arial"/>
              <a:cs typeface="Arial"/>
            </a:endParaRPr>
          </a:p>
          <a:p>
            <a:pPr marL="1293495" lvl="2" indent="-335915">
              <a:lnSpc>
                <a:spcPct val="100000"/>
              </a:lnSpc>
              <a:spcBef>
                <a:spcPts val="254"/>
              </a:spcBef>
              <a:buChar char="■"/>
              <a:tabLst>
                <a:tab pos="1293495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Vertical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(adding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resources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single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server).</a:t>
            </a:r>
            <a:endParaRPr sz="1400">
              <a:latin typeface="Arial"/>
              <a:cs typeface="Arial"/>
            </a:endParaRPr>
          </a:p>
          <a:p>
            <a:pPr marL="1293495" lvl="2" indent="-335915">
              <a:lnSpc>
                <a:spcPct val="100000"/>
              </a:lnSpc>
              <a:spcBef>
                <a:spcPts val="250"/>
              </a:spcBef>
              <a:buChar char="■"/>
              <a:tabLst>
                <a:tab pos="1293495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Horizontal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(adding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more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servers,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distributing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load).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15" dirty="0"/>
              <a:t>Interview</a:t>
            </a:r>
            <a:r>
              <a:rPr spc="-135" dirty="0"/>
              <a:t> </a:t>
            </a:r>
            <a:r>
              <a:rPr spc="-215" dirty="0"/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6014" y="1314367"/>
            <a:ext cx="7858125" cy="305498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58140" indent="-345440">
              <a:lnSpc>
                <a:spcPct val="100000"/>
              </a:lnSpc>
              <a:spcBef>
                <a:spcPts val="265"/>
              </a:spcBef>
              <a:buChar char="●"/>
              <a:tabLst>
                <a:tab pos="358140" algn="l"/>
              </a:tabLst>
            </a:pP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Basic</a:t>
            </a:r>
            <a:r>
              <a:rPr sz="15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Questions:</a:t>
            </a:r>
            <a:endParaRPr sz="15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100"/>
              </a:spcBef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2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Multi-Tier</a:t>
            </a:r>
            <a:r>
              <a:rPr sz="12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Architecture,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2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12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12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used?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2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 2-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Tier</a:t>
            </a:r>
            <a:r>
              <a:rPr sz="12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sz="12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diﬀer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sz="12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 3-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Tier</a:t>
            </a:r>
            <a:r>
              <a:rPr sz="12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architecture?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2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components</a:t>
            </a:r>
            <a:r>
              <a:rPr sz="12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3-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Tier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architecture?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sz="1200" spc="-2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give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example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real-world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application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that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follows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N-Tier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architecture?</a:t>
            </a:r>
            <a:endParaRPr sz="1200">
              <a:latin typeface="Arial"/>
              <a:cs typeface="Arial"/>
            </a:endParaRPr>
          </a:p>
          <a:p>
            <a:pPr marL="358140" indent="-345440">
              <a:lnSpc>
                <a:spcPct val="100000"/>
              </a:lnSpc>
              <a:spcBef>
                <a:spcPts val="85"/>
              </a:spcBef>
              <a:buChar char="●"/>
              <a:tabLst>
                <a:tab pos="358140" algn="l"/>
              </a:tabLst>
            </a:pP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Intermediate</a:t>
            </a:r>
            <a:r>
              <a:rPr sz="15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Questions:</a:t>
            </a:r>
            <a:endParaRPr sz="15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100"/>
              </a:spcBef>
              <a:buChar char="○"/>
              <a:tabLst>
                <a:tab pos="815340" algn="l"/>
              </a:tabLst>
            </a:pP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multi-tier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system?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challenges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adding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more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tiers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application?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work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N-Tier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architecture?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strategies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reduce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latency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multi-tier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application?</a:t>
            </a:r>
            <a:endParaRPr sz="1200">
              <a:latin typeface="Arial"/>
              <a:cs typeface="Arial"/>
            </a:endParaRPr>
          </a:p>
          <a:p>
            <a:pPr marL="358140" indent="-345440">
              <a:lnSpc>
                <a:spcPct val="100000"/>
              </a:lnSpc>
              <a:spcBef>
                <a:spcPts val="85"/>
              </a:spcBef>
              <a:buChar char="●"/>
              <a:tabLst>
                <a:tab pos="358140" algn="l"/>
              </a:tabLst>
            </a:pP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Advanced</a:t>
            </a:r>
            <a:r>
              <a:rPr sz="1500" spc="20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Questions:</a:t>
            </a:r>
            <a:endParaRPr sz="15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100"/>
              </a:spcBef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large-scale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system,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choose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over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traditional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N-Tier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architecture?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secure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inter-tier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distributed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multi-tier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system?</a:t>
            </a:r>
            <a:endParaRPr sz="1200">
              <a:latin typeface="Arial"/>
              <a:cs typeface="Arial"/>
            </a:endParaRPr>
          </a:p>
          <a:p>
            <a:pPr marL="815340" marR="175895" lvl="1" indent="-320040">
              <a:lnSpc>
                <a:spcPct val="104099"/>
              </a:lnSpc>
              <a:buChar char="○"/>
              <a:tabLst>
                <a:tab pos="815340" algn="l"/>
              </a:tabLst>
            </a:pP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2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fault-tolerant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multi-tier</a:t>
            </a:r>
            <a:r>
              <a:rPr sz="12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high-traﬃc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application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like</a:t>
            </a:r>
            <a:r>
              <a:rPr sz="12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Netﬂix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35" dirty="0">
                <a:solidFill>
                  <a:srgbClr val="685D46"/>
                </a:solidFill>
                <a:latin typeface="Arial"/>
                <a:cs typeface="Arial"/>
              </a:rPr>
              <a:t>or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Amazon?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40"/>
              </a:spcBef>
            </a:pPr>
            <a:r>
              <a:rPr spc="-290" dirty="0"/>
              <a:t>Summary</a:t>
            </a:r>
            <a:r>
              <a:rPr spc="-160" dirty="0"/>
              <a:t> </a:t>
            </a:r>
            <a:r>
              <a:rPr dirty="0"/>
              <a:t>&amp;</a:t>
            </a:r>
            <a:r>
              <a:rPr spc="-130" dirty="0"/>
              <a:t> </a:t>
            </a:r>
            <a:r>
              <a:rPr spc="-240" dirty="0"/>
              <a:t>Key</a:t>
            </a:r>
            <a:r>
              <a:rPr spc="-254" dirty="0"/>
              <a:t> </a:t>
            </a:r>
            <a:r>
              <a:rPr spc="-285" dirty="0"/>
              <a:t>Takeaways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1359426"/>
            <a:ext cx="284633" cy="2678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1674894"/>
            <a:ext cx="284633" cy="2678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1990362"/>
            <a:ext cx="284633" cy="2678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2305829"/>
            <a:ext cx="284633" cy="26789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75249" y="1289058"/>
            <a:ext cx="5692775" cy="18592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722630" indent="-709930">
              <a:lnSpc>
                <a:spcPct val="100000"/>
              </a:lnSpc>
              <a:spcBef>
                <a:spcPts val="420"/>
              </a:spcBef>
              <a:buChar char="●"/>
              <a:tabLst>
                <a:tab pos="72263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Multi-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Tier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Better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Maintainability.</a:t>
            </a:r>
            <a:endParaRPr sz="1800">
              <a:latin typeface="Arial"/>
              <a:cs typeface="Arial"/>
            </a:endParaRPr>
          </a:p>
          <a:p>
            <a:pPr marL="722630" indent="-709930">
              <a:lnSpc>
                <a:spcPct val="100000"/>
              </a:lnSpc>
              <a:spcBef>
                <a:spcPts val="325"/>
              </a:spcBef>
              <a:buChar char="●"/>
              <a:tabLst>
                <a:tab pos="72263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2-Tier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simple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but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limited.</a:t>
            </a:r>
            <a:endParaRPr sz="1800">
              <a:latin typeface="Arial"/>
              <a:cs typeface="Arial"/>
            </a:endParaRPr>
          </a:p>
          <a:p>
            <a:pPr marL="722630" indent="-709930">
              <a:lnSpc>
                <a:spcPct val="100000"/>
              </a:lnSpc>
              <a:spcBef>
                <a:spcPts val="325"/>
              </a:spcBef>
              <a:buChar char="●"/>
              <a:tabLst>
                <a:tab pos="72263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3-Tier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standard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apps.</a:t>
            </a:r>
            <a:endParaRPr sz="1800">
              <a:latin typeface="Arial"/>
              <a:cs typeface="Arial"/>
            </a:endParaRPr>
          </a:p>
          <a:p>
            <a:pPr marL="722630" indent="-709930">
              <a:lnSpc>
                <a:spcPct val="100000"/>
              </a:lnSpc>
              <a:spcBef>
                <a:spcPts val="325"/>
              </a:spcBef>
              <a:buChar char="●"/>
              <a:tabLst>
                <a:tab pos="72263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N-Tier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large-scale,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cloud-native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systems.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What’s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sz="1400" spc="2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558</Words>
  <Application>Microsoft Office PowerPoint</Application>
  <PresentationFormat>On-screen Show (16:9)</PresentationFormat>
  <Paragraphs>77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Office Theme</vt:lpstr>
      <vt:lpstr>Multi-Tier Architecture</vt:lpstr>
      <vt:lpstr>What is Multi-Tier Architecture?</vt:lpstr>
      <vt:lpstr>2-Tier Architecture</vt:lpstr>
      <vt:lpstr>3-Tier Architecture</vt:lpstr>
      <vt:lpstr>N-Tier Architecture</vt:lpstr>
      <vt:lpstr>Performance &amp; Scalability Impacts</vt:lpstr>
      <vt:lpstr>Interview Questions</vt:lpstr>
      <vt:lpstr>Summary &amp; 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4</dc:title>
  <cp:lastModifiedBy>RAVI GV</cp:lastModifiedBy>
  <cp:revision>1</cp:revision>
  <dcterms:created xsi:type="dcterms:W3CDTF">2025-11-26T16:45:36Z</dcterms:created>
  <dcterms:modified xsi:type="dcterms:W3CDTF">2025-11-26T17:00:28Z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2025-11-26T00:00:00Z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2025-11-26T00:00:00Z</vt:filetime>
  </property>
</Properties>
</file>