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png" ContentType="image/pn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18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2285110" y="2297787"/>
            <a:ext cx="4570095" cy="1004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Section 4: </a:t>
            </a:r>
            <a:r>
              <a:rPr dirty="0" sz="2400" spc="6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240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1945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System Design </a:t>
            </a: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55"/>
              <a:t> </a:t>
            </a:r>
            <a:r>
              <a:rPr dirty="0" spc="-90"/>
              <a:t>is</a:t>
            </a:r>
            <a:r>
              <a:rPr dirty="0" spc="-55"/>
              <a:t> </a:t>
            </a:r>
            <a:r>
              <a:rPr dirty="0" spc="-250"/>
              <a:t>Software</a:t>
            </a:r>
            <a:r>
              <a:rPr dirty="0" spc="-165"/>
              <a:t> </a:t>
            </a:r>
            <a:r>
              <a:rPr dirty="0" spc="-200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23759"/>
            <a:ext cx="4069079" cy="29489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469900" marR="5080" indent="-335915">
              <a:lnSpc>
                <a:spcPts val="1590"/>
              </a:lnSpc>
              <a:spcBef>
                <a:spcPts val="22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400" spc="-4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system,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including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relationships.</a:t>
            </a:r>
            <a:endParaRPr sz="1400">
              <a:latin typeface="Arial"/>
              <a:cs typeface="Arial"/>
            </a:endParaRPr>
          </a:p>
          <a:p>
            <a:pPr marL="469900" marR="475615" indent="-335915">
              <a:lnSpc>
                <a:spcPts val="1590"/>
              </a:lnSpc>
              <a:buFont typeface="Arial"/>
              <a:buChar char="●"/>
              <a:tabLst>
                <a:tab pos="469900" algn="l"/>
              </a:tabLst>
            </a:pPr>
            <a:r>
              <a:rPr dirty="0" sz="1400" spc="-60">
                <a:solidFill>
                  <a:srgbClr val="685D46"/>
                </a:solidFill>
                <a:latin typeface="Arial Black"/>
                <a:cs typeface="Arial Black"/>
              </a:rPr>
              <a:t>Why</a:t>
            </a:r>
            <a:r>
              <a:rPr dirty="0" sz="1400" spc="1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 Black"/>
                <a:cs typeface="Arial Black"/>
              </a:rPr>
              <a:t>It</a:t>
            </a:r>
            <a:r>
              <a:rPr dirty="0" sz="1400" spc="15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 Black"/>
                <a:cs typeface="Arial Black"/>
              </a:rPr>
              <a:t>Matters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impacts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maintainability.</a:t>
            </a:r>
            <a:endParaRPr sz="1400">
              <a:latin typeface="Arial"/>
              <a:cs typeface="Arial"/>
            </a:endParaRPr>
          </a:p>
          <a:p>
            <a:pPr marL="469900" marR="62865" indent="-335915">
              <a:lnSpc>
                <a:spcPts val="1590"/>
              </a:lnSpc>
              <a:spcBef>
                <a:spcPts val="5"/>
              </a:spcBef>
              <a:buChar char="●"/>
              <a:tabLst>
                <a:tab pos="46990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Design Considerations</a:t>
            </a:r>
            <a:endParaRPr sz="1400">
              <a:latin typeface="Arial"/>
              <a:cs typeface="Arial"/>
            </a:endParaRPr>
          </a:p>
          <a:p>
            <a:pPr lvl="1" marL="926465" indent="-311150">
              <a:lnSpc>
                <a:spcPts val="1190"/>
              </a:lnSpc>
              <a:buChar char="○"/>
              <a:tabLst>
                <a:tab pos="926465" algn="l"/>
              </a:tabLst>
            </a:pP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dirty="0" sz="10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Ability</a:t>
            </a:r>
            <a:r>
              <a:rPr dirty="0" sz="10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0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0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dirty="0" sz="10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0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or</a:t>
            </a:r>
            <a:endParaRPr sz="1050">
              <a:latin typeface="Arial"/>
              <a:cs typeface="Arial"/>
            </a:endParaRPr>
          </a:p>
          <a:p>
            <a:pPr marL="927100">
              <a:lnSpc>
                <a:spcPts val="1235"/>
              </a:lnSpc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050">
              <a:latin typeface="Arial"/>
              <a:cs typeface="Arial"/>
            </a:endParaRPr>
          </a:p>
          <a:p>
            <a:pPr lvl="1" marL="927100" marR="235585" indent="-311785">
              <a:lnSpc>
                <a:spcPts val="1240"/>
              </a:lnSpc>
              <a:spcBef>
                <a:spcPts val="45"/>
              </a:spcBef>
              <a:buChar char="○"/>
              <a:tabLst>
                <a:tab pos="927100" algn="l"/>
              </a:tabLst>
            </a:pPr>
            <a:r>
              <a:rPr dirty="0" sz="1050" spc="30">
                <a:solidFill>
                  <a:srgbClr val="685D46"/>
                </a:solidFill>
                <a:latin typeface="Arial"/>
                <a:cs typeface="Arial"/>
              </a:rPr>
              <a:t>Maintainability:</a:t>
            </a:r>
            <a:r>
              <a:rPr dirty="0" sz="10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 easily</a:t>
            </a:r>
            <a:r>
              <a:rPr dirty="0" sz="10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0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updated</a:t>
            </a:r>
            <a:r>
              <a:rPr dirty="0" sz="105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685D46"/>
                </a:solidFill>
                <a:latin typeface="Arial"/>
                <a:cs typeface="Arial"/>
              </a:rPr>
              <a:t>modiﬁed.</a:t>
            </a:r>
            <a:endParaRPr sz="1050">
              <a:latin typeface="Arial"/>
              <a:cs typeface="Arial"/>
            </a:endParaRPr>
          </a:p>
          <a:p>
            <a:pPr lvl="1" marL="926465" indent="-311150">
              <a:lnSpc>
                <a:spcPts val="1185"/>
              </a:lnSpc>
              <a:buChar char="○"/>
              <a:tabLst>
                <a:tab pos="926465" algn="l"/>
              </a:tabLst>
            </a:pP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r>
              <a:rPr dirty="0" sz="10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responsiveness</a:t>
            </a:r>
            <a:endParaRPr sz="1050">
              <a:latin typeface="Arial"/>
              <a:cs typeface="Arial"/>
            </a:endParaRPr>
          </a:p>
          <a:p>
            <a:pPr marL="927100">
              <a:lnSpc>
                <a:spcPts val="1250"/>
              </a:lnSpc>
            </a:pP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under</a:t>
            </a:r>
            <a:r>
              <a:rPr dirty="0" sz="105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load.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"/>
              <a:cs typeface="Arial"/>
            </a:endParaRPr>
          </a:p>
          <a:p>
            <a:pPr marL="12700" marR="431800">
              <a:lnSpc>
                <a:spcPts val="1590"/>
              </a:lnSpc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"Keep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mind,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choices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you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inﬂuence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behavior."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Section</a:t>
            </a:r>
            <a:r>
              <a:rPr dirty="0" spc="-145"/>
              <a:t> </a:t>
            </a:r>
            <a:r>
              <a:rPr dirty="0" spc="-265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4614545" cy="1918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Styles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dirty="0" sz="1800" spc="2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3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80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50" spc="-275"/>
              <a:t>Software</a:t>
            </a:r>
            <a:r>
              <a:rPr dirty="0" sz="3350" spc="-160"/>
              <a:t> </a:t>
            </a:r>
            <a:r>
              <a:rPr dirty="0" sz="3350" spc="-240"/>
              <a:t>Architecture</a:t>
            </a:r>
            <a:r>
              <a:rPr dirty="0" sz="3350" spc="-40"/>
              <a:t> </a:t>
            </a:r>
            <a:r>
              <a:rPr dirty="0" sz="3350" spc="-245"/>
              <a:t>Patterns</a:t>
            </a:r>
            <a:r>
              <a:rPr dirty="0" sz="3350" spc="-50"/>
              <a:t> </a:t>
            </a:r>
            <a:r>
              <a:rPr dirty="0" sz="3350"/>
              <a:t>&amp;</a:t>
            </a:r>
            <a:r>
              <a:rPr dirty="0" sz="3350" spc="-45"/>
              <a:t> </a:t>
            </a:r>
            <a:r>
              <a:rPr dirty="0" sz="3350" spc="-135"/>
              <a:t>Styles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55"/>
              <a:t> </a:t>
            </a:r>
            <a:r>
              <a:rPr dirty="0" spc="-90"/>
              <a:t>is</a:t>
            </a:r>
            <a:r>
              <a:rPr dirty="0" spc="-55"/>
              <a:t> </a:t>
            </a:r>
            <a:r>
              <a:rPr dirty="0" spc="-250"/>
              <a:t>Software</a:t>
            </a:r>
            <a:r>
              <a:rPr dirty="0" spc="-165"/>
              <a:t> </a:t>
            </a:r>
            <a:r>
              <a:rPr dirty="0" spc="-200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4001135" cy="29057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368935" marR="5080" indent="-356870">
              <a:lnSpc>
                <a:spcPts val="1900"/>
              </a:lnSpc>
              <a:spcBef>
                <a:spcPts val="244"/>
              </a:spcBef>
              <a:buFont typeface="Arial"/>
              <a:buChar char="●"/>
              <a:tabLst>
                <a:tab pos="368935" algn="l"/>
              </a:tabLst>
            </a:pPr>
            <a:r>
              <a:rPr dirty="0" sz="1650" spc="-4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650" spc="-4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high-level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structure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system,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deﬁning components,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relationships,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interact.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00"/>
              </a:lnSpc>
              <a:buFont typeface="Arial"/>
              <a:buChar char="●"/>
              <a:tabLst>
                <a:tab pos="368300" algn="l"/>
              </a:tabLst>
            </a:pPr>
            <a:r>
              <a:rPr dirty="0" sz="1650" spc="-45">
                <a:solidFill>
                  <a:srgbClr val="685D46"/>
                </a:solidFill>
                <a:latin typeface="Arial Black"/>
                <a:cs typeface="Arial Black"/>
              </a:rPr>
              <a:t>Why</a:t>
            </a:r>
            <a:r>
              <a:rPr dirty="0" sz="1650" spc="-11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dirty="0" sz="1650" spc="-65">
                <a:solidFill>
                  <a:srgbClr val="685D46"/>
                </a:solidFill>
                <a:latin typeface="Arial Black"/>
                <a:cs typeface="Arial Black"/>
              </a:rPr>
              <a:t>It</a:t>
            </a:r>
            <a:r>
              <a:rPr dirty="0" sz="1650" spc="-10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dirty="0" sz="1650" spc="-65">
                <a:solidFill>
                  <a:srgbClr val="685D46"/>
                </a:solidFill>
                <a:latin typeface="Arial Black"/>
                <a:cs typeface="Arial Black"/>
              </a:rPr>
              <a:t>Matters</a:t>
            </a:r>
            <a:r>
              <a:rPr dirty="0" sz="1650" spc="-6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65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impacts</a:t>
            </a:r>
            <a:endParaRPr sz="1650">
              <a:latin typeface="Arial"/>
              <a:cs typeface="Arial"/>
            </a:endParaRPr>
          </a:p>
          <a:p>
            <a:pPr marL="368935" marR="130175">
              <a:lnSpc>
                <a:spcPts val="1900"/>
              </a:lnSpc>
              <a:spcBef>
                <a:spcPts val="90"/>
              </a:spcBef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650" spc="2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maintainability,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behavior.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810"/>
              </a:lnSpc>
              <a:buChar char="●"/>
              <a:tabLst>
                <a:tab pos="368300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Styles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(N-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tier)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Client-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Event-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Driven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Monolithic</a:t>
            </a:r>
            <a:r>
              <a:rPr dirty="0" spc="-150"/>
              <a:t> </a:t>
            </a:r>
            <a:r>
              <a:rPr dirty="0" spc="-20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5551805" cy="30797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79095" marR="26289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5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uniﬁed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all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tightly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unit.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develop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deploy.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8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manage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Hard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scale.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codebase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grows.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risk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failure: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bug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take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down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entire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4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Small-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startups,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ts val="2105"/>
              </a:lnSpc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CRUD-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800" y="1381025"/>
            <a:ext cx="1828799" cy="3228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Layered</a:t>
            </a:r>
            <a:r>
              <a:rPr dirty="0" spc="-20"/>
              <a:t> </a:t>
            </a:r>
            <a:r>
              <a:rPr dirty="0" spc="-235"/>
              <a:t>(N-</a:t>
            </a:r>
            <a:r>
              <a:rPr dirty="0" spc="-135"/>
              <a:t>Tier)</a:t>
            </a:r>
            <a:r>
              <a:rPr dirty="0" spc="-120"/>
              <a:t> </a:t>
            </a:r>
            <a:r>
              <a:rPr dirty="0" spc="-204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721860" cy="30797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79095" marR="508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5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split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Presentation,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Logic,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Data)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separate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Clear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of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400">
              <a:latin typeface="Arial"/>
              <a:cs typeface="Arial"/>
            </a:endParaRPr>
          </a:p>
          <a:p>
            <a:pPr lvl="1" marL="836294" marR="454659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monolithic.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overhead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layers.</a:t>
            </a:r>
            <a:endParaRPr sz="1400">
              <a:latin typeface="Arial"/>
              <a:cs typeface="Arial"/>
            </a:endParaRPr>
          </a:p>
          <a:p>
            <a:pPr lvl="1" marL="836294" marR="253365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May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result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tight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certain layers.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4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CRM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ts val="2105"/>
              </a:lnSpc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Banking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2200" y="1304825"/>
            <a:ext cx="3419399" cy="24914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29"/>
              <a:t>Microservices</a:t>
            </a:r>
            <a:r>
              <a:rPr dirty="0" spc="-70"/>
              <a:t> </a:t>
            </a:r>
            <a:r>
              <a:rPr dirty="0" spc="-204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296602"/>
            <a:ext cx="4909820" cy="31540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8140" marR="67945" indent="-346075">
              <a:lnSpc>
                <a:spcPct val="117300"/>
              </a:lnSpc>
              <a:spcBef>
                <a:spcPts val="90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spc="-3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built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collection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small,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focused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speciﬁc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500" spc="2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capability.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5"/>
              </a:spcBef>
              <a:buChar char="●"/>
              <a:tabLst>
                <a:tab pos="35814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  <a:p>
            <a:pPr lvl="1" marL="815340" marR="517525" indent="-320040">
              <a:lnSpc>
                <a:spcPct val="113999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scaled,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deployed,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developed</a:t>
            </a:r>
            <a:r>
              <a:rPr dirty="0" sz="12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separately.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4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Flexibility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technology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stack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service.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2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2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tolerance.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229"/>
              </a:spcBef>
              <a:buChar char="●"/>
              <a:tabLst>
                <a:tab pos="35814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85"/>
              </a:spcBef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coordination.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robust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DevOps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automation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pipelines.</a:t>
            </a:r>
            <a:endParaRPr sz="1200">
              <a:latin typeface="Arial"/>
              <a:cs typeface="Arial"/>
            </a:endParaRPr>
          </a:p>
          <a:p>
            <a:pPr marL="358140" marR="136525" indent="-346075">
              <a:lnSpc>
                <a:spcPts val="2110"/>
              </a:lnSpc>
              <a:spcBef>
                <a:spcPts val="30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5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e-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commerce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platforms,</a:t>
            </a:r>
            <a:r>
              <a:rPr dirty="0" sz="15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5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dirty="0" sz="15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500" y="1304825"/>
            <a:ext cx="3272099" cy="2122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Event-</a:t>
            </a:r>
            <a:r>
              <a:rPr dirty="0" spc="-200"/>
              <a:t>Driven</a:t>
            </a:r>
            <a:r>
              <a:rPr dirty="0" spc="-90"/>
              <a:t> </a:t>
            </a:r>
            <a:r>
              <a:rPr dirty="0" spc="-204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52" y="1300373"/>
            <a:ext cx="3868420" cy="312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980" marR="127000" indent="-335915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 spc="-4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components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(messages)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direct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calls,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enabling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loose coupling.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245"/>
              </a:spcBef>
              <a:buChar char="●"/>
              <a:tabLst>
                <a:tab pos="34798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ct val="100000"/>
              </a:lnSpc>
              <a:spcBef>
                <a:spcPts val="295"/>
              </a:spcBef>
              <a:buChar char="○"/>
              <a:tabLst>
                <a:tab pos="805180" algn="l"/>
              </a:tabLst>
            </a:pP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Highly</a:t>
            </a:r>
            <a:r>
              <a:rPr dirty="0" sz="10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dirty="0" sz="10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ct val="100000"/>
              </a:lnSpc>
              <a:spcBef>
                <a:spcPts val="240"/>
              </a:spcBef>
              <a:buChar char="○"/>
              <a:tabLst>
                <a:tab pos="805180" algn="l"/>
              </a:tabLst>
            </a:pP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Excellent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0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workﬂows.</a:t>
            </a:r>
            <a:endParaRPr sz="1050">
              <a:latin typeface="Arial"/>
              <a:cs typeface="Arial"/>
            </a:endParaRPr>
          </a:p>
          <a:p>
            <a:pPr lvl="1" marL="805180" indent="-311785">
              <a:lnSpc>
                <a:spcPct val="100000"/>
              </a:lnSpc>
              <a:spcBef>
                <a:spcPts val="235"/>
              </a:spcBef>
              <a:buChar char="○"/>
              <a:tabLst>
                <a:tab pos="805180" algn="l"/>
              </a:tabLst>
            </a:pPr>
            <a:r>
              <a:rPr dirty="0" sz="1050" spc="5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05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185"/>
              </a:spcBef>
              <a:buChar char="●"/>
              <a:tabLst>
                <a:tab pos="34798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400">
              <a:latin typeface="Arial"/>
              <a:cs typeface="Arial"/>
            </a:endParaRPr>
          </a:p>
          <a:p>
            <a:pPr lvl="1" marL="805180" indent="-311785">
              <a:lnSpc>
                <a:spcPct val="100000"/>
              </a:lnSpc>
              <a:spcBef>
                <a:spcPts val="300"/>
              </a:spcBef>
              <a:buChar char="○"/>
              <a:tabLst>
                <a:tab pos="805180" algn="l"/>
              </a:tabLst>
            </a:pP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Debugging</a:t>
            </a:r>
            <a:r>
              <a:rPr dirty="0" sz="10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0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tracing</a:t>
            </a:r>
            <a:r>
              <a:rPr dirty="0" sz="10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become</a:t>
            </a:r>
            <a:r>
              <a:rPr dirty="0" sz="10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0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complex.</a:t>
            </a:r>
            <a:endParaRPr sz="1050">
              <a:latin typeface="Arial"/>
              <a:cs typeface="Arial"/>
            </a:endParaRPr>
          </a:p>
          <a:p>
            <a:pPr lvl="1" marL="805180" marR="360045" indent="-311785">
              <a:lnSpc>
                <a:spcPct val="118800"/>
              </a:lnSpc>
              <a:buChar char="○"/>
              <a:tabLst>
                <a:tab pos="805180" algn="l"/>
              </a:tabLst>
            </a:pPr>
            <a:r>
              <a:rPr dirty="0" sz="1050" spc="60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dirty="0" sz="10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dirty="0" sz="10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85D46"/>
                </a:solidFill>
                <a:latin typeface="Arial"/>
                <a:cs typeface="Arial"/>
              </a:rPr>
              <a:t>across services.</a:t>
            </a:r>
            <a:endParaRPr sz="1050">
              <a:latin typeface="Arial"/>
              <a:cs typeface="Arial"/>
            </a:endParaRPr>
          </a:p>
          <a:p>
            <a:pPr marL="347980" marR="205104" indent="-335915">
              <a:lnSpc>
                <a:spcPts val="1930"/>
              </a:lnSpc>
              <a:spcBef>
                <a:spcPts val="30"/>
              </a:spcBef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IoT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ﬁnancial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trading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platforms.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49044"/>
            <a:ext cx="4267199" cy="1768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Factors</a:t>
            </a:r>
            <a:r>
              <a:rPr dirty="0" spc="20"/>
              <a:t> </a:t>
            </a:r>
            <a:r>
              <a:rPr dirty="0" spc="-200"/>
              <a:t>Inﬂuencing</a:t>
            </a:r>
            <a:r>
              <a:rPr dirty="0" spc="-100"/>
              <a:t> </a:t>
            </a:r>
            <a:r>
              <a:rPr dirty="0" spc="-215"/>
              <a:t>Architecture</a:t>
            </a:r>
            <a:r>
              <a:rPr dirty="0" spc="20"/>
              <a:t> </a:t>
            </a:r>
            <a:r>
              <a:rPr dirty="0" spc="-16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230234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Needs: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problem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solving?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goal?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much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handle?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respond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users?</a:t>
            </a:r>
            <a:endParaRPr sz="1800">
              <a:latin typeface="Arial"/>
              <a:cs typeface="Arial"/>
            </a:endParaRPr>
          </a:p>
          <a:p>
            <a:pPr marL="379095" marR="2457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Maintainability: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updates,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ﬁx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bugs,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evolve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time?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00"/>
              <a:t> </a:t>
            </a:r>
            <a:r>
              <a:rPr dirty="0" spc="-20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133" y="1318204"/>
            <a:ext cx="8140065" cy="295656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537845" indent="-40449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537845" algn="l"/>
              </a:tabLst>
            </a:pP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 architecture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over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pros and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cons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performance?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requirements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inﬂuence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decisions?</a:t>
            </a:r>
            <a:endParaRPr sz="1650">
              <a:latin typeface="Arial"/>
              <a:cs typeface="Arial"/>
            </a:endParaRPr>
          </a:p>
          <a:p>
            <a:pPr marL="538480" marR="610870" indent="-405130">
              <a:lnSpc>
                <a:spcPct val="106000"/>
              </a:lnSpc>
              <a:buAutoNum type="arabicPeriod"/>
              <a:tabLst>
                <a:tab pos="53848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Client-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Server architectures?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maintaining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grows?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decide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Monolithic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dirty="0" sz="1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650">
              <a:latin typeface="Arial"/>
              <a:cs typeface="Arial"/>
            </a:endParaRPr>
          </a:p>
          <a:p>
            <a:pPr marL="537845" indent="-40449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37845" algn="l"/>
              </a:tabLst>
            </a:pP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role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play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650">
              <a:latin typeface="Arial"/>
              <a:cs typeface="Arial"/>
            </a:endParaRPr>
          </a:p>
          <a:p>
            <a:pPr marL="537845" indent="-525145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537845" algn="l"/>
              </a:tabLst>
            </a:pPr>
            <a:r>
              <a:rPr dirty="0" sz="1650" spc="7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data?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08290" cy="2806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94234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Understand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styles: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Monolithic,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Layered,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Client-Server,</a:t>
            </a:r>
            <a:r>
              <a:rPr dirty="0" sz="18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dirty="0" sz="18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Driven.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style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pros,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best-use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cases.</a:t>
            </a:r>
            <a:endParaRPr sz="1800">
              <a:latin typeface="Arial"/>
              <a:cs typeface="Arial"/>
            </a:endParaRPr>
          </a:p>
          <a:p>
            <a:pPr marL="379095" marR="2857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decisions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maintainability,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behavior.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needs,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requirements,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goals.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400" spc="3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92225">
              <a:lnSpc>
                <a:spcPct val="100000"/>
              </a:lnSpc>
              <a:spcBef>
                <a:spcPts val="110"/>
              </a:spcBef>
            </a:pPr>
            <a:r>
              <a:rPr dirty="0" sz="3350" spc="-254"/>
              <a:t>Multi-</a:t>
            </a:r>
            <a:r>
              <a:rPr dirty="0" sz="3350" spc="-165"/>
              <a:t>Tier </a:t>
            </a:r>
            <a:r>
              <a:rPr dirty="0" sz="3350" spc="-225"/>
              <a:t>Architecture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50"/>
              <a:t> </a:t>
            </a:r>
            <a:r>
              <a:rPr dirty="0" spc="-90"/>
              <a:t>is</a:t>
            </a:r>
            <a:r>
              <a:rPr dirty="0" spc="-45"/>
              <a:t> </a:t>
            </a:r>
            <a:r>
              <a:rPr dirty="0" spc="-235"/>
              <a:t>Multi-</a:t>
            </a:r>
            <a:r>
              <a:rPr dirty="0" spc="-145"/>
              <a:t>Tier</a:t>
            </a:r>
            <a:r>
              <a:rPr dirty="0" spc="-160"/>
              <a:t> </a:t>
            </a:r>
            <a:r>
              <a:rPr dirty="0" spc="-204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292830"/>
            <a:ext cx="4987290" cy="3148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marR="5080" indent="-356870">
              <a:lnSpc>
                <a:spcPct val="115999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Tier Architecture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pattern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 that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structures</a:t>
            </a:r>
            <a:r>
              <a:rPr dirty="0" sz="1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into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layers,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responsible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speciﬁc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functions.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dirty="0" sz="1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scalability, </a:t>
            </a:r>
            <a:r>
              <a:rPr dirty="0" sz="1650" spc="55">
                <a:solidFill>
                  <a:srgbClr val="685D46"/>
                </a:solidFill>
                <a:latin typeface="Arial"/>
                <a:cs typeface="Arial"/>
              </a:rPr>
              <a:t>maintainability,</a:t>
            </a:r>
            <a:r>
              <a:rPr dirty="0" sz="165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 security.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ct val="100000"/>
              </a:lnSpc>
              <a:spcBef>
                <a:spcPts val="320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650" spc="-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Points: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310"/>
              </a:spcBef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Organizes</a:t>
            </a:r>
            <a:r>
              <a:rPr dirty="0" sz="13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3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dirty="0" sz="13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3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endParaRPr sz="1300">
              <a:latin typeface="Arial"/>
              <a:cs typeface="Arial"/>
            </a:endParaRPr>
          </a:p>
          <a:p>
            <a:pPr lvl="1" marL="826135" marR="493395" indent="-328295">
              <a:lnSpc>
                <a:spcPct val="114599"/>
              </a:lnSpc>
              <a:buChar char="○"/>
              <a:tabLst>
                <a:tab pos="826135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Separates</a:t>
            </a:r>
            <a:r>
              <a:rPr dirty="0" sz="13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concerns: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UI,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logic,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685D46"/>
                </a:solidFill>
                <a:latin typeface="Arial"/>
                <a:cs typeface="Arial"/>
              </a:rPr>
              <a:t>data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ct val="100000"/>
              </a:lnSpc>
              <a:spcBef>
                <a:spcPts val="229"/>
              </a:spcBef>
              <a:buChar char="○"/>
              <a:tabLst>
                <a:tab pos="825500" algn="l"/>
              </a:tabLst>
            </a:pP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3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300">
              <a:latin typeface="Arial"/>
              <a:cs typeface="Arial"/>
            </a:endParaRPr>
          </a:p>
          <a:p>
            <a:pPr lvl="1" marL="826135" marR="334010" indent="-328295">
              <a:lnSpc>
                <a:spcPct val="114599"/>
              </a:lnSpc>
              <a:buChar char="○"/>
              <a:tabLst>
                <a:tab pos="826135" algn="l"/>
              </a:tabLst>
            </a:pP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applications,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systems,</a:t>
            </a:r>
            <a:r>
              <a:rPr dirty="0" sz="13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dirty="0" sz="13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architectures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3200" y="1084750"/>
            <a:ext cx="3278399" cy="35901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60"/>
              <a:t>2-</a:t>
            </a:r>
            <a:r>
              <a:rPr dirty="0" spc="-145"/>
              <a:t>Tier</a:t>
            </a:r>
            <a:r>
              <a:rPr dirty="0" spc="-130"/>
              <a:t> </a:t>
            </a:r>
            <a:r>
              <a:rPr dirty="0" spc="-204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2725168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751993"/>
            <a:ext cx="241827" cy="2276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6014" y="1322250"/>
            <a:ext cx="5786120" cy="16617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58140" marR="5080" indent="-346075">
              <a:lnSpc>
                <a:spcPts val="1739"/>
              </a:lnSpc>
              <a:spcBef>
                <a:spcPts val="235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spc="-3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2-Tier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consists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Layer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Layer.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interacts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database,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5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5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layer.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ts val="1670"/>
              </a:lnSpc>
              <a:buChar char="●"/>
              <a:tabLst>
                <a:tab pos="358140" algn="l"/>
              </a:tabLst>
            </a:pP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Works: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Layer: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interface,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Layer: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Stores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retrieves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ﬂows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64"/>
              </a:lnSpc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1825" y="2974167"/>
            <a:ext cx="188088" cy="349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625" y="3318083"/>
            <a:ext cx="241827" cy="2276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1825" y="3540257"/>
            <a:ext cx="188088" cy="3493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6014" y="2950482"/>
            <a:ext cx="3747770" cy="9455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42669" indent="-546735">
              <a:lnSpc>
                <a:spcPts val="1400"/>
              </a:lnSpc>
              <a:spcBef>
                <a:spcPts val="90"/>
              </a:spcBef>
              <a:buChar char="○"/>
              <a:tabLst>
                <a:tab pos="1042669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endParaRPr sz="1200">
              <a:latin typeface="Arial"/>
              <a:cs typeface="Arial"/>
            </a:endParaRPr>
          </a:p>
          <a:p>
            <a:pPr marL="1042669" indent="-546735">
              <a:lnSpc>
                <a:spcPts val="1360"/>
              </a:lnSpc>
              <a:buChar char="○"/>
              <a:tabLst>
                <a:tab pos="1042669" algn="l"/>
              </a:tabLst>
            </a:pP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small-scale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  <a:p>
            <a:pPr marL="650240" indent="-637540">
              <a:lnSpc>
                <a:spcPts val="1730"/>
              </a:lnSpc>
              <a:buChar char="●"/>
              <a:tabLst>
                <a:tab pos="65024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lvl="1" marL="1042669" indent="-546735">
              <a:lnSpc>
                <a:spcPts val="1365"/>
              </a:lnSpc>
              <a:buChar char="○"/>
              <a:tabLst>
                <a:tab pos="1042669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Poor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(limited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few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users)</a:t>
            </a:r>
            <a:endParaRPr sz="1200">
              <a:latin typeface="Arial"/>
              <a:cs typeface="Arial"/>
            </a:endParaRPr>
          </a:p>
          <a:p>
            <a:pPr lvl="1" marL="1042669" indent="-546735">
              <a:lnSpc>
                <a:spcPts val="1400"/>
              </a:lnSpc>
              <a:buChar char="○"/>
              <a:tabLst>
                <a:tab pos="1042669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(direct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access)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014" y="3857348"/>
            <a:ext cx="2071370" cy="480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8140" indent="-345440">
              <a:lnSpc>
                <a:spcPts val="1770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Case: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70"/>
              </a:lnSpc>
            </a:pP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4625" y="4105686"/>
            <a:ext cx="241827" cy="22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34078" y="4078861"/>
            <a:ext cx="510349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desktop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application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querying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65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8449" y="1193375"/>
            <a:ext cx="1625324" cy="3588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60"/>
              <a:t>3-</a:t>
            </a:r>
            <a:r>
              <a:rPr dirty="0" spc="-145"/>
              <a:t>Tier</a:t>
            </a:r>
            <a:r>
              <a:rPr dirty="0" spc="-130"/>
              <a:t> </a:t>
            </a:r>
            <a:r>
              <a:rPr dirty="0" spc="-204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3146456"/>
            <a:ext cx="188088" cy="521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014" y="1322250"/>
            <a:ext cx="5010785" cy="31400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354965" marR="5080" indent="-342900">
              <a:lnSpc>
                <a:spcPts val="1739"/>
              </a:lnSpc>
              <a:spcBef>
                <a:spcPts val="235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spc="-3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 3-Tier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introduces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middle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(Business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Layer)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UI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database.</a:t>
            </a:r>
            <a:endParaRPr sz="1500">
              <a:latin typeface="Arial"/>
              <a:cs typeface="Arial"/>
            </a:endParaRPr>
          </a:p>
          <a:p>
            <a:pPr algn="just" marL="355600" indent="-342900">
              <a:lnSpc>
                <a:spcPts val="1670"/>
              </a:lnSpc>
              <a:buChar char="●"/>
              <a:tabLst>
                <a:tab pos="355600" algn="l"/>
              </a:tabLst>
            </a:pP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works:</a:t>
            </a:r>
            <a:endParaRPr sz="1500">
              <a:latin typeface="Arial"/>
              <a:cs typeface="Arial"/>
            </a:endParaRPr>
          </a:p>
          <a:p>
            <a:pPr lvl="1" marL="815340" marR="293370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interacts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with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(API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logic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layer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communicates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database.</a:t>
            </a:r>
            <a:endParaRPr sz="1200">
              <a:latin typeface="Arial"/>
              <a:cs typeface="Arial"/>
            </a:endParaRPr>
          </a:p>
          <a:p>
            <a:pPr algn="just" marL="355600" indent="-342900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Pros:</a:t>
            </a:r>
            <a:endParaRPr sz="1500">
              <a:latin typeface="Arial"/>
              <a:cs typeface="Arial"/>
            </a:endParaRPr>
          </a:p>
          <a:p>
            <a:pPr lvl="1" marL="1042669" indent="-546735">
              <a:lnSpc>
                <a:spcPts val="1365"/>
              </a:lnSpc>
              <a:buChar char="○"/>
              <a:tabLst>
                <a:tab pos="1042669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security.</a:t>
            </a:r>
            <a:endParaRPr sz="1200">
              <a:latin typeface="Arial"/>
              <a:cs typeface="Arial"/>
            </a:endParaRPr>
          </a:p>
          <a:p>
            <a:pPr lvl="1" marL="1042669" indent="-546735">
              <a:lnSpc>
                <a:spcPts val="1355"/>
              </a:lnSpc>
              <a:buChar char="○"/>
              <a:tabLst>
                <a:tab pos="1042669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2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200">
              <a:latin typeface="Arial"/>
              <a:cs typeface="Arial"/>
            </a:endParaRPr>
          </a:p>
          <a:p>
            <a:pPr lvl="1" marL="1042669" indent="-546735">
              <a:lnSpc>
                <a:spcPts val="1360"/>
              </a:lnSpc>
              <a:buChar char="○"/>
              <a:tabLst>
                <a:tab pos="1042669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Easier</a:t>
            </a:r>
            <a:r>
              <a:rPr dirty="0" sz="1200" spc="-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maintenance.</a:t>
            </a:r>
            <a:endParaRPr sz="1200">
              <a:latin typeface="Arial"/>
              <a:cs typeface="Arial"/>
            </a:endParaRPr>
          </a:p>
          <a:p>
            <a:pPr algn="just" marL="355600" indent="-342900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Cons: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7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Slightly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higher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extra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processing.</a:t>
            </a:r>
            <a:endParaRPr sz="1200">
              <a:latin typeface="Arial"/>
              <a:cs typeface="Arial"/>
            </a:endParaRPr>
          </a:p>
          <a:p>
            <a:pPr algn="just" marL="355600" indent="-342900">
              <a:lnSpc>
                <a:spcPts val="1730"/>
              </a:lnSpc>
              <a:buChar char="●"/>
              <a:tabLst>
                <a:tab pos="35560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40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2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100" y="1304825"/>
            <a:ext cx="3172499" cy="34741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00"/>
              <a:t>N-</a:t>
            </a:r>
            <a:r>
              <a:rPr dirty="0" spc="-145"/>
              <a:t>Tier</a:t>
            </a:r>
            <a:r>
              <a:rPr dirty="0" spc="-150"/>
              <a:t> </a:t>
            </a:r>
            <a:r>
              <a:rPr dirty="0" spc="-204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3425947"/>
            <a:ext cx="221615" cy="454025"/>
            <a:chOff x="1311825" y="3425947"/>
            <a:chExt cx="221615" cy="454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425947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671311"/>
              <a:ext cx="221258" cy="2082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pc="-55">
                <a:latin typeface="Arial Black"/>
                <a:cs typeface="Arial Black"/>
              </a:rPr>
              <a:t>Deﬁnition</a:t>
            </a:r>
            <a:r>
              <a:rPr dirty="0" spc="-55"/>
              <a:t>:</a:t>
            </a:r>
            <a:r>
              <a:rPr dirty="0" spc="45"/>
              <a:t> </a:t>
            </a:r>
            <a:r>
              <a:rPr dirty="0"/>
              <a:t>N-Tier</a:t>
            </a:r>
            <a:r>
              <a:rPr dirty="0" spc="45"/>
              <a:t> </a:t>
            </a:r>
            <a:r>
              <a:rPr dirty="0" spc="50"/>
              <a:t>Architecture</a:t>
            </a:r>
            <a:r>
              <a:rPr dirty="0" spc="55"/>
              <a:t> </a:t>
            </a:r>
            <a:r>
              <a:rPr dirty="0"/>
              <a:t>extends</a:t>
            </a:r>
            <a:r>
              <a:rPr dirty="0" spc="55"/>
              <a:t> </a:t>
            </a:r>
            <a:r>
              <a:rPr dirty="0" spc="50"/>
              <a:t>beyond</a:t>
            </a:r>
            <a:r>
              <a:rPr dirty="0" spc="45"/>
              <a:t> </a:t>
            </a:r>
            <a:r>
              <a:rPr dirty="0"/>
              <a:t>3-</a:t>
            </a:r>
            <a:r>
              <a:rPr dirty="0" spc="-20"/>
              <a:t>Tier </a:t>
            </a:r>
            <a:r>
              <a:rPr dirty="0"/>
              <a:t>by</a:t>
            </a:r>
            <a:r>
              <a:rPr dirty="0" spc="75"/>
              <a:t> </a:t>
            </a:r>
            <a:r>
              <a:rPr dirty="0"/>
              <a:t>adding</a:t>
            </a:r>
            <a:r>
              <a:rPr dirty="0" spc="80"/>
              <a:t> </a:t>
            </a:r>
            <a:r>
              <a:rPr dirty="0" spc="85"/>
              <a:t>more</a:t>
            </a:r>
            <a:r>
              <a:rPr dirty="0" spc="80"/>
              <a:t> </a:t>
            </a:r>
            <a:r>
              <a:rPr dirty="0"/>
              <a:t>specialized</a:t>
            </a:r>
            <a:r>
              <a:rPr dirty="0" spc="80"/>
              <a:t> </a:t>
            </a:r>
            <a:r>
              <a:rPr dirty="0"/>
              <a:t>layers</a:t>
            </a:r>
            <a:r>
              <a:rPr dirty="0" spc="85"/>
              <a:t> </a:t>
            </a:r>
            <a:r>
              <a:rPr dirty="0"/>
              <a:t>like</a:t>
            </a:r>
            <a:r>
              <a:rPr dirty="0" spc="85"/>
              <a:t> </a:t>
            </a:r>
            <a:r>
              <a:rPr dirty="0"/>
              <a:t>caching,</a:t>
            </a:r>
            <a:r>
              <a:rPr dirty="0" spc="75"/>
              <a:t> </a:t>
            </a:r>
            <a:r>
              <a:rPr dirty="0" spc="-25"/>
              <a:t>API </a:t>
            </a:r>
            <a:r>
              <a:rPr dirty="0"/>
              <a:t>gateway,</a:t>
            </a:r>
            <a:r>
              <a:rPr dirty="0" spc="150"/>
              <a:t> </a:t>
            </a:r>
            <a:r>
              <a:rPr dirty="0"/>
              <a:t>microservices,</a:t>
            </a:r>
            <a:r>
              <a:rPr dirty="0" spc="155"/>
              <a:t> </a:t>
            </a:r>
            <a:r>
              <a:rPr dirty="0" spc="-20"/>
              <a:t>etc.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Why use</a:t>
            </a:r>
            <a:r>
              <a:rPr dirty="0" spc="10"/>
              <a:t> </a:t>
            </a:r>
            <a:r>
              <a:rPr dirty="0" spc="-30"/>
              <a:t>N-</a:t>
            </a:r>
            <a:r>
              <a:rPr dirty="0" spc="-10"/>
              <a:t>Tier?</a:t>
            </a: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logic.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pc="-10"/>
              <a:t>Examples:</a:t>
            </a:r>
          </a:p>
          <a:p>
            <a:pPr lvl="1" marL="1103630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Microservices-based</a:t>
            </a:r>
            <a:r>
              <a:rPr dirty="0" sz="1400" spc="2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Large-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4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enterprise</a:t>
            </a:r>
            <a:r>
              <a:rPr dirty="0" sz="14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software.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0608" y="598300"/>
            <a:ext cx="1451682" cy="42549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Performance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 spc="-160"/>
              <a:t>Scalability</a:t>
            </a:r>
            <a:r>
              <a:rPr dirty="0" spc="-155"/>
              <a:t> </a:t>
            </a:r>
            <a:r>
              <a:rPr dirty="0" spc="-195"/>
              <a:t>Impacts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pc="55"/>
              <a:t>How</a:t>
            </a:r>
            <a:r>
              <a:rPr dirty="0" spc="-10"/>
              <a:t> </a:t>
            </a:r>
            <a:r>
              <a:rPr dirty="0" spc="50"/>
              <a:t>tiers</a:t>
            </a:r>
            <a:r>
              <a:rPr dirty="0" spc="10"/>
              <a:t> </a:t>
            </a:r>
            <a:r>
              <a:rPr dirty="0" spc="65"/>
              <a:t>impact</a:t>
            </a:r>
            <a:r>
              <a:rPr dirty="0" spc="10"/>
              <a:t> </a:t>
            </a:r>
            <a:r>
              <a:rPr dirty="0"/>
              <a:t>system</a:t>
            </a:r>
            <a:r>
              <a:rPr dirty="0" spc="5"/>
              <a:t> </a:t>
            </a:r>
            <a:r>
              <a:rPr dirty="0" spc="65"/>
              <a:t>performance</a:t>
            </a:r>
            <a:r>
              <a:rPr dirty="0" spc="10"/>
              <a:t> </a:t>
            </a:r>
            <a:r>
              <a:rPr dirty="0" spc="105"/>
              <a:t>&amp;</a:t>
            </a:r>
            <a:r>
              <a:rPr dirty="0" spc="10"/>
              <a:t> </a:t>
            </a:r>
            <a:r>
              <a:rPr dirty="0" spc="-10"/>
              <a:t>scalability:</a:t>
            </a: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Considerations: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layers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higher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if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optimized.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Solution: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(Redis,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Memcached),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Balancing.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(adding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resources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(adding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load).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35"/>
              <a:t> </a:t>
            </a:r>
            <a:r>
              <a:rPr dirty="0" spc="-215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7858125" cy="30549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used?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2-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3-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3-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follows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adding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tiers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15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system,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inter-tier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lvl="1" marL="815340" marR="175895" indent="-320040">
              <a:lnSpc>
                <a:spcPct val="104099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fault-tolerant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high-traﬃc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Netﬂix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or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Amazon?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59426"/>
            <a:ext cx="284633" cy="267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674894"/>
            <a:ext cx="284633" cy="267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90362"/>
            <a:ext cx="284633" cy="2678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305829"/>
            <a:ext cx="284633" cy="267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9" y="1289058"/>
            <a:ext cx="5692775" cy="1859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722630" indent="-709930">
              <a:lnSpc>
                <a:spcPct val="100000"/>
              </a:lnSpc>
              <a:spcBef>
                <a:spcPts val="420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Maintainability.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2-Tier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limited.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3-Tier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apps.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N-Tier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large-scale,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400" spc="2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22350">
              <a:lnSpc>
                <a:spcPct val="100000"/>
              </a:lnSpc>
              <a:spcBef>
                <a:spcPts val="110"/>
              </a:spcBef>
            </a:pPr>
            <a:r>
              <a:rPr dirty="0" sz="3350" spc="-254"/>
              <a:t>Microservices</a:t>
            </a:r>
            <a:r>
              <a:rPr dirty="0" sz="3350" spc="-90"/>
              <a:t> </a:t>
            </a:r>
            <a:r>
              <a:rPr dirty="0" sz="3350" spc="-220"/>
              <a:t>Architecture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35"/>
              <a:t> </a:t>
            </a:r>
            <a:r>
              <a:rPr dirty="0" spc="-90"/>
              <a:t>is</a:t>
            </a:r>
            <a:r>
              <a:rPr dirty="0" spc="-30"/>
              <a:t> </a:t>
            </a:r>
            <a:r>
              <a:rPr dirty="0" spc="-229"/>
              <a:t>Microservices</a:t>
            </a:r>
            <a:r>
              <a:rPr dirty="0" spc="-145"/>
              <a:t> </a:t>
            </a:r>
            <a:r>
              <a:rPr dirty="0" spc="-200"/>
              <a:t>Architecture?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4840" y="3667047"/>
            <a:ext cx="196850" cy="645160"/>
            <a:chOff x="1324840" y="3667047"/>
            <a:chExt cx="196850" cy="645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3667047"/>
              <a:ext cx="196854" cy="1968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3891075"/>
              <a:ext cx="196854" cy="1968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4115103"/>
              <a:ext cx="196854" cy="1968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5249" y="1330206"/>
            <a:ext cx="4017645" cy="299339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5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Microservices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pattern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collection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small,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each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responsible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 function.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125"/>
              </a:spcBef>
              <a:buChar char="○"/>
              <a:tabLst>
                <a:tab pos="1103630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deployable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85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modular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80"/>
              </a:spcBef>
              <a:buChar char="○"/>
              <a:tabLst>
                <a:tab pos="110363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fault-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tolerant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304825"/>
            <a:ext cx="4267200" cy="26760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Identifying</a:t>
            </a:r>
            <a:r>
              <a:rPr dirty="0"/>
              <a:t> </a:t>
            </a:r>
            <a:r>
              <a:rPr dirty="0" spc="-270"/>
              <a:t>and</a:t>
            </a:r>
            <a:r>
              <a:rPr dirty="0"/>
              <a:t> </a:t>
            </a:r>
            <a:r>
              <a:rPr dirty="0" spc="-195"/>
              <a:t>Structuring</a:t>
            </a:r>
            <a:r>
              <a:rPr dirty="0"/>
              <a:t> </a:t>
            </a:r>
            <a:r>
              <a:rPr dirty="0" spc="-200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1532551"/>
            <a:ext cx="154917" cy="1458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690" y="1325268"/>
            <a:ext cx="3714115" cy="5022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79095" indent="-366395">
              <a:lnSpc>
                <a:spcPts val="149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dirty="0" sz="125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85D46"/>
                </a:solidFill>
                <a:latin typeface="Arial"/>
                <a:cs typeface="Arial"/>
              </a:rPr>
              <a:t>Identify</a:t>
            </a:r>
            <a:r>
              <a:rPr dirty="0" sz="12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250">
              <a:latin typeface="Arial"/>
              <a:cs typeface="Arial"/>
            </a:endParaRPr>
          </a:p>
          <a:p>
            <a:pPr lvl="1" marL="795020" marR="5080" indent="-304165">
              <a:lnSpc>
                <a:spcPts val="1120"/>
              </a:lnSpc>
              <a:spcBef>
                <a:spcPts val="45"/>
              </a:spcBef>
              <a:buChar char="○"/>
              <a:tabLst>
                <a:tab pos="795020" algn="l"/>
                <a:tab pos="98171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Capabilities: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align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with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function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1958204"/>
            <a:ext cx="154917" cy="1458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5374" y="2220242"/>
            <a:ext cx="10096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241973"/>
            <a:ext cx="154917" cy="1458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5374" y="2504011"/>
            <a:ext cx="10096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525742"/>
            <a:ext cx="154917" cy="14580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5374" y="1794589"/>
            <a:ext cx="3352800" cy="1026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16230">
              <a:lnSpc>
                <a:spcPts val="1130"/>
              </a:lnSpc>
              <a:spcBef>
                <a:spcPts val="130"/>
              </a:spcBef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Orders,</a:t>
            </a:r>
            <a:r>
              <a:rPr dirty="0" sz="9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Users).</a:t>
            </a:r>
            <a:endParaRPr sz="950">
              <a:latin typeface="Arial"/>
              <a:cs typeface="Arial"/>
            </a:endParaRPr>
          </a:p>
          <a:p>
            <a:pPr marL="316230" marR="220979" indent="-304165">
              <a:lnSpc>
                <a:spcPts val="1120"/>
              </a:lnSpc>
              <a:spcBef>
                <a:spcPts val="40"/>
              </a:spcBef>
              <a:buChar char="○"/>
              <a:tabLst>
                <a:tab pos="316230" algn="l"/>
                <a:tab pos="5029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Responsibility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Principle: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microservice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95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thing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well.</a:t>
            </a:r>
            <a:endParaRPr sz="950">
              <a:latin typeface="Arial"/>
              <a:cs typeface="Arial"/>
            </a:endParaRPr>
          </a:p>
          <a:p>
            <a:pPr marL="503555">
              <a:lnSpc>
                <a:spcPts val="1070"/>
              </a:lnSpc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Ownership: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95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microservice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owns</a:t>
            </a:r>
            <a:r>
              <a:rPr dirty="0" sz="95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own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15"/>
              </a:lnSpc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database—avoid</a:t>
            </a:r>
            <a:r>
              <a:rPr dirty="0" sz="950" spc="3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shared</a:t>
            </a:r>
            <a:r>
              <a:rPr dirty="0" sz="950" spc="3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databases.</a:t>
            </a:r>
            <a:endParaRPr sz="950">
              <a:latin typeface="Arial"/>
              <a:cs typeface="Arial"/>
            </a:endParaRPr>
          </a:p>
          <a:p>
            <a:pPr marL="316230" marR="5080" indent="186690">
              <a:lnSpc>
                <a:spcPts val="1120"/>
              </a:lnSpc>
              <a:spcBef>
                <a:spcPts val="45"/>
              </a:spcBef>
            </a:pPr>
            <a:r>
              <a:rPr dirty="0" sz="950" spc="45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Deployable: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deployable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9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aﬀecting</a:t>
            </a:r>
            <a:r>
              <a:rPr dirty="0" sz="9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others.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690" y="2784650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5" y="2808942"/>
            <a:ext cx="199206" cy="18748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82576" y="2784650"/>
            <a:ext cx="24206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r>
              <a:rPr dirty="0" sz="12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374" y="2970202"/>
            <a:ext cx="3479800" cy="13100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16230" marR="67310" indent="-304165">
              <a:lnSpc>
                <a:spcPts val="1120"/>
              </a:lnSpc>
              <a:spcBef>
                <a:spcPts val="185"/>
              </a:spcBef>
              <a:buChar char="○"/>
              <a:tabLst>
                <a:tab pos="316230" algn="l"/>
              </a:tabLst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Decompose</a:t>
            </a:r>
            <a:r>
              <a:rPr dirty="0" sz="9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9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dirty="0" sz="9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Domain:</a:t>
            </a:r>
            <a:r>
              <a:rPr dirty="0" sz="95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9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Domain-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Driven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(DDD)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group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logically.</a:t>
            </a:r>
            <a:endParaRPr sz="950">
              <a:latin typeface="Arial"/>
              <a:cs typeface="Arial"/>
            </a:endParaRPr>
          </a:p>
          <a:p>
            <a:pPr marL="316230" indent="-303530">
              <a:lnSpc>
                <a:spcPts val="1070"/>
              </a:lnSpc>
              <a:buChar char="○"/>
              <a:tabLst>
                <a:tab pos="31623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dirty="0" sz="9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Clear</a:t>
            </a:r>
            <a:r>
              <a:rPr dirty="0" sz="9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9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95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dirty="0" sz="95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85D46"/>
                </a:solidFill>
                <a:latin typeface="Arial"/>
                <a:cs typeface="Arial"/>
              </a:rPr>
              <a:t>via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15"/>
              </a:lnSpc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well-deﬁned</a:t>
            </a:r>
            <a:r>
              <a:rPr dirty="0" sz="9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9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75">
                <a:solidFill>
                  <a:srgbClr val="685D46"/>
                </a:solidFill>
                <a:latin typeface="Arial"/>
                <a:cs typeface="Arial"/>
              </a:rPr>
              <a:t>(REST,</a:t>
            </a:r>
            <a:r>
              <a:rPr dirty="0" sz="9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55">
                <a:solidFill>
                  <a:srgbClr val="685D46"/>
                </a:solidFill>
                <a:latin typeface="Arial"/>
                <a:cs typeface="Arial"/>
              </a:rPr>
              <a:t>gRPC,</a:t>
            </a:r>
            <a:r>
              <a:rPr dirty="0" sz="9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9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events).</a:t>
            </a:r>
            <a:endParaRPr sz="950">
              <a:latin typeface="Arial"/>
              <a:cs typeface="Arial"/>
            </a:endParaRPr>
          </a:p>
          <a:p>
            <a:pPr marL="316230" marR="143510" indent="-304165">
              <a:lnSpc>
                <a:spcPts val="1120"/>
              </a:lnSpc>
              <a:spcBef>
                <a:spcPts val="40"/>
              </a:spcBef>
              <a:buChar char="○"/>
              <a:tabLst>
                <a:tab pos="316230" algn="l"/>
              </a:tabLst>
            </a:pP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Granularity: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making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9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large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(monolith-in-disguise)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too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small</a:t>
            </a:r>
            <a:r>
              <a:rPr dirty="0" sz="95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(high</a:t>
            </a:r>
            <a:r>
              <a:rPr dirty="0" sz="95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complexity).</a:t>
            </a:r>
            <a:endParaRPr sz="950">
              <a:latin typeface="Arial"/>
              <a:cs typeface="Arial"/>
            </a:endParaRPr>
          </a:p>
          <a:p>
            <a:pPr marL="316230" indent="-303530">
              <a:lnSpc>
                <a:spcPts val="1065"/>
              </a:lnSpc>
              <a:buChar char="○"/>
              <a:tabLst>
                <a:tab pos="316230" algn="l"/>
              </a:tabLst>
            </a:pP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Observability: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logging,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monitoring,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30"/>
              </a:lnSpc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tracing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interactions.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187" y="1304825"/>
            <a:ext cx="4201551" cy="22977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65"/>
              <a:t>Communication</a:t>
            </a:r>
            <a:r>
              <a:rPr dirty="0" spc="-40"/>
              <a:t> </a:t>
            </a:r>
            <a:r>
              <a:rPr dirty="0" spc="-170"/>
              <a:t>in</a:t>
            </a:r>
            <a:r>
              <a:rPr dirty="0" spc="-40"/>
              <a:t> </a:t>
            </a:r>
            <a:r>
              <a:rPr dirty="0" spc="-210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861435" cy="21545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dirty="0" sz="1800" spc="3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lvl="1" marL="836294" marR="119380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(Simple,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used,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but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latency)</a:t>
            </a:r>
            <a:endParaRPr sz="14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(Eﬃcient,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format,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better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performance)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800" spc="3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lvl="1" marL="836294" marR="433705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(Kafka,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SNS/SQS)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6993" y="1526957"/>
            <a:ext cx="3668740" cy="14946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0"/>
              <a:t>Challenges</a:t>
            </a:r>
            <a:r>
              <a:rPr dirty="0" spc="-10"/>
              <a:t> </a:t>
            </a:r>
            <a:r>
              <a:rPr dirty="0" spc="-250"/>
              <a:t>of</a:t>
            </a:r>
            <a:r>
              <a:rPr dirty="0" spc="-5"/>
              <a:t> </a:t>
            </a:r>
            <a:r>
              <a:rPr dirty="0" spc="-215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59426"/>
            <a:ext cx="284633" cy="267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674894"/>
            <a:ext cx="284633" cy="267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90362"/>
            <a:ext cx="284633" cy="2678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305829"/>
            <a:ext cx="284633" cy="267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9" y="1289058"/>
            <a:ext cx="758698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722630" indent="-709930">
              <a:lnSpc>
                <a:spcPct val="100000"/>
              </a:lnSpc>
              <a:spcBef>
                <a:spcPts val="420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Consistency: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Tracing: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debug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Overhead: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Authentication,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authorization,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45"/>
              <a:t>Scaling</a:t>
            </a:r>
            <a:r>
              <a:rPr dirty="0" spc="-35"/>
              <a:t> </a:t>
            </a:r>
            <a:r>
              <a:rPr dirty="0" spc="-165"/>
              <a:t>Strategies</a:t>
            </a:r>
            <a:r>
              <a:rPr dirty="0" spc="-35"/>
              <a:t> </a:t>
            </a:r>
            <a:r>
              <a:rPr dirty="0" spc="-170"/>
              <a:t>in</a:t>
            </a:r>
            <a:r>
              <a:rPr dirty="0" spc="-35"/>
              <a:t> </a:t>
            </a:r>
            <a:r>
              <a:rPr dirty="0" spc="-215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08120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4102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instances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  <a:p>
            <a:pPr marL="379095" marR="6362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Auto-scaling: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up/down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automatically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Sharding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Split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3962399" cy="32289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Real-</a:t>
            </a:r>
            <a:r>
              <a:rPr dirty="0" spc="-300"/>
              <a:t>World</a:t>
            </a:r>
            <a:r>
              <a:rPr dirty="0" spc="-25"/>
              <a:t> </a:t>
            </a:r>
            <a:r>
              <a:rPr dirty="0" spc="-210"/>
              <a:t>Examples</a:t>
            </a:r>
            <a:r>
              <a:rPr dirty="0" spc="-25"/>
              <a:t> </a:t>
            </a:r>
            <a:r>
              <a:rPr dirty="0" spc="-250"/>
              <a:t>of</a:t>
            </a:r>
            <a:r>
              <a:rPr dirty="0" spc="-20"/>
              <a:t> </a:t>
            </a:r>
            <a:r>
              <a:rPr dirty="0" spc="-204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600450" cy="26041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Netﬂix: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dirty="0" sz="1800" spc="2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800" spc="2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personalization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Uber: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Scales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ride-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matching,</a:t>
            </a:r>
            <a:endParaRPr sz="1800">
              <a:latin typeface="Arial"/>
              <a:cs typeface="Arial"/>
            </a:endParaRPr>
          </a:p>
          <a:p>
            <a:pPr marL="379095" marR="471805">
              <a:lnSpc>
                <a:spcPct val="105000"/>
              </a:lnSpc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navigation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endParaRPr sz="1800">
              <a:latin typeface="Arial"/>
              <a:cs typeface="Arial"/>
            </a:endParaRPr>
          </a:p>
          <a:p>
            <a:pPr algn="just" marL="377825" marR="26670" indent="-365760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Amazon: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(search,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r>
              <a:rPr dirty="0" sz="1800" spc="3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recommendations)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runs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separately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30383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35"/>
              <a:t> </a:t>
            </a:r>
            <a:r>
              <a:rPr dirty="0" spc="-229"/>
              <a:t>Questions</a:t>
            </a:r>
            <a:r>
              <a:rPr dirty="0" spc="-35"/>
              <a:t> </a:t>
            </a:r>
            <a:r>
              <a:rPr dirty="0" spc="-275"/>
              <a:t>on</a:t>
            </a:r>
            <a:r>
              <a:rPr dirty="0" spc="-30"/>
              <a:t> </a:t>
            </a:r>
            <a:r>
              <a:rPr dirty="0" spc="-215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73695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8058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monolithic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role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other?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microservices-based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55"/>
              <a:t> </a:t>
            </a:r>
            <a:r>
              <a:rPr dirty="0" spc="-90"/>
              <a:t>&amp;</a:t>
            </a:r>
            <a:r>
              <a:rPr dirty="0" spc="-114"/>
              <a:t> </a:t>
            </a:r>
            <a:r>
              <a:rPr dirty="0" spc="-325"/>
              <a:t>What’s</a:t>
            </a:r>
            <a:r>
              <a:rPr dirty="0" spc="-45"/>
              <a:t> </a:t>
            </a:r>
            <a:r>
              <a:rPr dirty="0" spc="-15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08215" cy="1859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Tolerance,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Discovery,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Challenges: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consistency,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debugging,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usage: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Netﬂix,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Uber,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Amazon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Lecture: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Architectures!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61720">
              <a:lnSpc>
                <a:spcPct val="100000"/>
              </a:lnSpc>
              <a:spcBef>
                <a:spcPts val="110"/>
              </a:spcBef>
            </a:pPr>
            <a:r>
              <a:rPr dirty="0" sz="3350" spc="-235"/>
              <a:t>Event-</a:t>
            </a:r>
            <a:r>
              <a:rPr dirty="0" sz="3350" spc="-225"/>
              <a:t>Driven</a:t>
            </a:r>
            <a:r>
              <a:rPr dirty="0" sz="3350" spc="-120"/>
              <a:t> </a:t>
            </a:r>
            <a:r>
              <a:rPr dirty="0" sz="3350" spc="-225"/>
              <a:t>Architecture</a:t>
            </a:r>
            <a:endParaRPr sz="33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Introduction</a:t>
            </a:r>
            <a:r>
              <a:rPr dirty="0" spc="5"/>
              <a:t> </a:t>
            </a:r>
            <a:r>
              <a:rPr dirty="0" spc="-235"/>
              <a:t>to</a:t>
            </a:r>
            <a:r>
              <a:rPr dirty="0" spc="5"/>
              <a:t> </a:t>
            </a:r>
            <a:r>
              <a:rPr dirty="0" spc="-215"/>
              <a:t>Event-</a:t>
            </a:r>
            <a:r>
              <a:rPr dirty="0" spc="-200"/>
              <a:t>Driven</a:t>
            </a:r>
            <a:r>
              <a:rPr dirty="0" spc="-114"/>
              <a:t> </a:t>
            </a:r>
            <a:r>
              <a:rPr dirty="0" spc="-204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964940" cy="30892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55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communicate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rather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direct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calls.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4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Loose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ﬂexibility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It?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responsiveness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400" spc="22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dirty="0" sz="1400" spc="2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workﬂows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588066"/>
            <a:ext cx="4267199" cy="22612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Synchronous</a:t>
            </a:r>
            <a:r>
              <a:rPr dirty="0" spc="-80"/>
              <a:t> </a:t>
            </a:r>
            <a:r>
              <a:rPr dirty="0" spc="-190"/>
              <a:t>vs.</a:t>
            </a:r>
            <a:r>
              <a:rPr dirty="0" spc="-340"/>
              <a:t> </a:t>
            </a:r>
            <a:r>
              <a:rPr dirty="0" spc="-240"/>
              <a:t>Asynchronous</a:t>
            </a:r>
            <a:r>
              <a:rPr dirty="0" spc="-15"/>
              <a:t> </a:t>
            </a:r>
            <a:r>
              <a:rPr dirty="0" spc="-185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427470" cy="21545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(Request-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Model)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Blocking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Tight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(Event-Driven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Model)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Non-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blocking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dirty="0" sz="1400" spc="2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Message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queues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brokers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0"/>
              <a:t>Pub-</a:t>
            </a:r>
            <a:r>
              <a:rPr dirty="0" spc="-220"/>
              <a:t>Sub</a:t>
            </a:r>
            <a:r>
              <a:rPr dirty="0" spc="-85"/>
              <a:t> </a:t>
            </a:r>
            <a:r>
              <a:rPr dirty="0" spc="-190"/>
              <a:t>vs.</a:t>
            </a:r>
            <a:r>
              <a:rPr dirty="0" spc="-229"/>
              <a:t> </a:t>
            </a:r>
            <a:r>
              <a:rPr dirty="0" spc="-225"/>
              <a:t>Event</a:t>
            </a:r>
            <a:r>
              <a:rPr dirty="0" spc="-15"/>
              <a:t> </a:t>
            </a:r>
            <a:r>
              <a:rPr dirty="0" spc="-185"/>
              <a:t>Streaming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818890" cy="28975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80645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Publish-Subscribe</a:t>
            </a:r>
            <a:r>
              <a:rPr dirty="0" sz="1800" spc="3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Model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(Pub-Sub)</a:t>
            </a:r>
            <a:endParaRPr sz="1800">
              <a:latin typeface="Arial"/>
              <a:cs typeface="Arial"/>
            </a:endParaRPr>
          </a:p>
          <a:p>
            <a:pPr lvl="1" marL="836294" marR="90170" indent="-336550">
              <a:lnSpc>
                <a:spcPts val="1760"/>
              </a:lnSpc>
              <a:spcBef>
                <a:spcPts val="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broadcasted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subscribers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5"/>
              </a:spcBef>
              <a:buChar char="○"/>
              <a:tabLst>
                <a:tab pos="836294" algn="l"/>
              </a:tabLst>
            </a:pP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subscriber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gets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once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SNS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Streaming</a:t>
            </a:r>
            <a:endParaRPr sz="1800">
              <a:latin typeface="Arial"/>
              <a:cs typeface="Arial"/>
            </a:endParaRPr>
          </a:p>
          <a:p>
            <a:pPr lvl="1" marL="836294" marR="242570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stored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consumed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order</a:t>
            </a:r>
            <a:endParaRPr sz="1400">
              <a:latin typeface="Arial"/>
              <a:cs typeface="Arial"/>
            </a:endParaRPr>
          </a:p>
          <a:p>
            <a:pPr lvl="1" marL="836294" marR="543560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Consumers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process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at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Kinesis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7188" y="1450401"/>
            <a:ext cx="4076130" cy="17469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699" y="3119399"/>
            <a:ext cx="5209299" cy="19301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Key</a:t>
            </a:r>
            <a:r>
              <a:rPr dirty="0" spc="-175"/>
              <a:t> </a:t>
            </a:r>
            <a:r>
              <a:rPr dirty="0" spc="-275"/>
              <a:t>Components</a:t>
            </a:r>
            <a:r>
              <a:rPr dirty="0" spc="-30"/>
              <a:t> </a:t>
            </a:r>
            <a:r>
              <a:rPr dirty="0" spc="-250"/>
              <a:t>of</a:t>
            </a:r>
            <a:r>
              <a:rPr dirty="0" spc="-25"/>
              <a:t> </a:t>
            </a:r>
            <a:r>
              <a:rPr dirty="0" spc="-265"/>
              <a:t>an</a:t>
            </a:r>
            <a:r>
              <a:rPr dirty="0" spc="-25"/>
              <a:t> </a:t>
            </a:r>
            <a:r>
              <a:rPr dirty="0" spc="-215"/>
              <a:t>Event-</a:t>
            </a:r>
            <a:r>
              <a:rPr dirty="0" spc="-204"/>
              <a:t>Driven</a:t>
            </a:r>
            <a:r>
              <a:rPr dirty="0" spc="-30"/>
              <a:t> </a:t>
            </a:r>
            <a:r>
              <a:rPr dirty="0" spc="-175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89058"/>
            <a:ext cx="776985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Producers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(Generate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Brokers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(Transmit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RabbitMQ, 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EventBridge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Consumers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(React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(Log-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persistence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replaying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0"/>
              <a:t>Challenges</a:t>
            </a:r>
            <a:r>
              <a:rPr dirty="0" spc="5"/>
              <a:t> </a:t>
            </a:r>
            <a:r>
              <a:rPr dirty="0" spc="-170"/>
              <a:t>in</a:t>
            </a:r>
            <a:r>
              <a:rPr dirty="0" spc="5"/>
              <a:t> </a:t>
            </a:r>
            <a:r>
              <a:rPr dirty="0" spc="-215"/>
              <a:t>Event-</a:t>
            </a:r>
            <a:r>
              <a:rPr dirty="0" spc="-200"/>
              <a:t>Driven</a:t>
            </a:r>
            <a:r>
              <a:rPr dirty="0" spc="-114"/>
              <a:t> </a:t>
            </a:r>
            <a:r>
              <a:rPr dirty="0" spc="-20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426325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(No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immediate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synchronization)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Ordering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Guarantees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(Ensuring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processed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sequence)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Retries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(Handling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gracefully)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Debugging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(Tracing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microservices)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Best</a:t>
            </a:r>
            <a:r>
              <a:rPr dirty="0" spc="-35"/>
              <a:t> </a:t>
            </a:r>
            <a:r>
              <a:rPr dirty="0" spc="-190"/>
              <a:t>Practices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/>
              <a:t>Use</a:t>
            </a:r>
            <a:r>
              <a:rPr dirty="0" spc="75"/>
              <a:t> </a:t>
            </a:r>
            <a:r>
              <a:rPr dirty="0" spc="80"/>
              <a:t>idempotent</a:t>
            </a:r>
            <a:r>
              <a:rPr dirty="0" spc="75"/>
              <a:t> </a:t>
            </a:r>
            <a:r>
              <a:rPr dirty="0"/>
              <a:t>event</a:t>
            </a:r>
            <a:r>
              <a:rPr dirty="0" spc="75"/>
              <a:t> </a:t>
            </a:r>
            <a:r>
              <a:rPr dirty="0"/>
              <a:t>processing</a:t>
            </a:r>
            <a:r>
              <a:rPr dirty="0" spc="70"/>
              <a:t> </a:t>
            </a:r>
            <a:r>
              <a:rPr dirty="0" spc="100"/>
              <a:t>to</a:t>
            </a:r>
            <a:r>
              <a:rPr dirty="0" spc="75"/>
              <a:t> </a:t>
            </a:r>
            <a:r>
              <a:rPr dirty="0"/>
              <a:t>avoid</a:t>
            </a:r>
            <a:r>
              <a:rPr dirty="0" spc="70"/>
              <a:t> </a:t>
            </a:r>
            <a:r>
              <a:rPr dirty="0" spc="-10"/>
              <a:t>duplicates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pc="75"/>
              <a:t>Implement</a:t>
            </a:r>
            <a:r>
              <a:rPr dirty="0" spc="114"/>
              <a:t> </a:t>
            </a:r>
            <a:r>
              <a:rPr dirty="0" spc="55"/>
              <a:t>dead-</a:t>
            </a:r>
            <a:r>
              <a:rPr dirty="0"/>
              <a:t>letter</a:t>
            </a:r>
            <a:r>
              <a:rPr dirty="0" spc="120"/>
              <a:t> </a:t>
            </a:r>
            <a:r>
              <a:rPr dirty="0"/>
              <a:t>queues</a:t>
            </a:r>
            <a:r>
              <a:rPr dirty="0" spc="130"/>
              <a:t> </a:t>
            </a:r>
            <a:r>
              <a:rPr dirty="0" spc="100"/>
              <a:t>for</a:t>
            </a:r>
            <a:r>
              <a:rPr dirty="0" spc="120"/>
              <a:t> </a:t>
            </a:r>
            <a:r>
              <a:rPr dirty="0"/>
              <a:t>failed</a:t>
            </a:r>
            <a:r>
              <a:rPr dirty="0" spc="125"/>
              <a:t> </a:t>
            </a:r>
            <a:r>
              <a:rPr dirty="0" spc="-10"/>
              <a:t>messages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Choose</a:t>
            </a:r>
            <a:r>
              <a:rPr dirty="0" spc="40"/>
              <a:t> </a:t>
            </a:r>
            <a:r>
              <a:rPr dirty="0" spc="80"/>
              <a:t>the</a:t>
            </a:r>
            <a:r>
              <a:rPr dirty="0" spc="45"/>
              <a:t> </a:t>
            </a:r>
            <a:r>
              <a:rPr dirty="0" spc="70"/>
              <a:t>right</a:t>
            </a:r>
            <a:r>
              <a:rPr dirty="0" spc="45"/>
              <a:t> </a:t>
            </a:r>
            <a:r>
              <a:rPr dirty="0"/>
              <a:t>event</a:t>
            </a:r>
            <a:r>
              <a:rPr dirty="0" spc="45"/>
              <a:t> </a:t>
            </a:r>
            <a:r>
              <a:rPr dirty="0" spc="80"/>
              <a:t>broker</a:t>
            </a:r>
            <a:r>
              <a:rPr dirty="0" spc="40"/>
              <a:t> </a:t>
            </a:r>
            <a:r>
              <a:rPr dirty="0"/>
              <a:t>based</a:t>
            </a:r>
            <a:r>
              <a:rPr dirty="0" spc="40"/>
              <a:t> </a:t>
            </a:r>
            <a:r>
              <a:rPr dirty="0" spc="85"/>
              <a:t>on</a:t>
            </a:r>
            <a:r>
              <a:rPr dirty="0" spc="45"/>
              <a:t> </a:t>
            </a:r>
            <a:r>
              <a:rPr dirty="0"/>
              <a:t>system</a:t>
            </a:r>
            <a:r>
              <a:rPr dirty="0" spc="40"/>
              <a:t> </a:t>
            </a:r>
            <a:r>
              <a:rPr dirty="0" spc="-10"/>
              <a:t>needs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Ensure</a:t>
            </a:r>
            <a:r>
              <a:rPr dirty="0" spc="150"/>
              <a:t> </a:t>
            </a:r>
            <a:r>
              <a:rPr dirty="0"/>
              <a:t>event</a:t>
            </a:r>
            <a:r>
              <a:rPr dirty="0" spc="150"/>
              <a:t> </a:t>
            </a:r>
            <a:r>
              <a:rPr dirty="0"/>
              <a:t>versioning</a:t>
            </a:r>
            <a:r>
              <a:rPr dirty="0" spc="140"/>
              <a:t> </a:t>
            </a:r>
            <a:r>
              <a:rPr dirty="0" spc="100"/>
              <a:t>to</a:t>
            </a:r>
            <a:r>
              <a:rPr dirty="0" spc="155"/>
              <a:t> </a:t>
            </a:r>
            <a:r>
              <a:rPr dirty="0"/>
              <a:t>handle</a:t>
            </a:r>
            <a:r>
              <a:rPr dirty="0" spc="150"/>
              <a:t> </a:t>
            </a:r>
            <a:r>
              <a:rPr dirty="0"/>
              <a:t>schema</a:t>
            </a:r>
            <a:r>
              <a:rPr dirty="0" spc="140"/>
              <a:t> </a:t>
            </a:r>
            <a:r>
              <a:rPr dirty="0" spc="-10"/>
              <a:t>changes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70"/>
              <a:t>Use</a:t>
            </a:r>
            <a:r>
              <a:rPr dirty="0" spc="-65"/>
              <a:t> </a:t>
            </a:r>
            <a:r>
              <a:rPr dirty="0" spc="-204"/>
              <a:t>Cases</a:t>
            </a:r>
            <a:r>
              <a:rPr dirty="0" spc="-20"/>
              <a:t> </a:t>
            </a:r>
            <a:r>
              <a:rPr dirty="0" spc="-250"/>
              <a:t>of</a:t>
            </a:r>
            <a:r>
              <a:rPr dirty="0" spc="-20"/>
              <a:t> </a:t>
            </a:r>
            <a:r>
              <a:rPr dirty="0" spc="-215"/>
              <a:t>Event-</a:t>
            </a:r>
            <a:r>
              <a:rPr dirty="0" spc="-200"/>
              <a:t>Driven</a:t>
            </a:r>
            <a:r>
              <a:rPr dirty="0" spc="-135"/>
              <a:t> </a:t>
            </a:r>
            <a:r>
              <a:rPr dirty="0" spc="-20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872730" cy="1918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Logging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Auditing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(Track changes over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time)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Notiﬁcations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(Chat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apps,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price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updates)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Decoupling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(Independent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8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tolerance)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(Sensor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processing)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Order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(Order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placed</a:t>
            </a:r>
            <a:r>
              <a:rPr dirty="0" sz="18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Payment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processed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Inventory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updated)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800" spc="-210"/>
              <a:t>Important</a:t>
            </a:r>
            <a:r>
              <a:rPr dirty="0" sz="2800"/>
              <a:t> </a:t>
            </a:r>
            <a:r>
              <a:rPr dirty="0" sz="2800" spc="-190"/>
              <a:t>Interview</a:t>
            </a:r>
            <a:r>
              <a:rPr dirty="0" sz="2800" spc="-90"/>
              <a:t> </a:t>
            </a:r>
            <a:r>
              <a:rPr dirty="0" sz="2800" spc="-204"/>
              <a:t>Questions</a:t>
            </a:r>
            <a:r>
              <a:rPr dirty="0" sz="2800"/>
              <a:t> </a:t>
            </a:r>
            <a:r>
              <a:rPr dirty="0" sz="2800" spc="-240"/>
              <a:t>on</a:t>
            </a:r>
            <a:r>
              <a:rPr dirty="0" sz="2800" spc="5"/>
              <a:t> </a:t>
            </a:r>
            <a:r>
              <a:rPr dirty="0" sz="2800" spc="-190"/>
              <a:t>Event-</a:t>
            </a:r>
            <a:r>
              <a:rPr dirty="0" sz="2800" spc="-175"/>
              <a:t>Driven</a:t>
            </a:r>
            <a:r>
              <a:rPr dirty="0" sz="2800" spc="-100"/>
              <a:t> </a:t>
            </a:r>
            <a:r>
              <a:rPr dirty="0" sz="2800" spc="-165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8046720" cy="2992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1500">
              <a:latin typeface="Arial"/>
              <a:cs typeface="Arial"/>
            </a:endParaRPr>
          </a:p>
          <a:p>
            <a:pPr lvl="1" marL="815340" marR="400050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685D46"/>
                </a:solidFill>
                <a:latin typeface="Arial"/>
                <a:cs typeface="Arial"/>
              </a:rPr>
              <a:t>(EDA),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response architectures?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Pub-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Sub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models.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consistency?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ordering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processing?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dead-letter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queues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0">
                <a:solidFill>
                  <a:srgbClr val="685D46"/>
                </a:solidFill>
                <a:latin typeface="Arial"/>
                <a:cs typeface="Arial"/>
              </a:rPr>
              <a:t>(DLQs),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Implementation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Technologies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EventBridge?</a:t>
            </a:r>
            <a:endParaRPr sz="1200">
              <a:latin typeface="Arial"/>
              <a:cs typeface="Arial"/>
            </a:endParaRPr>
          </a:p>
          <a:p>
            <a:pPr lvl="1" marL="854710" indent="-358775">
              <a:lnSpc>
                <a:spcPts val="1360"/>
              </a:lnSpc>
              <a:buChar char="○"/>
              <a:tabLst>
                <a:tab pos="854710" algn="l"/>
              </a:tabLst>
            </a:pP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idempotent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duplicate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execution?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500">
              <a:latin typeface="Arial"/>
              <a:cs typeface="Arial"/>
            </a:endParaRPr>
          </a:p>
          <a:p>
            <a:pPr lvl="1" marL="815340" marR="5080" indent="-320040">
              <a:lnSpc>
                <a:spcPts val="1360"/>
              </a:lnSpc>
              <a:spcBef>
                <a:spcPts val="75"/>
              </a:spcBef>
              <a:buChar char="○"/>
              <a:tabLst>
                <a:tab pos="815340" algn="l"/>
              </a:tabLst>
            </a:pP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choice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traditional architecture?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20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evolution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55"/>
              <a:t> </a:t>
            </a:r>
            <a:r>
              <a:rPr dirty="0" spc="-270"/>
              <a:t>and</a:t>
            </a:r>
            <a:r>
              <a:rPr dirty="0" spc="-55"/>
              <a:t> </a:t>
            </a:r>
            <a:r>
              <a:rPr dirty="0" spc="-235"/>
              <a:t>Key</a:t>
            </a:r>
            <a:r>
              <a:rPr dirty="0" spc="-150"/>
              <a:t> </a:t>
            </a:r>
            <a:r>
              <a:rPr dirty="0" spc="-26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684770" cy="249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25654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building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real-time,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marR="10033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Pub-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Sub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depends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 needs.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Architectural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CQRS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Sourcing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enhance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ﬂexibility.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exist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mitigated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practices.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Section</a:t>
            </a:r>
            <a:r>
              <a:rPr dirty="0" spc="-40"/>
              <a:t> </a:t>
            </a:r>
            <a:r>
              <a:rPr dirty="0" spc="-290"/>
              <a:t>Summary</a:t>
            </a:r>
            <a:r>
              <a:rPr dirty="0" spc="-270"/>
              <a:t> </a:t>
            </a:r>
            <a:r>
              <a:rPr dirty="0" spc="-10"/>
              <a:t>-</a:t>
            </a:r>
            <a:r>
              <a:rPr dirty="0" spc="-365"/>
              <a:t> </a:t>
            </a:r>
            <a:r>
              <a:rPr dirty="0" spc="-200"/>
              <a:t>Architectural</a:t>
            </a:r>
            <a:r>
              <a:rPr dirty="0" spc="-40"/>
              <a:t> </a:t>
            </a:r>
            <a:r>
              <a:rPr dirty="0" spc="-165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783195" cy="239966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patterns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oﬀs.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Microservices: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enabling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deployment.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Asynchronous,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  <a:p>
            <a:pPr lvl="1" marL="836294" marR="21336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Learned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cases,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considerations,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dcterms:created xsi:type="dcterms:W3CDTF">2025-11-26T16:45:36Z</dcterms:created>
  <dcterms:modified xsi:type="dcterms:W3CDTF">2025-11-26T16:45:36Z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