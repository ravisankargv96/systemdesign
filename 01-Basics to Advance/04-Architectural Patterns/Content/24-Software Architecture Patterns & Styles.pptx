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5071" y="2146606"/>
            <a:ext cx="6018530" cy="5378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687945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6102350" cy="2595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50" spc="-275" dirty="0"/>
              <a:t>Software</a:t>
            </a:r>
            <a:r>
              <a:rPr sz="3350" spc="-160" dirty="0"/>
              <a:t> </a:t>
            </a:r>
            <a:r>
              <a:rPr sz="3350" spc="-240" dirty="0"/>
              <a:t>Architecture</a:t>
            </a:r>
            <a:r>
              <a:rPr sz="3350" spc="-40" dirty="0"/>
              <a:t> </a:t>
            </a:r>
            <a:r>
              <a:rPr sz="3350" spc="-245" dirty="0"/>
              <a:t>Patterns</a:t>
            </a:r>
            <a:r>
              <a:rPr sz="3350" spc="-50" dirty="0"/>
              <a:t> </a:t>
            </a:r>
            <a:r>
              <a:rPr sz="3350" dirty="0"/>
              <a:t>&amp;</a:t>
            </a:r>
            <a:r>
              <a:rPr sz="3350" spc="-45" dirty="0"/>
              <a:t> </a:t>
            </a:r>
            <a:r>
              <a:rPr sz="3350" spc="-135" dirty="0"/>
              <a:t>Styles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2363938" y="2881814"/>
            <a:ext cx="4415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30" dirty="0"/>
              <a:t>What</a:t>
            </a:r>
            <a:r>
              <a:rPr spc="-55" dirty="0"/>
              <a:t> </a:t>
            </a:r>
            <a:r>
              <a:rPr spc="-90" dirty="0"/>
              <a:t>is</a:t>
            </a:r>
            <a:r>
              <a:rPr spc="-55" dirty="0"/>
              <a:t> </a:t>
            </a:r>
            <a:r>
              <a:rPr spc="-250" dirty="0"/>
              <a:t>Software</a:t>
            </a:r>
            <a:r>
              <a:rPr spc="-165" dirty="0"/>
              <a:t> </a:t>
            </a:r>
            <a:r>
              <a:rPr spc="-200" dirty="0"/>
              <a:t>Architecture?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77" y="1320742"/>
            <a:ext cx="4001135" cy="290576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368935" marR="5080" indent="-356870">
              <a:lnSpc>
                <a:spcPts val="1900"/>
              </a:lnSpc>
              <a:spcBef>
                <a:spcPts val="244"/>
              </a:spcBef>
              <a:buFont typeface="Arial"/>
              <a:buChar char="●"/>
              <a:tabLst>
                <a:tab pos="368935" algn="l"/>
              </a:tabLst>
            </a:pPr>
            <a:r>
              <a:rPr sz="1650" spc="-40" dirty="0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sz="1650" spc="-4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high-level</a:t>
            </a:r>
            <a:r>
              <a:rPr sz="1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structure </a:t>
            </a:r>
            <a:r>
              <a:rPr sz="165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6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6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software</a:t>
            </a:r>
            <a:r>
              <a:rPr sz="16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system,</a:t>
            </a:r>
            <a:r>
              <a:rPr sz="16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deﬁning components,</a:t>
            </a:r>
            <a:r>
              <a:rPr sz="165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5" dirty="0">
                <a:solidFill>
                  <a:srgbClr val="685D46"/>
                </a:solidFill>
                <a:latin typeface="Arial"/>
                <a:cs typeface="Arial"/>
              </a:rPr>
              <a:t>their</a:t>
            </a:r>
            <a:r>
              <a:rPr sz="165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relationships,</a:t>
            </a:r>
            <a:r>
              <a:rPr sz="165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way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interact.</a:t>
            </a:r>
            <a:endParaRPr sz="1650">
              <a:latin typeface="Arial"/>
              <a:cs typeface="Arial"/>
            </a:endParaRPr>
          </a:p>
          <a:p>
            <a:pPr marL="368300" indent="-355600">
              <a:lnSpc>
                <a:spcPts val="1800"/>
              </a:lnSpc>
              <a:buFont typeface="Arial"/>
              <a:buChar char="●"/>
              <a:tabLst>
                <a:tab pos="368300" algn="l"/>
              </a:tabLst>
            </a:pPr>
            <a:r>
              <a:rPr sz="1650" spc="-45" dirty="0">
                <a:solidFill>
                  <a:srgbClr val="685D46"/>
                </a:solidFill>
                <a:latin typeface="Arial Black"/>
                <a:cs typeface="Arial Black"/>
              </a:rPr>
              <a:t>Why</a:t>
            </a:r>
            <a:r>
              <a:rPr sz="1650" spc="-110" dirty="0">
                <a:solidFill>
                  <a:srgbClr val="685D46"/>
                </a:solidFill>
                <a:latin typeface="Arial Black"/>
                <a:cs typeface="Arial Black"/>
              </a:rPr>
              <a:t> </a:t>
            </a:r>
            <a:r>
              <a:rPr sz="1650" spc="-65" dirty="0">
                <a:solidFill>
                  <a:srgbClr val="685D46"/>
                </a:solidFill>
                <a:latin typeface="Arial Black"/>
                <a:cs typeface="Arial Black"/>
              </a:rPr>
              <a:t>It</a:t>
            </a:r>
            <a:r>
              <a:rPr sz="1650" spc="-100" dirty="0">
                <a:solidFill>
                  <a:srgbClr val="685D46"/>
                </a:solidFill>
                <a:latin typeface="Arial Black"/>
                <a:cs typeface="Arial Black"/>
              </a:rPr>
              <a:t> </a:t>
            </a:r>
            <a:r>
              <a:rPr sz="1650" spc="-65" dirty="0">
                <a:solidFill>
                  <a:srgbClr val="685D46"/>
                </a:solidFill>
                <a:latin typeface="Arial Black"/>
                <a:cs typeface="Arial Black"/>
              </a:rPr>
              <a:t>Matters</a:t>
            </a:r>
            <a:r>
              <a:rPr sz="1650" spc="-65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65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impacts</a:t>
            </a:r>
            <a:endParaRPr sz="1650">
              <a:latin typeface="Arial"/>
              <a:cs typeface="Arial"/>
            </a:endParaRPr>
          </a:p>
          <a:p>
            <a:pPr marL="368935" marR="130175">
              <a:lnSpc>
                <a:spcPts val="1900"/>
              </a:lnSpc>
              <a:spcBef>
                <a:spcPts val="90"/>
              </a:spcBef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sz="1650" spc="2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maintainability, 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performance,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behavior.</a:t>
            </a:r>
            <a:endParaRPr sz="1650">
              <a:latin typeface="Arial"/>
              <a:cs typeface="Arial"/>
            </a:endParaRPr>
          </a:p>
          <a:p>
            <a:pPr marL="368300" indent="-355600">
              <a:lnSpc>
                <a:spcPts val="1810"/>
              </a:lnSpc>
              <a:buChar char="●"/>
              <a:tabLst>
                <a:tab pos="368300" algn="l"/>
              </a:tabLst>
            </a:pPr>
            <a:r>
              <a:rPr sz="1650" spc="70" dirty="0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 Styles</a:t>
            </a:r>
            <a:endParaRPr sz="1650">
              <a:latin typeface="Arial"/>
              <a:cs typeface="Arial"/>
            </a:endParaRPr>
          </a:p>
          <a:p>
            <a:pPr marL="825500" lvl="1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Monolithic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47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Layered</a:t>
            </a:r>
            <a:r>
              <a:rPr sz="13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(N-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tier)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47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Client-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475"/>
              </a:lnSpc>
              <a:buChar char="○"/>
              <a:tabLst>
                <a:tab pos="825500" algn="l"/>
              </a:tabLst>
            </a:pP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520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Event-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Driven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2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40" dirty="0"/>
              <a:t>Monolithic</a:t>
            </a:r>
            <a:r>
              <a:rPr spc="-150" dirty="0"/>
              <a:t> </a:t>
            </a:r>
            <a:r>
              <a:rPr spc="-20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5551805" cy="307975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79095" marR="262890" indent="-367030">
              <a:lnSpc>
                <a:spcPts val="2050"/>
              </a:lnSpc>
              <a:spcBef>
                <a:spcPts val="260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55" dirty="0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uniﬁed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all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tightly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coupled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a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unit.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ts val="1970"/>
              </a:lnSpc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Pros: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Simple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develop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deploy.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58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Easier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manage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smaller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2065"/>
              </a:lnSpc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Cons: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Hard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scale.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Diﬃcult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maintain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codebase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grows.</a:t>
            </a:r>
            <a:endParaRPr sz="1400">
              <a:latin typeface="Arial"/>
              <a:cs typeface="Arial"/>
            </a:endParaRPr>
          </a:p>
          <a:p>
            <a:pPr marL="836294" marR="5080" lvl="1" indent="-336550">
              <a:lnSpc>
                <a:spcPts val="1600"/>
              </a:lnSpc>
              <a:spcBef>
                <a:spcPts val="7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risk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failure: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bug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take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down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entire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system.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1945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Small-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scale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applications,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startups,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ts val="2105"/>
              </a:lnSpc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simple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CRUD-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apps.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2800" y="1381025"/>
            <a:ext cx="1828799" cy="32289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04" dirty="0"/>
              <a:t>Layered</a:t>
            </a:r>
            <a:r>
              <a:rPr spc="-20" dirty="0"/>
              <a:t> </a:t>
            </a:r>
            <a:r>
              <a:rPr spc="-235" dirty="0"/>
              <a:t>(N-</a:t>
            </a:r>
            <a:r>
              <a:rPr spc="-135" dirty="0"/>
              <a:t>Tier)</a:t>
            </a:r>
            <a:r>
              <a:rPr spc="-120" dirty="0"/>
              <a:t> </a:t>
            </a:r>
            <a:r>
              <a:rPr spc="-204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4721860" cy="307975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79095" marR="5080" indent="-367030">
              <a:lnSpc>
                <a:spcPts val="2050"/>
              </a:lnSpc>
              <a:spcBef>
                <a:spcPts val="260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55" dirty="0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split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into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multiple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layers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Presentation,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Logic,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Data)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separate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concerns.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ts val="1970"/>
              </a:lnSpc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Pros: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Clear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separation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of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concerns.</a:t>
            </a:r>
            <a:endParaRPr sz="1400">
              <a:latin typeface="Arial"/>
              <a:cs typeface="Arial"/>
            </a:endParaRPr>
          </a:p>
          <a:p>
            <a:pPr marL="836294" marR="454659" lvl="1" indent="-336550">
              <a:lnSpc>
                <a:spcPts val="1600"/>
              </a:lnSpc>
              <a:spcBef>
                <a:spcPts val="7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Easier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scale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maintain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compared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to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monolithic.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1960"/>
              </a:lnSpc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Cons: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overhead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due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layers.</a:t>
            </a:r>
            <a:endParaRPr sz="1400">
              <a:latin typeface="Arial"/>
              <a:cs typeface="Arial"/>
            </a:endParaRPr>
          </a:p>
          <a:p>
            <a:pPr marL="836294" marR="253365" lvl="1" indent="-336550">
              <a:lnSpc>
                <a:spcPts val="16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May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result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tight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coupling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certain layers.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1945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r>
              <a:rPr sz="18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Enterprise</a:t>
            </a:r>
            <a:r>
              <a:rPr sz="18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applications,</a:t>
            </a:r>
            <a:r>
              <a:rPr sz="18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CRM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ts val="2105"/>
              </a:lnSpc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systems,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Banking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2200" y="1304825"/>
            <a:ext cx="3419399" cy="24914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29" dirty="0"/>
              <a:t>Microservices</a:t>
            </a:r>
            <a:r>
              <a:rPr spc="-70" dirty="0"/>
              <a:t> </a:t>
            </a:r>
            <a:r>
              <a:rPr spc="-204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014" y="1296602"/>
            <a:ext cx="4909820" cy="3154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8140" marR="67945" indent="-346075">
              <a:lnSpc>
                <a:spcPct val="117300"/>
              </a:lnSpc>
              <a:spcBef>
                <a:spcPts val="90"/>
              </a:spcBef>
              <a:buFont typeface="Arial"/>
              <a:buChar char="●"/>
              <a:tabLst>
                <a:tab pos="358140" algn="l"/>
              </a:tabLst>
            </a:pPr>
            <a:r>
              <a:rPr sz="1500" spc="-30" dirty="0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sz="1500" spc="-3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75" dirty="0">
                <a:solidFill>
                  <a:srgbClr val="685D46"/>
                </a:solidFill>
                <a:latin typeface="Arial"/>
                <a:cs typeface="Arial"/>
              </a:rPr>
              <a:t>built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collection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small, </a:t>
            </a:r>
            <a:r>
              <a:rPr sz="1500" spc="70" dirty="0">
                <a:solidFill>
                  <a:srgbClr val="685D46"/>
                </a:solidFill>
                <a:latin typeface="Arial"/>
                <a:cs typeface="Arial"/>
              </a:rPr>
              <a:t>independent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services,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focused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80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speciﬁc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sz="1500" spc="2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capability.</a:t>
            </a:r>
            <a:endParaRPr sz="15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315"/>
              </a:spcBef>
              <a:buChar char="●"/>
              <a:tabLst>
                <a:tab pos="358140" algn="l"/>
              </a:tabLst>
            </a:pP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Pros:</a:t>
            </a:r>
            <a:endParaRPr sz="1500">
              <a:latin typeface="Arial"/>
              <a:cs typeface="Arial"/>
            </a:endParaRPr>
          </a:p>
          <a:p>
            <a:pPr marL="815340" marR="517525" lvl="1" indent="-320040">
              <a:lnSpc>
                <a:spcPct val="113999"/>
              </a:lnSpc>
              <a:spcBef>
                <a:spcPts val="80"/>
              </a:spcBef>
              <a:buChar char="○"/>
              <a:tabLst>
                <a:tab pos="815340" algn="l"/>
              </a:tabLst>
            </a:pP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Independent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scaled,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deployed,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developed</a:t>
            </a:r>
            <a:r>
              <a:rPr sz="12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separately.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204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Flexibility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technology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stack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service.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20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Better</a:t>
            </a:r>
            <a:r>
              <a:rPr sz="1200" spc="1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fault</a:t>
            </a:r>
            <a:r>
              <a:rPr sz="1200" spc="1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tolerance.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229"/>
              </a:spcBef>
              <a:buChar char="●"/>
              <a:tabLst>
                <a:tab pos="358140" algn="l"/>
              </a:tabLst>
            </a:pP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Cons: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285"/>
              </a:spcBef>
              <a:buChar char="○"/>
              <a:tabLst>
                <a:tab pos="815340" algn="l"/>
              </a:tabLst>
            </a:pP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Increased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complexity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coordination.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20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sz="12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robust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DevOps</a:t>
            </a:r>
            <a:r>
              <a:rPr sz="12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automation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pipelines.</a:t>
            </a:r>
            <a:endParaRPr sz="1200">
              <a:latin typeface="Arial"/>
              <a:cs typeface="Arial"/>
            </a:endParaRPr>
          </a:p>
          <a:p>
            <a:pPr marL="358140" marR="136525" indent="-346075">
              <a:lnSpc>
                <a:spcPts val="2110"/>
              </a:lnSpc>
              <a:spcBef>
                <a:spcPts val="30"/>
              </a:spcBef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5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30" dirty="0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r>
              <a:rPr sz="15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Large-scale</a:t>
            </a:r>
            <a:r>
              <a:rPr sz="15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applications,</a:t>
            </a:r>
            <a:r>
              <a:rPr sz="15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e-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commerce 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platforms,</a:t>
            </a:r>
            <a:r>
              <a:rPr sz="15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sz="15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cloud-based</a:t>
            </a:r>
            <a:r>
              <a:rPr sz="15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9500" y="1304825"/>
            <a:ext cx="3272099" cy="2122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15" dirty="0"/>
              <a:t>Event-</a:t>
            </a:r>
            <a:r>
              <a:rPr spc="-200" dirty="0"/>
              <a:t>Driven</a:t>
            </a:r>
            <a:r>
              <a:rPr spc="-90" dirty="0"/>
              <a:t> </a:t>
            </a:r>
            <a:r>
              <a:rPr spc="-204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52" y="1300373"/>
            <a:ext cx="3868420" cy="312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marR="127000" indent="-335915">
              <a:lnSpc>
                <a:spcPct val="114599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-45" dirty="0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sz="1400" spc="-45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components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communicate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through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events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(messages)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direct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calls,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enabling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loose coupling.</a:t>
            </a:r>
            <a:endParaRPr sz="1400">
              <a:latin typeface="Arial"/>
              <a:cs typeface="Arial"/>
            </a:endParaRPr>
          </a:p>
          <a:p>
            <a:pPr marL="347980" indent="-335280">
              <a:lnSpc>
                <a:spcPct val="100000"/>
              </a:lnSpc>
              <a:spcBef>
                <a:spcPts val="245"/>
              </a:spcBef>
              <a:buChar char="●"/>
              <a:tabLst>
                <a:tab pos="347980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Pros:</a:t>
            </a:r>
            <a:endParaRPr sz="1400">
              <a:latin typeface="Arial"/>
              <a:cs typeface="Arial"/>
            </a:endParaRPr>
          </a:p>
          <a:p>
            <a:pPr marL="805180" lvl="1" indent="-311785">
              <a:lnSpc>
                <a:spcPct val="100000"/>
              </a:lnSpc>
              <a:spcBef>
                <a:spcPts val="295"/>
              </a:spcBef>
              <a:buChar char="○"/>
              <a:tabLst>
                <a:tab pos="805180" algn="l"/>
              </a:tabLst>
            </a:pP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Highly</a:t>
            </a:r>
            <a:r>
              <a:rPr sz="10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decoupled</a:t>
            </a:r>
            <a:r>
              <a:rPr sz="10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architecture.</a:t>
            </a:r>
            <a:endParaRPr sz="1050">
              <a:latin typeface="Arial"/>
              <a:cs typeface="Arial"/>
            </a:endParaRPr>
          </a:p>
          <a:p>
            <a:pPr marL="805180" lvl="1" indent="-311785">
              <a:lnSpc>
                <a:spcPct val="100000"/>
              </a:lnSpc>
              <a:spcBef>
                <a:spcPts val="240"/>
              </a:spcBef>
              <a:buChar char="○"/>
              <a:tabLst>
                <a:tab pos="805180" algn="l"/>
              </a:tabLst>
            </a:pP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Excellent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7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asynchronous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workﬂows.</a:t>
            </a:r>
            <a:endParaRPr sz="1050">
              <a:latin typeface="Arial"/>
              <a:cs typeface="Arial"/>
            </a:endParaRPr>
          </a:p>
          <a:p>
            <a:pPr marL="805180" lvl="1" indent="-311785">
              <a:lnSpc>
                <a:spcPct val="100000"/>
              </a:lnSpc>
              <a:spcBef>
                <a:spcPts val="235"/>
              </a:spcBef>
              <a:buChar char="○"/>
              <a:tabLst>
                <a:tab pos="805180" algn="l"/>
              </a:tabLst>
            </a:pP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Better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7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55" dirty="0">
                <a:solidFill>
                  <a:srgbClr val="685D46"/>
                </a:solidFill>
                <a:latin typeface="Arial"/>
                <a:cs typeface="Arial"/>
              </a:rPr>
              <a:t>high-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0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050">
              <a:latin typeface="Arial"/>
              <a:cs typeface="Arial"/>
            </a:endParaRPr>
          </a:p>
          <a:p>
            <a:pPr marL="347980" indent="-335280">
              <a:lnSpc>
                <a:spcPct val="100000"/>
              </a:lnSpc>
              <a:spcBef>
                <a:spcPts val="185"/>
              </a:spcBef>
              <a:buChar char="●"/>
              <a:tabLst>
                <a:tab pos="347980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Cons:</a:t>
            </a:r>
            <a:endParaRPr sz="1400">
              <a:latin typeface="Arial"/>
              <a:cs typeface="Arial"/>
            </a:endParaRPr>
          </a:p>
          <a:p>
            <a:pPr marL="805180" lvl="1" indent="-311785">
              <a:lnSpc>
                <a:spcPct val="100000"/>
              </a:lnSpc>
              <a:spcBef>
                <a:spcPts val="300"/>
              </a:spcBef>
              <a:buChar char="○"/>
              <a:tabLst>
                <a:tab pos="805180" algn="l"/>
              </a:tabLst>
            </a:pP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Debugging</a:t>
            </a:r>
            <a:r>
              <a:rPr sz="10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05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tracing</a:t>
            </a:r>
            <a:r>
              <a:rPr sz="10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become</a:t>
            </a:r>
            <a:r>
              <a:rPr sz="105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685D46"/>
                </a:solidFill>
                <a:latin typeface="Arial"/>
                <a:cs typeface="Arial"/>
              </a:rPr>
              <a:t>more</a:t>
            </a:r>
            <a:r>
              <a:rPr sz="10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complex.</a:t>
            </a:r>
            <a:endParaRPr sz="1050">
              <a:latin typeface="Arial"/>
              <a:cs typeface="Arial"/>
            </a:endParaRPr>
          </a:p>
          <a:p>
            <a:pPr marL="805180" marR="360045" lvl="1" indent="-311785">
              <a:lnSpc>
                <a:spcPct val="118800"/>
              </a:lnSpc>
              <a:buChar char="○"/>
              <a:tabLst>
                <a:tab pos="805180" algn="l"/>
              </a:tabLst>
            </a:pP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Diﬃcult</a:t>
            </a:r>
            <a:r>
              <a:rPr sz="10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7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0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ensure</a:t>
            </a:r>
            <a:r>
              <a:rPr sz="10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0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consistency</a:t>
            </a:r>
            <a:r>
              <a:rPr sz="10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across services.</a:t>
            </a:r>
            <a:endParaRPr sz="1050">
              <a:latin typeface="Arial"/>
              <a:cs typeface="Arial"/>
            </a:endParaRPr>
          </a:p>
          <a:p>
            <a:pPr marL="347980" marR="205104" indent="-335915">
              <a:lnSpc>
                <a:spcPts val="1930"/>
              </a:lnSpc>
              <a:spcBef>
                <a:spcPts val="30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systems,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IoT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applications,</a:t>
            </a:r>
            <a:r>
              <a:rPr sz="14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ﬁnancial</a:t>
            </a:r>
            <a:r>
              <a:rPr sz="14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trading</a:t>
            </a:r>
            <a:r>
              <a:rPr sz="14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platforms.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49044"/>
            <a:ext cx="4267199" cy="17687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00" dirty="0"/>
              <a:t>Factors</a:t>
            </a:r>
            <a:r>
              <a:rPr spc="20" dirty="0"/>
              <a:t> </a:t>
            </a:r>
            <a:r>
              <a:rPr spc="-200" dirty="0"/>
              <a:t>Inﬂuencing</a:t>
            </a:r>
            <a:r>
              <a:rPr spc="-100" dirty="0"/>
              <a:t> </a:t>
            </a:r>
            <a:r>
              <a:rPr spc="-215" dirty="0"/>
              <a:t>Architecture</a:t>
            </a:r>
            <a:r>
              <a:rPr spc="20" dirty="0"/>
              <a:t> </a:t>
            </a:r>
            <a:r>
              <a:rPr spc="-160" dirty="0"/>
              <a:t>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230234" cy="1602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Needs: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problem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solving?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goal?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Scalability: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much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handle?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Performance: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fast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respond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users?</a:t>
            </a:r>
            <a:endParaRPr sz="1800">
              <a:latin typeface="Arial"/>
              <a:cs typeface="Arial"/>
            </a:endParaRPr>
          </a:p>
          <a:p>
            <a:pPr marL="379095" marR="24574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Maintainability: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easy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make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updates,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ﬁx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bugs,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evolve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sz="18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time?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15" dirty="0"/>
              <a:t>Interview</a:t>
            </a:r>
            <a:r>
              <a:rPr spc="-100" dirty="0"/>
              <a:t> </a:t>
            </a:r>
            <a:r>
              <a:rPr spc="-200" dirty="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6133" y="1318204"/>
            <a:ext cx="8140065" cy="29565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37845" indent="-404495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537845" algn="l"/>
              </a:tabLst>
            </a:pP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6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6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sz="16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70" dirty="0">
                <a:solidFill>
                  <a:srgbClr val="685D46"/>
                </a:solidFill>
                <a:latin typeface="Arial"/>
                <a:cs typeface="Arial"/>
              </a:rPr>
              <a:t>Monolithic</a:t>
            </a:r>
            <a:r>
              <a:rPr sz="16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6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650">
              <a:latin typeface="Arial"/>
              <a:cs typeface="Arial"/>
            </a:endParaRPr>
          </a:p>
          <a:p>
            <a:pPr marL="537845" indent="-404495">
              <a:lnSpc>
                <a:spcPct val="100000"/>
              </a:lnSpc>
              <a:spcBef>
                <a:spcPts val="114"/>
              </a:spcBef>
              <a:buAutoNum type="arabicPeriod"/>
              <a:tabLst>
                <a:tab pos="537845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Layered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 architecture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 over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Microservices?</a:t>
            </a:r>
            <a:endParaRPr sz="1650">
              <a:latin typeface="Arial"/>
              <a:cs typeface="Arial"/>
            </a:endParaRPr>
          </a:p>
          <a:p>
            <a:pPr marL="537845" indent="-40449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537845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 pros and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cons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650">
              <a:latin typeface="Arial"/>
              <a:cs typeface="Arial"/>
            </a:endParaRPr>
          </a:p>
          <a:p>
            <a:pPr marL="537845" indent="-404495">
              <a:lnSpc>
                <a:spcPct val="100000"/>
              </a:lnSpc>
              <a:spcBef>
                <a:spcPts val="114"/>
              </a:spcBef>
              <a:buAutoNum type="arabicPeriod"/>
              <a:tabLst>
                <a:tab pos="537845" algn="l"/>
              </a:tabLst>
            </a:pPr>
            <a:r>
              <a:rPr sz="1650" spc="7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sz="1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impact</a:t>
            </a:r>
            <a:r>
              <a:rPr sz="1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performance?</a:t>
            </a:r>
            <a:endParaRPr sz="1650">
              <a:latin typeface="Arial"/>
              <a:cs typeface="Arial"/>
            </a:endParaRPr>
          </a:p>
          <a:p>
            <a:pPr marL="537845" indent="-40449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537845" algn="l"/>
              </a:tabLst>
            </a:pPr>
            <a:r>
              <a:rPr sz="1650" spc="7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6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5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sz="16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75" dirty="0">
                <a:solidFill>
                  <a:srgbClr val="685D46"/>
                </a:solidFill>
                <a:latin typeface="Arial"/>
                <a:cs typeface="Arial"/>
              </a:rPr>
              <a:t>requirements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inﬂuence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16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decisions?</a:t>
            </a:r>
            <a:endParaRPr sz="1650">
              <a:latin typeface="Arial"/>
              <a:cs typeface="Arial"/>
            </a:endParaRPr>
          </a:p>
          <a:p>
            <a:pPr marL="538480" marR="610870" indent="-405130">
              <a:lnSpc>
                <a:spcPct val="106000"/>
              </a:lnSpc>
              <a:buAutoNum type="arabicPeriod"/>
              <a:tabLst>
                <a:tab pos="53848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6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diﬀerences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Layered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6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Client-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Server architectures?</a:t>
            </a:r>
            <a:endParaRPr sz="1650">
              <a:latin typeface="Arial"/>
              <a:cs typeface="Arial"/>
            </a:endParaRPr>
          </a:p>
          <a:p>
            <a:pPr marL="537845" indent="-404495">
              <a:lnSpc>
                <a:spcPct val="100000"/>
              </a:lnSpc>
              <a:spcBef>
                <a:spcPts val="114"/>
              </a:spcBef>
              <a:buAutoNum type="arabicPeriod"/>
              <a:tabLst>
                <a:tab pos="537845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75" dirty="0">
                <a:solidFill>
                  <a:srgbClr val="685D46"/>
                </a:solidFill>
                <a:latin typeface="Arial"/>
                <a:cs typeface="Arial"/>
              </a:rPr>
              <a:t>main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maintaining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70" dirty="0">
                <a:solidFill>
                  <a:srgbClr val="685D46"/>
                </a:solidFill>
                <a:latin typeface="Arial"/>
                <a:cs typeface="Arial"/>
              </a:rPr>
              <a:t>Monolithic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5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grows?</a:t>
            </a:r>
            <a:endParaRPr sz="1650">
              <a:latin typeface="Arial"/>
              <a:cs typeface="Arial"/>
            </a:endParaRPr>
          </a:p>
          <a:p>
            <a:pPr marL="537845" indent="-40449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537845" algn="l"/>
              </a:tabLst>
            </a:pPr>
            <a:r>
              <a:rPr sz="1650" spc="7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5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6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decide</a:t>
            </a:r>
            <a:r>
              <a:rPr sz="16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70" dirty="0">
                <a:solidFill>
                  <a:srgbClr val="685D46"/>
                </a:solidFill>
                <a:latin typeface="Arial"/>
                <a:cs typeface="Arial"/>
              </a:rPr>
              <a:t>Monolithic</a:t>
            </a:r>
            <a:r>
              <a:rPr sz="16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6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95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6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new</a:t>
            </a:r>
            <a:r>
              <a:rPr sz="16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system?</a:t>
            </a:r>
            <a:endParaRPr sz="1650">
              <a:latin typeface="Arial"/>
              <a:cs typeface="Arial"/>
            </a:endParaRPr>
          </a:p>
          <a:p>
            <a:pPr marL="537845" indent="-40449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537845" algn="l"/>
              </a:tabLst>
            </a:pP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role 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75" dirty="0">
                <a:solidFill>
                  <a:srgbClr val="685D46"/>
                </a:solidFill>
                <a:latin typeface="Arial"/>
                <a:cs typeface="Arial"/>
              </a:rPr>
              <a:t>fault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tolerance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play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650">
              <a:latin typeface="Arial"/>
              <a:cs typeface="Arial"/>
            </a:endParaRPr>
          </a:p>
          <a:p>
            <a:pPr marL="537845" indent="-525145">
              <a:lnSpc>
                <a:spcPct val="100000"/>
              </a:lnSpc>
              <a:spcBef>
                <a:spcPts val="114"/>
              </a:spcBef>
              <a:buAutoNum type="arabicPeriod"/>
              <a:tabLst>
                <a:tab pos="537845" algn="l"/>
              </a:tabLst>
            </a:pPr>
            <a:r>
              <a:rPr sz="1650" spc="7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5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sz="1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r>
              <a:rPr sz="1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1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sz="1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data?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90" dirty="0"/>
              <a:t>Summary</a:t>
            </a:r>
            <a:r>
              <a:rPr spc="-160" dirty="0"/>
              <a:t> </a:t>
            </a:r>
            <a:r>
              <a:rPr dirty="0"/>
              <a:t>&amp;</a:t>
            </a:r>
            <a:r>
              <a:rPr spc="-130" dirty="0"/>
              <a:t> </a:t>
            </a:r>
            <a:r>
              <a:rPr spc="-240" dirty="0"/>
              <a:t>Key</a:t>
            </a:r>
            <a:r>
              <a:rPr spc="-254" dirty="0"/>
              <a:t> </a:t>
            </a:r>
            <a:r>
              <a:rPr spc="-285" dirty="0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908290" cy="2806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94234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Understand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styles: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Monolithic,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Layered,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Client-Server,</a:t>
            </a:r>
            <a:r>
              <a:rPr sz="1800" spc="2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Microservices,</a:t>
            </a:r>
            <a:r>
              <a:rPr sz="1800" spc="2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Event-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Driven.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style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has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its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pros,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cons,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best-use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cases.</a:t>
            </a:r>
            <a:endParaRPr sz="1800">
              <a:latin typeface="Arial"/>
              <a:cs typeface="Arial"/>
            </a:endParaRPr>
          </a:p>
          <a:p>
            <a:pPr marL="379095" marR="2857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decisions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impact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performance,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maintainability,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behavior.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needs,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technical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requirements,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goals.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Whats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Multi-Tier</a:t>
            </a:r>
            <a:r>
              <a:rPr sz="1400" spc="3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598</Words>
  <Application>Microsoft Office PowerPoint</Application>
  <PresentationFormat>On-screen Show (16:9)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Software Architecture Patterns &amp; Styles</vt:lpstr>
      <vt:lpstr>What is Software Architecture?</vt:lpstr>
      <vt:lpstr>Monolithic Architecture</vt:lpstr>
      <vt:lpstr>Layered (N-Tier) Architecture</vt:lpstr>
      <vt:lpstr>Microservices Architecture</vt:lpstr>
      <vt:lpstr>Event-Driven Architecture</vt:lpstr>
      <vt:lpstr>Factors Inﬂuencing Architecture Selection</vt:lpstr>
      <vt:lpstr>Interview questions</vt:lpstr>
      <vt:lpstr>Summary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4</dc:title>
  <cp:lastModifiedBy>RAVI GV</cp:lastModifiedBy>
  <cp:revision>1</cp:revision>
  <dcterms:created xsi:type="dcterms:W3CDTF">2025-11-26T16:45:36Z</dcterms:created>
  <dcterms:modified xsi:type="dcterms:W3CDTF">2025-11-26T16:59:59Z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2025-11-26T00:00:00Z</vt:filetime>
  </property>
</Properties>
</file>