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5071" y="2146606"/>
            <a:ext cx="6018530" cy="5378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87945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6102350" cy="2595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50" spc="-330" dirty="0"/>
              <a:t>Mastering</a:t>
            </a:r>
            <a:r>
              <a:rPr sz="4350" spc="-80" dirty="0"/>
              <a:t> </a:t>
            </a:r>
            <a:r>
              <a:rPr sz="4350" spc="-330" dirty="0"/>
              <a:t>System</a:t>
            </a:r>
            <a:r>
              <a:rPr sz="4350" spc="-65" dirty="0"/>
              <a:t> </a:t>
            </a:r>
            <a:r>
              <a:rPr sz="4350" spc="-275" dirty="0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2285110" y="2297787"/>
            <a:ext cx="457009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Section 4: </a:t>
            </a:r>
            <a:r>
              <a:rPr sz="2400" spc="6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4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2400">
              <a:latin typeface="Arial"/>
              <a:cs typeface="Arial"/>
            </a:endParaRPr>
          </a:p>
          <a:p>
            <a:pPr marL="196850">
              <a:lnSpc>
                <a:spcPct val="100000"/>
              </a:lnSpc>
              <a:spcBef>
                <a:spcPts val="1945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System Design </a:t>
            </a: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55" dirty="0"/>
              <a:t> </a:t>
            </a:r>
            <a:r>
              <a:rPr spc="-90" dirty="0"/>
              <a:t>is</a:t>
            </a:r>
            <a:r>
              <a:rPr spc="-55" dirty="0"/>
              <a:t> </a:t>
            </a:r>
            <a:r>
              <a:rPr spc="-250" dirty="0"/>
              <a:t>Software</a:t>
            </a:r>
            <a:r>
              <a:rPr spc="-165" dirty="0"/>
              <a:t> </a:t>
            </a:r>
            <a:r>
              <a:rPr spc="-200" dirty="0"/>
              <a:t>Architecture?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23759"/>
            <a:ext cx="4069079" cy="29489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69900" marR="5080" indent="-335915">
              <a:lnSpc>
                <a:spcPts val="1590"/>
              </a:lnSpc>
              <a:spcBef>
                <a:spcPts val="220"/>
              </a:spcBef>
              <a:buFont typeface="Arial"/>
              <a:buChar char="●"/>
              <a:tabLst>
                <a:tab pos="469900" algn="l"/>
              </a:tabLst>
            </a:pPr>
            <a:r>
              <a:rPr sz="1400" spc="-45" dirty="0">
                <a:solidFill>
                  <a:srgbClr val="685D46"/>
                </a:solidFill>
                <a:latin typeface="Arial Black"/>
                <a:cs typeface="Arial Black"/>
              </a:rPr>
              <a:t>Deﬁnition</a:t>
            </a:r>
            <a:r>
              <a:rPr sz="1400" spc="-45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structure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system,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including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its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relationships.</a:t>
            </a:r>
            <a:endParaRPr sz="1400">
              <a:latin typeface="Arial"/>
              <a:cs typeface="Arial"/>
            </a:endParaRPr>
          </a:p>
          <a:p>
            <a:pPr marL="469900" marR="475615" indent="-335915">
              <a:lnSpc>
                <a:spcPts val="1590"/>
              </a:lnSpc>
              <a:buFont typeface="Arial"/>
              <a:buChar char="●"/>
              <a:tabLst>
                <a:tab pos="469900" algn="l"/>
              </a:tabLst>
            </a:pPr>
            <a:r>
              <a:rPr sz="1400" spc="-60" dirty="0">
                <a:solidFill>
                  <a:srgbClr val="685D46"/>
                </a:solidFill>
                <a:latin typeface="Arial Black"/>
                <a:cs typeface="Arial Black"/>
              </a:rPr>
              <a:t>Why</a:t>
            </a:r>
            <a:r>
              <a:rPr sz="1400" spc="10" dirty="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sz="1400" spc="-65" dirty="0">
                <a:solidFill>
                  <a:srgbClr val="685D46"/>
                </a:solidFill>
                <a:latin typeface="Arial Black"/>
                <a:cs typeface="Arial Black"/>
              </a:rPr>
              <a:t>It</a:t>
            </a:r>
            <a:r>
              <a:rPr sz="1400" spc="15" dirty="0">
                <a:solidFill>
                  <a:srgbClr val="685D46"/>
                </a:solidFill>
                <a:latin typeface="Arial Black"/>
                <a:cs typeface="Arial Black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 Black"/>
                <a:cs typeface="Arial Black"/>
              </a:rPr>
              <a:t>Matters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impacts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maintainability.</a:t>
            </a:r>
            <a:endParaRPr sz="1400">
              <a:latin typeface="Arial"/>
              <a:cs typeface="Arial"/>
            </a:endParaRPr>
          </a:p>
          <a:p>
            <a:pPr marL="469900" marR="62865" indent="-335915">
              <a:lnSpc>
                <a:spcPts val="1590"/>
              </a:lnSpc>
              <a:spcBef>
                <a:spcPts val="5"/>
              </a:spcBef>
              <a:buChar char="●"/>
              <a:tabLst>
                <a:tab pos="46990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 Considerations</a:t>
            </a:r>
            <a:endParaRPr sz="1400">
              <a:latin typeface="Arial"/>
              <a:cs typeface="Arial"/>
            </a:endParaRPr>
          </a:p>
          <a:p>
            <a:pPr marL="926465" lvl="1" indent="-311150">
              <a:lnSpc>
                <a:spcPts val="1190"/>
              </a:lnSpc>
              <a:buChar char="○"/>
              <a:tabLst>
                <a:tab pos="926465" algn="l"/>
              </a:tabLst>
            </a:pP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Scalability:</a:t>
            </a:r>
            <a:r>
              <a:rPr sz="10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Ability</a:t>
            </a:r>
            <a:r>
              <a:rPr sz="10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0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05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increased</a:t>
            </a:r>
            <a:r>
              <a:rPr sz="10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0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endParaRPr sz="1050">
              <a:latin typeface="Arial"/>
              <a:cs typeface="Arial"/>
            </a:endParaRPr>
          </a:p>
          <a:p>
            <a:pPr marL="927100">
              <a:lnSpc>
                <a:spcPts val="1235"/>
              </a:lnSpc>
            </a:pP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traﬃc.</a:t>
            </a:r>
            <a:endParaRPr sz="1050">
              <a:latin typeface="Arial"/>
              <a:cs typeface="Arial"/>
            </a:endParaRPr>
          </a:p>
          <a:p>
            <a:pPr marL="927100" marR="235585" lvl="1" indent="-311785">
              <a:lnSpc>
                <a:spcPts val="1240"/>
              </a:lnSpc>
              <a:spcBef>
                <a:spcPts val="45"/>
              </a:spcBef>
              <a:buChar char="○"/>
              <a:tabLst>
                <a:tab pos="927100" algn="l"/>
              </a:tabLst>
            </a:pPr>
            <a:r>
              <a:rPr sz="1050" spc="30" dirty="0">
                <a:solidFill>
                  <a:srgbClr val="685D46"/>
                </a:solidFill>
                <a:latin typeface="Arial"/>
                <a:cs typeface="Arial"/>
              </a:rPr>
              <a:t>Maintainability:</a:t>
            </a:r>
            <a:r>
              <a:rPr sz="10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 easily</a:t>
            </a:r>
            <a:r>
              <a:rPr sz="10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05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3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685D46"/>
                </a:solidFill>
                <a:latin typeface="Arial"/>
                <a:cs typeface="Arial"/>
              </a:rPr>
              <a:t>be </a:t>
            </a:r>
            <a:r>
              <a:rPr sz="1050" spc="55" dirty="0">
                <a:solidFill>
                  <a:srgbClr val="685D46"/>
                </a:solidFill>
                <a:latin typeface="Arial"/>
                <a:cs typeface="Arial"/>
              </a:rPr>
              <a:t>updated</a:t>
            </a:r>
            <a:r>
              <a:rPr sz="105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45" dirty="0">
                <a:solidFill>
                  <a:srgbClr val="685D46"/>
                </a:solidFill>
                <a:latin typeface="Arial"/>
                <a:cs typeface="Arial"/>
              </a:rPr>
              <a:t>modiﬁed.</a:t>
            </a:r>
            <a:endParaRPr sz="1050">
              <a:latin typeface="Arial"/>
              <a:cs typeface="Arial"/>
            </a:endParaRPr>
          </a:p>
          <a:p>
            <a:pPr marL="926465" lvl="1" indent="-311150">
              <a:lnSpc>
                <a:spcPts val="1185"/>
              </a:lnSpc>
              <a:buChar char="○"/>
              <a:tabLst>
                <a:tab pos="926465" algn="l"/>
              </a:tabLst>
            </a:pP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Performance:</a:t>
            </a:r>
            <a:r>
              <a:rPr sz="105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Eﬃciency</a:t>
            </a:r>
            <a:r>
              <a:rPr sz="10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0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responsiveness</a:t>
            </a:r>
            <a:endParaRPr sz="1050">
              <a:latin typeface="Arial"/>
              <a:cs typeface="Arial"/>
            </a:endParaRPr>
          </a:p>
          <a:p>
            <a:pPr marL="927100">
              <a:lnSpc>
                <a:spcPts val="1250"/>
              </a:lnSpc>
            </a:pPr>
            <a:r>
              <a:rPr sz="1050" spc="60" dirty="0">
                <a:solidFill>
                  <a:srgbClr val="685D46"/>
                </a:solidFill>
                <a:latin typeface="Arial"/>
                <a:cs typeface="Arial"/>
              </a:rPr>
              <a:t>under</a:t>
            </a:r>
            <a:r>
              <a:rPr sz="105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685D46"/>
                </a:solidFill>
                <a:latin typeface="Arial"/>
                <a:cs typeface="Arial"/>
              </a:rPr>
              <a:t>load.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Arial"/>
              <a:cs typeface="Arial"/>
            </a:endParaRPr>
          </a:p>
          <a:p>
            <a:pPr marL="12700" marR="431800">
              <a:lnSpc>
                <a:spcPts val="1590"/>
              </a:lnSpc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"Keep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mind,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choices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you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make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directly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inﬂuence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behavior."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0" dirty="0"/>
              <a:t>Section</a:t>
            </a:r>
            <a:r>
              <a:rPr spc="-145" dirty="0"/>
              <a:t> </a:t>
            </a:r>
            <a:r>
              <a:rPr spc="-26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4614545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Software</a:t>
            </a:r>
            <a:r>
              <a:rPr sz="18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Styles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Multi-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Tier</a:t>
            </a:r>
            <a:r>
              <a:rPr sz="1800" spc="2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sz="1800" spc="3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800" spc="2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</Words>
  <Application>Microsoft Office PowerPoint</Application>
  <PresentationFormat>On-screen Show (16:9)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Office Theme</vt:lpstr>
      <vt:lpstr>Mastering System Design</vt:lpstr>
      <vt:lpstr>What is Software Architecture?</vt:lpstr>
      <vt:lpstr>Section 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4</dc:title>
  <cp:lastModifiedBy>RAVI GV</cp:lastModifiedBy>
  <cp:revision>1</cp:revision>
  <dcterms:created xsi:type="dcterms:W3CDTF">2025-11-26T16:45:36Z</dcterms:created>
  <dcterms:modified xsi:type="dcterms:W3CDTF">2025-11-26T16:59:40Z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