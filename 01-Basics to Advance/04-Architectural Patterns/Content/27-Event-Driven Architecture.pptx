
<file path=[Content_Types].xml><?xml version="1.0" encoding="utf-8"?>
<Types xmlns="http://schemas.openxmlformats.org/package/2006/content-types">
  <Default Extension="jpg" ContentType="image/jp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85" r:id="rId2"/>
    <p:sldId id="286" r:id="rId3"/>
    <p:sldId id="287" r:id="rId4"/>
    <p:sldId id="288" r:id="rId5"/>
    <p:sldId id="289" r:id="rId6"/>
    <p:sldId id="290" r:id="rId7"/>
    <p:sldId id="291" r:id="rId8"/>
    <p:sldId id="292" r:id="rId9"/>
    <p:sldId id="293" r:id="rId10"/>
    <p:sldId id="294" r:id="rId11"/>
    <p:sldId id="295" r:id="rId12"/>
  </p:sldIdLst>
  <p:sldSz cx="9144000" cy="5143500" type="screen16x9"/>
  <p:notesSz cx="9144000" cy="51435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3" d="100"/>
          <a:sy n="103" d="100"/>
        </p:scale>
        <p:origin x="874" y="77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7007735" y="3176887"/>
            <a:ext cx="562610" cy="0"/>
          </a:xfrm>
          <a:custGeom>
            <a:avLst/>
            <a:gdLst/>
            <a:ahLst/>
            <a:cxnLst/>
            <a:rect l="l" t="t" r="r" b="b"/>
            <a:pathLst>
              <a:path w="562609">
                <a:moveTo>
                  <a:pt x="0" y="0"/>
                </a:moveTo>
                <a:lnTo>
                  <a:pt x="562199" y="0"/>
                </a:lnTo>
              </a:path>
            </a:pathLst>
          </a:custGeom>
          <a:ln w="76199">
            <a:solidFill>
              <a:srgbClr val="B3A77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1575034" y="3158251"/>
            <a:ext cx="562610" cy="0"/>
          </a:xfrm>
          <a:custGeom>
            <a:avLst/>
            <a:gdLst/>
            <a:ahLst/>
            <a:cxnLst/>
            <a:rect l="l" t="t" r="r" b="b"/>
            <a:pathLst>
              <a:path w="562610">
                <a:moveTo>
                  <a:pt x="0" y="0"/>
                </a:moveTo>
                <a:lnTo>
                  <a:pt x="562199" y="0"/>
                </a:lnTo>
              </a:path>
            </a:pathLst>
          </a:custGeom>
          <a:ln w="76199">
            <a:solidFill>
              <a:srgbClr val="B3A77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1004144" y="1022025"/>
            <a:ext cx="7136765" cy="0"/>
          </a:xfrm>
          <a:custGeom>
            <a:avLst/>
            <a:gdLst/>
            <a:ahLst/>
            <a:cxnLst/>
            <a:rect l="l" t="t" r="r" b="b"/>
            <a:pathLst>
              <a:path w="7136765">
                <a:moveTo>
                  <a:pt x="7136667" y="0"/>
                </a:moveTo>
                <a:lnTo>
                  <a:pt x="0" y="0"/>
                </a:lnTo>
              </a:path>
            </a:pathLst>
          </a:custGeom>
          <a:ln w="76199">
            <a:solidFill>
              <a:srgbClr val="4DB6A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1004144" y="1174425"/>
            <a:ext cx="7136765" cy="0"/>
          </a:xfrm>
          <a:custGeom>
            <a:avLst/>
            <a:gdLst/>
            <a:ahLst/>
            <a:cxnLst/>
            <a:rect l="l" t="t" r="r" b="b"/>
            <a:pathLst>
              <a:path w="7136765">
                <a:moveTo>
                  <a:pt x="7136667" y="0"/>
                </a:moveTo>
                <a:lnTo>
                  <a:pt x="0" y="0"/>
                </a:lnTo>
              </a:path>
            </a:pathLst>
          </a:custGeom>
          <a:ln w="9524">
            <a:solidFill>
              <a:srgbClr val="4DB6A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1004151" y="4121499"/>
            <a:ext cx="7136765" cy="0"/>
          </a:xfrm>
          <a:custGeom>
            <a:avLst/>
            <a:gdLst/>
            <a:ahLst/>
            <a:cxnLst/>
            <a:rect l="l" t="t" r="r" b="b"/>
            <a:pathLst>
              <a:path w="7136765">
                <a:moveTo>
                  <a:pt x="0" y="0"/>
                </a:moveTo>
                <a:lnTo>
                  <a:pt x="7136667" y="0"/>
                </a:lnTo>
              </a:path>
            </a:pathLst>
          </a:custGeom>
          <a:ln w="76199">
            <a:solidFill>
              <a:srgbClr val="4DB6A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1004151" y="3969099"/>
            <a:ext cx="7136765" cy="0"/>
          </a:xfrm>
          <a:custGeom>
            <a:avLst/>
            <a:gdLst/>
            <a:ahLst/>
            <a:cxnLst/>
            <a:rect l="l" t="t" r="r" b="b"/>
            <a:pathLst>
              <a:path w="7136765">
                <a:moveTo>
                  <a:pt x="0" y="0"/>
                </a:moveTo>
                <a:lnTo>
                  <a:pt x="7136667" y="0"/>
                </a:lnTo>
              </a:path>
            </a:pathLst>
          </a:custGeom>
          <a:ln w="9524">
            <a:solidFill>
              <a:srgbClr val="4DB6A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565071" y="2146606"/>
            <a:ext cx="6018530" cy="5378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rgbClr val="EE6C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rgbClr val="685D46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11/26/2025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rgbClr val="EE6C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rgbClr val="685D46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11/26/2025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rgbClr val="EE6C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11/26/2025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rgbClr val="EE6C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11/26/2025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11/26/2025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-74" y="5045700"/>
            <a:ext cx="9144000" cy="98425"/>
          </a:xfrm>
          <a:custGeom>
            <a:avLst/>
            <a:gdLst/>
            <a:ahLst/>
            <a:cxnLst/>
            <a:rect l="l" t="t" r="r" b="b"/>
            <a:pathLst>
              <a:path w="9144000" h="98425">
                <a:moveTo>
                  <a:pt x="9143999" y="97799"/>
                </a:moveTo>
                <a:lnTo>
                  <a:pt x="0" y="977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97799"/>
                </a:lnTo>
                <a:close/>
              </a:path>
            </a:pathLst>
          </a:custGeom>
          <a:solidFill>
            <a:srgbClr val="4DB6A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84725" y="501590"/>
            <a:ext cx="7687945" cy="5194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rgbClr val="EE6C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75249" y="1289058"/>
            <a:ext cx="6102350" cy="25958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rgbClr val="685D46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11/26/2025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363938" y="2881814"/>
            <a:ext cx="441515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10" dirty="0">
                <a:solidFill>
                  <a:srgbClr val="685D46"/>
                </a:solidFill>
                <a:latin typeface="Arial"/>
                <a:cs typeface="Arial"/>
              </a:rPr>
              <a:t>System</a:t>
            </a:r>
            <a:r>
              <a:rPr sz="1400" spc="8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10" dirty="0">
                <a:solidFill>
                  <a:srgbClr val="685D46"/>
                </a:solidFill>
                <a:latin typeface="Arial"/>
                <a:cs typeface="Arial"/>
              </a:rPr>
              <a:t>Design</a:t>
            </a:r>
            <a:r>
              <a:rPr sz="1400" spc="8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10" dirty="0">
                <a:solidFill>
                  <a:srgbClr val="685D46"/>
                </a:solidFill>
                <a:latin typeface="Arial"/>
                <a:cs typeface="Arial"/>
              </a:rPr>
              <a:t>Fundamentals</a:t>
            </a:r>
            <a:r>
              <a:rPr sz="1400" spc="8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10" dirty="0">
                <a:solidFill>
                  <a:srgbClr val="685D46"/>
                </a:solidFill>
                <a:latin typeface="Arial"/>
                <a:cs typeface="Arial"/>
              </a:rPr>
              <a:t>-</a:t>
            </a:r>
            <a:r>
              <a:rPr sz="1400" spc="8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10" dirty="0">
                <a:solidFill>
                  <a:srgbClr val="685D46"/>
                </a:solidFill>
                <a:latin typeface="Arial"/>
                <a:cs typeface="Arial"/>
              </a:rPr>
              <a:t>Architectural</a:t>
            </a:r>
            <a:r>
              <a:rPr sz="1400" spc="8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685D46"/>
                </a:solidFill>
                <a:latin typeface="Arial"/>
                <a:cs typeface="Arial"/>
              </a:rPr>
              <a:t>Patterns</a:t>
            </a:r>
            <a:endParaRPr sz="1400">
              <a:latin typeface="Arial"/>
              <a:cs typeface="Arial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061720">
              <a:lnSpc>
                <a:spcPct val="100000"/>
              </a:lnSpc>
              <a:spcBef>
                <a:spcPts val="110"/>
              </a:spcBef>
            </a:pPr>
            <a:r>
              <a:rPr sz="3350" spc="-235" dirty="0"/>
              <a:t>Event-</a:t>
            </a:r>
            <a:r>
              <a:rPr sz="3350" spc="-225" dirty="0"/>
              <a:t>Driven</a:t>
            </a:r>
            <a:r>
              <a:rPr sz="3350" spc="-120" dirty="0"/>
              <a:t> </a:t>
            </a:r>
            <a:r>
              <a:rPr sz="3350" spc="-225" dirty="0"/>
              <a:t>Architecture</a:t>
            </a:r>
            <a:endParaRPr sz="335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pc="-215" dirty="0"/>
              <a:t>Introduction</a:t>
            </a:r>
            <a:r>
              <a:rPr spc="5" dirty="0"/>
              <a:t> </a:t>
            </a:r>
            <a:r>
              <a:rPr spc="-235" dirty="0"/>
              <a:t>to</a:t>
            </a:r>
            <a:r>
              <a:rPr spc="5" dirty="0"/>
              <a:t> </a:t>
            </a:r>
            <a:r>
              <a:rPr spc="-215" dirty="0"/>
              <a:t>Event-</a:t>
            </a:r>
            <a:r>
              <a:rPr spc="-200" dirty="0"/>
              <a:t>Driven</a:t>
            </a:r>
            <a:r>
              <a:rPr spc="-114" dirty="0"/>
              <a:t> </a:t>
            </a:r>
            <a:r>
              <a:rPr spc="-204" dirty="0"/>
              <a:t>Architecture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5249" y="1330206"/>
            <a:ext cx="3964940" cy="3089275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379095" marR="5080" indent="-367030">
              <a:lnSpc>
                <a:spcPts val="2270"/>
              </a:lnSpc>
              <a:spcBef>
                <a:spcPts val="85"/>
              </a:spcBef>
              <a:buFont typeface="Arial"/>
              <a:buChar char="●"/>
              <a:tabLst>
                <a:tab pos="379095" algn="l"/>
              </a:tabLst>
            </a:pPr>
            <a:r>
              <a:rPr sz="1800" spc="-55" dirty="0">
                <a:solidFill>
                  <a:srgbClr val="685D46"/>
                </a:solidFill>
                <a:latin typeface="Arial Black"/>
                <a:cs typeface="Arial Black"/>
              </a:rPr>
              <a:t>Deﬁnition</a:t>
            </a:r>
            <a:r>
              <a:rPr sz="1800" spc="-55" dirty="0">
                <a:solidFill>
                  <a:srgbClr val="685D46"/>
                </a:solidFill>
                <a:latin typeface="Arial"/>
                <a:cs typeface="Arial"/>
              </a:rPr>
              <a:t>:</a:t>
            </a:r>
            <a:r>
              <a:rPr sz="1800" spc="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A</a:t>
            </a:r>
            <a:r>
              <a:rPr sz="1800" spc="1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system</a:t>
            </a:r>
            <a:r>
              <a:rPr sz="1800" spc="1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design </a:t>
            </a:r>
            <a:r>
              <a:rPr sz="1800" spc="60" dirty="0">
                <a:solidFill>
                  <a:srgbClr val="685D46"/>
                </a:solidFill>
                <a:latin typeface="Arial"/>
                <a:cs typeface="Arial"/>
              </a:rPr>
              <a:t>where</a:t>
            </a:r>
            <a:r>
              <a:rPr sz="1800" spc="-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60" dirty="0">
                <a:solidFill>
                  <a:srgbClr val="685D46"/>
                </a:solidFill>
                <a:latin typeface="Arial"/>
                <a:cs typeface="Arial"/>
              </a:rPr>
              <a:t>components</a:t>
            </a:r>
            <a:r>
              <a:rPr sz="1800" spc="-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50" dirty="0">
                <a:solidFill>
                  <a:srgbClr val="685D46"/>
                </a:solidFill>
                <a:latin typeface="Arial"/>
                <a:cs typeface="Arial"/>
              </a:rPr>
              <a:t>communicate </a:t>
            </a:r>
            <a:r>
              <a:rPr sz="1800" spc="80" dirty="0">
                <a:solidFill>
                  <a:srgbClr val="685D46"/>
                </a:solidFill>
                <a:latin typeface="Arial"/>
                <a:cs typeface="Arial"/>
              </a:rPr>
              <a:t>through</a:t>
            </a:r>
            <a:r>
              <a:rPr sz="1800" spc="1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events</a:t>
            </a:r>
            <a:r>
              <a:rPr sz="1800" spc="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80" dirty="0">
                <a:solidFill>
                  <a:srgbClr val="685D46"/>
                </a:solidFill>
                <a:latin typeface="Arial"/>
                <a:cs typeface="Arial"/>
              </a:rPr>
              <a:t>rather</a:t>
            </a:r>
            <a:r>
              <a:rPr sz="1800" spc="1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75" dirty="0">
                <a:solidFill>
                  <a:srgbClr val="685D46"/>
                </a:solidFill>
                <a:latin typeface="Arial"/>
                <a:cs typeface="Arial"/>
              </a:rPr>
              <a:t>than</a:t>
            </a:r>
            <a:r>
              <a:rPr sz="1800" spc="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50" dirty="0">
                <a:solidFill>
                  <a:srgbClr val="685D46"/>
                </a:solidFill>
                <a:latin typeface="Arial"/>
                <a:cs typeface="Arial"/>
              </a:rPr>
              <a:t>direct </a:t>
            </a: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calls.</a:t>
            </a:r>
            <a:endParaRPr sz="180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spcBef>
                <a:spcPts val="5"/>
              </a:spcBef>
              <a:buChar char="●"/>
              <a:tabLst>
                <a:tab pos="379095" algn="l"/>
              </a:tabLst>
            </a:pP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Key</a:t>
            </a:r>
            <a:r>
              <a:rPr sz="1800" spc="-114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Characteristics:</a:t>
            </a:r>
            <a:endParaRPr sz="1800">
              <a:latin typeface="Arial"/>
              <a:cs typeface="Arial"/>
            </a:endParaRPr>
          </a:p>
          <a:p>
            <a:pPr marL="836294" lvl="1" indent="-335915">
              <a:lnSpc>
                <a:spcPct val="100000"/>
              </a:lnSpc>
              <a:spcBef>
                <a:spcPts val="125"/>
              </a:spcBef>
              <a:buChar char="○"/>
              <a:tabLst>
                <a:tab pos="836294" algn="l"/>
              </a:tabLst>
            </a:pP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Asynchronous</a:t>
            </a:r>
            <a:r>
              <a:rPr sz="1400" spc="26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685D46"/>
                </a:solidFill>
                <a:latin typeface="Arial"/>
                <a:cs typeface="Arial"/>
              </a:rPr>
              <a:t>processing</a:t>
            </a:r>
            <a:endParaRPr sz="1400">
              <a:latin typeface="Arial"/>
              <a:cs typeface="Arial"/>
            </a:endParaRPr>
          </a:p>
          <a:p>
            <a:pPr marL="836294" lvl="1" indent="-335915">
              <a:lnSpc>
                <a:spcPct val="100000"/>
              </a:lnSpc>
              <a:spcBef>
                <a:spcPts val="85"/>
              </a:spcBef>
              <a:buChar char="○"/>
              <a:tabLst>
                <a:tab pos="836294" algn="l"/>
              </a:tabLst>
            </a:pP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Loose</a:t>
            </a:r>
            <a:r>
              <a:rPr sz="1400" spc="-1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685D46"/>
                </a:solidFill>
                <a:latin typeface="Arial"/>
                <a:cs typeface="Arial"/>
              </a:rPr>
              <a:t>coupling</a:t>
            </a:r>
            <a:endParaRPr sz="1400">
              <a:latin typeface="Arial"/>
              <a:cs typeface="Arial"/>
            </a:endParaRPr>
          </a:p>
          <a:p>
            <a:pPr marL="836294" lvl="1" indent="-335915">
              <a:lnSpc>
                <a:spcPct val="100000"/>
              </a:lnSpc>
              <a:spcBef>
                <a:spcPts val="80"/>
              </a:spcBef>
              <a:buChar char="○"/>
              <a:tabLst>
                <a:tab pos="836294" algn="l"/>
              </a:tabLst>
            </a:pP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Scalability</a:t>
            </a:r>
            <a:r>
              <a:rPr sz="1400" spc="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75" dirty="0">
                <a:solidFill>
                  <a:srgbClr val="685D46"/>
                </a:solidFill>
                <a:latin typeface="Arial"/>
                <a:cs typeface="Arial"/>
              </a:rPr>
              <a:t>&amp;</a:t>
            </a:r>
            <a:r>
              <a:rPr sz="1400" spc="1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685D46"/>
                </a:solidFill>
                <a:latin typeface="Arial"/>
                <a:cs typeface="Arial"/>
              </a:rPr>
              <a:t>ﬂexibility</a:t>
            </a:r>
            <a:endParaRPr sz="140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spcBef>
                <a:spcPts val="70"/>
              </a:spcBef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Why</a:t>
            </a:r>
            <a:r>
              <a:rPr sz="1800" spc="-5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Use</a:t>
            </a:r>
            <a:r>
              <a:rPr sz="1800" spc="-4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25" dirty="0">
                <a:solidFill>
                  <a:srgbClr val="685D46"/>
                </a:solidFill>
                <a:latin typeface="Arial"/>
                <a:cs typeface="Arial"/>
              </a:rPr>
              <a:t>It?</a:t>
            </a:r>
            <a:endParaRPr sz="1800">
              <a:latin typeface="Arial"/>
              <a:cs typeface="Arial"/>
            </a:endParaRPr>
          </a:p>
          <a:p>
            <a:pPr marL="836294" lvl="1" indent="-335915">
              <a:lnSpc>
                <a:spcPct val="100000"/>
              </a:lnSpc>
              <a:spcBef>
                <a:spcPts val="125"/>
              </a:spcBef>
              <a:buChar char="○"/>
              <a:tabLst>
                <a:tab pos="836294" algn="l"/>
              </a:tabLst>
            </a:pP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Enhances</a:t>
            </a:r>
            <a:r>
              <a:rPr sz="1400" spc="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system</a:t>
            </a:r>
            <a:r>
              <a:rPr sz="1400" spc="3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685D46"/>
                </a:solidFill>
                <a:latin typeface="Arial"/>
                <a:cs typeface="Arial"/>
              </a:rPr>
              <a:t>responsiveness</a:t>
            </a:r>
            <a:endParaRPr sz="1400">
              <a:latin typeface="Arial"/>
              <a:cs typeface="Arial"/>
            </a:endParaRPr>
          </a:p>
          <a:p>
            <a:pPr marL="836294" lvl="1" indent="-335915">
              <a:lnSpc>
                <a:spcPct val="100000"/>
              </a:lnSpc>
              <a:spcBef>
                <a:spcPts val="85"/>
              </a:spcBef>
              <a:buChar char="○"/>
              <a:tabLst>
                <a:tab pos="836294" algn="l"/>
              </a:tabLst>
            </a:pP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Enables</a:t>
            </a:r>
            <a:r>
              <a:rPr sz="1400" spc="15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real-time</a:t>
            </a:r>
            <a:r>
              <a:rPr sz="1400" spc="15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event</a:t>
            </a:r>
            <a:r>
              <a:rPr sz="1400" spc="15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685D46"/>
                </a:solidFill>
                <a:latin typeface="Arial"/>
                <a:cs typeface="Arial"/>
              </a:rPr>
              <a:t>processing</a:t>
            </a:r>
            <a:endParaRPr sz="1400">
              <a:latin typeface="Arial"/>
              <a:cs typeface="Arial"/>
            </a:endParaRPr>
          </a:p>
          <a:p>
            <a:pPr marL="836294" lvl="1" indent="-335915">
              <a:lnSpc>
                <a:spcPct val="100000"/>
              </a:lnSpc>
              <a:spcBef>
                <a:spcPts val="80"/>
              </a:spcBef>
              <a:buChar char="○"/>
              <a:tabLst>
                <a:tab pos="836294" algn="l"/>
              </a:tabLst>
            </a:pP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Supports</a:t>
            </a:r>
            <a:r>
              <a:rPr sz="1400" spc="229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complex</a:t>
            </a:r>
            <a:r>
              <a:rPr sz="1400" spc="23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45" dirty="0">
                <a:solidFill>
                  <a:srgbClr val="685D46"/>
                </a:solidFill>
                <a:latin typeface="Arial"/>
                <a:cs typeface="Arial"/>
              </a:rPr>
              <a:t>workﬂows</a:t>
            </a:r>
            <a:endParaRPr sz="14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724400" y="1588066"/>
            <a:ext cx="4267199" cy="226129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pc="-235" dirty="0"/>
              <a:t>Synchronous</a:t>
            </a:r>
            <a:r>
              <a:rPr spc="-80" dirty="0"/>
              <a:t> </a:t>
            </a:r>
            <a:r>
              <a:rPr spc="-190" dirty="0"/>
              <a:t>vs.</a:t>
            </a:r>
            <a:r>
              <a:rPr spc="-340" dirty="0"/>
              <a:t> </a:t>
            </a:r>
            <a:r>
              <a:rPr spc="-240" dirty="0"/>
              <a:t>Asynchronous</a:t>
            </a:r>
            <a:r>
              <a:rPr spc="-15" dirty="0"/>
              <a:t> </a:t>
            </a:r>
            <a:r>
              <a:rPr spc="-185" dirty="0"/>
              <a:t>Systems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5249" y="1274688"/>
            <a:ext cx="6427470" cy="2154555"/>
          </a:xfrm>
          <a:prstGeom prst="rect">
            <a:avLst/>
          </a:prstGeom>
        </p:spPr>
        <p:txBody>
          <a:bodyPr vert="horz" wrap="square" lIns="0" tIns="67945" rIns="0" bIns="0" rtlCol="0">
            <a:spAutoFit/>
          </a:bodyPr>
          <a:lstStyle/>
          <a:p>
            <a:pPr marL="379095" indent="-366395">
              <a:lnSpc>
                <a:spcPct val="100000"/>
              </a:lnSpc>
              <a:spcBef>
                <a:spcPts val="535"/>
              </a:spcBef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Synchronous</a:t>
            </a:r>
            <a:r>
              <a:rPr sz="1800" spc="9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50" dirty="0">
                <a:solidFill>
                  <a:srgbClr val="685D46"/>
                </a:solidFill>
                <a:latin typeface="Arial"/>
                <a:cs typeface="Arial"/>
              </a:rPr>
              <a:t>Communication</a:t>
            </a:r>
            <a:r>
              <a:rPr sz="1800" spc="10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(Request-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Response</a:t>
            </a:r>
            <a:r>
              <a:rPr sz="1800" spc="10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Model)</a:t>
            </a:r>
            <a:endParaRPr sz="1800">
              <a:latin typeface="Arial"/>
              <a:cs typeface="Arial"/>
            </a:endParaRPr>
          </a:p>
          <a:p>
            <a:pPr marL="836294" lvl="1" indent="-335915">
              <a:lnSpc>
                <a:spcPct val="100000"/>
              </a:lnSpc>
              <a:spcBef>
                <a:spcPts val="340"/>
              </a:spcBef>
              <a:buChar char="○"/>
              <a:tabLst>
                <a:tab pos="836294" algn="l"/>
              </a:tabLst>
            </a:pP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Blocking</a:t>
            </a:r>
            <a:r>
              <a:rPr sz="1400" spc="9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685D46"/>
                </a:solidFill>
                <a:latin typeface="Arial"/>
                <a:cs typeface="Arial"/>
              </a:rPr>
              <a:t>calls</a:t>
            </a:r>
            <a:endParaRPr sz="1400">
              <a:latin typeface="Arial"/>
              <a:cs typeface="Arial"/>
            </a:endParaRPr>
          </a:p>
          <a:p>
            <a:pPr marL="836294" lvl="1" indent="-335915">
              <a:lnSpc>
                <a:spcPct val="100000"/>
              </a:lnSpc>
              <a:spcBef>
                <a:spcPts val="254"/>
              </a:spcBef>
              <a:buChar char="○"/>
              <a:tabLst>
                <a:tab pos="836294" algn="l"/>
              </a:tabLst>
            </a:pP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Tight</a:t>
            </a:r>
            <a:r>
              <a:rPr sz="1400" spc="7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685D46"/>
                </a:solidFill>
                <a:latin typeface="Arial"/>
                <a:cs typeface="Arial"/>
              </a:rPr>
              <a:t>coupling</a:t>
            </a:r>
            <a:endParaRPr sz="1400">
              <a:latin typeface="Arial"/>
              <a:cs typeface="Arial"/>
            </a:endParaRPr>
          </a:p>
          <a:p>
            <a:pPr marL="836294" lvl="1" indent="-335915">
              <a:lnSpc>
                <a:spcPct val="100000"/>
              </a:lnSpc>
              <a:spcBef>
                <a:spcPts val="250"/>
              </a:spcBef>
              <a:buChar char="○"/>
              <a:tabLst>
                <a:tab pos="836294" algn="l"/>
              </a:tabLst>
            </a:pP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Example:</a:t>
            </a:r>
            <a:r>
              <a:rPr sz="1400" spc="13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Traditional</a:t>
            </a:r>
            <a:r>
              <a:rPr sz="1400" spc="13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70" dirty="0">
                <a:solidFill>
                  <a:srgbClr val="685D46"/>
                </a:solidFill>
                <a:latin typeface="Arial"/>
                <a:cs typeface="Arial"/>
              </a:rPr>
              <a:t>HTTP</a:t>
            </a:r>
            <a:r>
              <a:rPr sz="1400" spc="13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20" dirty="0">
                <a:solidFill>
                  <a:srgbClr val="685D46"/>
                </a:solidFill>
                <a:latin typeface="Arial"/>
                <a:cs typeface="Arial"/>
              </a:rPr>
              <a:t>APIs</a:t>
            </a:r>
            <a:endParaRPr sz="140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spcBef>
                <a:spcPts val="235"/>
              </a:spcBef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Asynchronous</a:t>
            </a:r>
            <a:r>
              <a:rPr sz="1800" spc="16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50" dirty="0">
                <a:solidFill>
                  <a:srgbClr val="685D46"/>
                </a:solidFill>
                <a:latin typeface="Arial"/>
                <a:cs typeface="Arial"/>
              </a:rPr>
              <a:t>Communication</a:t>
            </a:r>
            <a:r>
              <a:rPr sz="1800" spc="16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(Event-Driven</a:t>
            </a:r>
            <a:r>
              <a:rPr sz="1800" spc="16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Model)</a:t>
            </a:r>
            <a:endParaRPr sz="1800">
              <a:latin typeface="Arial"/>
              <a:cs typeface="Arial"/>
            </a:endParaRPr>
          </a:p>
          <a:p>
            <a:pPr marL="836294" lvl="1" indent="-335915">
              <a:lnSpc>
                <a:spcPct val="100000"/>
              </a:lnSpc>
              <a:spcBef>
                <a:spcPts val="340"/>
              </a:spcBef>
              <a:buChar char="○"/>
              <a:tabLst>
                <a:tab pos="836294" algn="l"/>
              </a:tabLst>
            </a:pP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Non-</a:t>
            </a:r>
            <a:r>
              <a:rPr sz="1400" spc="-10" dirty="0">
                <a:solidFill>
                  <a:srgbClr val="685D46"/>
                </a:solidFill>
                <a:latin typeface="Arial"/>
                <a:cs typeface="Arial"/>
              </a:rPr>
              <a:t>blocking</a:t>
            </a:r>
            <a:endParaRPr sz="1400">
              <a:latin typeface="Arial"/>
              <a:cs typeface="Arial"/>
            </a:endParaRPr>
          </a:p>
          <a:p>
            <a:pPr marL="836294" lvl="1" indent="-335915">
              <a:lnSpc>
                <a:spcPct val="100000"/>
              </a:lnSpc>
              <a:spcBef>
                <a:spcPts val="254"/>
              </a:spcBef>
              <a:buChar char="○"/>
              <a:tabLst>
                <a:tab pos="836294" algn="l"/>
              </a:tabLst>
            </a:pP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Decoupled</a:t>
            </a:r>
            <a:r>
              <a:rPr sz="1400" spc="26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685D46"/>
                </a:solidFill>
                <a:latin typeface="Arial"/>
                <a:cs typeface="Arial"/>
              </a:rPr>
              <a:t>components</a:t>
            </a:r>
            <a:endParaRPr sz="1400">
              <a:latin typeface="Arial"/>
              <a:cs typeface="Arial"/>
            </a:endParaRPr>
          </a:p>
          <a:p>
            <a:pPr marL="836294" lvl="1" indent="-335915">
              <a:lnSpc>
                <a:spcPct val="100000"/>
              </a:lnSpc>
              <a:spcBef>
                <a:spcPts val="250"/>
              </a:spcBef>
              <a:buChar char="○"/>
              <a:tabLst>
                <a:tab pos="836294" algn="l"/>
              </a:tabLst>
            </a:pP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Example:</a:t>
            </a:r>
            <a:r>
              <a:rPr sz="1400" spc="4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Message</a:t>
            </a:r>
            <a:r>
              <a:rPr sz="1400" spc="6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queues</a:t>
            </a:r>
            <a:r>
              <a:rPr sz="1400" spc="5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75" dirty="0">
                <a:solidFill>
                  <a:srgbClr val="685D46"/>
                </a:solidFill>
                <a:latin typeface="Arial"/>
                <a:cs typeface="Arial"/>
              </a:rPr>
              <a:t>&amp;</a:t>
            </a:r>
            <a:r>
              <a:rPr sz="1400" spc="6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event</a:t>
            </a:r>
            <a:r>
              <a:rPr sz="1400" spc="6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685D46"/>
                </a:solidFill>
                <a:latin typeface="Arial"/>
                <a:cs typeface="Arial"/>
              </a:rPr>
              <a:t>brokers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pc="-210" dirty="0"/>
              <a:t>Pub-</a:t>
            </a:r>
            <a:r>
              <a:rPr spc="-220" dirty="0"/>
              <a:t>Sub</a:t>
            </a:r>
            <a:r>
              <a:rPr spc="-85" dirty="0"/>
              <a:t> </a:t>
            </a:r>
            <a:r>
              <a:rPr spc="-190" dirty="0"/>
              <a:t>vs.</a:t>
            </a:r>
            <a:r>
              <a:rPr spc="-229" dirty="0"/>
              <a:t> </a:t>
            </a:r>
            <a:r>
              <a:rPr spc="-225" dirty="0"/>
              <a:t>Event</a:t>
            </a:r>
            <a:r>
              <a:rPr spc="-15" dirty="0"/>
              <a:t> </a:t>
            </a:r>
            <a:r>
              <a:rPr spc="-185" dirty="0"/>
              <a:t>Streaming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5249" y="1330206"/>
            <a:ext cx="3818890" cy="2897505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379095" marR="806450" indent="-367030">
              <a:lnSpc>
                <a:spcPts val="2270"/>
              </a:lnSpc>
              <a:spcBef>
                <a:spcPts val="85"/>
              </a:spcBef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Publish-Subscribe</a:t>
            </a:r>
            <a:r>
              <a:rPr sz="1800" spc="3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50" dirty="0">
                <a:solidFill>
                  <a:srgbClr val="685D46"/>
                </a:solidFill>
                <a:latin typeface="Arial"/>
                <a:cs typeface="Arial"/>
              </a:rPr>
              <a:t>Model </a:t>
            </a:r>
            <a:r>
              <a:rPr sz="1800" spc="-20" dirty="0">
                <a:solidFill>
                  <a:srgbClr val="685D46"/>
                </a:solidFill>
                <a:latin typeface="Arial"/>
                <a:cs typeface="Arial"/>
              </a:rPr>
              <a:t>(Pub-Sub)</a:t>
            </a:r>
            <a:endParaRPr sz="1800">
              <a:latin typeface="Arial"/>
              <a:cs typeface="Arial"/>
            </a:endParaRPr>
          </a:p>
          <a:p>
            <a:pPr marL="836294" marR="90170" lvl="1" indent="-336550">
              <a:lnSpc>
                <a:spcPts val="1760"/>
              </a:lnSpc>
              <a:spcBef>
                <a:spcPts val="20"/>
              </a:spcBef>
              <a:buChar char="○"/>
              <a:tabLst>
                <a:tab pos="836294" algn="l"/>
              </a:tabLst>
            </a:pP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Events</a:t>
            </a:r>
            <a:r>
              <a:rPr sz="1400" spc="6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10" dirty="0">
                <a:solidFill>
                  <a:srgbClr val="685D46"/>
                </a:solidFill>
                <a:latin typeface="Arial"/>
                <a:cs typeface="Arial"/>
              </a:rPr>
              <a:t>are</a:t>
            </a:r>
            <a:r>
              <a:rPr sz="1400" spc="6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10" dirty="0">
                <a:solidFill>
                  <a:srgbClr val="685D46"/>
                </a:solidFill>
                <a:latin typeface="Arial"/>
                <a:cs typeface="Arial"/>
              </a:rPr>
              <a:t>broadcasted</a:t>
            </a:r>
            <a:r>
              <a:rPr sz="1400" spc="6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80" dirty="0">
                <a:solidFill>
                  <a:srgbClr val="685D46"/>
                </a:solidFill>
                <a:latin typeface="Arial"/>
                <a:cs typeface="Arial"/>
              </a:rPr>
              <a:t>to</a:t>
            </a:r>
            <a:r>
              <a:rPr sz="1400" spc="6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50" dirty="0">
                <a:solidFill>
                  <a:srgbClr val="685D46"/>
                </a:solidFill>
                <a:latin typeface="Arial"/>
                <a:cs typeface="Arial"/>
              </a:rPr>
              <a:t>multiple </a:t>
            </a:r>
            <a:r>
              <a:rPr sz="1400" spc="-10" dirty="0">
                <a:solidFill>
                  <a:srgbClr val="685D46"/>
                </a:solidFill>
                <a:latin typeface="Arial"/>
                <a:cs typeface="Arial"/>
              </a:rPr>
              <a:t>subscribers</a:t>
            </a:r>
            <a:endParaRPr sz="1400">
              <a:latin typeface="Arial"/>
              <a:cs typeface="Arial"/>
            </a:endParaRPr>
          </a:p>
          <a:p>
            <a:pPr marL="836294" lvl="1" indent="-335915">
              <a:lnSpc>
                <a:spcPct val="100000"/>
              </a:lnSpc>
              <a:spcBef>
                <a:spcPts val="15"/>
              </a:spcBef>
              <a:buChar char="○"/>
              <a:tabLst>
                <a:tab pos="836294" algn="l"/>
              </a:tabLst>
            </a:pPr>
            <a:r>
              <a:rPr sz="1400" spc="-35" dirty="0">
                <a:solidFill>
                  <a:srgbClr val="685D46"/>
                </a:solidFill>
                <a:latin typeface="Arial"/>
                <a:cs typeface="Arial"/>
              </a:rPr>
              <a:t>Each</a:t>
            </a:r>
            <a:r>
              <a:rPr sz="1400" spc="7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subscriber</a:t>
            </a:r>
            <a:r>
              <a:rPr sz="1400" spc="8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gets</a:t>
            </a:r>
            <a:r>
              <a:rPr sz="1400" spc="8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60" dirty="0">
                <a:solidFill>
                  <a:srgbClr val="685D46"/>
                </a:solidFill>
                <a:latin typeface="Arial"/>
                <a:cs typeface="Arial"/>
              </a:rPr>
              <a:t>the</a:t>
            </a:r>
            <a:r>
              <a:rPr sz="1400" spc="8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event</a:t>
            </a:r>
            <a:r>
              <a:rPr sz="1400" spc="8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20" dirty="0">
                <a:solidFill>
                  <a:srgbClr val="685D46"/>
                </a:solidFill>
                <a:latin typeface="Arial"/>
                <a:cs typeface="Arial"/>
              </a:rPr>
              <a:t>once</a:t>
            </a:r>
            <a:endParaRPr sz="1400">
              <a:latin typeface="Arial"/>
              <a:cs typeface="Arial"/>
            </a:endParaRPr>
          </a:p>
          <a:p>
            <a:pPr marL="836294" lvl="1" indent="-335915">
              <a:lnSpc>
                <a:spcPct val="100000"/>
              </a:lnSpc>
              <a:spcBef>
                <a:spcPts val="80"/>
              </a:spcBef>
              <a:buChar char="○"/>
              <a:tabLst>
                <a:tab pos="836294" algn="l"/>
              </a:tabLst>
            </a:pP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Example:</a:t>
            </a:r>
            <a:r>
              <a:rPr sz="1400" spc="5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RabbitMQ,</a:t>
            </a:r>
            <a:r>
              <a:rPr sz="1400" spc="5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95" dirty="0">
                <a:solidFill>
                  <a:srgbClr val="685D46"/>
                </a:solidFill>
                <a:latin typeface="Arial"/>
                <a:cs typeface="Arial"/>
              </a:rPr>
              <a:t>AWS</a:t>
            </a:r>
            <a:r>
              <a:rPr sz="1400" spc="6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25" dirty="0">
                <a:solidFill>
                  <a:srgbClr val="685D46"/>
                </a:solidFill>
                <a:latin typeface="Arial"/>
                <a:cs typeface="Arial"/>
              </a:rPr>
              <a:t>SNS</a:t>
            </a:r>
            <a:endParaRPr sz="140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spcBef>
                <a:spcPts val="70"/>
              </a:spcBef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Event</a:t>
            </a: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 Streaming</a:t>
            </a:r>
            <a:endParaRPr sz="1800">
              <a:latin typeface="Arial"/>
              <a:cs typeface="Arial"/>
            </a:endParaRPr>
          </a:p>
          <a:p>
            <a:pPr marL="836294" marR="242570" lvl="1" indent="-336550">
              <a:lnSpc>
                <a:spcPct val="105000"/>
              </a:lnSpc>
              <a:spcBef>
                <a:spcPts val="40"/>
              </a:spcBef>
              <a:buChar char="○"/>
              <a:tabLst>
                <a:tab pos="836294" algn="l"/>
              </a:tabLst>
            </a:pP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Events</a:t>
            </a:r>
            <a:r>
              <a:rPr sz="1400" spc="11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are</a:t>
            </a:r>
            <a:r>
              <a:rPr sz="1400" spc="114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stored</a:t>
            </a:r>
            <a:r>
              <a:rPr sz="1400" spc="114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75" dirty="0">
                <a:solidFill>
                  <a:srgbClr val="685D46"/>
                </a:solidFill>
                <a:latin typeface="Arial"/>
                <a:cs typeface="Arial"/>
              </a:rPr>
              <a:t>&amp;</a:t>
            </a:r>
            <a:r>
              <a:rPr sz="1400" spc="114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consumed</a:t>
            </a:r>
            <a:r>
              <a:rPr sz="1400" spc="114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25" dirty="0">
                <a:solidFill>
                  <a:srgbClr val="685D46"/>
                </a:solidFill>
                <a:latin typeface="Arial"/>
                <a:cs typeface="Arial"/>
              </a:rPr>
              <a:t>in </a:t>
            </a:r>
            <a:r>
              <a:rPr sz="1400" spc="55" dirty="0">
                <a:solidFill>
                  <a:srgbClr val="685D46"/>
                </a:solidFill>
                <a:latin typeface="Arial"/>
                <a:cs typeface="Arial"/>
              </a:rPr>
              <a:t>order</a:t>
            </a:r>
            <a:endParaRPr sz="1400">
              <a:latin typeface="Arial"/>
              <a:cs typeface="Arial"/>
            </a:endParaRPr>
          </a:p>
          <a:p>
            <a:pPr marL="836294" marR="543560" lvl="1" indent="-336550">
              <a:lnSpc>
                <a:spcPct val="105000"/>
              </a:lnSpc>
              <a:buChar char="○"/>
              <a:tabLst>
                <a:tab pos="836294" algn="l"/>
              </a:tabLst>
            </a:pP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Consumers</a:t>
            </a:r>
            <a:r>
              <a:rPr sz="1400" spc="13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process</a:t>
            </a:r>
            <a:r>
              <a:rPr sz="1400" spc="13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events</a:t>
            </a:r>
            <a:r>
              <a:rPr sz="1400" spc="14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25" dirty="0">
                <a:solidFill>
                  <a:srgbClr val="685D46"/>
                </a:solidFill>
                <a:latin typeface="Arial"/>
                <a:cs typeface="Arial"/>
              </a:rPr>
              <a:t>at </a:t>
            </a:r>
            <a:r>
              <a:rPr sz="1400" spc="70" dirty="0">
                <a:solidFill>
                  <a:srgbClr val="685D46"/>
                </a:solidFill>
                <a:latin typeface="Arial"/>
                <a:cs typeface="Arial"/>
              </a:rPr>
              <a:t>diﬀerent</a:t>
            </a:r>
            <a:r>
              <a:rPr sz="1400" spc="-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20" dirty="0">
                <a:solidFill>
                  <a:srgbClr val="685D46"/>
                </a:solidFill>
                <a:latin typeface="Arial"/>
                <a:cs typeface="Arial"/>
              </a:rPr>
              <a:t>times</a:t>
            </a:r>
            <a:endParaRPr sz="1400">
              <a:latin typeface="Arial"/>
              <a:cs typeface="Arial"/>
            </a:endParaRPr>
          </a:p>
          <a:p>
            <a:pPr marL="836294" lvl="1" indent="-335915">
              <a:lnSpc>
                <a:spcPct val="100000"/>
              </a:lnSpc>
              <a:spcBef>
                <a:spcPts val="85"/>
              </a:spcBef>
              <a:buChar char="○"/>
              <a:tabLst>
                <a:tab pos="836294" algn="l"/>
              </a:tabLst>
            </a:pP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Example:</a:t>
            </a:r>
            <a:r>
              <a:rPr sz="1400" spc="-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Kafka,</a:t>
            </a:r>
            <a:r>
              <a:rPr sz="1400" spc="-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95" dirty="0">
                <a:solidFill>
                  <a:srgbClr val="685D46"/>
                </a:solidFill>
                <a:latin typeface="Arial"/>
                <a:cs typeface="Arial"/>
              </a:rPr>
              <a:t>AWS</a:t>
            </a:r>
            <a:r>
              <a:rPr sz="1400" spc="-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685D46"/>
                </a:solidFill>
                <a:latin typeface="Arial"/>
                <a:cs typeface="Arial"/>
              </a:rPr>
              <a:t>Kinesis</a:t>
            </a:r>
            <a:endParaRPr sz="14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797188" y="1450401"/>
            <a:ext cx="4076130" cy="174691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934699" y="3119399"/>
            <a:ext cx="5209299" cy="1930124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pc="-240" dirty="0"/>
              <a:t>Key</a:t>
            </a:r>
            <a:r>
              <a:rPr spc="-175" dirty="0"/>
              <a:t> </a:t>
            </a:r>
            <a:r>
              <a:rPr spc="-275" dirty="0"/>
              <a:t>Components</a:t>
            </a:r>
            <a:r>
              <a:rPr spc="-30" dirty="0"/>
              <a:t> </a:t>
            </a:r>
            <a:r>
              <a:rPr spc="-250" dirty="0"/>
              <a:t>of</a:t>
            </a:r>
            <a:r>
              <a:rPr spc="-25" dirty="0"/>
              <a:t> </a:t>
            </a:r>
            <a:r>
              <a:rPr spc="-265" dirty="0"/>
              <a:t>an</a:t>
            </a:r>
            <a:r>
              <a:rPr spc="-25" dirty="0"/>
              <a:t> </a:t>
            </a:r>
            <a:r>
              <a:rPr spc="-215" dirty="0"/>
              <a:t>Event-</a:t>
            </a:r>
            <a:r>
              <a:rPr spc="-204" dirty="0"/>
              <a:t>Driven</a:t>
            </a:r>
            <a:r>
              <a:rPr spc="-30" dirty="0"/>
              <a:t> </a:t>
            </a:r>
            <a:r>
              <a:rPr spc="-175" dirty="0"/>
              <a:t>System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75249" y="1289058"/>
            <a:ext cx="7769859" cy="1602740"/>
          </a:xfrm>
          <a:prstGeom prst="rect">
            <a:avLst/>
          </a:prstGeom>
        </p:spPr>
        <p:txBody>
          <a:bodyPr vert="horz" wrap="square" lIns="0" tIns="53340" rIns="0" bIns="0" rtlCol="0">
            <a:spAutoFit/>
          </a:bodyPr>
          <a:lstStyle/>
          <a:p>
            <a:pPr marL="379095" indent="-366395">
              <a:lnSpc>
                <a:spcPct val="100000"/>
              </a:lnSpc>
              <a:spcBef>
                <a:spcPts val="420"/>
              </a:spcBef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Event</a:t>
            </a:r>
            <a:r>
              <a:rPr sz="1800" spc="13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Producers</a:t>
            </a:r>
            <a:r>
              <a:rPr sz="1800" spc="13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(Generate</a:t>
            </a:r>
            <a:r>
              <a:rPr sz="1800" spc="14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events)</a:t>
            </a:r>
            <a:endParaRPr sz="1800">
              <a:latin typeface="Arial"/>
              <a:cs typeface="Arial"/>
            </a:endParaRPr>
          </a:p>
          <a:p>
            <a:pPr marL="379095" marR="5080" indent="-367030">
              <a:lnSpc>
                <a:spcPct val="114999"/>
              </a:lnSpc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Event</a:t>
            </a:r>
            <a:r>
              <a:rPr sz="1800" spc="4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Brokers</a:t>
            </a:r>
            <a:r>
              <a:rPr sz="1800" spc="4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(Transmit</a:t>
            </a:r>
            <a:r>
              <a:rPr sz="1800" spc="5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105" dirty="0">
                <a:solidFill>
                  <a:srgbClr val="685D46"/>
                </a:solidFill>
                <a:latin typeface="Arial"/>
                <a:cs typeface="Arial"/>
              </a:rPr>
              <a:t>&amp;</a:t>
            </a:r>
            <a:r>
              <a:rPr sz="1800" spc="4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60" dirty="0">
                <a:solidFill>
                  <a:srgbClr val="685D46"/>
                </a:solidFill>
                <a:latin typeface="Arial"/>
                <a:cs typeface="Arial"/>
              </a:rPr>
              <a:t>store</a:t>
            </a:r>
            <a:r>
              <a:rPr sz="1800" spc="4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events)</a:t>
            </a:r>
            <a:r>
              <a:rPr sz="1800" spc="4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-</a:t>
            </a:r>
            <a:r>
              <a:rPr sz="1800" spc="4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Examples:</a:t>
            </a:r>
            <a:r>
              <a:rPr sz="1800" spc="4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Kafka,</a:t>
            </a:r>
            <a:r>
              <a:rPr sz="1800" spc="4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RabbitMQ, </a:t>
            </a:r>
            <a:r>
              <a:rPr sz="1800" spc="-114" dirty="0">
                <a:solidFill>
                  <a:srgbClr val="685D46"/>
                </a:solidFill>
                <a:latin typeface="Arial"/>
                <a:cs typeface="Arial"/>
              </a:rPr>
              <a:t>AWS</a:t>
            </a:r>
            <a:r>
              <a:rPr sz="1800" spc="-3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EventBridge</a:t>
            </a:r>
            <a:endParaRPr sz="180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spcBef>
                <a:spcPts val="325"/>
              </a:spcBef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Event</a:t>
            </a:r>
            <a:r>
              <a:rPr sz="1800" spc="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Consumers</a:t>
            </a:r>
            <a:r>
              <a:rPr sz="1800" spc="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25" dirty="0">
                <a:solidFill>
                  <a:srgbClr val="685D46"/>
                </a:solidFill>
                <a:latin typeface="Arial"/>
                <a:cs typeface="Arial"/>
              </a:rPr>
              <a:t>(React</a:t>
            </a:r>
            <a:r>
              <a:rPr sz="1800" spc="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100" dirty="0">
                <a:solidFill>
                  <a:srgbClr val="685D46"/>
                </a:solidFill>
                <a:latin typeface="Arial"/>
                <a:cs typeface="Arial"/>
              </a:rPr>
              <a:t>to</a:t>
            </a:r>
            <a:r>
              <a:rPr sz="1800" spc="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events)</a:t>
            </a:r>
            <a:endParaRPr sz="180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spcBef>
                <a:spcPts val="325"/>
              </a:spcBef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Event</a:t>
            </a:r>
            <a:r>
              <a:rPr sz="1800" spc="10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Storage</a:t>
            </a:r>
            <a:r>
              <a:rPr sz="1800" spc="10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(Log-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based</a:t>
            </a:r>
            <a:r>
              <a:rPr sz="1800" spc="10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persistence</a:t>
            </a:r>
            <a:r>
              <a:rPr sz="1800" spc="11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100" dirty="0">
                <a:solidFill>
                  <a:srgbClr val="685D46"/>
                </a:solidFill>
                <a:latin typeface="Arial"/>
                <a:cs typeface="Arial"/>
              </a:rPr>
              <a:t>for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replaying</a:t>
            </a:r>
            <a:r>
              <a:rPr sz="1800" spc="10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events)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pc="-180" dirty="0"/>
              <a:t>Challenges</a:t>
            </a:r>
            <a:r>
              <a:rPr spc="5" dirty="0"/>
              <a:t> </a:t>
            </a:r>
            <a:r>
              <a:rPr spc="-170" dirty="0"/>
              <a:t>in</a:t>
            </a:r>
            <a:r>
              <a:rPr spc="5" dirty="0"/>
              <a:t> </a:t>
            </a:r>
            <a:r>
              <a:rPr spc="-215" dirty="0"/>
              <a:t>Event-</a:t>
            </a:r>
            <a:r>
              <a:rPr spc="-200" dirty="0"/>
              <a:t>Driven</a:t>
            </a:r>
            <a:r>
              <a:rPr spc="-114" dirty="0"/>
              <a:t> </a:t>
            </a:r>
            <a:r>
              <a:rPr spc="-200" dirty="0"/>
              <a:t>Architecture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5249" y="1289058"/>
            <a:ext cx="7426325" cy="1287780"/>
          </a:xfrm>
          <a:prstGeom prst="rect">
            <a:avLst/>
          </a:prstGeom>
        </p:spPr>
        <p:txBody>
          <a:bodyPr vert="horz" wrap="square" lIns="0" tIns="53340" rIns="0" bIns="0" rtlCol="0">
            <a:spAutoFit/>
          </a:bodyPr>
          <a:lstStyle/>
          <a:p>
            <a:pPr marL="379095" indent="-366395">
              <a:lnSpc>
                <a:spcPct val="100000"/>
              </a:lnSpc>
              <a:spcBef>
                <a:spcPts val="420"/>
              </a:spcBef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Eventual</a:t>
            </a:r>
            <a:r>
              <a:rPr sz="1800" spc="8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Consistency</a:t>
            </a:r>
            <a:r>
              <a:rPr sz="1800" spc="8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(No</a:t>
            </a:r>
            <a:r>
              <a:rPr sz="1800" spc="8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65" dirty="0">
                <a:solidFill>
                  <a:srgbClr val="685D46"/>
                </a:solidFill>
                <a:latin typeface="Arial"/>
                <a:cs typeface="Arial"/>
              </a:rPr>
              <a:t>immediate</a:t>
            </a:r>
            <a:r>
              <a:rPr sz="1800" spc="8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data</a:t>
            </a:r>
            <a:r>
              <a:rPr sz="1800" spc="8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synchronization)</a:t>
            </a:r>
            <a:endParaRPr sz="180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spcBef>
                <a:spcPts val="325"/>
              </a:spcBef>
              <a:buChar char="●"/>
              <a:tabLst>
                <a:tab pos="379095" algn="l"/>
              </a:tabLst>
            </a:pPr>
            <a:r>
              <a:rPr sz="1800" spc="55" dirty="0">
                <a:solidFill>
                  <a:srgbClr val="685D46"/>
                </a:solidFill>
                <a:latin typeface="Arial"/>
                <a:cs typeface="Arial"/>
              </a:rPr>
              <a:t>Ordering</a:t>
            </a:r>
            <a:r>
              <a:rPr sz="1800" spc="8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Guarantees</a:t>
            </a:r>
            <a:r>
              <a:rPr sz="1800" spc="9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(Ensuring</a:t>
            </a:r>
            <a:r>
              <a:rPr sz="1800" spc="9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events</a:t>
            </a:r>
            <a:r>
              <a:rPr sz="1800" spc="9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are</a:t>
            </a:r>
            <a:r>
              <a:rPr sz="1800" spc="9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processed</a:t>
            </a:r>
            <a:r>
              <a:rPr sz="1800" spc="8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70" dirty="0">
                <a:solidFill>
                  <a:srgbClr val="685D46"/>
                </a:solidFill>
                <a:latin typeface="Arial"/>
                <a:cs typeface="Arial"/>
              </a:rPr>
              <a:t>in</a:t>
            </a:r>
            <a:r>
              <a:rPr sz="1800" spc="9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sequence)</a:t>
            </a:r>
            <a:endParaRPr sz="180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spcBef>
                <a:spcPts val="325"/>
              </a:spcBef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Fault</a:t>
            </a:r>
            <a:r>
              <a:rPr sz="1800" spc="13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Tolerance</a:t>
            </a:r>
            <a:r>
              <a:rPr sz="1800" spc="13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105" dirty="0">
                <a:solidFill>
                  <a:srgbClr val="685D46"/>
                </a:solidFill>
                <a:latin typeface="Arial"/>
                <a:cs typeface="Arial"/>
              </a:rPr>
              <a:t>&amp;</a:t>
            </a:r>
            <a:r>
              <a:rPr sz="1800" spc="13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Retries</a:t>
            </a:r>
            <a:r>
              <a:rPr sz="1800" spc="14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(Handling</a:t>
            </a:r>
            <a:r>
              <a:rPr sz="1800" spc="1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failures</a:t>
            </a:r>
            <a:r>
              <a:rPr sz="1800" spc="14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gracefully)</a:t>
            </a:r>
            <a:endParaRPr sz="180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spcBef>
                <a:spcPts val="325"/>
              </a:spcBef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Debugging</a:t>
            </a:r>
            <a:r>
              <a:rPr sz="1800" spc="114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Complexity</a:t>
            </a:r>
            <a:r>
              <a:rPr sz="1800" spc="1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(Tracing</a:t>
            </a:r>
            <a:r>
              <a:rPr sz="1800" spc="1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events</a:t>
            </a:r>
            <a:r>
              <a:rPr sz="1800" spc="1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across</a:t>
            </a:r>
            <a:r>
              <a:rPr sz="1800" spc="13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microservices)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pc="-195" dirty="0"/>
              <a:t>Best</a:t>
            </a:r>
            <a:r>
              <a:rPr spc="-35" dirty="0"/>
              <a:t> </a:t>
            </a:r>
            <a:r>
              <a:rPr spc="-190" dirty="0"/>
              <a:t>Practices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53340" rIns="0" bIns="0" rtlCol="0">
            <a:spAutoFit/>
          </a:bodyPr>
          <a:lstStyle/>
          <a:p>
            <a:pPr marL="379095" indent="-366395">
              <a:lnSpc>
                <a:spcPct val="100000"/>
              </a:lnSpc>
              <a:spcBef>
                <a:spcPts val="420"/>
              </a:spcBef>
              <a:buChar char="●"/>
              <a:tabLst>
                <a:tab pos="379095" algn="l"/>
              </a:tabLst>
            </a:pPr>
            <a:r>
              <a:rPr dirty="0"/>
              <a:t>Use</a:t>
            </a:r>
            <a:r>
              <a:rPr spc="75" dirty="0"/>
              <a:t> </a:t>
            </a:r>
            <a:r>
              <a:rPr spc="80" dirty="0"/>
              <a:t>idempotent</a:t>
            </a:r>
            <a:r>
              <a:rPr spc="75" dirty="0"/>
              <a:t> </a:t>
            </a:r>
            <a:r>
              <a:rPr dirty="0"/>
              <a:t>event</a:t>
            </a:r>
            <a:r>
              <a:rPr spc="75" dirty="0"/>
              <a:t> </a:t>
            </a:r>
            <a:r>
              <a:rPr dirty="0"/>
              <a:t>processing</a:t>
            </a:r>
            <a:r>
              <a:rPr spc="70" dirty="0"/>
              <a:t> </a:t>
            </a:r>
            <a:r>
              <a:rPr spc="100" dirty="0"/>
              <a:t>to</a:t>
            </a:r>
            <a:r>
              <a:rPr spc="75" dirty="0"/>
              <a:t> </a:t>
            </a:r>
            <a:r>
              <a:rPr dirty="0"/>
              <a:t>avoid</a:t>
            </a:r>
            <a:r>
              <a:rPr spc="70" dirty="0"/>
              <a:t> </a:t>
            </a:r>
            <a:r>
              <a:rPr spc="-10" dirty="0"/>
              <a:t>duplicates</a:t>
            </a:r>
          </a:p>
          <a:p>
            <a:pPr marL="379095" indent="-366395">
              <a:lnSpc>
                <a:spcPct val="100000"/>
              </a:lnSpc>
              <a:spcBef>
                <a:spcPts val="325"/>
              </a:spcBef>
              <a:buChar char="●"/>
              <a:tabLst>
                <a:tab pos="379095" algn="l"/>
              </a:tabLst>
            </a:pPr>
            <a:r>
              <a:rPr spc="75" dirty="0"/>
              <a:t>Implement</a:t>
            </a:r>
            <a:r>
              <a:rPr spc="114" dirty="0"/>
              <a:t> </a:t>
            </a:r>
            <a:r>
              <a:rPr spc="55" dirty="0"/>
              <a:t>dead-</a:t>
            </a:r>
            <a:r>
              <a:rPr dirty="0"/>
              <a:t>letter</a:t>
            </a:r>
            <a:r>
              <a:rPr spc="120" dirty="0"/>
              <a:t> </a:t>
            </a:r>
            <a:r>
              <a:rPr dirty="0"/>
              <a:t>queues</a:t>
            </a:r>
            <a:r>
              <a:rPr spc="130" dirty="0"/>
              <a:t> </a:t>
            </a:r>
            <a:r>
              <a:rPr spc="100" dirty="0"/>
              <a:t>for</a:t>
            </a:r>
            <a:r>
              <a:rPr spc="120" dirty="0"/>
              <a:t> </a:t>
            </a:r>
            <a:r>
              <a:rPr dirty="0"/>
              <a:t>failed</a:t>
            </a:r>
            <a:r>
              <a:rPr spc="125" dirty="0"/>
              <a:t> </a:t>
            </a:r>
            <a:r>
              <a:rPr spc="-10" dirty="0"/>
              <a:t>messages</a:t>
            </a:r>
          </a:p>
          <a:p>
            <a:pPr marL="379095" indent="-366395">
              <a:lnSpc>
                <a:spcPct val="100000"/>
              </a:lnSpc>
              <a:spcBef>
                <a:spcPts val="325"/>
              </a:spcBef>
              <a:buChar char="●"/>
              <a:tabLst>
                <a:tab pos="379095" algn="l"/>
              </a:tabLst>
            </a:pPr>
            <a:r>
              <a:rPr dirty="0"/>
              <a:t>Choose</a:t>
            </a:r>
            <a:r>
              <a:rPr spc="40" dirty="0"/>
              <a:t> </a:t>
            </a:r>
            <a:r>
              <a:rPr spc="80" dirty="0"/>
              <a:t>the</a:t>
            </a:r>
            <a:r>
              <a:rPr spc="45" dirty="0"/>
              <a:t> </a:t>
            </a:r>
            <a:r>
              <a:rPr spc="70" dirty="0"/>
              <a:t>right</a:t>
            </a:r>
            <a:r>
              <a:rPr spc="45" dirty="0"/>
              <a:t> </a:t>
            </a:r>
            <a:r>
              <a:rPr dirty="0"/>
              <a:t>event</a:t>
            </a:r>
            <a:r>
              <a:rPr spc="45" dirty="0"/>
              <a:t> </a:t>
            </a:r>
            <a:r>
              <a:rPr spc="80" dirty="0"/>
              <a:t>broker</a:t>
            </a:r>
            <a:r>
              <a:rPr spc="40" dirty="0"/>
              <a:t> </a:t>
            </a:r>
            <a:r>
              <a:rPr dirty="0"/>
              <a:t>based</a:t>
            </a:r>
            <a:r>
              <a:rPr spc="40" dirty="0"/>
              <a:t> </a:t>
            </a:r>
            <a:r>
              <a:rPr spc="85" dirty="0"/>
              <a:t>on</a:t>
            </a:r>
            <a:r>
              <a:rPr spc="45" dirty="0"/>
              <a:t> </a:t>
            </a:r>
            <a:r>
              <a:rPr dirty="0"/>
              <a:t>system</a:t>
            </a:r>
            <a:r>
              <a:rPr spc="40" dirty="0"/>
              <a:t> </a:t>
            </a:r>
            <a:r>
              <a:rPr spc="-10" dirty="0"/>
              <a:t>needs</a:t>
            </a:r>
          </a:p>
          <a:p>
            <a:pPr marL="379095" indent="-366395">
              <a:lnSpc>
                <a:spcPct val="100000"/>
              </a:lnSpc>
              <a:spcBef>
                <a:spcPts val="325"/>
              </a:spcBef>
              <a:buChar char="●"/>
              <a:tabLst>
                <a:tab pos="379095" algn="l"/>
              </a:tabLst>
            </a:pPr>
            <a:r>
              <a:rPr dirty="0"/>
              <a:t>Ensure</a:t>
            </a:r>
            <a:r>
              <a:rPr spc="150" dirty="0"/>
              <a:t> </a:t>
            </a:r>
            <a:r>
              <a:rPr dirty="0"/>
              <a:t>event</a:t>
            </a:r>
            <a:r>
              <a:rPr spc="150" dirty="0"/>
              <a:t> </a:t>
            </a:r>
            <a:r>
              <a:rPr dirty="0"/>
              <a:t>versioning</a:t>
            </a:r>
            <a:r>
              <a:rPr spc="140" dirty="0"/>
              <a:t> </a:t>
            </a:r>
            <a:r>
              <a:rPr spc="100" dirty="0"/>
              <a:t>to</a:t>
            </a:r>
            <a:r>
              <a:rPr spc="155" dirty="0"/>
              <a:t> </a:t>
            </a:r>
            <a:r>
              <a:rPr dirty="0"/>
              <a:t>handle</a:t>
            </a:r>
            <a:r>
              <a:rPr spc="150" dirty="0"/>
              <a:t> </a:t>
            </a:r>
            <a:r>
              <a:rPr dirty="0"/>
              <a:t>schema</a:t>
            </a:r>
            <a:r>
              <a:rPr spc="140" dirty="0"/>
              <a:t> </a:t>
            </a:r>
            <a:r>
              <a:rPr spc="-10" dirty="0"/>
              <a:t>changes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pc="-270" dirty="0"/>
              <a:t>Use</a:t>
            </a:r>
            <a:r>
              <a:rPr spc="-65" dirty="0"/>
              <a:t> </a:t>
            </a:r>
            <a:r>
              <a:rPr spc="-204" dirty="0"/>
              <a:t>Cases</a:t>
            </a:r>
            <a:r>
              <a:rPr spc="-20" dirty="0"/>
              <a:t> </a:t>
            </a:r>
            <a:r>
              <a:rPr spc="-250" dirty="0"/>
              <a:t>of</a:t>
            </a:r>
            <a:r>
              <a:rPr spc="-20" dirty="0"/>
              <a:t> </a:t>
            </a:r>
            <a:r>
              <a:rPr spc="-215" dirty="0"/>
              <a:t>Event-</a:t>
            </a:r>
            <a:r>
              <a:rPr spc="-200" dirty="0"/>
              <a:t>Driven</a:t>
            </a:r>
            <a:r>
              <a:rPr spc="-135" dirty="0"/>
              <a:t> </a:t>
            </a:r>
            <a:r>
              <a:rPr spc="-200" dirty="0"/>
              <a:t>Architecture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5249" y="1289058"/>
            <a:ext cx="7872730" cy="1918335"/>
          </a:xfrm>
          <a:prstGeom prst="rect">
            <a:avLst/>
          </a:prstGeom>
        </p:spPr>
        <p:txBody>
          <a:bodyPr vert="horz" wrap="square" lIns="0" tIns="53340" rIns="0" bIns="0" rtlCol="0">
            <a:spAutoFit/>
          </a:bodyPr>
          <a:lstStyle/>
          <a:p>
            <a:pPr marL="379095" indent="-366395">
              <a:lnSpc>
                <a:spcPct val="100000"/>
              </a:lnSpc>
              <a:spcBef>
                <a:spcPts val="420"/>
              </a:spcBef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Logging</a:t>
            </a:r>
            <a:r>
              <a:rPr sz="1800" spc="-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105" dirty="0">
                <a:solidFill>
                  <a:srgbClr val="685D46"/>
                </a:solidFill>
                <a:latin typeface="Arial"/>
                <a:cs typeface="Arial"/>
              </a:rPr>
              <a:t>&amp;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50" dirty="0">
                <a:solidFill>
                  <a:srgbClr val="685D46"/>
                </a:solidFill>
                <a:latin typeface="Arial"/>
                <a:cs typeface="Arial"/>
              </a:rPr>
              <a:t>Auditing</a:t>
            </a:r>
            <a:r>
              <a:rPr sz="1800" spc="-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(Track changes over</a:t>
            </a:r>
            <a:r>
              <a:rPr sz="1800" spc="-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40" dirty="0">
                <a:solidFill>
                  <a:srgbClr val="685D46"/>
                </a:solidFill>
                <a:latin typeface="Arial"/>
                <a:cs typeface="Arial"/>
              </a:rPr>
              <a:t>time)</a:t>
            </a:r>
            <a:endParaRPr sz="180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spcBef>
                <a:spcPts val="325"/>
              </a:spcBef>
              <a:buChar char="●"/>
              <a:tabLst>
                <a:tab pos="379095" algn="l"/>
              </a:tabLst>
            </a:pPr>
            <a:r>
              <a:rPr sz="1800" spc="-20" dirty="0">
                <a:solidFill>
                  <a:srgbClr val="685D46"/>
                </a:solidFill>
                <a:latin typeface="Arial"/>
                <a:cs typeface="Arial"/>
              </a:rPr>
              <a:t>Real-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Time</a:t>
            </a:r>
            <a:r>
              <a:rPr sz="1800" spc="3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60" dirty="0">
                <a:solidFill>
                  <a:srgbClr val="685D46"/>
                </a:solidFill>
                <a:latin typeface="Arial"/>
                <a:cs typeface="Arial"/>
              </a:rPr>
              <a:t>Notiﬁcations</a:t>
            </a:r>
            <a:r>
              <a:rPr sz="1800" spc="3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(Chat</a:t>
            </a:r>
            <a:r>
              <a:rPr sz="1800" spc="3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apps,</a:t>
            </a:r>
            <a:r>
              <a:rPr sz="1800" spc="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stock</a:t>
            </a:r>
            <a:r>
              <a:rPr sz="1800" spc="3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price</a:t>
            </a:r>
            <a:r>
              <a:rPr sz="1800" spc="3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updates)</a:t>
            </a:r>
            <a:endParaRPr sz="180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spcBef>
                <a:spcPts val="325"/>
              </a:spcBef>
              <a:buChar char="●"/>
              <a:tabLst>
                <a:tab pos="379095" algn="l"/>
              </a:tabLst>
            </a:pPr>
            <a:r>
              <a:rPr sz="1800" spc="10" dirty="0">
                <a:solidFill>
                  <a:srgbClr val="685D46"/>
                </a:solidFill>
                <a:latin typeface="Arial"/>
                <a:cs typeface="Arial"/>
              </a:rPr>
              <a:t>Microservices</a:t>
            </a:r>
            <a:r>
              <a:rPr sz="1800" spc="16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10" dirty="0">
                <a:solidFill>
                  <a:srgbClr val="685D46"/>
                </a:solidFill>
                <a:latin typeface="Arial"/>
                <a:cs typeface="Arial"/>
              </a:rPr>
              <a:t>Decoupling</a:t>
            </a:r>
            <a:r>
              <a:rPr sz="1800" spc="15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10" dirty="0">
                <a:solidFill>
                  <a:srgbClr val="685D46"/>
                </a:solidFill>
                <a:latin typeface="Arial"/>
                <a:cs typeface="Arial"/>
              </a:rPr>
              <a:t>(Independent</a:t>
            </a:r>
            <a:r>
              <a:rPr sz="1800" spc="16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10" dirty="0">
                <a:solidFill>
                  <a:srgbClr val="685D46"/>
                </a:solidFill>
                <a:latin typeface="Arial"/>
                <a:cs typeface="Arial"/>
              </a:rPr>
              <a:t>scalability</a:t>
            </a:r>
            <a:r>
              <a:rPr sz="1800" spc="15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105" dirty="0">
                <a:solidFill>
                  <a:srgbClr val="685D46"/>
                </a:solidFill>
                <a:latin typeface="Arial"/>
                <a:cs typeface="Arial"/>
              </a:rPr>
              <a:t>&amp;</a:t>
            </a:r>
            <a:r>
              <a:rPr sz="1800" spc="16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70" dirty="0">
                <a:solidFill>
                  <a:srgbClr val="685D46"/>
                </a:solidFill>
                <a:latin typeface="Arial"/>
                <a:cs typeface="Arial"/>
              </a:rPr>
              <a:t>fault</a:t>
            </a:r>
            <a:r>
              <a:rPr sz="1800" spc="16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tolerance)</a:t>
            </a:r>
            <a:endParaRPr sz="180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spcBef>
                <a:spcPts val="325"/>
              </a:spcBef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IoT</a:t>
            </a:r>
            <a:r>
              <a:rPr sz="1800" spc="-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Systems</a:t>
            </a: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(Sensor</a:t>
            </a:r>
            <a:r>
              <a:rPr sz="1800" spc="-1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data</a:t>
            </a:r>
            <a:r>
              <a:rPr sz="1800" spc="-1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processing)</a:t>
            </a:r>
            <a:endParaRPr sz="180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spcBef>
                <a:spcPts val="325"/>
              </a:spcBef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E-commerce</a:t>
            </a:r>
            <a:r>
              <a:rPr sz="1800" spc="10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65" dirty="0">
                <a:solidFill>
                  <a:srgbClr val="685D46"/>
                </a:solidFill>
                <a:latin typeface="Arial"/>
                <a:cs typeface="Arial"/>
              </a:rPr>
              <a:t>Order</a:t>
            </a:r>
            <a:r>
              <a:rPr sz="1800" spc="10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Processing</a:t>
            </a:r>
            <a:r>
              <a:rPr sz="1800" spc="10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(Order</a:t>
            </a:r>
            <a:r>
              <a:rPr sz="1800" spc="10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placed</a:t>
            </a:r>
            <a:r>
              <a:rPr sz="1800" spc="18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→</a:t>
            </a:r>
            <a:r>
              <a:rPr sz="1800" spc="11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Payment</a:t>
            </a:r>
            <a:r>
              <a:rPr sz="1800" spc="10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processed</a:t>
            </a:r>
            <a:r>
              <a:rPr sz="1800" spc="13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50" dirty="0">
                <a:solidFill>
                  <a:srgbClr val="685D46"/>
                </a:solidFill>
                <a:latin typeface="Arial"/>
                <a:cs typeface="Arial"/>
              </a:rPr>
              <a:t>→</a:t>
            </a:r>
            <a:endParaRPr sz="1800">
              <a:latin typeface="Arial"/>
              <a:cs typeface="Arial"/>
            </a:endParaRPr>
          </a:p>
          <a:p>
            <a:pPr marL="379095">
              <a:lnSpc>
                <a:spcPct val="100000"/>
              </a:lnSpc>
              <a:spcBef>
                <a:spcPts val="325"/>
              </a:spcBef>
            </a:pPr>
            <a:r>
              <a:rPr sz="1800" spc="50" dirty="0">
                <a:solidFill>
                  <a:srgbClr val="685D46"/>
                </a:solidFill>
                <a:latin typeface="Arial"/>
                <a:cs typeface="Arial"/>
              </a:rPr>
              <a:t>Inventory</a:t>
            </a:r>
            <a:r>
              <a:rPr sz="1800" spc="-1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updated)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2800" spc="-210" dirty="0"/>
              <a:t>Important</a:t>
            </a:r>
            <a:r>
              <a:rPr sz="2800" dirty="0"/>
              <a:t> </a:t>
            </a:r>
            <a:r>
              <a:rPr sz="2800" spc="-190" dirty="0"/>
              <a:t>Interview</a:t>
            </a:r>
            <a:r>
              <a:rPr sz="2800" spc="-90" dirty="0"/>
              <a:t> </a:t>
            </a:r>
            <a:r>
              <a:rPr sz="2800" spc="-204" dirty="0"/>
              <a:t>Questions</a:t>
            </a:r>
            <a:r>
              <a:rPr sz="2800" dirty="0"/>
              <a:t> </a:t>
            </a:r>
            <a:r>
              <a:rPr sz="2800" spc="-240" dirty="0"/>
              <a:t>on</a:t>
            </a:r>
            <a:r>
              <a:rPr sz="2800" spc="5" dirty="0"/>
              <a:t> </a:t>
            </a:r>
            <a:r>
              <a:rPr sz="2800" spc="-190" dirty="0"/>
              <a:t>Event-</a:t>
            </a:r>
            <a:r>
              <a:rPr sz="2800" spc="-175" dirty="0"/>
              <a:t>Driven</a:t>
            </a:r>
            <a:r>
              <a:rPr sz="2800" spc="-100" dirty="0"/>
              <a:t> </a:t>
            </a:r>
            <a:r>
              <a:rPr sz="2800" spc="-165" dirty="0"/>
              <a:t>Architecture</a:t>
            </a:r>
            <a:endParaRPr sz="2800"/>
          </a:p>
        </p:txBody>
      </p:sp>
      <p:sp>
        <p:nvSpPr>
          <p:cNvPr id="3" name="object 3"/>
          <p:cNvSpPr txBox="1"/>
          <p:nvPr/>
        </p:nvSpPr>
        <p:spPr>
          <a:xfrm>
            <a:off x="496014" y="1322250"/>
            <a:ext cx="8046720" cy="29921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58140" indent="-345440">
              <a:lnSpc>
                <a:spcPts val="1764"/>
              </a:lnSpc>
              <a:spcBef>
                <a:spcPts val="130"/>
              </a:spcBef>
              <a:buChar char="●"/>
              <a:tabLst>
                <a:tab pos="358140" algn="l"/>
              </a:tabLst>
            </a:pPr>
            <a:r>
              <a:rPr sz="1500" spc="-10" dirty="0">
                <a:solidFill>
                  <a:srgbClr val="685D46"/>
                </a:solidFill>
                <a:latin typeface="Arial"/>
                <a:cs typeface="Arial"/>
              </a:rPr>
              <a:t>Fundamentals</a:t>
            </a:r>
            <a:endParaRPr sz="1500">
              <a:latin typeface="Arial"/>
              <a:cs typeface="Arial"/>
            </a:endParaRPr>
          </a:p>
          <a:p>
            <a:pPr marL="815340" marR="400050" lvl="1" indent="-320040">
              <a:lnSpc>
                <a:spcPts val="1360"/>
              </a:lnSpc>
              <a:spcBef>
                <a:spcPts val="80"/>
              </a:spcBef>
              <a:buChar char="○"/>
              <a:tabLst>
                <a:tab pos="815340" algn="l"/>
              </a:tabLst>
            </a:pP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What</a:t>
            </a:r>
            <a:r>
              <a:rPr sz="1200" spc="8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is</a:t>
            </a:r>
            <a:r>
              <a:rPr sz="1200" spc="8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Event-Driven</a:t>
            </a:r>
            <a:r>
              <a:rPr sz="1200" spc="9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Architecture</a:t>
            </a:r>
            <a:r>
              <a:rPr sz="1200" spc="8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spc="-65" dirty="0">
                <a:solidFill>
                  <a:srgbClr val="685D46"/>
                </a:solidFill>
                <a:latin typeface="Arial"/>
                <a:cs typeface="Arial"/>
              </a:rPr>
              <a:t>(EDA),</a:t>
            </a:r>
            <a:r>
              <a:rPr sz="1200" spc="8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and</a:t>
            </a:r>
            <a:r>
              <a:rPr sz="1200" spc="9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spc="55" dirty="0">
                <a:solidFill>
                  <a:srgbClr val="685D46"/>
                </a:solidFill>
                <a:latin typeface="Arial"/>
                <a:cs typeface="Arial"/>
              </a:rPr>
              <a:t>how</a:t>
            </a:r>
            <a:r>
              <a:rPr sz="1200" spc="8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does</a:t>
            </a:r>
            <a:r>
              <a:rPr sz="1200" spc="9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spc="55" dirty="0">
                <a:solidFill>
                  <a:srgbClr val="685D46"/>
                </a:solidFill>
                <a:latin typeface="Arial"/>
                <a:cs typeface="Arial"/>
              </a:rPr>
              <a:t>it</a:t>
            </a:r>
            <a:r>
              <a:rPr sz="1200" spc="8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spc="60" dirty="0">
                <a:solidFill>
                  <a:srgbClr val="685D46"/>
                </a:solidFill>
                <a:latin typeface="Arial"/>
                <a:cs typeface="Arial"/>
              </a:rPr>
              <a:t>diﬀer</a:t>
            </a:r>
            <a:r>
              <a:rPr sz="1200" spc="8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spc="65" dirty="0">
                <a:solidFill>
                  <a:srgbClr val="685D46"/>
                </a:solidFill>
                <a:latin typeface="Arial"/>
                <a:cs typeface="Arial"/>
              </a:rPr>
              <a:t>from</a:t>
            </a:r>
            <a:r>
              <a:rPr sz="1200" spc="9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traditional</a:t>
            </a:r>
            <a:r>
              <a:rPr sz="1200" spc="8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request-</a:t>
            </a:r>
            <a:r>
              <a:rPr sz="1200" spc="-10" dirty="0">
                <a:solidFill>
                  <a:srgbClr val="685D46"/>
                </a:solidFill>
                <a:latin typeface="Arial"/>
                <a:cs typeface="Arial"/>
              </a:rPr>
              <a:t>response architectures?</a:t>
            </a:r>
            <a:endParaRPr sz="1200">
              <a:latin typeface="Arial"/>
              <a:cs typeface="Arial"/>
            </a:endParaRPr>
          </a:p>
          <a:p>
            <a:pPr marL="815340" lvl="1" indent="-319405">
              <a:lnSpc>
                <a:spcPts val="1280"/>
              </a:lnSpc>
              <a:buChar char="○"/>
              <a:tabLst>
                <a:tab pos="815340" algn="l"/>
              </a:tabLst>
            </a:pP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Explain</a:t>
            </a:r>
            <a:r>
              <a:rPr sz="1200" spc="9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the</a:t>
            </a:r>
            <a:r>
              <a:rPr sz="1200" spc="10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diﬀerence</a:t>
            </a:r>
            <a:r>
              <a:rPr sz="1200" spc="10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between</a:t>
            </a:r>
            <a:r>
              <a:rPr sz="1200" spc="10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685D46"/>
                </a:solidFill>
                <a:latin typeface="Arial"/>
                <a:cs typeface="Arial"/>
              </a:rPr>
              <a:t>Pub-</a:t>
            </a: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Sub</a:t>
            </a:r>
            <a:r>
              <a:rPr sz="1200" spc="9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and</a:t>
            </a:r>
            <a:r>
              <a:rPr sz="1200" spc="10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Event</a:t>
            </a:r>
            <a:r>
              <a:rPr sz="1200" spc="10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Streaming</a:t>
            </a:r>
            <a:r>
              <a:rPr sz="1200" spc="10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685D46"/>
                </a:solidFill>
                <a:latin typeface="Arial"/>
                <a:cs typeface="Arial"/>
              </a:rPr>
              <a:t>models.</a:t>
            </a:r>
            <a:endParaRPr sz="1200">
              <a:latin typeface="Arial"/>
              <a:cs typeface="Arial"/>
            </a:endParaRPr>
          </a:p>
          <a:p>
            <a:pPr marL="815340" lvl="1" indent="-319405">
              <a:lnSpc>
                <a:spcPts val="1360"/>
              </a:lnSpc>
              <a:buChar char="○"/>
              <a:tabLst>
                <a:tab pos="815340" algn="l"/>
              </a:tabLst>
            </a:pPr>
            <a:r>
              <a:rPr sz="1200" spc="10" dirty="0">
                <a:solidFill>
                  <a:srgbClr val="685D46"/>
                </a:solidFill>
                <a:latin typeface="Arial"/>
                <a:cs typeface="Arial"/>
              </a:rPr>
              <a:t>What</a:t>
            </a:r>
            <a:r>
              <a:rPr sz="1200" spc="5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spc="10" dirty="0">
                <a:solidFill>
                  <a:srgbClr val="685D46"/>
                </a:solidFill>
                <a:latin typeface="Arial"/>
                <a:cs typeface="Arial"/>
              </a:rPr>
              <a:t>are</a:t>
            </a:r>
            <a:r>
              <a:rPr sz="1200" spc="5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spc="10" dirty="0">
                <a:solidFill>
                  <a:srgbClr val="685D46"/>
                </a:solidFill>
                <a:latin typeface="Arial"/>
                <a:cs typeface="Arial"/>
              </a:rPr>
              <a:t>the</a:t>
            </a:r>
            <a:r>
              <a:rPr sz="1200" spc="5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spc="10" dirty="0">
                <a:solidFill>
                  <a:srgbClr val="685D46"/>
                </a:solidFill>
                <a:latin typeface="Arial"/>
                <a:cs typeface="Arial"/>
              </a:rPr>
              <a:t>key</a:t>
            </a:r>
            <a:r>
              <a:rPr sz="1200" spc="5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spc="10" dirty="0">
                <a:solidFill>
                  <a:srgbClr val="685D46"/>
                </a:solidFill>
                <a:latin typeface="Arial"/>
                <a:cs typeface="Arial"/>
              </a:rPr>
              <a:t>components</a:t>
            </a:r>
            <a:r>
              <a:rPr sz="1200" spc="6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spc="50" dirty="0">
                <a:solidFill>
                  <a:srgbClr val="685D46"/>
                </a:solidFill>
                <a:latin typeface="Arial"/>
                <a:cs typeface="Arial"/>
              </a:rPr>
              <a:t>of</a:t>
            </a:r>
            <a:r>
              <a:rPr sz="1200" spc="5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spc="10" dirty="0">
                <a:solidFill>
                  <a:srgbClr val="685D46"/>
                </a:solidFill>
                <a:latin typeface="Arial"/>
                <a:cs typeface="Arial"/>
              </a:rPr>
              <a:t>an</a:t>
            </a:r>
            <a:r>
              <a:rPr sz="1200" spc="5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spc="10" dirty="0">
                <a:solidFill>
                  <a:srgbClr val="685D46"/>
                </a:solidFill>
                <a:latin typeface="Arial"/>
                <a:cs typeface="Arial"/>
              </a:rPr>
              <a:t>event-driven</a:t>
            </a:r>
            <a:r>
              <a:rPr sz="1200" spc="5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685D46"/>
                </a:solidFill>
                <a:latin typeface="Arial"/>
                <a:cs typeface="Arial"/>
              </a:rPr>
              <a:t>system?</a:t>
            </a:r>
            <a:endParaRPr sz="1200">
              <a:latin typeface="Arial"/>
              <a:cs typeface="Arial"/>
            </a:endParaRPr>
          </a:p>
          <a:p>
            <a:pPr marL="358140" indent="-345440">
              <a:lnSpc>
                <a:spcPts val="1730"/>
              </a:lnSpc>
              <a:buChar char="●"/>
              <a:tabLst>
                <a:tab pos="358140" algn="l"/>
              </a:tabLst>
            </a:pPr>
            <a:r>
              <a:rPr sz="1500" dirty="0">
                <a:solidFill>
                  <a:srgbClr val="685D46"/>
                </a:solidFill>
                <a:latin typeface="Arial"/>
                <a:cs typeface="Arial"/>
              </a:rPr>
              <a:t>Scalability</a:t>
            </a:r>
            <a:r>
              <a:rPr sz="1500" spc="9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500" spc="110" dirty="0">
                <a:solidFill>
                  <a:srgbClr val="685D46"/>
                </a:solidFill>
                <a:latin typeface="Arial"/>
                <a:cs typeface="Arial"/>
              </a:rPr>
              <a:t>&amp;</a:t>
            </a:r>
            <a:r>
              <a:rPr sz="1500" spc="10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500" dirty="0">
                <a:solidFill>
                  <a:srgbClr val="685D46"/>
                </a:solidFill>
                <a:latin typeface="Arial"/>
                <a:cs typeface="Arial"/>
              </a:rPr>
              <a:t>Fault</a:t>
            </a:r>
            <a:r>
              <a:rPr sz="1500" spc="9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500" spc="-10" dirty="0">
                <a:solidFill>
                  <a:srgbClr val="685D46"/>
                </a:solidFill>
                <a:latin typeface="Arial"/>
                <a:cs typeface="Arial"/>
              </a:rPr>
              <a:t>Tolerance</a:t>
            </a:r>
            <a:endParaRPr sz="1500">
              <a:latin typeface="Arial"/>
              <a:cs typeface="Arial"/>
            </a:endParaRPr>
          </a:p>
          <a:p>
            <a:pPr marL="815340" lvl="1" indent="-319405">
              <a:lnSpc>
                <a:spcPts val="1365"/>
              </a:lnSpc>
              <a:buChar char="○"/>
              <a:tabLst>
                <a:tab pos="815340" algn="l"/>
              </a:tabLst>
            </a:pP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What</a:t>
            </a:r>
            <a:r>
              <a:rPr sz="1200" spc="7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are</a:t>
            </a:r>
            <a:r>
              <a:rPr sz="1200" spc="7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some</a:t>
            </a:r>
            <a:r>
              <a:rPr sz="1200" spc="7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challenges</a:t>
            </a:r>
            <a:r>
              <a:rPr sz="1200" spc="7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spc="50" dirty="0">
                <a:solidFill>
                  <a:srgbClr val="685D46"/>
                </a:solidFill>
                <a:latin typeface="Arial"/>
                <a:cs typeface="Arial"/>
              </a:rPr>
              <a:t>of</a:t>
            </a:r>
            <a:r>
              <a:rPr sz="1200" spc="7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Event-Driven</a:t>
            </a:r>
            <a:r>
              <a:rPr sz="1200" spc="7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Architecture,</a:t>
            </a:r>
            <a:r>
              <a:rPr sz="1200" spc="7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and</a:t>
            </a:r>
            <a:r>
              <a:rPr sz="1200" spc="7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spc="55" dirty="0">
                <a:solidFill>
                  <a:srgbClr val="685D46"/>
                </a:solidFill>
                <a:latin typeface="Arial"/>
                <a:cs typeface="Arial"/>
              </a:rPr>
              <a:t>how</a:t>
            </a:r>
            <a:r>
              <a:rPr sz="1200" spc="7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spc="50" dirty="0">
                <a:solidFill>
                  <a:srgbClr val="685D46"/>
                </a:solidFill>
                <a:latin typeface="Arial"/>
                <a:cs typeface="Arial"/>
              </a:rPr>
              <a:t>do</a:t>
            </a:r>
            <a:r>
              <a:rPr sz="1200" spc="7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you</a:t>
            </a:r>
            <a:r>
              <a:rPr sz="1200" spc="7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handle</a:t>
            </a:r>
            <a:r>
              <a:rPr sz="1200" spc="7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eventual</a:t>
            </a:r>
            <a:r>
              <a:rPr sz="1200" spc="7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685D46"/>
                </a:solidFill>
                <a:latin typeface="Arial"/>
                <a:cs typeface="Arial"/>
              </a:rPr>
              <a:t>consistency?</a:t>
            </a:r>
            <a:endParaRPr sz="1200">
              <a:latin typeface="Arial"/>
              <a:cs typeface="Arial"/>
            </a:endParaRPr>
          </a:p>
          <a:p>
            <a:pPr marL="815340" lvl="1" indent="-319405">
              <a:lnSpc>
                <a:spcPts val="1355"/>
              </a:lnSpc>
              <a:buChar char="○"/>
              <a:tabLst>
                <a:tab pos="815340" algn="l"/>
              </a:tabLst>
            </a:pPr>
            <a:r>
              <a:rPr sz="1200" spc="20" dirty="0">
                <a:solidFill>
                  <a:srgbClr val="685D46"/>
                </a:solidFill>
                <a:latin typeface="Arial"/>
                <a:cs typeface="Arial"/>
              </a:rPr>
              <a:t>How</a:t>
            </a:r>
            <a:r>
              <a:rPr sz="1200" spc="3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spc="20" dirty="0">
                <a:solidFill>
                  <a:srgbClr val="685D46"/>
                </a:solidFill>
                <a:latin typeface="Arial"/>
                <a:cs typeface="Arial"/>
              </a:rPr>
              <a:t>can</a:t>
            </a:r>
            <a:r>
              <a:rPr sz="1200" spc="4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spc="20" dirty="0">
                <a:solidFill>
                  <a:srgbClr val="685D46"/>
                </a:solidFill>
                <a:latin typeface="Arial"/>
                <a:cs typeface="Arial"/>
              </a:rPr>
              <a:t>you</a:t>
            </a:r>
            <a:r>
              <a:rPr sz="1200" spc="4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spc="20" dirty="0">
                <a:solidFill>
                  <a:srgbClr val="685D46"/>
                </a:solidFill>
                <a:latin typeface="Arial"/>
                <a:cs typeface="Arial"/>
              </a:rPr>
              <a:t>ensure</a:t>
            </a:r>
            <a:r>
              <a:rPr sz="1200" spc="4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spc="20" dirty="0">
                <a:solidFill>
                  <a:srgbClr val="685D46"/>
                </a:solidFill>
                <a:latin typeface="Arial"/>
                <a:cs typeface="Arial"/>
              </a:rPr>
              <a:t>event</a:t>
            </a:r>
            <a:r>
              <a:rPr sz="1200" spc="4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spc="20" dirty="0">
                <a:solidFill>
                  <a:srgbClr val="685D46"/>
                </a:solidFill>
                <a:latin typeface="Arial"/>
                <a:cs typeface="Arial"/>
              </a:rPr>
              <a:t>ordering</a:t>
            </a:r>
            <a:r>
              <a:rPr sz="1200" spc="4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spc="20" dirty="0">
                <a:solidFill>
                  <a:srgbClr val="685D46"/>
                </a:solidFill>
                <a:latin typeface="Arial"/>
                <a:cs typeface="Arial"/>
              </a:rPr>
              <a:t>in</a:t>
            </a:r>
            <a:r>
              <a:rPr sz="1200" spc="4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spc="20" dirty="0">
                <a:solidFill>
                  <a:srgbClr val="685D46"/>
                </a:solidFill>
                <a:latin typeface="Arial"/>
                <a:cs typeface="Arial"/>
              </a:rPr>
              <a:t>distributed</a:t>
            </a:r>
            <a:r>
              <a:rPr sz="1200" spc="4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spc="20" dirty="0">
                <a:solidFill>
                  <a:srgbClr val="685D46"/>
                </a:solidFill>
                <a:latin typeface="Arial"/>
                <a:cs typeface="Arial"/>
              </a:rPr>
              <a:t>event</a:t>
            </a:r>
            <a:r>
              <a:rPr sz="1200" spc="4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685D46"/>
                </a:solidFill>
                <a:latin typeface="Arial"/>
                <a:cs typeface="Arial"/>
              </a:rPr>
              <a:t>processing?</a:t>
            </a:r>
            <a:endParaRPr sz="1200">
              <a:latin typeface="Arial"/>
              <a:cs typeface="Arial"/>
            </a:endParaRPr>
          </a:p>
          <a:p>
            <a:pPr marL="815340" lvl="1" indent="-319405">
              <a:lnSpc>
                <a:spcPts val="1360"/>
              </a:lnSpc>
              <a:buChar char="○"/>
              <a:tabLst>
                <a:tab pos="815340" algn="l"/>
              </a:tabLst>
            </a:pP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What</a:t>
            </a:r>
            <a:r>
              <a:rPr sz="1200" spc="8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are</a:t>
            </a:r>
            <a:r>
              <a:rPr sz="1200" spc="8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dead-letter</a:t>
            </a:r>
            <a:r>
              <a:rPr sz="1200" spc="9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queues</a:t>
            </a:r>
            <a:r>
              <a:rPr sz="1200" spc="8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spc="-40" dirty="0">
                <a:solidFill>
                  <a:srgbClr val="685D46"/>
                </a:solidFill>
                <a:latin typeface="Arial"/>
                <a:cs typeface="Arial"/>
              </a:rPr>
              <a:t>(DLQs),</a:t>
            </a:r>
            <a:r>
              <a:rPr sz="1200" spc="9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and</a:t>
            </a:r>
            <a:r>
              <a:rPr sz="1200" spc="8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why</a:t>
            </a:r>
            <a:r>
              <a:rPr sz="1200" spc="9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are</a:t>
            </a:r>
            <a:r>
              <a:rPr sz="1200" spc="8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they</a:t>
            </a:r>
            <a:r>
              <a:rPr sz="1200" spc="9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685D46"/>
                </a:solidFill>
                <a:latin typeface="Arial"/>
                <a:cs typeface="Arial"/>
              </a:rPr>
              <a:t>important?</a:t>
            </a:r>
            <a:endParaRPr sz="1200">
              <a:latin typeface="Arial"/>
              <a:cs typeface="Arial"/>
            </a:endParaRPr>
          </a:p>
          <a:p>
            <a:pPr marL="358140" indent="-345440">
              <a:lnSpc>
                <a:spcPts val="1730"/>
              </a:lnSpc>
              <a:buChar char="●"/>
              <a:tabLst>
                <a:tab pos="358140" algn="l"/>
              </a:tabLst>
            </a:pPr>
            <a:r>
              <a:rPr sz="1500" spc="75" dirty="0">
                <a:solidFill>
                  <a:srgbClr val="685D46"/>
                </a:solidFill>
                <a:latin typeface="Arial"/>
                <a:cs typeface="Arial"/>
              </a:rPr>
              <a:t>Implementation</a:t>
            </a:r>
            <a:r>
              <a:rPr sz="1500" spc="-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500" spc="110" dirty="0">
                <a:solidFill>
                  <a:srgbClr val="685D46"/>
                </a:solidFill>
                <a:latin typeface="Arial"/>
                <a:cs typeface="Arial"/>
              </a:rPr>
              <a:t>&amp;</a:t>
            </a:r>
            <a:r>
              <a:rPr sz="1500" spc="-1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500" spc="-10" dirty="0">
                <a:solidFill>
                  <a:srgbClr val="685D46"/>
                </a:solidFill>
                <a:latin typeface="Arial"/>
                <a:cs typeface="Arial"/>
              </a:rPr>
              <a:t>Technologies</a:t>
            </a:r>
            <a:endParaRPr sz="1500">
              <a:latin typeface="Arial"/>
              <a:cs typeface="Arial"/>
            </a:endParaRPr>
          </a:p>
          <a:p>
            <a:pPr marL="815340" lvl="1" indent="-319405">
              <a:lnSpc>
                <a:spcPts val="1365"/>
              </a:lnSpc>
              <a:buChar char="○"/>
              <a:tabLst>
                <a:tab pos="815340" algn="l"/>
              </a:tabLst>
            </a:pP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What</a:t>
            </a:r>
            <a:r>
              <a:rPr sz="1200" spc="8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are</a:t>
            </a:r>
            <a:r>
              <a:rPr sz="1200" spc="9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the</a:t>
            </a:r>
            <a:r>
              <a:rPr sz="1200" spc="9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diﬀerences</a:t>
            </a:r>
            <a:r>
              <a:rPr sz="1200" spc="9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between</a:t>
            </a:r>
            <a:r>
              <a:rPr sz="1200" spc="8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685D46"/>
                </a:solidFill>
                <a:latin typeface="Arial"/>
                <a:cs typeface="Arial"/>
              </a:rPr>
              <a:t>Kafka,</a:t>
            </a:r>
            <a:r>
              <a:rPr sz="1200" spc="9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RabbitMQ,</a:t>
            </a:r>
            <a:r>
              <a:rPr sz="1200" spc="9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and</a:t>
            </a:r>
            <a:r>
              <a:rPr sz="1200" spc="9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spc="-95" dirty="0">
                <a:solidFill>
                  <a:srgbClr val="685D46"/>
                </a:solidFill>
                <a:latin typeface="Arial"/>
                <a:cs typeface="Arial"/>
              </a:rPr>
              <a:t>AWS</a:t>
            </a:r>
            <a:r>
              <a:rPr sz="1200" spc="9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685D46"/>
                </a:solidFill>
                <a:latin typeface="Arial"/>
                <a:cs typeface="Arial"/>
              </a:rPr>
              <a:t>EventBridge?</a:t>
            </a:r>
            <a:endParaRPr sz="1200">
              <a:latin typeface="Arial"/>
              <a:cs typeface="Arial"/>
            </a:endParaRPr>
          </a:p>
          <a:p>
            <a:pPr marL="854710" lvl="1" indent="-358775">
              <a:lnSpc>
                <a:spcPts val="1360"/>
              </a:lnSpc>
              <a:buChar char="○"/>
              <a:tabLst>
                <a:tab pos="854710" algn="l"/>
              </a:tabLst>
            </a:pPr>
            <a:r>
              <a:rPr sz="1200" spc="20" dirty="0">
                <a:solidFill>
                  <a:srgbClr val="685D46"/>
                </a:solidFill>
                <a:latin typeface="Arial"/>
                <a:cs typeface="Arial"/>
              </a:rPr>
              <a:t>How</a:t>
            </a:r>
            <a:r>
              <a:rPr sz="1200" spc="3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spc="50" dirty="0">
                <a:solidFill>
                  <a:srgbClr val="685D46"/>
                </a:solidFill>
                <a:latin typeface="Arial"/>
                <a:cs typeface="Arial"/>
              </a:rPr>
              <a:t>do</a:t>
            </a:r>
            <a:r>
              <a:rPr sz="1200" spc="3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spc="20" dirty="0">
                <a:solidFill>
                  <a:srgbClr val="685D46"/>
                </a:solidFill>
                <a:latin typeface="Arial"/>
                <a:cs typeface="Arial"/>
              </a:rPr>
              <a:t>you</a:t>
            </a:r>
            <a:r>
              <a:rPr sz="1200" spc="3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spc="20" dirty="0">
                <a:solidFill>
                  <a:srgbClr val="685D46"/>
                </a:solidFill>
                <a:latin typeface="Arial"/>
                <a:cs typeface="Arial"/>
              </a:rPr>
              <a:t>make</a:t>
            </a:r>
            <a:r>
              <a:rPr sz="1200" spc="3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spc="20" dirty="0">
                <a:solidFill>
                  <a:srgbClr val="685D46"/>
                </a:solidFill>
                <a:latin typeface="Arial"/>
                <a:cs typeface="Arial"/>
              </a:rPr>
              <a:t>event</a:t>
            </a:r>
            <a:r>
              <a:rPr sz="1200" spc="3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spc="10" dirty="0">
                <a:solidFill>
                  <a:srgbClr val="685D46"/>
                </a:solidFill>
                <a:latin typeface="Arial"/>
                <a:cs typeface="Arial"/>
              </a:rPr>
              <a:t>processing</a:t>
            </a:r>
            <a:r>
              <a:rPr sz="1200" spc="3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spc="20" dirty="0">
                <a:solidFill>
                  <a:srgbClr val="685D46"/>
                </a:solidFill>
                <a:latin typeface="Arial"/>
                <a:cs typeface="Arial"/>
              </a:rPr>
              <a:t>idempotent</a:t>
            </a:r>
            <a:r>
              <a:rPr sz="1200" spc="3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spc="65" dirty="0">
                <a:solidFill>
                  <a:srgbClr val="685D46"/>
                </a:solidFill>
                <a:latin typeface="Arial"/>
                <a:cs typeface="Arial"/>
              </a:rPr>
              <a:t>to</a:t>
            </a:r>
            <a:r>
              <a:rPr sz="1200" spc="3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spc="20" dirty="0">
                <a:solidFill>
                  <a:srgbClr val="685D46"/>
                </a:solidFill>
                <a:latin typeface="Arial"/>
                <a:cs typeface="Arial"/>
              </a:rPr>
              <a:t>avoid</a:t>
            </a:r>
            <a:r>
              <a:rPr sz="1200" spc="3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spc="20" dirty="0">
                <a:solidFill>
                  <a:srgbClr val="685D46"/>
                </a:solidFill>
                <a:latin typeface="Arial"/>
                <a:cs typeface="Arial"/>
              </a:rPr>
              <a:t>duplicate</a:t>
            </a:r>
            <a:r>
              <a:rPr sz="1200" spc="3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685D46"/>
                </a:solidFill>
                <a:latin typeface="Arial"/>
                <a:cs typeface="Arial"/>
              </a:rPr>
              <a:t>execution?</a:t>
            </a:r>
            <a:endParaRPr sz="1200">
              <a:latin typeface="Arial"/>
              <a:cs typeface="Arial"/>
            </a:endParaRPr>
          </a:p>
          <a:p>
            <a:pPr marL="358140" indent="-345440">
              <a:lnSpc>
                <a:spcPts val="1730"/>
              </a:lnSpc>
              <a:buChar char="●"/>
              <a:tabLst>
                <a:tab pos="358140" algn="l"/>
              </a:tabLst>
            </a:pPr>
            <a:r>
              <a:rPr sz="1500" dirty="0">
                <a:solidFill>
                  <a:srgbClr val="685D46"/>
                </a:solidFill>
                <a:latin typeface="Arial"/>
                <a:cs typeface="Arial"/>
              </a:rPr>
              <a:t>Use</a:t>
            </a:r>
            <a:r>
              <a:rPr sz="1500" spc="1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500" spc="-30" dirty="0">
                <a:solidFill>
                  <a:srgbClr val="685D46"/>
                </a:solidFill>
                <a:latin typeface="Arial"/>
                <a:cs typeface="Arial"/>
              </a:rPr>
              <a:t>Cases</a:t>
            </a:r>
            <a:r>
              <a:rPr sz="1500" spc="1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500" spc="110" dirty="0">
                <a:solidFill>
                  <a:srgbClr val="685D46"/>
                </a:solidFill>
                <a:latin typeface="Arial"/>
                <a:cs typeface="Arial"/>
              </a:rPr>
              <a:t>&amp;</a:t>
            </a:r>
            <a:r>
              <a:rPr sz="1500" spc="1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500" dirty="0">
                <a:solidFill>
                  <a:srgbClr val="685D46"/>
                </a:solidFill>
                <a:latin typeface="Arial"/>
                <a:cs typeface="Arial"/>
              </a:rPr>
              <a:t>Real-World</a:t>
            </a:r>
            <a:r>
              <a:rPr sz="1500" spc="1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500" spc="-10" dirty="0">
                <a:solidFill>
                  <a:srgbClr val="685D46"/>
                </a:solidFill>
                <a:latin typeface="Arial"/>
                <a:cs typeface="Arial"/>
              </a:rPr>
              <a:t>Applications</a:t>
            </a:r>
            <a:endParaRPr sz="1500">
              <a:latin typeface="Arial"/>
              <a:cs typeface="Arial"/>
            </a:endParaRPr>
          </a:p>
          <a:p>
            <a:pPr marL="815340" marR="5080" lvl="1" indent="-320040">
              <a:lnSpc>
                <a:spcPts val="1360"/>
              </a:lnSpc>
              <a:spcBef>
                <a:spcPts val="75"/>
              </a:spcBef>
              <a:buChar char="○"/>
              <a:tabLst>
                <a:tab pos="815340" algn="l"/>
              </a:tabLst>
            </a:pPr>
            <a:r>
              <a:rPr sz="1200" spc="-20" dirty="0">
                <a:solidFill>
                  <a:srgbClr val="685D46"/>
                </a:solidFill>
                <a:latin typeface="Arial"/>
                <a:cs typeface="Arial"/>
              </a:rPr>
              <a:t>Can</a:t>
            </a:r>
            <a:r>
              <a:rPr sz="1200" spc="8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you</a:t>
            </a:r>
            <a:r>
              <a:rPr sz="1200" spc="8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give</a:t>
            </a:r>
            <a:r>
              <a:rPr sz="1200" spc="8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a</a:t>
            </a:r>
            <a:r>
              <a:rPr sz="1200" spc="8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real-world</a:t>
            </a:r>
            <a:r>
              <a:rPr sz="1200" spc="8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example</a:t>
            </a:r>
            <a:r>
              <a:rPr sz="1200" spc="8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where</a:t>
            </a:r>
            <a:r>
              <a:rPr sz="1200" spc="8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Event-Driven</a:t>
            </a:r>
            <a:r>
              <a:rPr sz="1200" spc="8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Architecture</a:t>
            </a:r>
            <a:r>
              <a:rPr sz="1200" spc="8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is</a:t>
            </a:r>
            <a:r>
              <a:rPr sz="1200" spc="8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a</a:t>
            </a:r>
            <a:r>
              <a:rPr sz="1200" spc="8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better</a:t>
            </a:r>
            <a:r>
              <a:rPr sz="1200" spc="8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choice</a:t>
            </a:r>
            <a:r>
              <a:rPr sz="1200" spc="8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than</a:t>
            </a:r>
            <a:r>
              <a:rPr sz="1200" spc="8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a</a:t>
            </a:r>
            <a:r>
              <a:rPr sz="1200" spc="8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685D46"/>
                </a:solidFill>
                <a:latin typeface="Arial"/>
                <a:cs typeface="Arial"/>
              </a:rPr>
              <a:t>traditional architecture?</a:t>
            </a:r>
            <a:endParaRPr sz="1200">
              <a:latin typeface="Arial"/>
              <a:cs typeface="Arial"/>
            </a:endParaRPr>
          </a:p>
          <a:p>
            <a:pPr marL="815340" lvl="1" indent="-319405">
              <a:lnSpc>
                <a:spcPts val="1320"/>
              </a:lnSpc>
              <a:buChar char="○"/>
              <a:tabLst>
                <a:tab pos="815340" algn="l"/>
              </a:tabLst>
            </a:pPr>
            <a:r>
              <a:rPr sz="1200" spc="10" dirty="0">
                <a:solidFill>
                  <a:srgbClr val="685D46"/>
                </a:solidFill>
                <a:latin typeface="Arial"/>
                <a:cs typeface="Arial"/>
              </a:rPr>
              <a:t>What</a:t>
            </a:r>
            <a:r>
              <a:rPr sz="1200" spc="4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spc="10" dirty="0">
                <a:solidFill>
                  <a:srgbClr val="685D46"/>
                </a:solidFill>
                <a:latin typeface="Arial"/>
                <a:cs typeface="Arial"/>
              </a:rPr>
              <a:t>strategies</a:t>
            </a:r>
            <a:r>
              <a:rPr sz="1200" spc="4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spc="10" dirty="0">
                <a:solidFill>
                  <a:srgbClr val="685D46"/>
                </a:solidFill>
                <a:latin typeface="Arial"/>
                <a:cs typeface="Arial"/>
              </a:rPr>
              <a:t>can</a:t>
            </a:r>
            <a:r>
              <a:rPr sz="1200" spc="4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spc="10" dirty="0">
                <a:solidFill>
                  <a:srgbClr val="685D46"/>
                </a:solidFill>
                <a:latin typeface="Arial"/>
                <a:cs typeface="Arial"/>
              </a:rPr>
              <a:t>you</a:t>
            </a:r>
            <a:r>
              <a:rPr sz="1200" spc="4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spc="10" dirty="0">
                <a:solidFill>
                  <a:srgbClr val="685D46"/>
                </a:solidFill>
                <a:latin typeface="Arial"/>
                <a:cs typeface="Arial"/>
              </a:rPr>
              <a:t>use</a:t>
            </a:r>
            <a:r>
              <a:rPr sz="1200" spc="4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spc="65" dirty="0">
                <a:solidFill>
                  <a:srgbClr val="685D46"/>
                </a:solidFill>
                <a:latin typeface="Arial"/>
                <a:cs typeface="Arial"/>
              </a:rPr>
              <a:t>to</a:t>
            </a:r>
            <a:r>
              <a:rPr sz="1200" spc="4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spc="10" dirty="0">
                <a:solidFill>
                  <a:srgbClr val="685D46"/>
                </a:solidFill>
                <a:latin typeface="Arial"/>
                <a:cs typeface="Arial"/>
              </a:rPr>
              <a:t>handle</a:t>
            </a:r>
            <a:r>
              <a:rPr sz="1200" spc="4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spc="10" dirty="0">
                <a:solidFill>
                  <a:srgbClr val="685D46"/>
                </a:solidFill>
                <a:latin typeface="Arial"/>
                <a:cs typeface="Arial"/>
              </a:rPr>
              <a:t>schema</a:t>
            </a:r>
            <a:r>
              <a:rPr sz="1200" spc="4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spc="10" dirty="0">
                <a:solidFill>
                  <a:srgbClr val="685D46"/>
                </a:solidFill>
                <a:latin typeface="Arial"/>
                <a:cs typeface="Arial"/>
              </a:rPr>
              <a:t>evolution</a:t>
            </a:r>
            <a:r>
              <a:rPr sz="1200" spc="4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spc="10" dirty="0">
                <a:solidFill>
                  <a:srgbClr val="685D46"/>
                </a:solidFill>
                <a:latin typeface="Arial"/>
                <a:cs typeface="Arial"/>
              </a:rPr>
              <a:t>in</a:t>
            </a:r>
            <a:r>
              <a:rPr sz="1200" spc="4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spc="10" dirty="0">
                <a:solidFill>
                  <a:srgbClr val="685D46"/>
                </a:solidFill>
                <a:latin typeface="Arial"/>
                <a:cs typeface="Arial"/>
              </a:rPr>
              <a:t>an</a:t>
            </a:r>
            <a:r>
              <a:rPr sz="1200" spc="4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spc="10" dirty="0">
                <a:solidFill>
                  <a:srgbClr val="685D46"/>
                </a:solidFill>
                <a:latin typeface="Arial"/>
                <a:cs typeface="Arial"/>
              </a:rPr>
              <a:t>event-driven</a:t>
            </a:r>
            <a:r>
              <a:rPr sz="1200" spc="4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685D46"/>
                </a:solidFill>
                <a:latin typeface="Arial"/>
                <a:cs typeface="Arial"/>
              </a:rPr>
              <a:t>system?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pc="-290" dirty="0"/>
              <a:t>Summary</a:t>
            </a:r>
            <a:r>
              <a:rPr spc="-155" dirty="0"/>
              <a:t> </a:t>
            </a:r>
            <a:r>
              <a:rPr spc="-270" dirty="0"/>
              <a:t>and</a:t>
            </a:r>
            <a:r>
              <a:rPr spc="-55" dirty="0"/>
              <a:t> </a:t>
            </a:r>
            <a:r>
              <a:rPr spc="-235" dirty="0"/>
              <a:t>Key</a:t>
            </a:r>
            <a:r>
              <a:rPr spc="-150" dirty="0"/>
              <a:t> </a:t>
            </a:r>
            <a:r>
              <a:rPr spc="-265" dirty="0"/>
              <a:t>takeaways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5249" y="1289058"/>
            <a:ext cx="7684770" cy="24904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9095" marR="256540" indent="-367030">
              <a:lnSpc>
                <a:spcPct val="114999"/>
              </a:lnSpc>
              <a:spcBef>
                <a:spcPts val="100"/>
              </a:spcBef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Event-driven</a:t>
            </a:r>
            <a:r>
              <a:rPr sz="1800" spc="7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55" dirty="0">
                <a:solidFill>
                  <a:srgbClr val="685D46"/>
                </a:solidFill>
                <a:latin typeface="Arial"/>
                <a:cs typeface="Arial"/>
              </a:rPr>
              <a:t>architecture</a:t>
            </a:r>
            <a:r>
              <a:rPr sz="1800" spc="7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is</a:t>
            </a:r>
            <a:r>
              <a:rPr sz="1800" spc="8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key</a:t>
            </a:r>
            <a:r>
              <a:rPr sz="1800" spc="7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100" dirty="0">
                <a:solidFill>
                  <a:srgbClr val="685D46"/>
                </a:solidFill>
                <a:latin typeface="Arial"/>
                <a:cs typeface="Arial"/>
              </a:rPr>
              <a:t>to</a:t>
            </a:r>
            <a:r>
              <a:rPr sz="1800" spc="7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55" dirty="0">
                <a:solidFill>
                  <a:srgbClr val="685D46"/>
                </a:solidFill>
                <a:latin typeface="Arial"/>
                <a:cs typeface="Arial"/>
              </a:rPr>
              <a:t>building</a:t>
            </a:r>
            <a:r>
              <a:rPr sz="1800" spc="7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scalable,</a:t>
            </a:r>
            <a:r>
              <a:rPr sz="1800" spc="7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real-time,</a:t>
            </a:r>
            <a:r>
              <a:rPr sz="1800" spc="7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30" dirty="0">
                <a:solidFill>
                  <a:srgbClr val="685D46"/>
                </a:solidFill>
                <a:latin typeface="Arial"/>
                <a:cs typeface="Arial"/>
              </a:rPr>
              <a:t>and </a:t>
            </a:r>
            <a:r>
              <a:rPr sz="1800" spc="50" dirty="0">
                <a:solidFill>
                  <a:srgbClr val="685D46"/>
                </a:solidFill>
                <a:latin typeface="Arial"/>
                <a:cs typeface="Arial"/>
              </a:rPr>
              <a:t>decoupled</a:t>
            </a:r>
            <a:r>
              <a:rPr sz="1800" spc="-3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systems.</a:t>
            </a:r>
            <a:endParaRPr sz="1800">
              <a:latin typeface="Arial"/>
              <a:cs typeface="Arial"/>
            </a:endParaRPr>
          </a:p>
          <a:p>
            <a:pPr marL="379095" marR="100330" indent="-367030">
              <a:lnSpc>
                <a:spcPct val="114999"/>
              </a:lnSpc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Choosing</a:t>
            </a:r>
            <a:r>
              <a:rPr sz="1800" spc="1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50" dirty="0">
                <a:solidFill>
                  <a:srgbClr val="685D46"/>
                </a:solidFill>
                <a:latin typeface="Arial"/>
                <a:cs typeface="Arial"/>
              </a:rPr>
              <a:t>between</a:t>
            </a:r>
            <a:r>
              <a:rPr sz="1800" spc="1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Pub-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Sub</a:t>
            </a:r>
            <a:r>
              <a:rPr sz="1800" spc="1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vs.</a:t>
            </a:r>
            <a:r>
              <a:rPr sz="1800" spc="1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Event</a:t>
            </a:r>
            <a:r>
              <a:rPr sz="1800" spc="1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Streaming</a:t>
            </a:r>
            <a:r>
              <a:rPr sz="1800" spc="1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45" dirty="0">
                <a:solidFill>
                  <a:srgbClr val="685D46"/>
                </a:solidFill>
                <a:latin typeface="Arial"/>
                <a:cs typeface="Arial"/>
              </a:rPr>
              <a:t>depends</a:t>
            </a:r>
            <a:r>
              <a:rPr sz="1800" spc="1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85" dirty="0">
                <a:solidFill>
                  <a:srgbClr val="685D46"/>
                </a:solidFill>
                <a:latin typeface="Arial"/>
                <a:cs typeface="Arial"/>
              </a:rPr>
              <a:t>on</a:t>
            </a:r>
            <a:r>
              <a:rPr sz="1800" spc="1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system needs.</a:t>
            </a:r>
            <a:endParaRPr sz="180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spcBef>
                <a:spcPts val="325"/>
              </a:spcBef>
              <a:buChar char="●"/>
              <a:tabLst>
                <a:tab pos="379095" algn="l"/>
              </a:tabLst>
            </a:pPr>
            <a:r>
              <a:rPr sz="1800" spc="45" dirty="0">
                <a:solidFill>
                  <a:srgbClr val="685D46"/>
                </a:solidFill>
                <a:latin typeface="Arial"/>
                <a:cs typeface="Arial"/>
              </a:rPr>
              <a:t>Architectural </a:t>
            </a:r>
            <a:r>
              <a:rPr sz="1800" spc="65" dirty="0">
                <a:solidFill>
                  <a:srgbClr val="685D46"/>
                </a:solidFill>
                <a:latin typeface="Arial"/>
                <a:cs typeface="Arial"/>
              </a:rPr>
              <a:t>patterns</a:t>
            </a:r>
            <a:r>
              <a:rPr sz="1800" spc="4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like</a:t>
            </a:r>
            <a:r>
              <a:rPr sz="1800" spc="4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155" dirty="0">
                <a:solidFill>
                  <a:srgbClr val="685D46"/>
                </a:solidFill>
                <a:latin typeface="Arial"/>
                <a:cs typeface="Arial"/>
              </a:rPr>
              <a:t>CQRS</a:t>
            </a:r>
            <a:r>
              <a:rPr sz="1800" spc="4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105" dirty="0">
                <a:solidFill>
                  <a:srgbClr val="685D46"/>
                </a:solidFill>
                <a:latin typeface="Arial"/>
                <a:cs typeface="Arial"/>
              </a:rPr>
              <a:t>&amp;</a:t>
            </a:r>
            <a:r>
              <a:rPr sz="1800" spc="4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Event</a:t>
            </a:r>
            <a:r>
              <a:rPr sz="1800" spc="5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Sourcing</a:t>
            </a:r>
            <a:r>
              <a:rPr sz="1800" spc="4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enhance</a:t>
            </a:r>
            <a:r>
              <a:rPr sz="1800" spc="4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ﬂexibility.</a:t>
            </a:r>
            <a:endParaRPr sz="180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spcBef>
                <a:spcPts val="320"/>
              </a:spcBef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Challenges</a:t>
            </a:r>
            <a:r>
              <a:rPr sz="1800" spc="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exist</a:t>
            </a:r>
            <a:r>
              <a:rPr sz="1800" spc="3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105" dirty="0">
                <a:solidFill>
                  <a:srgbClr val="685D46"/>
                </a:solidFill>
                <a:latin typeface="Arial"/>
                <a:cs typeface="Arial"/>
              </a:rPr>
              <a:t>but</a:t>
            </a:r>
            <a:r>
              <a:rPr sz="1800" spc="3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can</a:t>
            </a:r>
            <a:r>
              <a:rPr sz="1800" spc="3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be</a:t>
            </a:r>
            <a:r>
              <a:rPr sz="1800" spc="3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60" dirty="0">
                <a:solidFill>
                  <a:srgbClr val="685D46"/>
                </a:solidFill>
                <a:latin typeface="Arial"/>
                <a:cs typeface="Arial"/>
              </a:rPr>
              <a:t>mitigated</a:t>
            </a:r>
            <a:r>
              <a:rPr sz="1800" spc="3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90" dirty="0">
                <a:solidFill>
                  <a:srgbClr val="685D46"/>
                </a:solidFill>
                <a:latin typeface="Arial"/>
                <a:cs typeface="Arial"/>
              </a:rPr>
              <a:t>with</a:t>
            </a:r>
            <a:r>
              <a:rPr sz="1800" spc="3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best</a:t>
            </a:r>
            <a:r>
              <a:rPr sz="1800" spc="3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practices.</a:t>
            </a:r>
            <a:endParaRPr sz="180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spcBef>
                <a:spcPts val="325"/>
              </a:spcBef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What’s</a:t>
            </a:r>
            <a:r>
              <a:rPr sz="1800" spc="-1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next:</a:t>
            </a:r>
            <a:endParaRPr sz="1800">
              <a:latin typeface="Arial"/>
              <a:cs typeface="Arial"/>
            </a:endParaRPr>
          </a:p>
          <a:p>
            <a:pPr marL="836294" lvl="1" indent="-335915">
              <a:lnSpc>
                <a:spcPct val="100000"/>
              </a:lnSpc>
              <a:spcBef>
                <a:spcPts val="340"/>
              </a:spcBef>
              <a:buChar char="○"/>
              <a:tabLst>
                <a:tab pos="836294" algn="l"/>
              </a:tabLst>
            </a:pPr>
            <a:r>
              <a:rPr sz="1400" spc="10" dirty="0">
                <a:solidFill>
                  <a:srgbClr val="685D46"/>
                </a:solidFill>
                <a:latin typeface="Arial"/>
                <a:cs typeface="Arial"/>
              </a:rPr>
              <a:t>Summary</a:t>
            </a:r>
            <a:r>
              <a:rPr sz="1400" spc="1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10" dirty="0">
                <a:solidFill>
                  <a:srgbClr val="685D46"/>
                </a:solidFill>
                <a:latin typeface="Arial"/>
                <a:cs typeface="Arial"/>
              </a:rPr>
              <a:t>-</a:t>
            </a:r>
            <a:r>
              <a:rPr sz="1400" spc="1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10" dirty="0">
                <a:solidFill>
                  <a:srgbClr val="685D46"/>
                </a:solidFill>
                <a:latin typeface="Arial"/>
                <a:cs typeface="Arial"/>
              </a:rPr>
              <a:t>Architecture</a:t>
            </a:r>
            <a:r>
              <a:rPr sz="1400" spc="1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40" dirty="0">
                <a:solidFill>
                  <a:srgbClr val="685D46"/>
                </a:solidFill>
                <a:latin typeface="Arial"/>
                <a:cs typeface="Arial"/>
              </a:rPr>
              <a:t>patterns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pc="-204" dirty="0"/>
              <a:t>Section</a:t>
            </a:r>
            <a:r>
              <a:rPr spc="-40" dirty="0"/>
              <a:t> </a:t>
            </a:r>
            <a:r>
              <a:rPr spc="-290" dirty="0"/>
              <a:t>Summary</a:t>
            </a:r>
            <a:r>
              <a:rPr spc="-270" dirty="0"/>
              <a:t> </a:t>
            </a:r>
            <a:r>
              <a:rPr spc="-10" dirty="0"/>
              <a:t>-</a:t>
            </a:r>
            <a:r>
              <a:rPr spc="-365" dirty="0"/>
              <a:t> </a:t>
            </a:r>
            <a:r>
              <a:rPr spc="-200" dirty="0"/>
              <a:t>Architectural</a:t>
            </a:r>
            <a:r>
              <a:rPr spc="-40" dirty="0"/>
              <a:t> </a:t>
            </a:r>
            <a:r>
              <a:rPr spc="-165" dirty="0"/>
              <a:t>Patterns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5249" y="1274688"/>
            <a:ext cx="7783195" cy="2399665"/>
          </a:xfrm>
          <a:prstGeom prst="rect">
            <a:avLst/>
          </a:prstGeom>
        </p:spPr>
        <p:txBody>
          <a:bodyPr vert="horz" wrap="square" lIns="0" tIns="67945" rIns="0" bIns="0" rtlCol="0">
            <a:spAutoFit/>
          </a:bodyPr>
          <a:lstStyle/>
          <a:p>
            <a:pPr marL="379095" indent="-366395">
              <a:lnSpc>
                <a:spcPct val="100000"/>
              </a:lnSpc>
              <a:spcBef>
                <a:spcPts val="535"/>
              </a:spcBef>
              <a:buChar char="●"/>
              <a:tabLst>
                <a:tab pos="379095" algn="l"/>
              </a:tabLst>
            </a:pPr>
            <a:r>
              <a:rPr sz="1800" spc="45" dirty="0">
                <a:solidFill>
                  <a:srgbClr val="685D46"/>
                </a:solidFill>
                <a:latin typeface="Arial"/>
                <a:cs typeface="Arial"/>
              </a:rPr>
              <a:t>Architectural</a:t>
            </a:r>
            <a:r>
              <a:rPr sz="1800" spc="6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Patterns</a:t>
            </a:r>
            <a:r>
              <a:rPr sz="1800" spc="6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70" dirty="0">
                <a:solidFill>
                  <a:srgbClr val="685D46"/>
                </a:solidFill>
                <a:latin typeface="Arial"/>
                <a:cs typeface="Arial"/>
              </a:rPr>
              <a:t>in</a:t>
            </a:r>
            <a:r>
              <a:rPr sz="1800" spc="6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System</a:t>
            </a:r>
            <a:r>
              <a:rPr sz="1800" spc="5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Design</a:t>
            </a:r>
            <a:endParaRPr sz="1800">
              <a:latin typeface="Arial"/>
              <a:cs typeface="Arial"/>
            </a:endParaRPr>
          </a:p>
          <a:p>
            <a:pPr marL="836294" lvl="1" indent="-335915">
              <a:lnSpc>
                <a:spcPct val="100000"/>
              </a:lnSpc>
              <a:spcBef>
                <a:spcPts val="340"/>
              </a:spcBef>
              <a:buChar char="○"/>
              <a:tabLst>
                <a:tab pos="836294" algn="l"/>
              </a:tabLst>
            </a:pPr>
            <a:r>
              <a:rPr sz="1400" spc="20" dirty="0">
                <a:solidFill>
                  <a:srgbClr val="685D46"/>
                </a:solidFill>
                <a:latin typeface="Arial"/>
                <a:cs typeface="Arial"/>
              </a:rPr>
              <a:t>Explored</a:t>
            </a:r>
            <a:r>
              <a:rPr sz="1400" spc="5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70" dirty="0">
                <a:solidFill>
                  <a:srgbClr val="685D46"/>
                </a:solidFill>
                <a:latin typeface="Arial"/>
                <a:cs typeface="Arial"/>
              </a:rPr>
              <a:t>diﬀerent</a:t>
            </a:r>
            <a:r>
              <a:rPr sz="1400" spc="5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20" dirty="0">
                <a:solidFill>
                  <a:srgbClr val="685D46"/>
                </a:solidFill>
                <a:latin typeface="Arial"/>
                <a:cs typeface="Arial"/>
              </a:rPr>
              <a:t>architectural</a:t>
            </a:r>
            <a:r>
              <a:rPr sz="1400" spc="50" dirty="0">
                <a:solidFill>
                  <a:srgbClr val="685D46"/>
                </a:solidFill>
                <a:latin typeface="Arial"/>
                <a:cs typeface="Arial"/>
              </a:rPr>
              <a:t> patterns</a:t>
            </a:r>
            <a:r>
              <a:rPr sz="1400" spc="5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50" dirty="0">
                <a:solidFill>
                  <a:srgbClr val="685D46"/>
                </a:solidFill>
                <a:latin typeface="Arial"/>
                <a:cs typeface="Arial"/>
              </a:rPr>
              <a:t>and </a:t>
            </a:r>
            <a:r>
              <a:rPr sz="1400" spc="65" dirty="0">
                <a:solidFill>
                  <a:srgbClr val="685D46"/>
                </a:solidFill>
                <a:latin typeface="Arial"/>
                <a:cs typeface="Arial"/>
              </a:rPr>
              <a:t>their</a:t>
            </a:r>
            <a:r>
              <a:rPr sz="1400" spc="5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20" dirty="0">
                <a:solidFill>
                  <a:srgbClr val="685D46"/>
                </a:solidFill>
                <a:latin typeface="Arial"/>
                <a:cs typeface="Arial"/>
              </a:rPr>
              <a:t>trade-</a:t>
            </a:r>
            <a:r>
              <a:rPr sz="1400" spc="-20" dirty="0">
                <a:solidFill>
                  <a:srgbClr val="685D46"/>
                </a:solidFill>
                <a:latin typeface="Arial"/>
                <a:cs typeface="Arial"/>
              </a:rPr>
              <a:t>oﬀs.</a:t>
            </a:r>
            <a:endParaRPr sz="1400">
              <a:latin typeface="Arial"/>
              <a:cs typeface="Arial"/>
            </a:endParaRPr>
          </a:p>
          <a:p>
            <a:pPr marL="836294" lvl="1" indent="-335915">
              <a:lnSpc>
                <a:spcPct val="100000"/>
              </a:lnSpc>
              <a:spcBef>
                <a:spcPts val="254"/>
              </a:spcBef>
              <a:buChar char="○"/>
              <a:tabLst>
                <a:tab pos="836294" algn="l"/>
              </a:tabLst>
            </a:pPr>
            <a:r>
              <a:rPr sz="1400" spc="10" dirty="0">
                <a:solidFill>
                  <a:srgbClr val="685D46"/>
                </a:solidFill>
                <a:latin typeface="Arial"/>
                <a:cs typeface="Arial"/>
              </a:rPr>
              <a:t>Multi-Tier</a:t>
            </a:r>
            <a:r>
              <a:rPr sz="1400" spc="10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10" dirty="0">
                <a:solidFill>
                  <a:srgbClr val="685D46"/>
                </a:solidFill>
                <a:latin typeface="Arial"/>
                <a:cs typeface="Arial"/>
              </a:rPr>
              <a:t>Architecture:</a:t>
            </a:r>
            <a:r>
              <a:rPr sz="1400" spc="11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10" dirty="0">
                <a:solidFill>
                  <a:srgbClr val="685D46"/>
                </a:solidFill>
                <a:latin typeface="Arial"/>
                <a:cs typeface="Arial"/>
              </a:rPr>
              <a:t>Layered</a:t>
            </a:r>
            <a:r>
              <a:rPr sz="1400" spc="10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10" dirty="0">
                <a:solidFill>
                  <a:srgbClr val="685D46"/>
                </a:solidFill>
                <a:latin typeface="Arial"/>
                <a:cs typeface="Arial"/>
              </a:rPr>
              <a:t>approach</a:t>
            </a:r>
            <a:r>
              <a:rPr sz="1400" spc="11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80" dirty="0">
                <a:solidFill>
                  <a:srgbClr val="685D46"/>
                </a:solidFill>
                <a:latin typeface="Arial"/>
                <a:cs typeface="Arial"/>
              </a:rPr>
              <a:t>for</a:t>
            </a:r>
            <a:r>
              <a:rPr sz="1400" spc="10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10" dirty="0">
                <a:solidFill>
                  <a:srgbClr val="685D46"/>
                </a:solidFill>
                <a:latin typeface="Arial"/>
                <a:cs typeface="Arial"/>
              </a:rPr>
              <a:t>scalability</a:t>
            </a:r>
            <a:r>
              <a:rPr sz="1400" spc="11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50" dirty="0">
                <a:solidFill>
                  <a:srgbClr val="685D46"/>
                </a:solidFill>
                <a:latin typeface="Arial"/>
                <a:cs typeface="Arial"/>
              </a:rPr>
              <a:t>and</a:t>
            </a:r>
            <a:r>
              <a:rPr sz="1400" spc="10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10" dirty="0">
                <a:solidFill>
                  <a:srgbClr val="685D46"/>
                </a:solidFill>
                <a:latin typeface="Arial"/>
                <a:cs typeface="Arial"/>
              </a:rPr>
              <a:t>separation</a:t>
            </a:r>
            <a:r>
              <a:rPr sz="1400" spc="11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65" dirty="0">
                <a:solidFill>
                  <a:srgbClr val="685D46"/>
                </a:solidFill>
                <a:latin typeface="Arial"/>
                <a:cs typeface="Arial"/>
              </a:rPr>
              <a:t>of</a:t>
            </a:r>
            <a:r>
              <a:rPr sz="1400" spc="10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685D46"/>
                </a:solidFill>
                <a:latin typeface="Arial"/>
                <a:cs typeface="Arial"/>
              </a:rPr>
              <a:t>concerns.</a:t>
            </a:r>
            <a:endParaRPr sz="1400">
              <a:latin typeface="Arial"/>
              <a:cs typeface="Arial"/>
            </a:endParaRPr>
          </a:p>
          <a:p>
            <a:pPr marL="836294" lvl="1" indent="-335915">
              <a:lnSpc>
                <a:spcPct val="100000"/>
              </a:lnSpc>
              <a:spcBef>
                <a:spcPts val="250"/>
              </a:spcBef>
              <a:buChar char="○"/>
              <a:tabLst>
                <a:tab pos="836294" algn="l"/>
              </a:tabLst>
            </a:pP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Microservices:</a:t>
            </a:r>
            <a:r>
              <a:rPr sz="1400" spc="9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Decoupled</a:t>
            </a:r>
            <a:r>
              <a:rPr sz="1400" spc="9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services</a:t>
            </a:r>
            <a:r>
              <a:rPr sz="1400" spc="9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enabling</a:t>
            </a:r>
            <a:r>
              <a:rPr sz="1400" spc="9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50" dirty="0">
                <a:solidFill>
                  <a:srgbClr val="685D46"/>
                </a:solidFill>
                <a:latin typeface="Arial"/>
                <a:cs typeface="Arial"/>
              </a:rPr>
              <a:t>independent</a:t>
            </a:r>
            <a:r>
              <a:rPr sz="1400" spc="9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scaling</a:t>
            </a:r>
            <a:r>
              <a:rPr sz="1400" spc="9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75" dirty="0">
                <a:solidFill>
                  <a:srgbClr val="685D46"/>
                </a:solidFill>
                <a:latin typeface="Arial"/>
                <a:cs typeface="Arial"/>
              </a:rPr>
              <a:t>&amp;</a:t>
            </a:r>
            <a:r>
              <a:rPr sz="1400" spc="9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685D46"/>
                </a:solidFill>
                <a:latin typeface="Arial"/>
                <a:cs typeface="Arial"/>
              </a:rPr>
              <a:t>deployment.</a:t>
            </a:r>
            <a:endParaRPr sz="1400">
              <a:latin typeface="Arial"/>
              <a:cs typeface="Arial"/>
            </a:endParaRPr>
          </a:p>
          <a:p>
            <a:pPr marL="836294" lvl="1" indent="-335915">
              <a:lnSpc>
                <a:spcPct val="100000"/>
              </a:lnSpc>
              <a:spcBef>
                <a:spcPts val="250"/>
              </a:spcBef>
              <a:buChar char="○"/>
              <a:tabLst>
                <a:tab pos="836294" algn="l"/>
              </a:tabLst>
            </a:pPr>
            <a:r>
              <a:rPr sz="1400" spc="10" dirty="0">
                <a:solidFill>
                  <a:srgbClr val="685D46"/>
                </a:solidFill>
                <a:latin typeface="Arial"/>
                <a:cs typeface="Arial"/>
              </a:rPr>
              <a:t>Event-Driven</a:t>
            </a:r>
            <a:r>
              <a:rPr sz="1400" spc="8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10" dirty="0">
                <a:solidFill>
                  <a:srgbClr val="685D46"/>
                </a:solidFill>
                <a:latin typeface="Arial"/>
                <a:cs typeface="Arial"/>
              </a:rPr>
              <a:t>Architecture:</a:t>
            </a:r>
            <a:r>
              <a:rPr sz="1400" spc="8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10" dirty="0">
                <a:solidFill>
                  <a:srgbClr val="685D46"/>
                </a:solidFill>
                <a:latin typeface="Arial"/>
                <a:cs typeface="Arial"/>
              </a:rPr>
              <a:t>Asynchronous,</a:t>
            </a:r>
            <a:r>
              <a:rPr sz="1400" spc="8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scalable,</a:t>
            </a:r>
            <a:r>
              <a:rPr sz="1400" spc="8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50" dirty="0">
                <a:solidFill>
                  <a:srgbClr val="685D46"/>
                </a:solidFill>
                <a:latin typeface="Arial"/>
                <a:cs typeface="Arial"/>
              </a:rPr>
              <a:t>and</a:t>
            </a:r>
            <a:r>
              <a:rPr sz="1400" spc="9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10" dirty="0">
                <a:solidFill>
                  <a:srgbClr val="685D46"/>
                </a:solidFill>
                <a:latin typeface="Arial"/>
                <a:cs typeface="Arial"/>
              </a:rPr>
              <a:t>loosely</a:t>
            </a:r>
            <a:r>
              <a:rPr sz="1400" spc="8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10" dirty="0">
                <a:solidFill>
                  <a:srgbClr val="685D46"/>
                </a:solidFill>
                <a:latin typeface="Arial"/>
                <a:cs typeface="Arial"/>
              </a:rPr>
              <a:t>coupled</a:t>
            </a:r>
            <a:r>
              <a:rPr sz="1400" spc="8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685D46"/>
                </a:solidFill>
                <a:latin typeface="Arial"/>
                <a:cs typeface="Arial"/>
              </a:rPr>
              <a:t>systems.</a:t>
            </a:r>
            <a:endParaRPr sz="1400">
              <a:latin typeface="Arial"/>
              <a:cs typeface="Arial"/>
            </a:endParaRPr>
          </a:p>
          <a:p>
            <a:pPr marL="836294" marR="213360" lvl="1" indent="-336550">
              <a:lnSpc>
                <a:spcPct val="114999"/>
              </a:lnSpc>
              <a:buChar char="○"/>
              <a:tabLst>
                <a:tab pos="836294" algn="l"/>
              </a:tabLst>
            </a:pP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Learned</a:t>
            </a:r>
            <a:r>
              <a:rPr sz="1400" spc="13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real-world</a:t>
            </a:r>
            <a:r>
              <a:rPr sz="1400" spc="14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use</a:t>
            </a:r>
            <a:r>
              <a:rPr sz="1400" spc="14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20" dirty="0">
                <a:solidFill>
                  <a:srgbClr val="685D46"/>
                </a:solidFill>
                <a:latin typeface="Arial"/>
                <a:cs typeface="Arial"/>
              </a:rPr>
              <a:t>cases,</a:t>
            </a:r>
            <a:r>
              <a:rPr sz="1400" spc="14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50" dirty="0">
                <a:solidFill>
                  <a:srgbClr val="685D46"/>
                </a:solidFill>
                <a:latin typeface="Arial"/>
                <a:cs typeface="Arial"/>
              </a:rPr>
              <a:t>performance</a:t>
            </a:r>
            <a:r>
              <a:rPr sz="1400" spc="14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considerations,</a:t>
            </a:r>
            <a:r>
              <a:rPr sz="1400" spc="14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50" dirty="0">
                <a:solidFill>
                  <a:srgbClr val="685D46"/>
                </a:solidFill>
                <a:latin typeface="Arial"/>
                <a:cs typeface="Arial"/>
              </a:rPr>
              <a:t>and</a:t>
            </a:r>
            <a:r>
              <a:rPr sz="1400" spc="14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best</a:t>
            </a:r>
            <a:r>
              <a:rPr sz="1400" spc="14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practices</a:t>
            </a:r>
            <a:r>
              <a:rPr sz="1400" spc="14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55" dirty="0">
                <a:solidFill>
                  <a:srgbClr val="685D46"/>
                </a:solidFill>
                <a:latin typeface="Arial"/>
                <a:cs typeface="Arial"/>
              </a:rPr>
              <a:t>for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choosing</a:t>
            </a:r>
            <a:r>
              <a:rPr sz="1400" spc="3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60" dirty="0">
                <a:solidFill>
                  <a:srgbClr val="685D46"/>
                </a:solidFill>
                <a:latin typeface="Arial"/>
                <a:cs typeface="Arial"/>
              </a:rPr>
              <a:t>the</a:t>
            </a:r>
            <a:r>
              <a:rPr sz="1400" spc="3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60" dirty="0">
                <a:solidFill>
                  <a:srgbClr val="685D46"/>
                </a:solidFill>
                <a:latin typeface="Arial"/>
                <a:cs typeface="Arial"/>
              </a:rPr>
              <a:t>right</a:t>
            </a:r>
            <a:r>
              <a:rPr sz="1400" spc="3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685D46"/>
                </a:solidFill>
                <a:latin typeface="Arial"/>
                <a:cs typeface="Arial"/>
              </a:rPr>
              <a:t>architecture.</a:t>
            </a:r>
            <a:endParaRPr sz="140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spcBef>
                <a:spcPts val="240"/>
              </a:spcBef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What’s</a:t>
            </a:r>
            <a:r>
              <a:rPr sz="1800" spc="-1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Next:</a:t>
            </a:r>
            <a:endParaRPr sz="1800">
              <a:latin typeface="Arial"/>
              <a:cs typeface="Arial"/>
            </a:endParaRPr>
          </a:p>
          <a:p>
            <a:pPr marL="836294" lvl="1" indent="-335915">
              <a:lnSpc>
                <a:spcPct val="100000"/>
              </a:lnSpc>
              <a:spcBef>
                <a:spcPts val="340"/>
              </a:spcBef>
              <a:buChar char="○"/>
              <a:tabLst>
                <a:tab pos="836294" algn="l"/>
              </a:tabLst>
            </a:pP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Web</a:t>
            </a:r>
            <a:r>
              <a:rPr sz="1400" spc="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Concepts</a:t>
            </a:r>
            <a:r>
              <a:rPr sz="1400" spc="1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55" dirty="0">
                <a:solidFill>
                  <a:srgbClr val="685D46"/>
                </a:solidFill>
                <a:latin typeface="Arial"/>
                <a:cs typeface="Arial"/>
              </a:rPr>
              <a:t>in</a:t>
            </a:r>
            <a:r>
              <a:rPr sz="1400" spc="1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System</a:t>
            </a:r>
            <a:r>
              <a:rPr sz="1400" spc="1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685D46"/>
                </a:solidFill>
                <a:latin typeface="Arial"/>
                <a:cs typeface="Arial"/>
              </a:rPr>
              <a:t>Design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591</Words>
  <Application>Microsoft Office PowerPoint</Application>
  <PresentationFormat>On-screen Show (16:9)</PresentationFormat>
  <Paragraphs>83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Arial Black</vt:lpstr>
      <vt:lpstr>Calibri</vt:lpstr>
      <vt:lpstr>Office Theme</vt:lpstr>
      <vt:lpstr>Event-Driven Architecture</vt:lpstr>
      <vt:lpstr>Introduction to Event-Driven Architecture</vt:lpstr>
      <vt:lpstr>Synchronous vs. Asynchronous Systems</vt:lpstr>
      <vt:lpstr>Pub-Sub vs. Event Streaming</vt:lpstr>
      <vt:lpstr>Key Components of an Event-Driven System</vt:lpstr>
      <vt:lpstr>Challenges in Event-Driven Architecture</vt:lpstr>
      <vt:lpstr>Best Practices</vt:lpstr>
      <vt:lpstr>Use Cases of Event-Driven Architecture</vt:lpstr>
      <vt:lpstr>Important Interview Questions on Event-Driven Architecture</vt:lpstr>
      <vt:lpstr>Summary and Key takeaways</vt:lpstr>
      <vt:lpstr>Section Summary - Architectural Patterns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Mastering System Design - Section 4</dc:title>
  <cp:lastModifiedBy>RAVI GV</cp:lastModifiedBy>
  <cp:revision>1</cp:revision>
  <dcterms:created xsi:type="dcterms:W3CDTF">2025-11-26T16:45:36Z</dcterms:created>
  <dcterms:modified xsi:type="dcterms:W3CDTF">2025-11-26T17:01:36Z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2025-11-26T00:00:00Z</vt:filetime>
  </property>
  <property fmtid="{D5CDD505-2E9C-101B-9397-08002B2CF9AE}" pid="3" name="Creator">
    <vt:lpwstr>Google</vt:lpwstr>
  </property>
  <property fmtid="{D5CDD505-2E9C-101B-9397-08002B2CF9AE}" pid="4" name="LastSaved">
    <vt:filetime>2025-11-26T00:00:00Z</vt:filetime>
  </property>
</Properties>
</file>