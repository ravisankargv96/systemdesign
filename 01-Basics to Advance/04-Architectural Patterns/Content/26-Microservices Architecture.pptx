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5071" y="2146606"/>
            <a:ext cx="6018530" cy="5378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687945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6102350" cy="2595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22350">
              <a:lnSpc>
                <a:spcPct val="100000"/>
              </a:lnSpc>
              <a:spcBef>
                <a:spcPts val="110"/>
              </a:spcBef>
            </a:pPr>
            <a:r>
              <a:rPr sz="3350" spc="-254" dirty="0"/>
              <a:t>Microservices</a:t>
            </a:r>
            <a:r>
              <a:rPr sz="3350" spc="-90" dirty="0"/>
              <a:t> </a:t>
            </a:r>
            <a:r>
              <a:rPr sz="3350" spc="-220" dirty="0"/>
              <a:t>Architecture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2363938" y="2881814"/>
            <a:ext cx="44151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30" dirty="0"/>
              <a:t>What</a:t>
            </a:r>
            <a:r>
              <a:rPr spc="-35" dirty="0"/>
              <a:t> </a:t>
            </a:r>
            <a:r>
              <a:rPr spc="-90" dirty="0"/>
              <a:t>is</a:t>
            </a:r>
            <a:r>
              <a:rPr spc="-30" dirty="0"/>
              <a:t> </a:t>
            </a:r>
            <a:r>
              <a:rPr spc="-229" dirty="0"/>
              <a:t>Microservices</a:t>
            </a:r>
            <a:r>
              <a:rPr spc="-145" dirty="0"/>
              <a:t> </a:t>
            </a:r>
            <a:r>
              <a:rPr spc="-200" dirty="0"/>
              <a:t>Architecture?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24840" y="3667047"/>
            <a:ext cx="196850" cy="645160"/>
            <a:chOff x="1324840" y="3667047"/>
            <a:chExt cx="196850" cy="645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4840" y="3667047"/>
              <a:ext cx="196854" cy="1968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4840" y="3891075"/>
              <a:ext cx="196854" cy="19685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4840" y="4115103"/>
              <a:ext cx="196854" cy="19685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75249" y="1330206"/>
            <a:ext cx="4017645" cy="299339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9095" marR="5080" indent="-367030">
              <a:lnSpc>
                <a:spcPts val="2270"/>
              </a:lnSpc>
              <a:spcBef>
                <a:spcPts val="85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55" dirty="0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Microservices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software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design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pattern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are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structured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collection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small,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loosely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coupled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services,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each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responsible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speciﬁc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 function.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Characteristics:</a:t>
            </a:r>
            <a:endParaRPr sz="1800">
              <a:latin typeface="Arial"/>
              <a:cs typeface="Arial"/>
            </a:endParaRPr>
          </a:p>
          <a:p>
            <a:pPr marL="1103630" lvl="1" indent="-603250">
              <a:lnSpc>
                <a:spcPct val="100000"/>
              </a:lnSpc>
              <a:spcBef>
                <a:spcPts val="125"/>
              </a:spcBef>
              <a:buChar char="○"/>
              <a:tabLst>
                <a:tab pos="1103630" algn="l"/>
              </a:tabLst>
            </a:pP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Independently</a:t>
            </a:r>
            <a:r>
              <a:rPr sz="1400" spc="1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deployable</a:t>
            </a:r>
            <a:r>
              <a:rPr sz="1400" spc="1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endParaRPr sz="1400">
              <a:latin typeface="Arial"/>
              <a:cs typeface="Arial"/>
            </a:endParaRPr>
          </a:p>
          <a:p>
            <a:pPr marL="1103630" lvl="1" indent="-603250">
              <a:lnSpc>
                <a:spcPct val="100000"/>
              </a:lnSpc>
              <a:spcBef>
                <a:spcPts val="85"/>
              </a:spcBef>
              <a:buChar char="○"/>
              <a:tabLst>
                <a:tab pos="110363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Loosely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coupled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modular</a:t>
            </a:r>
            <a:endParaRPr sz="1400">
              <a:latin typeface="Arial"/>
              <a:cs typeface="Arial"/>
            </a:endParaRPr>
          </a:p>
          <a:p>
            <a:pPr marL="1103630" lvl="1" indent="-603250">
              <a:lnSpc>
                <a:spcPct val="100000"/>
              </a:lnSpc>
              <a:spcBef>
                <a:spcPts val="80"/>
              </a:spcBef>
              <a:buChar char="○"/>
              <a:tabLst>
                <a:tab pos="1103630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Scalable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fault-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tolerant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4400" y="1304825"/>
            <a:ext cx="4267200" cy="26760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85" dirty="0"/>
              <a:t>Identifying</a:t>
            </a:r>
            <a:r>
              <a:rPr dirty="0"/>
              <a:t> </a:t>
            </a:r>
            <a:r>
              <a:rPr spc="-270" dirty="0"/>
              <a:t>and</a:t>
            </a:r>
            <a:r>
              <a:rPr dirty="0"/>
              <a:t> </a:t>
            </a:r>
            <a:r>
              <a:rPr spc="-195" dirty="0"/>
              <a:t>Structuring</a:t>
            </a:r>
            <a:r>
              <a:rPr dirty="0"/>
              <a:t> </a:t>
            </a:r>
            <a:r>
              <a:rPr spc="-200" dirty="0"/>
              <a:t>Microservices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825" y="1532551"/>
            <a:ext cx="154917" cy="14580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6690" y="1325268"/>
            <a:ext cx="3714115" cy="5022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79095" indent="-366395">
              <a:lnSpc>
                <a:spcPts val="1490"/>
              </a:lnSpc>
              <a:spcBef>
                <a:spcPts val="110"/>
              </a:spcBef>
              <a:buChar char="●"/>
              <a:tabLst>
                <a:tab pos="379095" algn="l"/>
              </a:tabLst>
            </a:pPr>
            <a:r>
              <a:rPr sz="1250" spc="1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7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10" dirty="0">
                <a:solidFill>
                  <a:srgbClr val="685D46"/>
                </a:solidFill>
                <a:latin typeface="Arial"/>
                <a:cs typeface="Arial"/>
              </a:rPr>
              <a:t>Identify</a:t>
            </a:r>
            <a:r>
              <a:rPr sz="12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Microservices?</a:t>
            </a:r>
            <a:endParaRPr sz="1250">
              <a:latin typeface="Arial"/>
              <a:cs typeface="Arial"/>
            </a:endParaRPr>
          </a:p>
          <a:p>
            <a:pPr marL="795020" marR="5080" lvl="1" indent="-304165">
              <a:lnSpc>
                <a:spcPts val="1120"/>
              </a:lnSpc>
              <a:spcBef>
                <a:spcPts val="45"/>
              </a:spcBef>
              <a:buChar char="○"/>
              <a:tabLst>
                <a:tab pos="795020" algn="l"/>
                <a:tab pos="981710" algn="l"/>
              </a:tabLst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	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Capabilities: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service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align 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with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speciﬁc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function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Payments,</a:t>
            </a:r>
            <a:endParaRPr sz="9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825" y="1958204"/>
            <a:ext cx="154917" cy="14580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5374" y="2220242"/>
            <a:ext cx="10096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825" y="2241973"/>
            <a:ext cx="154917" cy="14580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95374" y="2504011"/>
            <a:ext cx="10096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825" y="2525742"/>
            <a:ext cx="154917" cy="14580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95374" y="1794589"/>
            <a:ext cx="3352800" cy="1026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6230">
              <a:lnSpc>
                <a:spcPts val="1130"/>
              </a:lnSpc>
              <a:spcBef>
                <a:spcPts val="130"/>
              </a:spcBef>
            </a:pP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Orders,</a:t>
            </a:r>
            <a:r>
              <a:rPr sz="95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Users).</a:t>
            </a:r>
            <a:endParaRPr sz="950">
              <a:latin typeface="Arial"/>
              <a:cs typeface="Arial"/>
            </a:endParaRPr>
          </a:p>
          <a:p>
            <a:pPr marL="316230" marR="220979" indent="-304165">
              <a:lnSpc>
                <a:spcPts val="1120"/>
              </a:lnSpc>
              <a:spcBef>
                <a:spcPts val="40"/>
              </a:spcBef>
              <a:buChar char="○"/>
              <a:tabLst>
                <a:tab pos="316230" algn="l"/>
                <a:tab pos="502920" algn="l"/>
              </a:tabLst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	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Responsibility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Principle: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microservice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sz="95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one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thing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well.</a:t>
            </a:r>
            <a:endParaRPr sz="950">
              <a:latin typeface="Arial"/>
              <a:cs typeface="Arial"/>
            </a:endParaRPr>
          </a:p>
          <a:p>
            <a:pPr marL="503555">
              <a:lnSpc>
                <a:spcPts val="1070"/>
              </a:lnSpc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95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Ownership:</a:t>
            </a:r>
            <a:r>
              <a:rPr sz="95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950" spc="1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microservice</a:t>
            </a:r>
            <a:r>
              <a:rPr sz="95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owns</a:t>
            </a:r>
            <a:r>
              <a:rPr sz="950" spc="1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its</a:t>
            </a:r>
            <a:r>
              <a:rPr sz="95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35" dirty="0">
                <a:solidFill>
                  <a:srgbClr val="685D46"/>
                </a:solidFill>
                <a:latin typeface="Arial"/>
                <a:cs typeface="Arial"/>
              </a:rPr>
              <a:t>own</a:t>
            </a:r>
            <a:endParaRPr sz="950">
              <a:latin typeface="Arial"/>
              <a:cs typeface="Arial"/>
            </a:endParaRPr>
          </a:p>
          <a:p>
            <a:pPr marL="316230">
              <a:lnSpc>
                <a:spcPts val="1115"/>
              </a:lnSpc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database—avoid</a:t>
            </a:r>
            <a:r>
              <a:rPr sz="950" spc="3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shared</a:t>
            </a:r>
            <a:r>
              <a:rPr sz="950" spc="3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databases.</a:t>
            </a:r>
            <a:endParaRPr sz="950">
              <a:latin typeface="Arial"/>
              <a:cs typeface="Arial"/>
            </a:endParaRPr>
          </a:p>
          <a:p>
            <a:pPr marL="316230" marR="5080" indent="186690">
              <a:lnSpc>
                <a:spcPts val="1120"/>
              </a:lnSpc>
              <a:spcBef>
                <a:spcPts val="45"/>
              </a:spcBef>
            </a:pPr>
            <a:r>
              <a:rPr sz="950" spc="45" dirty="0">
                <a:solidFill>
                  <a:srgbClr val="685D46"/>
                </a:solidFill>
                <a:latin typeface="Arial"/>
                <a:cs typeface="Arial"/>
              </a:rPr>
              <a:t>Independently</a:t>
            </a:r>
            <a:r>
              <a:rPr sz="9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Deployable:</a:t>
            </a:r>
            <a:r>
              <a:rPr sz="9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sz="9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9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deployable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9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scalable</a:t>
            </a:r>
            <a:r>
              <a:rPr sz="9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without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aﬀecting</a:t>
            </a:r>
            <a:r>
              <a:rPr sz="9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others.</a:t>
            </a:r>
            <a:endParaRPr sz="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6690" y="2784650"/>
            <a:ext cx="12255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50" dirty="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625" y="2808942"/>
            <a:ext cx="199206" cy="18748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82576" y="2784650"/>
            <a:ext cx="2420620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7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Structure</a:t>
            </a:r>
            <a:r>
              <a:rPr sz="12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Microservices?</a:t>
            </a:r>
            <a:endParaRPr sz="12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5374" y="2970202"/>
            <a:ext cx="3479800" cy="131000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16230" marR="67310" indent="-304165">
              <a:lnSpc>
                <a:spcPts val="1120"/>
              </a:lnSpc>
              <a:spcBef>
                <a:spcPts val="185"/>
              </a:spcBef>
              <a:buChar char="○"/>
              <a:tabLst>
                <a:tab pos="316230" algn="l"/>
              </a:tabLst>
            </a:pP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Decompose</a:t>
            </a:r>
            <a:r>
              <a:rPr sz="95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sz="95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Business</a:t>
            </a:r>
            <a:r>
              <a:rPr sz="95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Domain:</a:t>
            </a:r>
            <a:r>
              <a:rPr sz="95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95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Domain-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Driven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(DDD)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group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r>
              <a:rPr sz="9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logically.</a:t>
            </a:r>
            <a:endParaRPr sz="950">
              <a:latin typeface="Arial"/>
              <a:cs typeface="Arial"/>
            </a:endParaRPr>
          </a:p>
          <a:p>
            <a:pPr marL="316230" indent="-303530">
              <a:lnSpc>
                <a:spcPts val="1070"/>
              </a:lnSpc>
              <a:buChar char="○"/>
              <a:tabLst>
                <a:tab pos="316230" algn="l"/>
              </a:tabLst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Deﬁne</a:t>
            </a:r>
            <a:r>
              <a:rPr sz="95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Clear</a:t>
            </a:r>
            <a:r>
              <a:rPr sz="95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APIs:</a:t>
            </a:r>
            <a:r>
              <a:rPr sz="95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r>
              <a:rPr sz="95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sz="95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communicate</a:t>
            </a:r>
            <a:r>
              <a:rPr sz="95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685D46"/>
                </a:solidFill>
                <a:latin typeface="Arial"/>
                <a:cs typeface="Arial"/>
              </a:rPr>
              <a:t>via</a:t>
            </a:r>
            <a:endParaRPr sz="950">
              <a:latin typeface="Arial"/>
              <a:cs typeface="Arial"/>
            </a:endParaRPr>
          </a:p>
          <a:p>
            <a:pPr marL="316230">
              <a:lnSpc>
                <a:spcPts val="1115"/>
              </a:lnSpc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well-deﬁned</a:t>
            </a:r>
            <a:r>
              <a:rPr sz="9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20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sz="9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75" dirty="0">
                <a:solidFill>
                  <a:srgbClr val="685D46"/>
                </a:solidFill>
                <a:latin typeface="Arial"/>
                <a:cs typeface="Arial"/>
              </a:rPr>
              <a:t>(REST,</a:t>
            </a:r>
            <a:r>
              <a:rPr sz="9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55" dirty="0">
                <a:solidFill>
                  <a:srgbClr val="685D46"/>
                </a:solidFill>
                <a:latin typeface="Arial"/>
                <a:cs typeface="Arial"/>
              </a:rPr>
              <a:t>gRPC,</a:t>
            </a:r>
            <a:r>
              <a:rPr sz="9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9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events).</a:t>
            </a:r>
            <a:endParaRPr sz="950">
              <a:latin typeface="Arial"/>
              <a:cs typeface="Arial"/>
            </a:endParaRPr>
          </a:p>
          <a:p>
            <a:pPr marL="316230" marR="143510" indent="-304165">
              <a:lnSpc>
                <a:spcPts val="1120"/>
              </a:lnSpc>
              <a:spcBef>
                <a:spcPts val="40"/>
              </a:spcBef>
              <a:buChar char="○"/>
              <a:tabLst>
                <a:tab pos="316230" algn="l"/>
              </a:tabLst>
            </a:pP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9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Right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Granularity: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Avoid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making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9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too</a:t>
            </a:r>
            <a:r>
              <a:rPr sz="9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large</a:t>
            </a:r>
            <a:r>
              <a:rPr sz="9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(monolith-in-disguise)</a:t>
            </a:r>
            <a:r>
              <a:rPr sz="9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9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too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small</a:t>
            </a:r>
            <a:r>
              <a:rPr sz="95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(high</a:t>
            </a:r>
            <a:r>
              <a:rPr sz="95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complexity).</a:t>
            </a:r>
            <a:endParaRPr sz="950">
              <a:latin typeface="Arial"/>
              <a:cs typeface="Arial"/>
            </a:endParaRPr>
          </a:p>
          <a:p>
            <a:pPr marL="316230" indent="-303530">
              <a:lnSpc>
                <a:spcPts val="1065"/>
              </a:lnSpc>
              <a:buChar char="○"/>
              <a:tabLst>
                <a:tab pos="316230" algn="l"/>
              </a:tabLst>
            </a:pP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Implement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Observability: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logging,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monitoring,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endParaRPr sz="950">
              <a:latin typeface="Arial"/>
              <a:cs typeface="Arial"/>
            </a:endParaRPr>
          </a:p>
          <a:p>
            <a:pPr marL="316230">
              <a:lnSpc>
                <a:spcPts val="1130"/>
              </a:lnSpc>
            </a:pP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tracing</a:t>
            </a:r>
            <a:r>
              <a:rPr sz="9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9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track</a:t>
            </a:r>
            <a:r>
              <a:rPr sz="9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service</a:t>
            </a:r>
            <a:r>
              <a:rPr sz="9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interactions.</a:t>
            </a:r>
            <a:endParaRPr sz="95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6187" y="1304825"/>
            <a:ext cx="4201551" cy="22977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65" dirty="0"/>
              <a:t>Communication</a:t>
            </a:r>
            <a:r>
              <a:rPr spc="-40" dirty="0"/>
              <a:t> </a:t>
            </a:r>
            <a:r>
              <a:rPr spc="-170" dirty="0"/>
              <a:t>in</a:t>
            </a:r>
            <a:r>
              <a:rPr spc="-40" dirty="0"/>
              <a:t> </a:t>
            </a:r>
            <a:r>
              <a:rPr spc="-210" dirty="0"/>
              <a:t>Microservices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3861435" cy="215455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Synchronous</a:t>
            </a:r>
            <a:r>
              <a:rPr sz="1800" spc="3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Communication:</a:t>
            </a:r>
            <a:endParaRPr sz="1800">
              <a:latin typeface="Arial"/>
              <a:cs typeface="Arial"/>
            </a:endParaRPr>
          </a:p>
          <a:p>
            <a:pPr marL="836294" marR="119380" lvl="1" indent="-336550">
              <a:lnSpc>
                <a:spcPct val="114999"/>
              </a:lnSpc>
              <a:spcBef>
                <a:spcPts val="90"/>
              </a:spcBef>
              <a:buChar char="○"/>
              <a:tabLst>
                <a:tab pos="836294" algn="l"/>
              </a:tabLst>
            </a:pPr>
            <a:r>
              <a:rPr sz="1400" spc="-150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(Simple,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widely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used,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but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latency)</a:t>
            </a:r>
            <a:endParaRPr sz="1400">
              <a:latin typeface="Arial"/>
              <a:cs typeface="Arial"/>
            </a:endParaRPr>
          </a:p>
          <a:p>
            <a:pPr marL="836294" marR="5080" lvl="1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sz="1400" spc="-114" dirty="0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(Eﬃcient,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binary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format,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better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performance)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Asynchronous</a:t>
            </a:r>
            <a:r>
              <a:rPr sz="1800" spc="3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Communication:</a:t>
            </a:r>
            <a:endParaRPr sz="1800">
              <a:latin typeface="Arial"/>
              <a:cs typeface="Arial"/>
            </a:endParaRPr>
          </a:p>
          <a:p>
            <a:pPr marL="836294" marR="433705" lvl="1" indent="-336550">
              <a:lnSpc>
                <a:spcPct val="114999"/>
              </a:lnSpc>
              <a:spcBef>
                <a:spcPts val="9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Messaging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(Kafka,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RabbitMQ,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SNS/SQS)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6993" y="1526957"/>
            <a:ext cx="3668740" cy="14946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80" dirty="0"/>
              <a:t>Challenges</a:t>
            </a:r>
            <a:r>
              <a:rPr spc="-10" dirty="0"/>
              <a:t> </a:t>
            </a:r>
            <a:r>
              <a:rPr spc="-250" dirty="0"/>
              <a:t>of</a:t>
            </a:r>
            <a:r>
              <a:rPr spc="-5" dirty="0"/>
              <a:t> </a:t>
            </a:r>
            <a:r>
              <a:rPr spc="-215" dirty="0"/>
              <a:t>Microservices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359426"/>
            <a:ext cx="284633" cy="2678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674894"/>
            <a:ext cx="284633" cy="2678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990362"/>
            <a:ext cx="284633" cy="2678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2305829"/>
            <a:ext cx="284633" cy="2678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5249" y="1289058"/>
            <a:ext cx="7586980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722630" indent="-709930">
              <a:lnSpc>
                <a:spcPct val="100000"/>
              </a:lnSpc>
              <a:spcBef>
                <a:spcPts val="420"/>
              </a:spcBef>
              <a:buChar char="●"/>
              <a:tabLst>
                <a:tab pos="72263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Consistency: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databases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Eventual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consistency</a:t>
            </a:r>
            <a:endParaRPr sz="1800">
              <a:latin typeface="Arial"/>
              <a:cs typeface="Arial"/>
            </a:endParaRPr>
          </a:p>
          <a:p>
            <a:pPr marL="722630" indent="-709930">
              <a:lnSpc>
                <a:spcPct val="100000"/>
              </a:lnSpc>
              <a:spcBef>
                <a:spcPts val="325"/>
              </a:spcBef>
              <a:buChar char="●"/>
              <a:tabLst>
                <a:tab pos="722630" algn="l"/>
              </a:tabLst>
            </a:pP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Tracing: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Diﬃcult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debug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track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endParaRPr sz="1800">
              <a:latin typeface="Arial"/>
              <a:cs typeface="Arial"/>
            </a:endParaRPr>
          </a:p>
          <a:p>
            <a:pPr marL="722630" indent="-709930">
              <a:lnSpc>
                <a:spcPct val="100000"/>
              </a:lnSpc>
              <a:spcBef>
                <a:spcPts val="325"/>
              </a:spcBef>
              <a:buChar char="●"/>
              <a:tabLst>
                <a:tab pos="722630" algn="l"/>
              </a:tabLst>
            </a:pP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Network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Overhead: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More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calls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Increased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endParaRPr sz="1800">
              <a:latin typeface="Arial"/>
              <a:cs typeface="Arial"/>
            </a:endParaRPr>
          </a:p>
          <a:p>
            <a:pPr marL="722630" indent="-709930">
              <a:lnSpc>
                <a:spcPct val="100000"/>
              </a:lnSpc>
              <a:spcBef>
                <a:spcPts val="325"/>
              </a:spcBef>
              <a:buChar char="●"/>
              <a:tabLst>
                <a:tab pos="72263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Security: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Authentication,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authorization,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protection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45" dirty="0"/>
              <a:t>Scaling</a:t>
            </a:r>
            <a:r>
              <a:rPr spc="-35" dirty="0"/>
              <a:t> </a:t>
            </a:r>
            <a:r>
              <a:rPr spc="-165" dirty="0"/>
              <a:t>Strategies</a:t>
            </a:r>
            <a:r>
              <a:rPr spc="-35" dirty="0"/>
              <a:t> </a:t>
            </a:r>
            <a:r>
              <a:rPr spc="-170" dirty="0"/>
              <a:t>in</a:t>
            </a:r>
            <a:r>
              <a:rPr spc="-35" dirty="0"/>
              <a:t> </a:t>
            </a:r>
            <a:r>
              <a:rPr spc="-215" dirty="0"/>
              <a:t>Microservices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4008120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4102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Horizontal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Scaling: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Add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more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instances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service</a:t>
            </a:r>
            <a:endParaRPr sz="1800">
              <a:latin typeface="Arial"/>
              <a:cs typeface="Arial"/>
            </a:endParaRPr>
          </a:p>
          <a:p>
            <a:pPr marL="379095" marR="63627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Auto-scaling: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Scale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up/down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automatically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Sharding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Scaling: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Split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databases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high-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3962399" cy="32289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85" dirty="0"/>
              <a:t>Real-</a:t>
            </a:r>
            <a:r>
              <a:rPr spc="-300" dirty="0"/>
              <a:t>World</a:t>
            </a:r>
            <a:r>
              <a:rPr spc="-25" dirty="0"/>
              <a:t> </a:t>
            </a:r>
            <a:r>
              <a:rPr spc="-210" dirty="0"/>
              <a:t>Examples</a:t>
            </a:r>
            <a:r>
              <a:rPr spc="-25" dirty="0"/>
              <a:t> </a:t>
            </a:r>
            <a:r>
              <a:rPr spc="-250" dirty="0"/>
              <a:t>of</a:t>
            </a:r>
            <a:r>
              <a:rPr spc="-20" dirty="0"/>
              <a:t> </a:t>
            </a:r>
            <a:r>
              <a:rPr spc="-204" dirty="0"/>
              <a:t>Microservices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30206"/>
            <a:ext cx="3600450" cy="26041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9095" marR="5080" indent="-367030">
              <a:lnSpc>
                <a:spcPts val="2270"/>
              </a:lnSpc>
              <a:spcBef>
                <a:spcPts val="85"/>
              </a:spcBef>
              <a:buChar char="●"/>
              <a:tabLst>
                <a:tab pos="379095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Netﬂix: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for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video</a:t>
            </a:r>
            <a:r>
              <a:rPr sz="1800" spc="2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streaming</a:t>
            </a:r>
            <a:r>
              <a:rPr sz="1800" spc="2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&amp;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personalization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Uber:</a:t>
            </a:r>
            <a:r>
              <a:rPr sz="18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Scales</a:t>
            </a:r>
            <a:r>
              <a:rPr sz="18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ride-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matching,</a:t>
            </a:r>
            <a:endParaRPr sz="1800">
              <a:latin typeface="Arial"/>
              <a:cs typeface="Arial"/>
            </a:endParaRPr>
          </a:p>
          <a:p>
            <a:pPr marL="379095" marR="471805">
              <a:lnSpc>
                <a:spcPct val="105000"/>
              </a:lnSpc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payments,</a:t>
            </a:r>
            <a:r>
              <a:rPr sz="18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navigation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independently</a:t>
            </a:r>
            <a:endParaRPr sz="1800">
              <a:latin typeface="Arial"/>
              <a:cs typeface="Arial"/>
            </a:endParaRPr>
          </a:p>
          <a:p>
            <a:pPr marL="377825" marR="26670" indent="-365760" algn="just">
              <a:lnSpc>
                <a:spcPct val="105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Amazon: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service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(search, 	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payments,</a:t>
            </a:r>
            <a:r>
              <a:rPr sz="1800" spc="3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recommendations) 	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runs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separately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199" cy="30383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15" dirty="0"/>
              <a:t>Interview</a:t>
            </a:r>
            <a:r>
              <a:rPr spc="-135" dirty="0"/>
              <a:t> </a:t>
            </a:r>
            <a:r>
              <a:rPr spc="-229" dirty="0"/>
              <a:t>Questions</a:t>
            </a:r>
            <a:r>
              <a:rPr spc="-35" dirty="0"/>
              <a:t> </a:t>
            </a:r>
            <a:r>
              <a:rPr spc="-275" dirty="0"/>
              <a:t>on</a:t>
            </a:r>
            <a:r>
              <a:rPr spc="-30" dirty="0"/>
              <a:t> </a:t>
            </a:r>
            <a:r>
              <a:rPr spc="-215" dirty="0"/>
              <a:t>Microservices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97369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805815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microservices,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diﬀer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monolithic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beneﬁts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microservices?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role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system.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communicate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other?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ensure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consistency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microservices-based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55346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90" dirty="0"/>
              <a:t>Summary</a:t>
            </a:r>
            <a:r>
              <a:rPr spc="-155" dirty="0"/>
              <a:t> </a:t>
            </a:r>
            <a:r>
              <a:rPr spc="-90" dirty="0"/>
              <a:t>&amp;</a:t>
            </a:r>
            <a:r>
              <a:rPr spc="-114" dirty="0"/>
              <a:t> </a:t>
            </a:r>
            <a:r>
              <a:rPr spc="-325" dirty="0"/>
              <a:t>What’s</a:t>
            </a:r>
            <a:r>
              <a:rPr spc="-45" dirty="0"/>
              <a:t> </a:t>
            </a:r>
            <a:r>
              <a:rPr spc="-150" dirty="0"/>
              <a:t>Next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308215" cy="18592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Fault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Tolerance,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Faster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Development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Requires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Gateway,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Service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Discovery,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Challenges: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consistency,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debugging,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deployment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complexity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usage: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Netﬂix,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Uber,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Amazon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Next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Lecture: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sz="14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Architectures!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453</Words>
  <Application>Microsoft Office PowerPoint</Application>
  <PresentationFormat>On-screen Show (16:9)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Microservices Architecture</vt:lpstr>
      <vt:lpstr>What is Microservices Architecture?</vt:lpstr>
      <vt:lpstr>Identifying and Structuring Microservices</vt:lpstr>
      <vt:lpstr>Communication in Microservices</vt:lpstr>
      <vt:lpstr>Challenges of Microservices</vt:lpstr>
      <vt:lpstr>Scaling Strategies in Microservices</vt:lpstr>
      <vt:lpstr>Real-World Examples of Microservices</vt:lpstr>
      <vt:lpstr>Interview Questions on Microservices</vt:lpstr>
      <vt:lpstr>Summary &amp; What’s 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4</dc:title>
  <cp:lastModifiedBy>RAVI GV</cp:lastModifiedBy>
  <cp:revision>1</cp:revision>
  <dcterms:created xsi:type="dcterms:W3CDTF">2025-11-26T16:45:36Z</dcterms:created>
  <dcterms:modified xsi:type="dcterms:W3CDTF">2025-11-26T17:00:57Z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