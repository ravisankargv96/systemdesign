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1776" y="2209598"/>
            <a:ext cx="6920446" cy="476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19709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6014" y="1314367"/>
            <a:ext cx="3733165" cy="310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10"/>
              </a:spcBef>
            </a:pPr>
            <a:r>
              <a:rPr sz="2950" spc="-190" dirty="0"/>
              <a:t>Autoscaling</a:t>
            </a:r>
            <a:r>
              <a:rPr sz="2950" spc="-25" dirty="0"/>
              <a:t> </a:t>
            </a:r>
            <a:r>
              <a:rPr sz="2950" spc="-110" dirty="0"/>
              <a:t>&amp;</a:t>
            </a:r>
            <a:r>
              <a:rPr sz="2950" spc="-20" dirty="0"/>
              <a:t> </a:t>
            </a:r>
            <a:r>
              <a:rPr sz="2950" spc="-195" dirty="0"/>
              <a:t>Best</a:t>
            </a:r>
            <a:r>
              <a:rPr sz="2950" spc="-25" dirty="0"/>
              <a:t> </a:t>
            </a:r>
            <a:r>
              <a:rPr sz="2950" spc="-200" dirty="0"/>
              <a:t>Practices</a:t>
            </a:r>
            <a:r>
              <a:rPr sz="2950" spc="-20" dirty="0"/>
              <a:t> </a:t>
            </a:r>
            <a:r>
              <a:rPr sz="2950" spc="-170" dirty="0"/>
              <a:t>in</a:t>
            </a:r>
            <a:r>
              <a:rPr sz="2950" spc="-60" dirty="0"/>
              <a:t> </a:t>
            </a:r>
            <a:r>
              <a:rPr sz="2950" spc="-220" dirty="0"/>
              <a:t>Cloud</a:t>
            </a:r>
            <a:r>
              <a:rPr sz="2950" spc="-25" dirty="0"/>
              <a:t> </a:t>
            </a:r>
            <a:r>
              <a:rPr sz="2950" spc="-204" dirty="0"/>
              <a:t>Environments</a:t>
            </a:r>
            <a:endParaRPr sz="2950"/>
          </a:p>
        </p:txBody>
      </p:sp>
      <p:sp>
        <p:nvSpPr>
          <p:cNvPr id="3" name="object 3"/>
          <p:cNvSpPr txBox="1"/>
          <p:nvPr/>
        </p:nvSpPr>
        <p:spPr>
          <a:xfrm>
            <a:off x="3419687" y="2881814"/>
            <a:ext cx="23037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30" dirty="0"/>
              <a:t>What</a:t>
            </a:r>
            <a:r>
              <a:rPr spc="-55" dirty="0"/>
              <a:t> </a:t>
            </a:r>
            <a:r>
              <a:rPr spc="-105" dirty="0"/>
              <a:t>is</a:t>
            </a:r>
            <a:r>
              <a:rPr spc="-170" dirty="0"/>
              <a:t> </a:t>
            </a:r>
            <a:r>
              <a:rPr spc="-185" dirty="0"/>
              <a:t>Autoscaling?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995420" cy="223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automatic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adjustment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compute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resources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load</a:t>
            </a:r>
            <a:endParaRPr sz="1800">
              <a:latin typeface="Arial"/>
              <a:cs typeface="Arial"/>
            </a:endParaRPr>
          </a:p>
          <a:p>
            <a:pPr marL="379095" marR="2349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Ensures</a:t>
            </a:r>
            <a:r>
              <a:rPr sz="1800" spc="-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 availability,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cost-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eﬃciency</a:t>
            </a:r>
            <a:endParaRPr sz="1800">
              <a:latin typeface="Arial"/>
              <a:cs typeface="Arial"/>
            </a:endParaRPr>
          </a:p>
          <a:p>
            <a:pPr marL="379095" marR="24828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microservices,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web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apps,</a:t>
            </a:r>
            <a:r>
              <a:rPr sz="18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1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event-driven</a:t>
            </a:r>
            <a:r>
              <a:rPr sz="18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2591" y="1262258"/>
            <a:ext cx="3569577" cy="35695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How</a:t>
            </a:r>
            <a:r>
              <a:rPr spc="-215" dirty="0"/>
              <a:t> </a:t>
            </a:r>
            <a:r>
              <a:rPr spc="-185" dirty="0"/>
              <a:t>Autoscaling</a:t>
            </a:r>
            <a:r>
              <a:rPr spc="-105" dirty="0"/>
              <a:t> </a:t>
            </a:r>
            <a:r>
              <a:rPr spc="-330" dirty="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3452495" cy="31419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Triggers: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sz="1400" spc="-85" dirty="0">
                <a:solidFill>
                  <a:srgbClr val="685D46"/>
                </a:solidFill>
                <a:latin typeface="Arial"/>
                <a:cs typeface="Arial"/>
              </a:rPr>
              <a:t>CPU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usage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Queue</a:t>
            </a:r>
            <a:r>
              <a:rPr sz="14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length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6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Types:</a:t>
            </a:r>
            <a:endParaRPr sz="1800">
              <a:latin typeface="Arial"/>
              <a:cs typeface="Arial"/>
            </a:endParaRPr>
          </a:p>
          <a:p>
            <a:pPr marL="836294" marR="5080" lvl="1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Scaling:</a:t>
            </a:r>
            <a:r>
              <a:rPr sz="14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Add/remove instances</a:t>
            </a:r>
            <a:endParaRPr sz="1400">
              <a:latin typeface="Arial"/>
              <a:cs typeface="Arial"/>
            </a:endParaRPr>
          </a:p>
          <a:p>
            <a:pPr marL="836294" marR="85725" lvl="1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Scaling: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685D46"/>
                </a:solidFill>
                <a:latin typeface="Arial"/>
                <a:cs typeface="Arial"/>
              </a:rPr>
              <a:t>Resize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single instance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800" spc="-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Policies: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5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Reactive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(based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thresholds)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Predictive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(based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trends)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4113" y="1304825"/>
            <a:ext cx="4166145" cy="22782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90" dirty="0"/>
              <a:t>Autoscaling</a:t>
            </a:r>
            <a:r>
              <a:rPr spc="-125" dirty="0"/>
              <a:t> </a:t>
            </a:r>
            <a:r>
              <a:rPr spc="-240" dirty="0"/>
              <a:t>Across</a:t>
            </a:r>
            <a:r>
              <a:rPr spc="-45" dirty="0"/>
              <a:t> </a:t>
            </a:r>
            <a:r>
              <a:rPr spc="-220" dirty="0"/>
              <a:t>Cloud</a:t>
            </a:r>
            <a:r>
              <a:rPr spc="-5" dirty="0"/>
              <a:t> </a:t>
            </a:r>
            <a:r>
              <a:rPr spc="-195" dirty="0"/>
              <a:t>Providers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840" y="1993695"/>
            <a:ext cx="196854" cy="1968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840" y="2239059"/>
            <a:ext cx="196854" cy="1968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840" y="2484423"/>
            <a:ext cx="196854" cy="19685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5249" y="1289058"/>
            <a:ext cx="8243570" cy="140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All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major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providers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support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built-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compute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container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8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340"/>
              </a:spcBef>
              <a:buChar char="○"/>
              <a:tabLst>
                <a:tab pos="1103630" algn="l"/>
              </a:tabLst>
            </a:pP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AWS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Auto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5" dirty="0">
                <a:solidFill>
                  <a:srgbClr val="685D46"/>
                </a:solidFill>
                <a:latin typeface="Arial"/>
                <a:cs typeface="Arial"/>
              </a:rPr>
              <a:t>EC2,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Lambda,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35" dirty="0">
                <a:solidFill>
                  <a:srgbClr val="685D46"/>
                </a:solidFill>
                <a:latin typeface="Arial"/>
                <a:cs typeface="Arial"/>
              </a:rPr>
              <a:t>ECS,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EKS</a:t>
            </a:r>
            <a:endParaRPr sz="14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250"/>
              </a:spcBef>
              <a:buChar char="○"/>
              <a:tabLst>
                <a:tab pos="110363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Azure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via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VM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Sets,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App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Services,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AKS</a:t>
            </a:r>
            <a:endParaRPr sz="1400">
              <a:latin typeface="Arial"/>
              <a:cs typeface="Arial"/>
            </a:endParaRPr>
          </a:p>
          <a:p>
            <a:pPr marL="1103630" lvl="1" indent="-603250">
              <a:lnSpc>
                <a:spcPct val="100000"/>
              </a:lnSpc>
              <a:spcBef>
                <a:spcPts val="254"/>
              </a:spcBef>
              <a:buChar char="○"/>
              <a:tabLst>
                <a:tab pos="1103630" algn="l"/>
              </a:tabLst>
            </a:pPr>
            <a:r>
              <a:rPr sz="1400" spc="-110" dirty="0">
                <a:solidFill>
                  <a:srgbClr val="685D46"/>
                </a:solidFill>
                <a:latin typeface="Arial"/>
                <a:cs typeface="Arial"/>
              </a:rPr>
              <a:t>GCP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MIGs,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Run,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95" dirty="0">
                <a:solidFill>
                  <a:srgbClr val="685D46"/>
                </a:solidFill>
                <a:latin typeface="Arial"/>
                <a:cs typeface="Arial"/>
              </a:rPr>
              <a:t>GKE,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Functions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458025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50" dirty="0"/>
              <a:t>Monitoring</a:t>
            </a:r>
            <a:r>
              <a:rPr spc="-4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215" dirty="0"/>
              <a:t>Proactive</a:t>
            </a:r>
            <a:r>
              <a:rPr spc="-40" dirty="0"/>
              <a:t> </a:t>
            </a:r>
            <a:r>
              <a:rPr spc="-105" dirty="0"/>
              <a:t>Scaling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103109" cy="228346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metrics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like: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75" dirty="0">
                <a:solidFill>
                  <a:srgbClr val="685D46"/>
                </a:solidFill>
                <a:latin typeface="Arial"/>
                <a:cs typeface="Arial"/>
              </a:rPr>
              <a:t>CPU,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Memory,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Queue</a:t>
            </a:r>
            <a:r>
              <a:rPr sz="14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depth,</a:t>
            </a:r>
            <a:r>
              <a:rPr sz="14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Custom</a:t>
            </a:r>
            <a:r>
              <a:rPr sz="1400" spc="1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KPIs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Proactive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Scaling: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Predictive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algorithms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(based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ML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trends)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Scheduled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(known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patterns)</a:t>
            </a:r>
            <a:endParaRPr sz="1400">
              <a:latin typeface="Arial"/>
              <a:cs typeface="Arial"/>
            </a:endParaRPr>
          </a:p>
          <a:p>
            <a:pPr marL="379095" marR="5080" indent="-367030">
              <a:lnSpc>
                <a:spcPts val="2480"/>
              </a:lnSpc>
              <a:spcBef>
                <a:spcPts val="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Tools: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CloudWatch,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Prometheus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+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Grafana,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Azure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Monitor,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GCP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Operations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40" dirty="0"/>
              <a:t>Cost</a:t>
            </a:r>
            <a:r>
              <a:rPr spc="-45" dirty="0"/>
              <a:t> </a:t>
            </a:r>
            <a:r>
              <a:rPr spc="-210" dirty="0"/>
              <a:t>Optimization</a:t>
            </a:r>
            <a:r>
              <a:rPr dirty="0"/>
              <a:t> </a:t>
            </a:r>
            <a:r>
              <a:rPr spc="-155" dirty="0"/>
              <a:t>Strategies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6621145" cy="1602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sz="180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over-provisioning—scale</a:t>
            </a:r>
            <a:r>
              <a:rPr sz="1800" spc="2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just</a:t>
            </a:r>
            <a:r>
              <a:rPr sz="1800" spc="2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enough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spot/preemptible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instances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batch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workloads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Apply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limits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quotas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Rightsize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regularly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actual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usage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auto-pausing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scale-to-zero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features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idle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15" dirty="0"/>
              <a:t>Interview</a:t>
            </a:r>
            <a:r>
              <a:rPr spc="-135" dirty="0"/>
              <a:t> </a:t>
            </a:r>
            <a:r>
              <a:rPr spc="-215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6766559" cy="29603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Conceptual</a:t>
            </a:r>
            <a:r>
              <a:rPr sz="1800" spc="2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autoscaling,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important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4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systems?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horizontal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vertical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predictive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4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Cloud-Speciﬁc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Scenarios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AWS/Azure/GCP?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set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up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containerized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application?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metrics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monitor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eﬀective</a:t>
            </a:r>
            <a:r>
              <a:rPr sz="14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autoscaling?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ensure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cost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optimization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implementing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autoscaling?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sz="140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systems?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50" dirty="0"/>
              <a:t> </a:t>
            </a:r>
            <a:r>
              <a:rPr spc="-270" dirty="0"/>
              <a:t>and</a:t>
            </a:r>
            <a:r>
              <a:rPr spc="-50" dirty="0"/>
              <a:t> </a:t>
            </a:r>
            <a:r>
              <a:rPr spc="-240" dirty="0"/>
              <a:t>Key</a:t>
            </a:r>
            <a:r>
              <a:rPr spc="-245" dirty="0"/>
              <a:t> </a:t>
            </a:r>
            <a:r>
              <a:rPr spc="-285" dirty="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176770" cy="18592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8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ensures</a:t>
            </a:r>
            <a:r>
              <a:rPr sz="1800" spc="2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agility,</a:t>
            </a:r>
            <a:r>
              <a:rPr sz="1800" spc="2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availability,</a:t>
            </a:r>
            <a:r>
              <a:rPr sz="18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20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cost-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eﬃciency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strategy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(horizontal,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vertical,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predictive)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Monitor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proactively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stay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ahead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Align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cost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goals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and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recap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in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4" dirty="0"/>
              <a:t>Section</a:t>
            </a:r>
            <a:r>
              <a:rPr spc="-35" dirty="0"/>
              <a:t> </a:t>
            </a:r>
            <a:r>
              <a:rPr spc="-290" dirty="0"/>
              <a:t>Summary</a:t>
            </a:r>
            <a:r>
              <a:rPr spc="-265" dirty="0"/>
              <a:t> </a:t>
            </a:r>
            <a:r>
              <a:rPr spc="-10" dirty="0"/>
              <a:t>-</a:t>
            </a:r>
            <a:r>
              <a:rPr spc="-250" dirty="0"/>
              <a:t> </a:t>
            </a:r>
            <a:r>
              <a:rPr spc="-160" dirty="0"/>
              <a:t>Scalability</a:t>
            </a:r>
            <a:r>
              <a:rPr spc="-130" dirty="0"/>
              <a:t> </a:t>
            </a:r>
            <a:r>
              <a:rPr spc="-170" dirty="0"/>
              <a:t>in</a:t>
            </a:r>
            <a:r>
              <a:rPr spc="-35" dirty="0"/>
              <a:t> </a:t>
            </a:r>
            <a:r>
              <a:rPr spc="-229" dirty="0"/>
              <a:t>System</a:t>
            </a:r>
            <a:r>
              <a:rPr spc="-30" dirty="0"/>
              <a:t> </a:t>
            </a:r>
            <a:r>
              <a:rPr spc="-11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1933950"/>
            <a:ext cx="221258" cy="2082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2382006"/>
            <a:ext cx="221258" cy="2082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2830062"/>
            <a:ext cx="221258" cy="20824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3278118"/>
            <a:ext cx="221258" cy="20824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5249" y="1330206"/>
            <a:ext cx="8104505" cy="28975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608965" indent="-367030">
              <a:lnSpc>
                <a:spcPts val="2270"/>
              </a:lnSpc>
              <a:spcBef>
                <a:spcPts val="85"/>
              </a:spcBef>
              <a:buChar char="●"/>
              <a:tabLst>
                <a:tab pos="379095" algn="l"/>
              </a:tabLst>
            </a:pP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this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section,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explored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core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building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blocks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in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systems:</a:t>
            </a:r>
            <a:endParaRPr sz="1800">
              <a:latin typeface="Arial"/>
              <a:cs typeface="Arial"/>
            </a:endParaRPr>
          </a:p>
          <a:p>
            <a:pPr marL="836294" marR="5080" lvl="1" indent="-336550">
              <a:lnSpc>
                <a:spcPts val="1760"/>
              </a:lnSpc>
              <a:spcBef>
                <a:spcPts val="20"/>
              </a:spcBef>
              <a:buChar char="○"/>
              <a:tabLst>
                <a:tab pos="836294" algn="l"/>
                <a:tab pos="110363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Introduction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Scalability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sz="1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come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14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endParaRPr sz="1400">
              <a:latin typeface="Arial"/>
              <a:cs typeface="Arial"/>
            </a:endParaRPr>
          </a:p>
          <a:p>
            <a:pPr marL="836294" marR="770255" lvl="1" indent="-336550">
              <a:lnSpc>
                <a:spcPts val="1760"/>
              </a:lnSpc>
              <a:spcBef>
                <a:spcPts val="5"/>
              </a:spcBef>
              <a:buChar char="○"/>
              <a:tabLst>
                <a:tab pos="836294" algn="l"/>
                <a:tab pos="110363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	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Deep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dive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Horizontal,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Vertical,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Diagonal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scaling approaches</a:t>
            </a:r>
            <a:endParaRPr sz="1400">
              <a:latin typeface="Arial"/>
              <a:cs typeface="Arial"/>
            </a:endParaRPr>
          </a:p>
          <a:p>
            <a:pPr marL="836294" marR="323215" lvl="1" indent="-336550">
              <a:lnSpc>
                <a:spcPts val="1760"/>
              </a:lnSpc>
              <a:spcBef>
                <a:spcPts val="10"/>
              </a:spcBef>
              <a:buChar char="○"/>
              <a:tabLst>
                <a:tab pos="836294" algn="l"/>
                <a:tab pos="110363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	Load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balancers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algorithms</a:t>
            </a:r>
            <a:r>
              <a:rPr sz="14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distribute </a:t>
            </a:r>
            <a:r>
              <a:rPr sz="1400" spc="85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eﬃciently</a:t>
            </a:r>
            <a:endParaRPr sz="1400">
              <a:latin typeface="Arial"/>
              <a:cs typeface="Arial"/>
            </a:endParaRPr>
          </a:p>
          <a:p>
            <a:pPr marL="836294" marR="476884" lvl="1" indent="-336550">
              <a:lnSpc>
                <a:spcPts val="1760"/>
              </a:lnSpc>
              <a:spcBef>
                <a:spcPts val="5"/>
              </a:spcBef>
              <a:buChar char="○"/>
              <a:tabLst>
                <a:tab pos="836294" algn="l"/>
                <a:tab pos="1103630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	Autoscaling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platforms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80" dirty="0">
                <a:solidFill>
                  <a:srgbClr val="685D46"/>
                </a:solidFill>
                <a:latin typeface="Arial"/>
                <a:cs typeface="Arial"/>
              </a:rPr>
              <a:t>AWS,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Azure,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GCP 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support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autoscaling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25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sz="14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455</Words>
  <Application>Microsoft Office PowerPoint</Application>
  <PresentationFormat>On-screen Show (16:9)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Autoscaling &amp; Best Practices in Cloud Environments</vt:lpstr>
      <vt:lpstr>What is Autoscaling?</vt:lpstr>
      <vt:lpstr>How Autoscaling Works</vt:lpstr>
      <vt:lpstr>Autoscaling Across Cloud Providers</vt:lpstr>
      <vt:lpstr>Monitoring &amp; Proactive Scaling</vt:lpstr>
      <vt:lpstr>Cost Optimization Strategies</vt:lpstr>
      <vt:lpstr>Interview Questions</vt:lpstr>
      <vt:lpstr>Summary and Key Takeaways</vt:lpstr>
      <vt:lpstr>Section Summary - Scalability in System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Design - Section 6</dc:title>
  <cp:lastModifiedBy>RAVI GV</cp:lastModifiedBy>
  <cp:revision>1</cp:revision>
  <dcterms:created xsi:type="dcterms:W3CDTF">2025-11-26T16:01:40Z</dcterms:created>
  <dcterms:modified xsi:type="dcterms:W3CDTF">2025-11-26T16:39:38Z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