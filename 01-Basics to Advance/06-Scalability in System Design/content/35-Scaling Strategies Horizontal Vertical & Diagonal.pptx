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5" r:id="rId2"/>
    <p:sldId id="266" r:id="rId3"/>
    <p:sldId id="267" r:id="rId4"/>
    <p:sldId id="268" r:id="rId5"/>
    <p:sldId id="269" r:id="rId6"/>
    <p:sldId id="270" r:id="rId7"/>
    <p:sldId id="271" r:id="rId8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007735" y="3176887"/>
            <a:ext cx="562610" cy="0"/>
          </a:xfrm>
          <a:custGeom>
            <a:avLst/>
            <a:gdLst/>
            <a:ahLst/>
            <a:cxnLst/>
            <a:rect l="l" t="t" r="r" b="b"/>
            <a:pathLst>
              <a:path w="562609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75034" y="3158251"/>
            <a:ext cx="562610" cy="0"/>
          </a:xfrm>
          <a:custGeom>
            <a:avLst/>
            <a:gdLst/>
            <a:ahLst/>
            <a:cxnLst/>
            <a:rect l="l" t="t" r="r" b="b"/>
            <a:pathLst>
              <a:path w="562610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04144" y="10220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004144" y="11744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004151" y="41214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04151" y="39690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11776" y="2209598"/>
            <a:ext cx="6920446" cy="476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74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4DB6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1590"/>
            <a:ext cx="7197090" cy="5194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6014" y="1314367"/>
            <a:ext cx="3733165" cy="310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110"/>
              </a:spcBef>
            </a:pPr>
            <a:r>
              <a:rPr sz="2950" spc="-155" dirty="0"/>
              <a:t>Scaling</a:t>
            </a:r>
            <a:r>
              <a:rPr sz="2950" spc="-25" dirty="0"/>
              <a:t> </a:t>
            </a:r>
            <a:r>
              <a:rPr sz="2950" spc="-155" dirty="0"/>
              <a:t>Strategies:</a:t>
            </a:r>
            <a:r>
              <a:rPr sz="2950" spc="-15" dirty="0"/>
              <a:t> </a:t>
            </a:r>
            <a:r>
              <a:rPr sz="2950" spc="-190" dirty="0"/>
              <a:t>Horizontal,</a:t>
            </a:r>
            <a:r>
              <a:rPr sz="2950" spc="-285" dirty="0"/>
              <a:t> </a:t>
            </a:r>
            <a:r>
              <a:rPr sz="2950" spc="-190" dirty="0"/>
              <a:t>Vertical</a:t>
            </a:r>
            <a:r>
              <a:rPr sz="2950" spc="-10" dirty="0"/>
              <a:t> </a:t>
            </a:r>
            <a:r>
              <a:rPr sz="2950" spc="-110" dirty="0"/>
              <a:t>&amp;</a:t>
            </a:r>
            <a:r>
              <a:rPr sz="2950" spc="-15" dirty="0"/>
              <a:t> </a:t>
            </a:r>
            <a:r>
              <a:rPr sz="2950" spc="-150" dirty="0"/>
              <a:t>Diagonal</a:t>
            </a:r>
            <a:endParaRPr sz="2950"/>
          </a:p>
        </p:txBody>
      </p:sp>
      <p:sp>
        <p:nvSpPr>
          <p:cNvPr id="3" name="object 3"/>
          <p:cNvSpPr txBox="1"/>
          <p:nvPr/>
        </p:nvSpPr>
        <p:spPr>
          <a:xfrm>
            <a:off x="3419687" y="2881814"/>
            <a:ext cx="23037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Scalability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4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45" dirty="0"/>
              <a:t>Quick</a:t>
            </a:r>
            <a:r>
              <a:rPr spc="-140" dirty="0"/>
              <a:t> </a:t>
            </a:r>
            <a:r>
              <a:rPr spc="-260" dirty="0"/>
              <a:t>Recap</a:t>
            </a:r>
            <a:r>
              <a:rPr spc="-180" dirty="0"/>
              <a:t> </a:t>
            </a:r>
            <a:r>
              <a:rPr spc="140" dirty="0"/>
              <a:t>–</a:t>
            </a:r>
            <a:r>
              <a:rPr spc="-365" dirty="0"/>
              <a:t> </a:t>
            </a:r>
            <a:r>
              <a:rPr spc="-254" dirty="0"/>
              <a:t>Types</a:t>
            </a:r>
            <a:r>
              <a:rPr spc="-50" dirty="0"/>
              <a:t> </a:t>
            </a:r>
            <a:r>
              <a:rPr spc="-250" dirty="0"/>
              <a:t>of</a:t>
            </a:r>
            <a:r>
              <a:rPr spc="-45" dirty="0"/>
              <a:t> </a:t>
            </a:r>
            <a:r>
              <a:rPr spc="-130" dirty="0"/>
              <a:t>Scalability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3753485" cy="128778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Vertical: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Upgrade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one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machine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Horizontal:</a:t>
            </a:r>
            <a:r>
              <a:rPr sz="18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Add</a:t>
            </a:r>
            <a:r>
              <a:rPr sz="18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more</a:t>
            </a:r>
            <a:r>
              <a:rPr sz="18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machines</a:t>
            </a:r>
            <a:endParaRPr sz="1800">
              <a:latin typeface="Arial"/>
              <a:cs typeface="Arial"/>
            </a:endParaRPr>
          </a:p>
          <a:p>
            <a:pPr marL="379095" marR="46355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Diagonal:</a:t>
            </a:r>
            <a:r>
              <a:rPr sz="180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Start</a:t>
            </a:r>
            <a:r>
              <a:rPr sz="1800" spc="1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vertical,</a:t>
            </a:r>
            <a:r>
              <a:rPr sz="18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then</a:t>
            </a:r>
            <a:r>
              <a:rPr sz="18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go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horizontal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84395" y="1304825"/>
            <a:ext cx="4199704" cy="34197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4540250" cy="519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54" dirty="0"/>
              <a:t>Types</a:t>
            </a:r>
            <a:r>
              <a:rPr spc="-35" dirty="0"/>
              <a:t> </a:t>
            </a:r>
            <a:r>
              <a:rPr spc="-250" dirty="0"/>
              <a:t>of</a:t>
            </a:r>
            <a:r>
              <a:rPr spc="-30" dirty="0"/>
              <a:t> </a:t>
            </a:r>
            <a:r>
              <a:rPr spc="-165" dirty="0"/>
              <a:t>Scalability</a:t>
            </a:r>
            <a:r>
              <a:rPr spc="-260" dirty="0"/>
              <a:t> </a:t>
            </a:r>
            <a:r>
              <a:rPr spc="-10" dirty="0"/>
              <a:t>-</a:t>
            </a:r>
            <a:r>
              <a:rPr spc="-250" dirty="0"/>
              <a:t> </a:t>
            </a:r>
            <a:r>
              <a:rPr spc="-265" dirty="0"/>
              <a:t>Deep</a:t>
            </a:r>
            <a:r>
              <a:rPr spc="-35" dirty="0"/>
              <a:t> </a:t>
            </a:r>
            <a:r>
              <a:rPr spc="-140" dirty="0"/>
              <a:t>Dive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358140" indent="-345440">
              <a:lnSpc>
                <a:spcPct val="100000"/>
              </a:lnSpc>
              <a:spcBef>
                <a:spcPts val="265"/>
              </a:spcBef>
              <a:buChar char="●"/>
              <a:tabLst>
                <a:tab pos="358140" algn="l"/>
              </a:tabLst>
            </a:pPr>
            <a:r>
              <a:rPr dirty="0"/>
              <a:t>Vertical:</a:t>
            </a:r>
            <a:r>
              <a:rPr spc="55" dirty="0"/>
              <a:t> </a:t>
            </a:r>
            <a:r>
              <a:rPr spc="45" dirty="0"/>
              <a:t>Upgrade</a:t>
            </a:r>
            <a:r>
              <a:rPr spc="55" dirty="0"/>
              <a:t> </a:t>
            </a:r>
            <a:r>
              <a:rPr spc="60" dirty="0"/>
              <a:t>one</a:t>
            </a:r>
            <a:r>
              <a:rPr spc="55" dirty="0"/>
              <a:t> </a:t>
            </a:r>
            <a:r>
              <a:rPr spc="40" dirty="0"/>
              <a:t>machine</a:t>
            </a:r>
          </a:p>
          <a:p>
            <a:pPr marL="815340" lvl="1" indent="-319405">
              <a:lnSpc>
                <a:spcPct val="100000"/>
              </a:lnSpc>
              <a:spcBef>
                <a:spcPts val="100"/>
              </a:spcBef>
              <a:buChar char="○"/>
              <a:tabLst>
                <a:tab pos="8153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Upgrade</a:t>
            </a:r>
            <a:r>
              <a:rPr sz="12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server’s</a:t>
            </a:r>
            <a:r>
              <a:rPr sz="12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65" dirty="0">
                <a:solidFill>
                  <a:srgbClr val="685D46"/>
                </a:solidFill>
                <a:latin typeface="Arial"/>
                <a:cs typeface="Arial"/>
              </a:rPr>
              <a:t>CPU,</a:t>
            </a:r>
            <a:r>
              <a:rPr sz="12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45" dirty="0">
                <a:solidFill>
                  <a:srgbClr val="685D46"/>
                </a:solidFill>
                <a:latin typeface="Arial"/>
                <a:cs typeface="Arial"/>
              </a:rPr>
              <a:t>RAM,</a:t>
            </a:r>
            <a:r>
              <a:rPr sz="12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685D46"/>
                </a:solidFill>
                <a:latin typeface="Arial"/>
                <a:cs typeface="Arial"/>
              </a:rPr>
              <a:t>Disk</a:t>
            </a:r>
            <a:endParaRPr sz="1200">
              <a:latin typeface="Arial"/>
              <a:cs typeface="Arial"/>
            </a:endParaRPr>
          </a:p>
          <a:p>
            <a:pPr marL="815340" lvl="1" indent="-319405">
              <a:lnSpc>
                <a:spcPct val="100000"/>
              </a:lnSpc>
              <a:spcBef>
                <a:spcPts val="60"/>
              </a:spcBef>
              <a:buChar char="○"/>
              <a:tabLst>
                <a:tab pos="815340" algn="l"/>
              </a:tabLst>
            </a:pPr>
            <a:r>
              <a:rPr sz="1200" spc="-55" dirty="0">
                <a:solidFill>
                  <a:srgbClr val="685D46"/>
                </a:solidFill>
                <a:latin typeface="Arial"/>
                <a:cs typeface="Arial"/>
              </a:rPr>
              <a:t>Easy</a:t>
            </a:r>
            <a:r>
              <a:rPr sz="12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2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50" dirty="0">
                <a:solidFill>
                  <a:srgbClr val="685D46"/>
                </a:solidFill>
                <a:latin typeface="Arial"/>
                <a:cs typeface="Arial"/>
              </a:rPr>
              <a:t>implement</a:t>
            </a:r>
            <a:r>
              <a:rPr sz="1200" spc="-20" dirty="0">
                <a:solidFill>
                  <a:srgbClr val="685D46"/>
                </a:solidFill>
                <a:latin typeface="Arial"/>
                <a:cs typeface="Arial"/>
              </a:rPr>
              <a:t> (less</a:t>
            </a:r>
            <a:r>
              <a:rPr sz="12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complexity)</a:t>
            </a:r>
            <a:endParaRPr sz="1200">
              <a:latin typeface="Arial"/>
              <a:cs typeface="Arial"/>
            </a:endParaRPr>
          </a:p>
          <a:p>
            <a:pPr marL="815340" marR="14604" lvl="1" indent="-320040">
              <a:lnSpc>
                <a:spcPct val="104099"/>
              </a:lnSpc>
              <a:buChar char="○"/>
              <a:tabLst>
                <a:tab pos="8153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Limits:</a:t>
            </a:r>
            <a:r>
              <a:rPr sz="12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Physical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cap,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risk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50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single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55" dirty="0">
                <a:solidFill>
                  <a:srgbClr val="685D46"/>
                </a:solidFill>
                <a:latin typeface="Arial"/>
                <a:cs typeface="Arial"/>
              </a:rPr>
              <a:t>point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25" dirty="0">
                <a:solidFill>
                  <a:srgbClr val="685D46"/>
                </a:solidFill>
                <a:latin typeface="Arial"/>
                <a:cs typeface="Arial"/>
              </a:rPr>
              <a:t>of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failure</a:t>
            </a:r>
            <a:endParaRPr sz="1200">
              <a:latin typeface="Arial"/>
              <a:cs typeface="Arial"/>
            </a:endParaRPr>
          </a:p>
          <a:p>
            <a:pPr marL="358140" indent="-345440">
              <a:lnSpc>
                <a:spcPct val="100000"/>
              </a:lnSpc>
              <a:spcBef>
                <a:spcPts val="85"/>
              </a:spcBef>
              <a:buChar char="●"/>
              <a:tabLst>
                <a:tab pos="358140" algn="l"/>
              </a:tabLst>
            </a:pPr>
            <a:r>
              <a:rPr spc="20" dirty="0"/>
              <a:t>Horizontal:</a:t>
            </a:r>
            <a:r>
              <a:rPr spc="75" dirty="0"/>
              <a:t> </a:t>
            </a:r>
            <a:r>
              <a:rPr spc="50" dirty="0"/>
              <a:t>Add</a:t>
            </a:r>
            <a:r>
              <a:rPr spc="75" dirty="0"/>
              <a:t> </a:t>
            </a:r>
            <a:r>
              <a:rPr spc="90" dirty="0"/>
              <a:t>more</a:t>
            </a:r>
            <a:r>
              <a:rPr spc="80" dirty="0"/>
              <a:t> </a:t>
            </a:r>
            <a:r>
              <a:rPr spc="-10" dirty="0"/>
              <a:t>machines</a:t>
            </a:r>
          </a:p>
          <a:p>
            <a:pPr marL="815340" lvl="1" indent="-319405">
              <a:lnSpc>
                <a:spcPct val="100000"/>
              </a:lnSpc>
              <a:spcBef>
                <a:spcPts val="100"/>
              </a:spcBef>
              <a:buChar char="○"/>
              <a:tabLst>
                <a:tab pos="815340" algn="l"/>
              </a:tabLst>
            </a:pPr>
            <a:r>
              <a:rPr sz="1200" spc="20" dirty="0">
                <a:solidFill>
                  <a:srgbClr val="685D46"/>
                </a:solidFill>
                <a:latin typeface="Arial"/>
                <a:cs typeface="Arial"/>
              </a:rPr>
              <a:t>Add </a:t>
            </a:r>
            <a:r>
              <a:rPr sz="1200" spc="55" dirty="0">
                <a:solidFill>
                  <a:srgbClr val="685D46"/>
                </a:solidFill>
                <a:latin typeface="Arial"/>
                <a:cs typeface="Arial"/>
              </a:rPr>
              <a:t>more</a:t>
            </a:r>
            <a:r>
              <a:rPr sz="1200" spc="20" dirty="0">
                <a:solidFill>
                  <a:srgbClr val="685D46"/>
                </a:solidFill>
                <a:latin typeface="Arial"/>
                <a:cs typeface="Arial"/>
              </a:rPr>
              <a:t> nodes</a:t>
            </a:r>
            <a:r>
              <a:rPr sz="12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200" spc="20" dirty="0">
                <a:solidFill>
                  <a:srgbClr val="685D46"/>
                </a:solidFill>
                <a:latin typeface="Arial"/>
                <a:cs typeface="Arial"/>
              </a:rPr>
              <a:t> distribute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traﬃc/load</a:t>
            </a:r>
            <a:endParaRPr sz="1200">
              <a:latin typeface="Arial"/>
              <a:cs typeface="Arial"/>
            </a:endParaRPr>
          </a:p>
          <a:p>
            <a:pPr marL="815340" lvl="1" indent="-319405">
              <a:lnSpc>
                <a:spcPct val="100000"/>
              </a:lnSpc>
              <a:spcBef>
                <a:spcPts val="60"/>
              </a:spcBef>
              <a:buChar char="○"/>
              <a:tabLst>
                <a:tab pos="8153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Requires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2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balancer,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stateless</a:t>
            </a:r>
            <a:r>
              <a:rPr sz="12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endParaRPr sz="1200">
              <a:latin typeface="Arial"/>
              <a:cs typeface="Arial"/>
            </a:endParaRPr>
          </a:p>
          <a:p>
            <a:pPr marL="815340" lvl="1" indent="-319405">
              <a:lnSpc>
                <a:spcPct val="100000"/>
              </a:lnSpc>
              <a:spcBef>
                <a:spcPts val="60"/>
              </a:spcBef>
              <a:buChar char="○"/>
              <a:tabLst>
                <a:tab pos="815340" algn="l"/>
              </a:tabLst>
            </a:pP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Complex</a:t>
            </a:r>
            <a:r>
              <a:rPr sz="12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setup</a:t>
            </a:r>
            <a:r>
              <a:rPr sz="12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(coordination,</a:t>
            </a:r>
            <a:r>
              <a:rPr sz="12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replication)</a:t>
            </a:r>
            <a:endParaRPr sz="1200">
              <a:latin typeface="Arial"/>
              <a:cs typeface="Arial"/>
            </a:endParaRPr>
          </a:p>
          <a:p>
            <a:pPr marL="358140" marR="544830" indent="-346075">
              <a:lnSpc>
                <a:spcPts val="1930"/>
              </a:lnSpc>
              <a:spcBef>
                <a:spcPts val="45"/>
              </a:spcBef>
              <a:buChar char="●"/>
              <a:tabLst>
                <a:tab pos="358140" algn="l"/>
              </a:tabLst>
            </a:pPr>
            <a:r>
              <a:rPr dirty="0"/>
              <a:t>Diagonal:</a:t>
            </a:r>
            <a:r>
              <a:rPr spc="160" dirty="0"/>
              <a:t> </a:t>
            </a:r>
            <a:r>
              <a:rPr dirty="0"/>
              <a:t>Start</a:t>
            </a:r>
            <a:r>
              <a:rPr spc="165" dirty="0"/>
              <a:t> </a:t>
            </a:r>
            <a:r>
              <a:rPr dirty="0"/>
              <a:t>vertical,</a:t>
            </a:r>
            <a:r>
              <a:rPr spc="165" dirty="0"/>
              <a:t> </a:t>
            </a:r>
            <a:r>
              <a:rPr spc="80" dirty="0"/>
              <a:t>then</a:t>
            </a:r>
            <a:r>
              <a:rPr spc="160" dirty="0"/>
              <a:t> </a:t>
            </a:r>
            <a:r>
              <a:rPr spc="-25" dirty="0"/>
              <a:t>go </a:t>
            </a:r>
            <a:r>
              <a:rPr spc="50" dirty="0"/>
              <a:t>horizontal</a:t>
            </a:r>
          </a:p>
          <a:p>
            <a:pPr marL="815340" marR="431165" lvl="1" indent="-320040">
              <a:lnSpc>
                <a:spcPts val="1500"/>
              </a:lnSpc>
              <a:spcBef>
                <a:spcPts val="10"/>
              </a:spcBef>
              <a:buChar char="○"/>
              <a:tabLst>
                <a:tab pos="8153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Hybrid</a:t>
            </a:r>
            <a:r>
              <a:rPr sz="1200" spc="1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approach:</a:t>
            </a:r>
            <a:r>
              <a:rPr sz="1200" spc="1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start</a:t>
            </a:r>
            <a:r>
              <a:rPr sz="1200" spc="1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vertical,</a:t>
            </a:r>
            <a:r>
              <a:rPr sz="1200" spc="1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685D46"/>
                </a:solidFill>
                <a:latin typeface="Arial"/>
                <a:cs typeface="Arial"/>
              </a:rPr>
              <a:t>add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horizontal</a:t>
            </a:r>
            <a:r>
              <a:rPr sz="12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as</a:t>
            </a:r>
            <a:r>
              <a:rPr sz="12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needed</a:t>
            </a:r>
            <a:endParaRPr sz="1200">
              <a:latin typeface="Arial"/>
              <a:cs typeface="Arial"/>
            </a:endParaRPr>
          </a:p>
          <a:p>
            <a:pPr marL="815340" lvl="1" indent="-319405">
              <a:lnSpc>
                <a:spcPts val="1440"/>
              </a:lnSpc>
              <a:buChar char="○"/>
              <a:tabLst>
                <a:tab pos="8153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Common</a:t>
            </a:r>
            <a:r>
              <a:rPr sz="1200" spc="1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200" spc="1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cloud-native</a:t>
            </a:r>
            <a:r>
              <a:rPr sz="1200" spc="1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685D46"/>
                </a:solidFill>
                <a:latin typeface="Arial"/>
                <a:cs typeface="Arial"/>
              </a:rPr>
              <a:t>apps</a:t>
            </a:r>
            <a:endParaRPr sz="1200">
              <a:latin typeface="Arial"/>
              <a:cs typeface="Arial"/>
            </a:endParaRPr>
          </a:p>
          <a:p>
            <a:pPr marL="815340" lvl="1" indent="-319405">
              <a:lnSpc>
                <a:spcPct val="100000"/>
              </a:lnSpc>
              <a:spcBef>
                <a:spcPts val="60"/>
              </a:spcBef>
              <a:buChar char="○"/>
              <a:tabLst>
                <a:tab pos="8153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Cost-eﬀective</a:t>
            </a:r>
            <a:r>
              <a:rPr sz="1200" spc="1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+</a:t>
            </a:r>
            <a:r>
              <a:rPr sz="1200" spc="1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long-term</a:t>
            </a:r>
            <a:r>
              <a:rPr sz="1200" spc="1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ready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4400" y="1304825"/>
            <a:ext cx="4267200" cy="24077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35" dirty="0"/>
              <a:t>Trade-</a:t>
            </a:r>
            <a:r>
              <a:rPr spc="-185" dirty="0"/>
              <a:t>Offs:</a:t>
            </a:r>
            <a:r>
              <a:rPr spc="-60" dirty="0"/>
              <a:t> </a:t>
            </a:r>
            <a:r>
              <a:rPr spc="-240" dirty="0"/>
              <a:t>Cost</a:t>
            </a:r>
            <a:r>
              <a:rPr spc="-75" dirty="0"/>
              <a:t> </a:t>
            </a:r>
            <a:r>
              <a:rPr spc="-190" dirty="0"/>
              <a:t>vs</a:t>
            </a:r>
            <a:r>
              <a:rPr spc="-55" dirty="0"/>
              <a:t> </a:t>
            </a:r>
            <a:r>
              <a:rPr spc="-229" dirty="0"/>
              <a:t>Complexity</a:t>
            </a:r>
            <a:r>
              <a:rPr spc="-175" dirty="0"/>
              <a:t> </a:t>
            </a:r>
            <a:r>
              <a:rPr spc="-190" dirty="0"/>
              <a:t>vs</a:t>
            </a:r>
            <a:r>
              <a:rPr spc="-10" dirty="0"/>
              <a:t> </a:t>
            </a:r>
            <a:r>
              <a:rPr spc="-265" dirty="0"/>
              <a:t>Performance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1950" y="1314450"/>
            <a:ext cx="8420099" cy="25145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185" dirty="0"/>
              <a:t>Real-</a:t>
            </a:r>
            <a:r>
              <a:rPr spc="-300" dirty="0"/>
              <a:t>World</a:t>
            </a:r>
            <a:r>
              <a:rPr spc="-40" dirty="0"/>
              <a:t> </a:t>
            </a:r>
            <a:r>
              <a:rPr spc="-210" dirty="0"/>
              <a:t>Examples</a:t>
            </a:r>
            <a:r>
              <a:rPr spc="-35" dirty="0"/>
              <a:t> </a:t>
            </a:r>
            <a:r>
              <a:rPr spc="-270" dirty="0"/>
              <a:t>and</a:t>
            </a:r>
            <a:r>
              <a:rPr spc="-105" dirty="0"/>
              <a:t> </a:t>
            </a:r>
            <a:r>
              <a:rPr spc="-340" dirty="0"/>
              <a:t>When</a:t>
            </a:r>
            <a:r>
              <a:rPr spc="-35" dirty="0"/>
              <a:t> </a:t>
            </a:r>
            <a:r>
              <a:rPr spc="-235" dirty="0"/>
              <a:t>to</a:t>
            </a:r>
            <a:r>
              <a:rPr spc="-80" dirty="0"/>
              <a:t> </a:t>
            </a:r>
            <a:r>
              <a:rPr spc="-245" dirty="0"/>
              <a:t>Choose</a:t>
            </a:r>
            <a:r>
              <a:rPr spc="-105" dirty="0"/>
              <a:t> </a:t>
            </a:r>
            <a:r>
              <a:rPr spc="-310" dirty="0"/>
              <a:t>What?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74688"/>
            <a:ext cx="6332855" cy="215455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35"/>
              </a:spcBef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Examples: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Twitter: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Moved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from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monolith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→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horizontal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scaling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(microservices)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Small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startups: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Vertical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scaling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685D46"/>
                </a:solidFill>
                <a:latin typeface="Arial"/>
                <a:cs typeface="Arial"/>
              </a:rPr>
              <a:t>MVP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sz="1400" spc="-95" dirty="0">
                <a:solidFill>
                  <a:srgbClr val="685D46"/>
                </a:solidFill>
                <a:latin typeface="Arial"/>
                <a:cs typeface="Arial"/>
              </a:rPr>
              <a:t>AWS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Lambda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apps: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Start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diagonal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autoscaling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When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choose: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Startups:</a:t>
            </a:r>
            <a:r>
              <a:rPr sz="1400" spc="1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vertical</a:t>
            </a:r>
            <a:r>
              <a:rPr sz="1400" spc="1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(cheaper,</a:t>
            </a:r>
            <a:r>
              <a:rPr sz="1400" spc="1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simpler)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Scaling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apps: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horizontal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(resilience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+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capacity)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Cloud-native: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diagonal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(ﬂexibility</a:t>
            </a:r>
            <a:r>
              <a:rPr sz="14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+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cost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balance)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15" dirty="0"/>
              <a:t>Interview</a:t>
            </a:r>
            <a:r>
              <a:rPr spc="-140" dirty="0"/>
              <a:t> </a:t>
            </a:r>
            <a:r>
              <a:rPr spc="-229" dirty="0"/>
              <a:t>Questions</a:t>
            </a:r>
            <a:r>
              <a:rPr spc="-170" dirty="0"/>
              <a:t> </a:t>
            </a:r>
            <a:r>
              <a:rPr spc="-10" dirty="0"/>
              <a:t>-</a:t>
            </a:r>
            <a:r>
              <a:rPr spc="-254" dirty="0"/>
              <a:t> </a:t>
            </a:r>
            <a:r>
              <a:rPr spc="-145" dirty="0"/>
              <a:t>Scaling</a:t>
            </a:r>
            <a:r>
              <a:rPr spc="-35" dirty="0"/>
              <a:t> </a:t>
            </a:r>
            <a:r>
              <a:rPr spc="-145" dirty="0"/>
              <a:t>Strategies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8006715" cy="254952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diﬀerence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horizontal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vertical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scaling?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diagonal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scaling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when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it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good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idea?</a:t>
            </a:r>
            <a:endParaRPr sz="1800">
              <a:latin typeface="Arial"/>
              <a:cs typeface="Arial"/>
            </a:endParaRPr>
          </a:p>
          <a:p>
            <a:pPr marL="379095" marR="508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trade-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oﬀs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horizontal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vertical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scaling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terms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performance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complexity?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Can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describe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scenario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where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horizontal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scaling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wouldn’t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help?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When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would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choose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vertical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scaling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over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horizontal?</a:t>
            </a:r>
            <a:endParaRPr sz="1800">
              <a:latin typeface="Arial"/>
              <a:cs typeface="Arial"/>
            </a:endParaRPr>
          </a:p>
          <a:p>
            <a:pPr marL="379095" marR="38100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challenges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arise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horizontal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scaling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would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solve them?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3553460" cy="519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90" dirty="0"/>
              <a:t>Summary</a:t>
            </a:r>
            <a:r>
              <a:rPr spc="-155" dirty="0"/>
              <a:t> </a:t>
            </a:r>
            <a:r>
              <a:rPr spc="-90" dirty="0"/>
              <a:t>&amp;</a:t>
            </a:r>
            <a:r>
              <a:rPr spc="-114" dirty="0"/>
              <a:t> </a:t>
            </a:r>
            <a:r>
              <a:rPr spc="-325" dirty="0"/>
              <a:t>What’s</a:t>
            </a:r>
            <a:r>
              <a:rPr spc="-45" dirty="0"/>
              <a:t> </a:t>
            </a:r>
            <a:r>
              <a:rPr spc="-150" dirty="0"/>
              <a:t>Next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74688"/>
            <a:ext cx="6467475" cy="166370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35"/>
              </a:spcBef>
              <a:buChar char="●"/>
              <a:tabLst>
                <a:tab pos="379095" algn="l"/>
              </a:tabLst>
            </a:pP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Scaling</a:t>
            </a:r>
            <a:r>
              <a:rPr sz="1800" spc="-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Strategies: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Vertical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=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simpler,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but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hits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limits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Horizontal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=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scalable,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but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needs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planning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Diagonal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=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hybrid</a:t>
            </a:r>
            <a:r>
              <a:rPr sz="14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approach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cloud</a:t>
            </a:r>
            <a:r>
              <a:rPr sz="14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success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What’s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next: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Understanding</a:t>
            </a:r>
            <a:r>
              <a:rPr sz="1400" spc="1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400" spc="1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Balancers:</a:t>
            </a:r>
            <a:r>
              <a:rPr sz="1400" spc="1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Types,</a:t>
            </a:r>
            <a:r>
              <a:rPr sz="1400" spc="1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Algorithms</a:t>
            </a:r>
            <a:r>
              <a:rPr sz="1400" spc="1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400" spc="1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Cloud</a:t>
            </a:r>
            <a:r>
              <a:rPr sz="1400" spc="1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Solutions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314</Words>
  <Application>Microsoft Office PowerPoint</Application>
  <PresentationFormat>On-screen Show (16:9)</PresentationFormat>
  <Paragraphs>43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Scaling Strategies: Horizontal, Vertical &amp; Diagonal</vt:lpstr>
      <vt:lpstr>Quick Recap – Types of Scalability</vt:lpstr>
      <vt:lpstr>Types of Scalability - Deep Dive</vt:lpstr>
      <vt:lpstr>Trade-Offs: Cost vs Complexity vs Performance</vt:lpstr>
      <vt:lpstr>Real-World Examples and When to Choose What?</vt:lpstr>
      <vt:lpstr>Interview Questions - Scaling Strategies</vt:lpstr>
      <vt:lpstr>Summary &amp; What’s Next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Design - Section 6</dc:title>
  <cp:lastModifiedBy>RAVI GV</cp:lastModifiedBy>
  <cp:revision>1</cp:revision>
  <dcterms:created xsi:type="dcterms:W3CDTF">2025-11-26T16:01:40Z</dcterms:created>
  <dcterms:modified xsi:type="dcterms:W3CDTF">2025-11-26T16:37:18Z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2025-11-26T00:00:00Z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2025-11-26T00:00:00Z</vt:filetime>
  </property>
</Properties>
</file>