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1776" y="2209598"/>
            <a:ext cx="6920446" cy="476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197090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6014" y="1314367"/>
            <a:ext cx="3733165" cy="310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736089">
              <a:lnSpc>
                <a:spcPct val="100000"/>
              </a:lnSpc>
              <a:spcBef>
                <a:spcPts val="110"/>
              </a:spcBef>
            </a:pPr>
            <a:r>
              <a:rPr sz="2950" spc="-204" dirty="0"/>
              <a:t>Introduction</a:t>
            </a:r>
            <a:r>
              <a:rPr sz="2950" spc="-55" dirty="0"/>
              <a:t> </a:t>
            </a:r>
            <a:r>
              <a:rPr sz="2950" spc="-229" dirty="0"/>
              <a:t>to</a:t>
            </a:r>
            <a:r>
              <a:rPr sz="2950" spc="-60" dirty="0"/>
              <a:t> </a:t>
            </a:r>
            <a:r>
              <a:rPr sz="2950" spc="-145" dirty="0"/>
              <a:t>Scalability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3419687" y="2881814"/>
            <a:ext cx="23037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40"/>
              </a:spcBef>
            </a:pPr>
            <a:r>
              <a:rPr spc="-330" dirty="0"/>
              <a:t>What</a:t>
            </a:r>
            <a:r>
              <a:rPr spc="-60" dirty="0"/>
              <a:t> </a:t>
            </a:r>
            <a:r>
              <a:rPr spc="-90" dirty="0"/>
              <a:t>is</a:t>
            </a:r>
            <a:r>
              <a:rPr spc="-85" dirty="0"/>
              <a:t> </a:t>
            </a:r>
            <a:r>
              <a:rPr spc="-150" dirty="0"/>
              <a:t>Scalability?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140" marR="14604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58140" algn="l"/>
              </a:tabLst>
            </a:pPr>
            <a:r>
              <a:rPr sz="1800" dirty="0"/>
              <a:t>Scalability</a:t>
            </a:r>
            <a:r>
              <a:rPr sz="1800" spc="-15" dirty="0"/>
              <a:t> </a:t>
            </a:r>
            <a:r>
              <a:rPr sz="1800" dirty="0"/>
              <a:t>is</a:t>
            </a:r>
            <a:r>
              <a:rPr sz="1800" spc="-10" dirty="0"/>
              <a:t> </a:t>
            </a:r>
            <a:r>
              <a:rPr sz="1800" spc="80" dirty="0"/>
              <a:t>the</a:t>
            </a:r>
            <a:r>
              <a:rPr sz="1800" spc="-5" dirty="0"/>
              <a:t> </a:t>
            </a:r>
            <a:r>
              <a:rPr sz="1800" spc="45" dirty="0"/>
              <a:t>ability</a:t>
            </a:r>
            <a:r>
              <a:rPr sz="1800" spc="-15" dirty="0"/>
              <a:t> </a:t>
            </a:r>
            <a:r>
              <a:rPr sz="1800" spc="85" dirty="0"/>
              <a:t>of</a:t>
            </a:r>
            <a:r>
              <a:rPr sz="1800" spc="-5" dirty="0"/>
              <a:t> </a:t>
            </a:r>
            <a:r>
              <a:rPr sz="1800" spc="-50" dirty="0"/>
              <a:t>a </a:t>
            </a:r>
            <a:r>
              <a:rPr sz="1800" dirty="0"/>
              <a:t>system</a:t>
            </a:r>
            <a:r>
              <a:rPr sz="1800" spc="105" dirty="0"/>
              <a:t> </a:t>
            </a:r>
            <a:r>
              <a:rPr sz="1800" spc="100" dirty="0"/>
              <a:t>to</a:t>
            </a:r>
            <a:r>
              <a:rPr sz="1800" spc="120" dirty="0"/>
              <a:t> </a:t>
            </a:r>
            <a:r>
              <a:rPr sz="1800" dirty="0"/>
              <a:t>handle</a:t>
            </a:r>
            <a:r>
              <a:rPr sz="1800" spc="114" dirty="0"/>
              <a:t> </a:t>
            </a:r>
            <a:r>
              <a:rPr sz="1800" dirty="0"/>
              <a:t>an</a:t>
            </a:r>
            <a:r>
              <a:rPr sz="1800" spc="114" dirty="0"/>
              <a:t> </a:t>
            </a:r>
            <a:r>
              <a:rPr sz="1800" spc="-10" dirty="0"/>
              <a:t>increasing </a:t>
            </a:r>
            <a:r>
              <a:rPr sz="1800" spc="85" dirty="0"/>
              <a:t>amount</a:t>
            </a:r>
            <a:r>
              <a:rPr sz="1800" spc="-5" dirty="0"/>
              <a:t> </a:t>
            </a:r>
            <a:r>
              <a:rPr sz="1800" spc="85" dirty="0"/>
              <a:t>of</a:t>
            </a:r>
            <a:r>
              <a:rPr sz="1800" spc="-5" dirty="0"/>
              <a:t> </a:t>
            </a:r>
            <a:r>
              <a:rPr sz="1800" spc="55" dirty="0"/>
              <a:t>work,</a:t>
            </a:r>
            <a:r>
              <a:rPr sz="1800" spc="-10" dirty="0"/>
              <a:t> </a:t>
            </a:r>
            <a:r>
              <a:rPr sz="1800" spc="100" dirty="0"/>
              <a:t>or</a:t>
            </a:r>
            <a:r>
              <a:rPr sz="1800" spc="-10" dirty="0"/>
              <a:t> </a:t>
            </a:r>
            <a:r>
              <a:rPr sz="1800" dirty="0"/>
              <a:t>its</a:t>
            </a:r>
            <a:r>
              <a:rPr sz="1800" spc="-5" dirty="0"/>
              <a:t> </a:t>
            </a:r>
            <a:r>
              <a:rPr sz="1800" spc="60" dirty="0"/>
              <a:t>potential </a:t>
            </a:r>
            <a:r>
              <a:rPr sz="1800" spc="100" dirty="0"/>
              <a:t>to</a:t>
            </a:r>
            <a:r>
              <a:rPr sz="1800" spc="170" dirty="0"/>
              <a:t> </a:t>
            </a:r>
            <a:r>
              <a:rPr sz="1800" spc="10" dirty="0"/>
              <a:t>accommodate</a:t>
            </a:r>
            <a:r>
              <a:rPr sz="1800" spc="170" dirty="0"/>
              <a:t> </a:t>
            </a:r>
            <a:r>
              <a:rPr sz="1800" spc="50" dirty="0"/>
              <a:t>growth.</a:t>
            </a:r>
            <a:endParaRPr sz="1800"/>
          </a:p>
          <a:p>
            <a:pPr marL="358140" marR="5080" indent="-367030">
              <a:lnSpc>
                <a:spcPct val="114999"/>
              </a:lnSpc>
              <a:buChar char="●"/>
              <a:tabLst>
                <a:tab pos="358140" algn="l"/>
              </a:tabLst>
            </a:pPr>
            <a:r>
              <a:rPr sz="1800" spc="65" dirty="0"/>
              <a:t>It</a:t>
            </a:r>
            <a:r>
              <a:rPr sz="1800" spc="80" dirty="0"/>
              <a:t> </a:t>
            </a:r>
            <a:r>
              <a:rPr sz="1800" dirty="0"/>
              <a:t>ensures</a:t>
            </a:r>
            <a:r>
              <a:rPr sz="1800" spc="80" dirty="0"/>
              <a:t> </a:t>
            </a:r>
            <a:r>
              <a:rPr sz="1800" spc="45" dirty="0"/>
              <a:t>performance, </a:t>
            </a:r>
            <a:r>
              <a:rPr sz="1800" spc="10" dirty="0"/>
              <a:t>reliability,</a:t>
            </a:r>
            <a:r>
              <a:rPr sz="1800" spc="210" dirty="0"/>
              <a:t> </a:t>
            </a:r>
            <a:r>
              <a:rPr sz="1800" spc="55" dirty="0"/>
              <a:t>and</a:t>
            </a:r>
            <a:r>
              <a:rPr sz="1800" spc="210" dirty="0"/>
              <a:t> </a:t>
            </a:r>
            <a:r>
              <a:rPr sz="1800" spc="10" dirty="0"/>
              <a:t>availability</a:t>
            </a:r>
            <a:r>
              <a:rPr sz="1800" spc="210" dirty="0"/>
              <a:t> </a:t>
            </a:r>
            <a:r>
              <a:rPr sz="1800" spc="65" dirty="0"/>
              <a:t>under </a:t>
            </a:r>
            <a:r>
              <a:rPr sz="1800" spc="45" dirty="0"/>
              <a:t>growing</a:t>
            </a:r>
            <a:r>
              <a:rPr sz="1800" spc="-10" dirty="0"/>
              <a:t> load.</a:t>
            </a:r>
            <a:endParaRPr sz="18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4250" y="1310074"/>
            <a:ext cx="4318049" cy="35983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4672965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70" dirty="0"/>
              <a:t>Why</a:t>
            </a:r>
            <a:r>
              <a:rPr spc="-145" dirty="0"/>
              <a:t> </a:t>
            </a:r>
            <a:r>
              <a:rPr spc="-300" dirty="0"/>
              <a:t>Do</a:t>
            </a:r>
            <a:r>
              <a:rPr spc="-45" dirty="0"/>
              <a:t> </a:t>
            </a:r>
            <a:r>
              <a:rPr spc="-225" dirty="0"/>
              <a:t>Systems</a:t>
            </a:r>
            <a:r>
              <a:rPr spc="-40" dirty="0"/>
              <a:t> </a:t>
            </a:r>
            <a:r>
              <a:rPr spc="-285" dirty="0"/>
              <a:t>Need</a:t>
            </a:r>
            <a:r>
              <a:rPr spc="-45" dirty="0"/>
              <a:t> </a:t>
            </a:r>
            <a:r>
              <a:rPr spc="-235" dirty="0"/>
              <a:t>to</a:t>
            </a:r>
            <a:r>
              <a:rPr spc="-40" dirty="0"/>
              <a:t> </a:t>
            </a:r>
            <a:r>
              <a:rPr spc="-130" dirty="0"/>
              <a:t>Scale?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916045" cy="2865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User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base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growth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launching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new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regions)</a:t>
            </a:r>
            <a:endParaRPr sz="1800">
              <a:latin typeface="Arial"/>
              <a:cs typeface="Arial"/>
            </a:endParaRPr>
          </a:p>
          <a:p>
            <a:pPr marL="379095" marR="5334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Increasing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volume 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IoT,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analytics)</a:t>
            </a:r>
            <a:endParaRPr sz="1800">
              <a:latin typeface="Arial"/>
              <a:cs typeface="Arial"/>
            </a:endParaRPr>
          </a:p>
          <a:p>
            <a:pPr marL="379095" marR="3098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Peak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events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Black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Friday,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ticket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sales)</a:t>
            </a:r>
            <a:endParaRPr sz="1800">
              <a:latin typeface="Arial"/>
              <a:cs typeface="Arial"/>
            </a:endParaRPr>
          </a:p>
          <a:p>
            <a:pPr marL="379095" marR="49212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Avoid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service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degradation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or downtime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Meet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SLAs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4187" y="1344612"/>
            <a:ext cx="4227413" cy="2148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813175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54" dirty="0"/>
              <a:t>Types</a:t>
            </a:r>
            <a:r>
              <a:rPr spc="-45" dirty="0"/>
              <a:t> </a:t>
            </a:r>
            <a:r>
              <a:rPr spc="-250" dirty="0"/>
              <a:t>of</a:t>
            </a:r>
            <a:r>
              <a:rPr spc="-40" dirty="0"/>
              <a:t> </a:t>
            </a:r>
            <a:r>
              <a:rPr spc="-160" dirty="0"/>
              <a:t>Scalability</a:t>
            </a:r>
            <a:r>
              <a:rPr spc="-140" dirty="0"/>
              <a:t> </a:t>
            </a:r>
            <a:r>
              <a:rPr spc="-150" dirty="0"/>
              <a:t>(Intro)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425" y="2773698"/>
            <a:ext cx="284633" cy="26789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4725" y="1289058"/>
            <a:ext cx="3799840" cy="2070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5880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4699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Vertical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Scaling: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Add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more 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CPU/RAM</a:t>
            </a: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one</a:t>
            </a: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endParaRPr sz="1800">
              <a:latin typeface="Arial"/>
              <a:cs typeface="Arial"/>
            </a:endParaRPr>
          </a:p>
          <a:p>
            <a:pPr marL="469900" marR="241935" indent="-367030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Horizontal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Scaling: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Add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more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servers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distribute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endParaRPr sz="1800">
              <a:latin typeface="Arial"/>
              <a:cs typeface="Arial"/>
            </a:endParaRPr>
          </a:p>
          <a:p>
            <a:pPr marL="12700" marR="5080" indent="343535">
              <a:lnSpc>
                <a:spcPct val="114999"/>
              </a:lnSpc>
              <a:spcBef>
                <a:spcPts val="1200"/>
              </a:spcBef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We'll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go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deep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into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these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types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in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next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lecture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4400" y="1343573"/>
            <a:ext cx="4146110" cy="2397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50" dirty="0"/>
              <a:t>Common</a:t>
            </a:r>
            <a:r>
              <a:rPr spc="-65" dirty="0"/>
              <a:t> </a:t>
            </a:r>
            <a:r>
              <a:rPr spc="-180" dirty="0"/>
              <a:t>Challenges</a:t>
            </a:r>
            <a:r>
              <a:rPr spc="-15" dirty="0"/>
              <a:t> </a:t>
            </a:r>
            <a:r>
              <a:rPr spc="-170" dirty="0"/>
              <a:t>in</a:t>
            </a:r>
            <a:r>
              <a:rPr spc="-20" dirty="0"/>
              <a:t> </a:t>
            </a:r>
            <a:r>
              <a:rPr spc="-114" dirty="0"/>
              <a:t>Scaling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6014" y="1322250"/>
            <a:ext cx="5245735" cy="2992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8140" indent="-345440">
              <a:lnSpc>
                <a:spcPts val="1764"/>
              </a:lnSpc>
              <a:spcBef>
                <a:spcPts val="130"/>
              </a:spcBef>
              <a:buChar char="●"/>
              <a:tabLst>
                <a:tab pos="358140" algn="l"/>
              </a:tabLst>
            </a:pP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endParaRPr sz="1500">
              <a:latin typeface="Arial"/>
              <a:cs typeface="Arial"/>
            </a:endParaRPr>
          </a:p>
          <a:p>
            <a:pPr marL="815340" lvl="1" indent="-319405">
              <a:lnSpc>
                <a:spcPts val="1365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Delay</a:t>
            </a:r>
            <a:r>
              <a:rPr sz="12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2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12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2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355"/>
              </a:lnSpc>
              <a:buChar char="○"/>
              <a:tabLst>
                <a:tab pos="815340" algn="l"/>
              </a:tabLst>
            </a:pPr>
            <a:r>
              <a:rPr sz="1200" spc="-30" dirty="0">
                <a:solidFill>
                  <a:srgbClr val="685D46"/>
                </a:solidFill>
                <a:latin typeface="Arial"/>
                <a:cs typeface="Arial"/>
              </a:rPr>
              <a:t>Causes: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network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hops,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slow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DB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queries,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synchronous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calls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360"/>
              </a:lnSpc>
              <a:buChar char="○"/>
              <a:tabLst>
                <a:tab pos="815340" algn="l"/>
              </a:tabLst>
            </a:pP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Ampliﬁed</a:t>
            </a:r>
            <a:r>
              <a:rPr sz="12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2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microservices/distributed</a:t>
            </a:r>
            <a:r>
              <a:rPr sz="12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systems</a:t>
            </a:r>
            <a:endParaRPr sz="1200">
              <a:latin typeface="Arial"/>
              <a:cs typeface="Arial"/>
            </a:endParaRPr>
          </a:p>
          <a:p>
            <a:pPr marL="358140" indent="-345440">
              <a:lnSpc>
                <a:spcPts val="1730"/>
              </a:lnSpc>
              <a:buChar char="●"/>
              <a:tabLst>
                <a:tab pos="358140" algn="l"/>
              </a:tabLst>
            </a:pP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Bottlenecks</a:t>
            </a:r>
            <a:endParaRPr sz="1500">
              <a:latin typeface="Arial"/>
              <a:cs typeface="Arial"/>
            </a:endParaRPr>
          </a:p>
          <a:p>
            <a:pPr marL="815340" lvl="1" indent="-319405">
              <a:lnSpc>
                <a:spcPts val="1365"/>
              </a:lnSpc>
              <a:buChar char="○"/>
              <a:tabLst>
                <a:tab pos="815340" algn="l"/>
              </a:tabLst>
            </a:pP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One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slow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component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system-wide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slowdown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355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Examples: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DB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locks,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memory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limits,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single-threaded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processing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360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Hard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to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predict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as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grows</a:t>
            </a:r>
            <a:endParaRPr sz="1200">
              <a:latin typeface="Arial"/>
              <a:cs typeface="Arial"/>
            </a:endParaRPr>
          </a:p>
          <a:p>
            <a:pPr marL="358140" indent="-345440">
              <a:lnSpc>
                <a:spcPts val="1730"/>
              </a:lnSpc>
              <a:buChar char="●"/>
              <a:tabLst>
                <a:tab pos="358140" algn="l"/>
              </a:tabLst>
            </a:pP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Downtime</a:t>
            </a:r>
            <a:endParaRPr sz="1500">
              <a:latin typeface="Arial"/>
              <a:cs typeface="Arial"/>
            </a:endParaRPr>
          </a:p>
          <a:p>
            <a:pPr marL="815340" lvl="1" indent="-319405">
              <a:lnSpc>
                <a:spcPts val="1365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More</a:t>
            </a:r>
            <a:r>
              <a:rPr sz="12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nodes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sz="12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more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failure</a:t>
            </a:r>
            <a:r>
              <a:rPr sz="12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points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355"/>
              </a:lnSpc>
              <a:buChar char="○"/>
              <a:tabLst>
                <a:tab pos="815340" algn="l"/>
              </a:tabLst>
            </a:pP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Updates,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redeployments,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events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cause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outages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360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High</a:t>
            </a:r>
            <a:r>
              <a:rPr sz="12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availability</a:t>
            </a:r>
            <a:r>
              <a:rPr sz="12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becomes</a:t>
            </a:r>
            <a:r>
              <a:rPr sz="12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harder</a:t>
            </a:r>
            <a:endParaRPr sz="1200">
              <a:latin typeface="Arial"/>
              <a:cs typeface="Arial"/>
            </a:endParaRPr>
          </a:p>
          <a:p>
            <a:pPr marL="358140" indent="-345440">
              <a:lnSpc>
                <a:spcPts val="1730"/>
              </a:lnSpc>
              <a:buChar char="●"/>
              <a:tabLst>
                <a:tab pos="358140" algn="l"/>
              </a:tabLst>
            </a:pPr>
            <a:r>
              <a:rPr sz="1500" spc="-20" dirty="0">
                <a:solidFill>
                  <a:srgbClr val="685D46"/>
                </a:solidFill>
                <a:latin typeface="Arial"/>
                <a:cs typeface="Arial"/>
              </a:rPr>
              <a:t>Cost</a:t>
            </a:r>
            <a:endParaRPr sz="1500">
              <a:latin typeface="Arial"/>
              <a:cs typeface="Arial"/>
            </a:endParaRPr>
          </a:p>
          <a:p>
            <a:pPr marL="815340" lvl="1" indent="-319405">
              <a:lnSpc>
                <a:spcPts val="1365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Infrastructure</a:t>
            </a:r>
            <a:r>
              <a:rPr sz="12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isn’t</a:t>
            </a:r>
            <a:r>
              <a:rPr sz="12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free</a:t>
            </a:r>
            <a:r>
              <a:rPr sz="12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—</a:t>
            </a:r>
            <a:r>
              <a:rPr sz="12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685D46"/>
                </a:solidFill>
                <a:latin typeface="Arial"/>
                <a:cs typeface="Arial"/>
              </a:rPr>
              <a:t>CPU,</a:t>
            </a:r>
            <a:r>
              <a:rPr sz="12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685D46"/>
                </a:solidFill>
                <a:latin typeface="Arial"/>
                <a:cs typeface="Arial"/>
              </a:rPr>
              <a:t>RAM,</a:t>
            </a:r>
            <a:r>
              <a:rPr sz="12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bandwidth,</a:t>
            </a:r>
            <a:r>
              <a:rPr sz="12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etc.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355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Autoscaling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without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limits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budget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nightmare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400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Over-provisioning</a:t>
            </a:r>
            <a:r>
              <a:rPr sz="12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sz="12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wasted</a:t>
            </a:r>
            <a:r>
              <a:rPr sz="12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spend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15" dirty="0"/>
              <a:t>Interview</a:t>
            </a:r>
            <a:r>
              <a:rPr spc="-130" dirty="0"/>
              <a:t> </a:t>
            </a:r>
            <a:r>
              <a:rPr spc="-229" dirty="0"/>
              <a:t>Questions</a:t>
            </a:r>
            <a:r>
              <a:rPr spc="-165" dirty="0"/>
              <a:t> </a:t>
            </a:r>
            <a:r>
              <a:rPr spc="-10" dirty="0"/>
              <a:t>-</a:t>
            </a:r>
            <a:r>
              <a:rPr spc="-245" dirty="0"/>
              <a:t> </a:t>
            </a:r>
            <a:r>
              <a:rPr spc="-120" dirty="0"/>
              <a:t>Scaling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708265" cy="223393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mean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context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design?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world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example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where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was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critical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to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success</a:t>
            </a: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failure?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main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systems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face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as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scale?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identify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bottleneck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scalable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increase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scale,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mitigate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it?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balance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cost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in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cloud-based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systems?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55346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90" dirty="0"/>
              <a:t>Summary</a:t>
            </a:r>
            <a:r>
              <a:rPr spc="-155" dirty="0"/>
              <a:t> </a:t>
            </a:r>
            <a:r>
              <a:rPr spc="-90" dirty="0"/>
              <a:t>&amp;</a:t>
            </a:r>
            <a:r>
              <a:rPr spc="-114" dirty="0"/>
              <a:t> </a:t>
            </a:r>
            <a:r>
              <a:rPr spc="-325" dirty="0"/>
              <a:t>What’s</a:t>
            </a:r>
            <a:r>
              <a:rPr spc="-45" dirty="0"/>
              <a:t> </a:t>
            </a:r>
            <a:r>
              <a:rPr spc="-150" dirty="0"/>
              <a:t>Next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8100059" cy="178943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helps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systems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grow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without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breaking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Two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main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types: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vertical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horizontal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But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introduces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latency, cost,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other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risks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marL="836294" marR="5080" lvl="1" indent="-336550">
              <a:lnSpc>
                <a:spcPct val="114999"/>
              </a:lnSpc>
              <a:spcBef>
                <a:spcPts val="90"/>
              </a:spcBef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Strategies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—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to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actually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implement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horizontal,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vertical,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diagonal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scaling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4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trade-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oﬀs</a:t>
            </a:r>
            <a:r>
              <a:rPr sz="1400" spc="1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1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sz="1400" spc="1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choices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354</Words>
  <Application>Microsoft Office PowerPoint</Application>
  <PresentationFormat>On-screen Show (16:9)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Introduction to Scalability</vt:lpstr>
      <vt:lpstr>What is Scalability?</vt:lpstr>
      <vt:lpstr>Why Do Systems Need to Scale?</vt:lpstr>
      <vt:lpstr>Types of Scalability (Intro)</vt:lpstr>
      <vt:lpstr>Common Challenges in Scaling</vt:lpstr>
      <vt:lpstr>Interview Questions - Scaling</vt:lpstr>
      <vt:lpstr>Summary &amp; What’s Next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Design - Section 6</dc:title>
  <cp:lastModifiedBy>RAVI GV</cp:lastModifiedBy>
  <cp:revision>1</cp:revision>
  <dcterms:created xsi:type="dcterms:W3CDTF">2025-11-26T16:01:40Z</dcterms:created>
  <dcterms:modified xsi:type="dcterms:W3CDTF">2025-11-26T16:36:34Z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2025-11-26T00:00:00Z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2025-11-26T00:00:00Z</vt:filetime>
  </property>
</Properties>
</file>