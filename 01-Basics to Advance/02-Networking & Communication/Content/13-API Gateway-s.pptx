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5396" y="2146606"/>
            <a:ext cx="6913206" cy="539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805688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352" y="1323759"/>
            <a:ext cx="8220075" cy="3021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95755">
              <a:lnSpc>
                <a:spcPct val="100000"/>
              </a:lnSpc>
              <a:spcBef>
                <a:spcPts val="110"/>
              </a:spcBef>
            </a:pPr>
            <a:r>
              <a:rPr sz="3350" spc="-345" dirty="0"/>
              <a:t>What</a:t>
            </a:r>
            <a:r>
              <a:rPr sz="3350" spc="-65" dirty="0"/>
              <a:t> </a:t>
            </a:r>
            <a:r>
              <a:rPr sz="3350" spc="-120" dirty="0"/>
              <a:t>is</a:t>
            </a:r>
            <a:r>
              <a:rPr sz="3350" spc="-60" dirty="0"/>
              <a:t> </a:t>
            </a:r>
            <a:r>
              <a:rPr sz="3350" spc="-295" dirty="0"/>
              <a:t>an</a:t>
            </a:r>
            <a:r>
              <a:rPr sz="3350" spc="-175" dirty="0"/>
              <a:t> </a:t>
            </a:r>
            <a:r>
              <a:rPr sz="3350" spc="-225" dirty="0"/>
              <a:t>API</a:t>
            </a:r>
            <a:r>
              <a:rPr sz="3350" spc="-105" dirty="0"/>
              <a:t> </a:t>
            </a:r>
            <a:r>
              <a:rPr sz="3350" spc="-325" dirty="0"/>
              <a:t>Gateway?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417245" y="2910872"/>
            <a:ext cx="4305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5" dirty="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14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15" dirty="0"/>
              <a:t>Introduction</a:t>
            </a:r>
            <a:r>
              <a:rPr sz="3200" spc="-25" dirty="0"/>
              <a:t> </a:t>
            </a:r>
            <a:r>
              <a:rPr sz="3200" spc="-229" dirty="0"/>
              <a:t>to</a:t>
            </a:r>
            <a:r>
              <a:rPr sz="3200" spc="-135" dirty="0"/>
              <a:t> </a:t>
            </a:r>
            <a:r>
              <a:rPr sz="3200" spc="-200" dirty="0"/>
              <a:t>API</a:t>
            </a:r>
            <a:r>
              <a:rPr sz="3200" spc="-65" dirty="0"/>
              <a:t> </a:t>
            </a:r>
            <a:r>
              <a:rPr sz="3200" spc="-290" dirty="0"/>
              <a:t>Gateways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5677" y="1318204"/>
            <a:ext cx="3979545" cy="2956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935" marR="44450" indent="-356870">
              <a:lnSpc>
                <a:spcPct val="106000"/>
              </a:lnSpc>
              <a:spcBef>
                <a:spcPts val="95"/>
              </a:spcBef>
              <a:buChar char="●"/>
              <a:tabLst>
                <a:tab pos="368935" algn="l"/>
              </a:tabLst>
            </a:pP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6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architecture,</a:t>
            </a:r>
            <a:r>
              <a:rPr sz="16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25" dirty="0">
                <a:solidFill>
                  <a:srgbClr val="685D46"/>
                </a:solidFill>
                <a:latin typeface="Arial"/>
                <a:cs typeface="Arial"/>
              </a:rPr>
              <a:t>APIs 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connect</a:t>
            </a:r>
            <a:r>
              <a:rPr sz="16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(web,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mobile,</a:t>
            </a:r>
            <a:endParaRPr sz="1650">
              <a:latin typeface="Arial"/>
              <a:cs typeface="Arial"/>
            </a:endParaRPr>
          </a:p>
          <a:p>
            <a:pPr marL="368935" marR="806450">
              <a:lnSpc>
                <a:spcPct val="106000"/>
              </a:lnSpc>
            </a:pPr>
            <a:r>
              <a:rPr sz="1650" spc="70" dirty="0">
                <a:solidFill>
                  <a:srgbClr val="685D46"/>
                </a:solidFill>
                <a:latin typeface="Arial"/>
                <a:cs typeface="Arial"/>
              </a:rPr>
              <a:t>third-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party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apps)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backend services.</a:t>
            </a:r>
            <a:endParaRPr sz="1650">
              <a:latin typeface="Arial"/>
              <a:cs typeface="Arial"/>
            </a:endParaRPr>
          </a:p>
          <a:p>
            <a:pPr marL="368935" marR="187960" indent="-356870">
              <a:lnSpc>
                <a:spcPct val="106000"/>
              </a:lnSpc>
              <a:buChar char="●"/>
              <a:tabLst>
                <a:tab pos="368935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Directly</a:t>
            </a:r>
            <a:r>
              <a:rPr sz="1650" spc="1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exposing</a:t>
            </a:r>
            <a:r>
              <a:rPr sz="1650" spc="1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sz="1650" spc="1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services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6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lead</a:t>
            </a:r>
            <a:r>
              <a:rPr sz="16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6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performance,</a:t>
            </a:r>
            <a:r>
              <a:rPr sz="16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security,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 challenges.</a:t>
            </a:r>
            <a:endParaRPr sz="1650">
              <a:latin typeface="Arial"/>
              <a:cs typeface="Arial"/>
            </a:endParaRPr>
          </a:p>
          <a:p>
            <a:pPr marL="368935" marR="5080" indent="-356870">
              <a:lnSpc>
                <a:spcPct val="106000"/>
              </a:lnSpc>
              <a:buChar char="●"/>
              <a:tabLst>
                <a:tab pos="368935" algn="l"/>
              </a:tabLst>
            </a:pPr>
            <a:r>
              <a:rPr sz="1650" spc="-45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sz="1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centralized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entry </a:t>
            </a:r>
            <a:r>
              <a:rPr sz="1650" spc="85" dirty="0">
                <a:solidFill>
                  <a:srgbClr val="685D46"/>
                </a:solidFill>
                <a:latin typeface="Arial"/>
                <a:cs typeface="Arial"/>
              </a:rPr>
              <a:t>point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all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45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requests,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handling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authentication,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routing,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caching,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security.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8520" y="1304825"/>
            <a:ext cx="4113079" cy="25815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70" dirty="0"/>
              <a:t>How</a:t>
            </a:r>
            <a:r>
              <a:rPr sz="3200" spc="-220" dirty="0"/>
              <a:t> </a:t>
            </a:r>
            <a:r>
              <a:rPr sz="3200" spc="-200" dirty="0"/>
              <a:t>API</a:t>
            </a:r>
            <a:r>
              <a:rPr sz="3200" spc="-85" dirty="0"/>
              <a:t> </a:t>
            </a:r>
            <a:r>
              <a:rPr sz="3200" spc="-280" dirty="0"/>
              <a:t>Gateways</a:t>
            </a:r>
            <a:r>
              <a:rPr sz="3200" spc="-110" dirty="0"/>
              <a:t> </a:t>
            </a:r>
            <a:r>
              <a:rPr sz="3200" spc="-350" dirty="0"/>
              <a:t>Work?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729354" cy="318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196215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acts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reverse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between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sz="1800" spc="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services.</a:t>
            </a:r>
            <a:endParaRPr sz="1800">
              <a:latin typeface="Arial"/>
              <a:cs typeface="Arial"/>
            </a:endParaRPr>
          </a:p>
          <a:p>
            <a:pPr marL="379095" marR="12128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receives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requests,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processes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them,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forwards 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them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correct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service.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functions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include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request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transformation,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authentication,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limiting,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response handling.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2531" y="1266320"/>
            <a:ext cx="4933946" cy="20382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25" dirty="0"/>
              <a:t>Beneﬁts</a:t>
            </a:r>
            <a:r>
              <a:rPr sz="3200" spc="-35" dirty="0"/>
              <a:t> </a:t>
            </a:r>
            <a:r>
              <a:rPr sz="3200" spc="-250" dirty="0"/>
              <a:t>of</a:t>
            </a:r>
            <a:r>
              <a:rPr sz="3200" spc="-35" dirty="0"/>
              <a:t> </a:t>
            </a:r>
            <a:r>
              <a:rPr sz="3200" spc="-200" dirty="0"/>
              <a:t>Using</a:t>
            </a:r>
            <a:r>
              <a:rPr sz="3200" spc="-30" dirty="0"/>
              <a:t> </a:t>
            </a:r>
            <a:r>
              <a:rPr sz="3200" spc="-265" dirty="0"/>
              <a:t>an</a:t>
            </a:r>
            <a:r>
              <a:rPr sz="3200" spc="-145" dirty="0"/>
              <a:t> </a:t>
            </a:r>
            <a:r>
              <a:rPr sz="3200" spc="-200" dirty="0"/>
              <a:t>API</a:t>
            </a:r>
            <a:r>
              <a:rPr sz="3200" spc="-75" dirty="0"/>
              <a:t> </a:t>
            </a:r>
            <a:r>
              <a:rPr sz="3200" spc="-300" dirty="0"/>
              <a:t>Gateway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5677" y="1320742"/>
            <a:ext cx="3915410" cy="293116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368935" marR="100965" indent="-356870">
              <a:lnSpc>
                <a:spcPts val="1900"/>
              </a:lnSpc>
              <a:spcBef>
                <a:spcPts val="244"/>
              </a:spcBef>
              <a:buChar char="●"/>
              <a:tabLst>
                <a:tab pos="368935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Security:</a:t>
            </a:r>
            <a:r>
              <a:rPr sz="16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Protects</a:t>
            </a:r>
            <a:r>
              <a:rPr sz="16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sz="16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services </a:t>
            </a:r>
            <a:r>
              <a:rPr sz="1650" spc="110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65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direct</a:t>
            </a:r>
            <a:r>
              <a:rPr sz="165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exposure.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ts val="1805"/>
              </a:lnSpc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Limiting: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Prevents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abuse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&amp;</a:t>
            </a:r>
            <a:endParaRPr sz="1650">
              <a:latin typeface="Arial"/>
              <a:cs typeface="Arial"/>
            </a:endParaRPr>
          </a:p>
          <a:p>
            <a:pPr marL="368935">
              <a:lnSpc>
                <a:spcPts val="1900"/>
              </a:lnSpc>
            </a:pP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sz="1650" spc="-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attacks.</a:t>
            </a:r>
            <a:endParaRPr sz="1650">
              <a:latin typeface="Arial"/>
              <a:cs typeface="Arial"/>
            </a:endParaRPr>
          </a:p>
          <a:p>
            <a:pPr marL="368935" marR="230504" indent="-356870">
              <a:lnSpc>
                <a:spcPts val="1900"/>
              </a:lnSpc>
              <a:spcBef>
                <a:spcPts val="90"/>
              </a:spcBef>
              <a:buChar char="●"/>
              <a:tabLst>
                <a:tab pos="368935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6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Balancing:</a:t>
            </a:r>
            <a:r>
              <a:rPr sz="16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Distributes</a:t>
            </a:r>
            <a:r>
              <a:rPr sz="1650" spc="90" dirty="0">
                <a:solidFill>
                  <a:srgbClr val="685D46"/>
                </a:solidFill>
                <a:latin typeface="Arial"/>
                <a:cs typeface="Arial"/>
              </a:rPr>
              <a:t> traﬃc 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eﬃciently.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ts val="1805"/>
              </a:lnSpc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Caching: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Speeds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up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times.</a:t>
            </a:r>
            <a:endParaRPr sz="1650">
              <a:latin typeface="Arial"/>
              <a:cs typeface="Arial"/>
            </a:endParaRPr>
          </a:p>
          <a:p>
            <a:pPr marL="368935" marR="161925" indent="-356870">
              <a:lnSpc>
                <a:spcPts val="1900"/>
              </a:lnSpc>
              <a:spcBef>
                <a:spcPts val="85"/>
              </a:spcBef>
              <a:buChar char="●"/>
              <a:tabLst>
                <a:tab pos="368935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Transformation: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Converts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formats,</a:t>
            </a:r>
            <a:r>
              <a:rPr sz="16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protocols,</a:t>
            </a:r>
            <a:r>
              <a:rPr sz="16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headers.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ts val="1805"/>
              </a:lnSpc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Logging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1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Monitoring: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Tracks</a:t>
            </a:r>
            <a:r>
              <a:rPr sz="165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25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endParaRPr sz="1650">
              <a:latin typeface="Arial"/>
              <a:cs typeface="Arial"/>
            </a:endParaRPr>
          </a:p>
          <a:p>
            <a:pPr marL="368935">
              <a:lnSpc>
                <a:spcPts val="1939"/>
              </a:lnSpc>
            </a:pPr>
            <a:r>
              <a:rPr sz="1650" spc="70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events.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8520" y="1304825"/>
            <a:ext cx="4113079" cy="25815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04" dirty="0"/>
              <a:t>Security</a:t>
            </a:r>
            <a:r>
              <a:rPr sz="3200" spc="-130" dirty="0"/>
              <a:t> </a:t>
            </a:r>
            <a:r>
              <a:rPr sz="3200" spc="-210" dirty="0"/>
              <a:t>Features</a:t>
            </a:r>
            <a:r>
              <a:rPr sz="3200" spc="-15" dirty="0"/>
              <a:t> </a:t>
            </a:r>
            <a:r>
              <a:rPr sz="3200" spc="-165" dirty="0"/>
              <a:t>in</a:t>
            </a:r>
            <a:r>
              <a:rPr sz="3200" spc="-140" dirty="0"/>
              <a:t> </a:t>
            </a:r>
            <a:r>
              <a:rPr sz="3200" spc="-200" dirty="0"/>
              <a:t>API</a:t>
            </a:r>
            <a:r>
              <a:rPr sz="3200" spc="-60" dirty="0"/>
              <a:t> </a:t>
            </a:r>
            <a:r>
              <a:rPr sz="3200" spc="-290" dirty="0"/>
              <a:t>Gateways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589520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Authorization: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Supports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OAuth,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70" dirty="0">
                <a:solidFill>
                  <a:srgbClr val="685D46"/>
                </a:solidFill>
                <a:latin typeface="Arial"/>
                <a:cs typeface="Arial"/>
              </a:rPr>
              <a:t>JWT,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keys.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Protection: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Blocks</a:t>
            </a:r>
            <a:r>
              <a:rPr sz="18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excessive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malicious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sources.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Bot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Protection: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limiting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10" dirty="0">
                <a:solidFill>
                  <a:srgbClr val="685D46"/>
                </a:solidFill>
                <a:latin typeface="Arial"/>
                <a:cs typeface="Arial"/>
              </a:rPr>
              <a:t>CAPTCHA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ﬁlter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out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bot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traﬃc.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145" dirty="0">
                <a:solidFill>
                  <a:srgbClr val="685D46"/>
                </a:solidFill>
                <a:latin typeface="Arial"/>
                <a:cs typeface="Arial"/>
              </a:rPr>
              <a:t>TLS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Termination: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Handles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80" dirty="0">
                <a:solidFill>
                  <a:srgbClr val="685D46"/>
                </a:solidFill>
                <a:latin typeface="Arial"/>
                <a:cs typeface="Arial"/>
              </a:rPr>
              <a:t>SSL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encryption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20" dirty="0"/>
              <a:t>Rate</a:t>
            </a:r>
            <a:r>
              <a:rPr sz="3200" spc="-30" dirty="0"/>
              <a:t> </a:t>
            </a:r>
            <a:r>
              <a:rPr sz="3200" spc="-155" dirty="0"/>
              <a:t>Limiting</a:t>
            </a:r>
            <a:r>
              <a:rPr sz="3200" spc="-25" dirty="0"/>
              <a:t> </a:t>
            </a:r>
            <a:r>
              <a:rPr sz="3200" spc="-90" dirty="0"/>
              <a:t>&amp;</a:t>
            </a:r>
            <a:r>
              <a:rPr sz="3200" spc="-135" dirty="0"/>
              <a:t> </a:t>
            </a:r>
            <a:r>
              <a:rPr sz="3200" spc="-140" dirty="0"/>
              <a:t>Throttling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042275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1066165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Limiting: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Restricts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number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calls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per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user/IP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per second/minute.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Throttling: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Controls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during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peak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loads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avoid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crashes.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prevent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abuse,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protects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services,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ensures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fair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usage.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04" dirty="0"/>
              <a:t>Caching</a:t>
            </a:r>
            <a:r>
              <a:rPr sz="3200" spc="-20" dirty="0"/>
              <a:t> </a:t>
            </a:r>
            <a:r>
              <a:rPr sz="3200" spc="-215" dirty="0"/>
              <a:t>for</a:t>
            </a:r>
            <a:r>
              <a:rPr sz="3200" spc="-20" dirty="0"/>
              <a:t> </a:t>
            </a:r>
            <a:r>
              <a:rPr sz="3200" spc="-254" dirty="0"/>
              <a:t>Performance</a:t>
            </a:r>
            <a:r>
              <a:rPr sz="3200" spc="-60" dirty="0"/>
              <a:t> </a:t>
            </a:r>
            <a:r>
              <a:rPr sz="3200" spc="-195" dirty="0"/>
              <a:t>Optimization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933055" cy="1719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Caching?: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Speeds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up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responses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storing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frequently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accessed data.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Types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-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Caching: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In-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memory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Redis)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(storing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responses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quick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reuse)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Edge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685D46"/>
                </a:solidFill>
                <a:latin typeface="Arial"/>
                <a:cs typeface="Arial"/>
              </a:rPr>
              <a:t>(CDN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integration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global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boost)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00" dirty="0"/>
              <a:t>API</a:t>
            </a:r>
            <a:r>
              <a:rPr sz="3200" spc="-60" dirty="0"/>
              <a:t> </a:t>
            </a:r>
            <a:r>
              <a:rPr sz="3200" spc="-245" dirty="0"/>
              <a:t>Composition</a:t>
            </a:r>
            <a:r>
              <a:rPr sz="3200" spc="-20" dirty="0"/>
              <a:t> </a:t>
            </a:r>
            <a:r>
              <a:rPr sz="3200" spc="-90" dirty="0"/>
              <a:t>&amp;</a:t>
            </a:r>
            <a:r>
              <a:rPr sz="3200" spc="-130" dirty="0"/>
              <a:t> </a:t>
            </a:r>
            <a:r>
              <a:rPr sz="3200" spc="-180" dirty="0"/>
              <a:t>Aggregation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112759" cy="17894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Gateways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combine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calls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into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request.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Useful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one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may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need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services.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of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calling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/user,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/orders,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/cart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separately,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calls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all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3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internally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returns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response.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40"/>
              </a:spcBef>
            </a:pPr>
            <a:r>
              <a:rPr sz="3200" spc="-140" dirty="0"/>
              <a:t>Logging</a:t>
            </a:r>
            <a:r>
              <a:rPr sz="3200" spc="-45" dirty="0"/>
              <a:t> </a:t>
            </a:r>
            <a:r>
              <a:rPr sz="3200" dirty="0"/>
              <a:t>&amp;</a:t>
            </a:r>
            <a:r>
              <a:rPr sz="3200" spc="-45" dirty="0"/>
              <a:t> </a:t>
            </a:r>
            <a:r>
              <a:rPr sz="3200" spc="-250" dirty="0"/>
              <a:t>Monitoring</a:t>
            </a:r>
            <a:r>
              <a:rPr sz="3200" spc="-85" dirty="0"/>
              <a:t> </a:t>
            </a:r>
            <a:r>
              <a:rPr sz="3200" spc="-245" dirty="0"/>
              <a:t>with</a:t>
            </a:r>
            <a:r>
              <a:rPr sz="3200" spc="-155" dirty="0"/>
              <a:t> </a:t>
            </a:r>
            <a:r>
              <a:rPr sz="3200" spc="-200" dirty="0"/>
              <a:t>API</a:t>
            </a:r>
            <a:r>
              <a:rPr sz="3200" spc="-85" dirty="0"/>
              <a:t> </a:t>
            </a:r>
            <a:r>
              <a:rPr sz="3200" spc="-290" dirty="0"/>
              <a:t>Gateways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205470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track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performance,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errors,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threats.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Logs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debugging,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auditing,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analytics.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Supports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integrations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tools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Prometheus,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Grafana,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35" dirty="0">
                <a:solidFill>
                  <a:srgbClr val="685D46"/>
                </a:solidFill>
                <a:latin typeface="Arial"/>
                <a:cs typeface="Arial"/>
              </a:rPr>
              <a:t>ELK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Stack.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29" dirty="0"/>
              <a:t>Popular</a:t>
            </a:r>
            <a:r>
              <a:rPr sz="3200" spc="-145" dirty="0"/>
              <a:t> </a:t>
            </a:r>
            <a:r>
              <a:rPr sz="3200" spc="-200" dirty="0"/>
              <a:t>API</a:t>
            </a:r>
            <a:r>
              <a:rPr sz="3200" spc="-75" dirty="0"/>
              <a:t> </a:t>
            </a:r>
            <a:r>
              <a:rPr sz="3200" spc="-290" dirty="0"/>
              <a:t>Gateway</a:t>
            </a:r>
            <a:r>
              <a:rPr sz="3200" spc="-125" dirty="0"/>
              <a:t> </a:t>
            </a:r>
            <a:r>
              <a:rPr sz="3200" spc="-210" dirty="0"/>
              <a:t>Implementations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2856865" cy="21545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Open-source</a:t>
            </a:r>
            <a:r>
              <a:rPr sz="1800" spc="3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solutions: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Kong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NGINX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Traeﬁk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Cloud-based</a:t>
            </a:r>
            <a:r>
              <a:rPr sz="1800" spc="2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solutions: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95" dirty="0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Google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Apigee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Azure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40" dirty="0"/>
              <a:t>When</a:t>
            </a:r>
            <a:r>
              <a:rPr sz="3200" spc="-50" dirty="0"/>
              <a:t> </a:t>
            </a:r>
            <a:r>
              <a:rPr sz="3200" spc="-235" dirty="0"/>
              <a:t>to</a:t>
            </a:r>
            <a:r>
              <a:rPr sz="3200" spc="-45" dirty="0"/>
              <a:t> </a:t>
            </a:r>
            <a:r>
              <a:rPr sz="3200" spc="-270" dirty="0"/>
              <a:t>Use</a:t>
            </a:r>
            <a:r>
              <a:rPr sz="3200" spc="-50" dirty="0"/>
              <a:t> </a:t>
            </a:r>
            <a:r>
              <a:rPr sz="3200" spc="-265" dirty="0"/>
              <a:t>an</a:t>
            </a:r>
            <a:r>
              <a:rPr sz="3200" spc="-160" dirty="0"/>
              <a:t> </a:t>
            </a:r>
            <a:r>
              <a:rPr sz="3200" spc="-200" dirty="0"/>
              <a:t>API</a:t>
            </a:r>
            <a:r>
              <a:rPr sz="3200" spc="-85" dirty="0"/>
              <a:t> </a:t>
            </a:r>
            <a:r>
              <a:rPr sz="3200" spc="-295" dirty="0"/>
              <a:t>Gateway?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5201920" cy="19088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suited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for: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400" spc="2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architectures.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Multi-client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sz="14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(Web,</a:t>
            </a:r>
            <a:r>
              <a:rPr sz="14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Mobile,</a:t>
            </a:r>
            <a:r>
              <a:rPr sz="14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IoT).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requiring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security,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limiting,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monitoring.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Avoid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if: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Simple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monolithic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apps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minimal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exposure.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Low-traﬃc,</a:t>
            </a:r>
            <a:r>
              <a:rPr sz="1400" spc="4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internal-only</a:t>
            </a:r>
            <a:r>
              <a:rPr sz="1400" spc="459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services.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00" dirty="0"/>
              <a:t>API</a:t>
            </a:r>
            <a:r>
              <a:rPr sz="3200" spc="-85" dirty="0"/>
              <a:t> </a:t>
            </a:r>
            <a:r>
              <a:rPr sz="3200" spc="-290" dirty="0"/>
              <a:t>Gateway</a:t>
            </a:r>
            <a:r>
              <a:rPr sz="3200" spc="-270" dirty="0"/>
              <a:t> </a:t>
            </a:r>
            <a:r>
              <a:rPr sz="3200" spc="-10" dirty="0"/>
              <a:t>-</a:t>
            </a:r>
            <a:r>
              <a:rPr sz="3200" spc="-254" dirty="0"/>
              <a:t> </a:t>
            </a:r>
            <a:r>
              <a:rPr sz="3200" spc="-215" dirty="0"/>
              <a:t>Interview</a:t>
            </a:r>
            <a:r>
              <a:rPr sz="3200" spc="-140" dirty="0"/>
              <a:t> </a:t>
            </a:r>
            <a:r>
              <a:rPr sz="3200" spc="-204" dirty="0"/>
              <a:t>Questions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7915275" cy="3052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ts val="2125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Basic</a:t>
            </a:r>
            <a:r>
              <a:rPr sz="1800" spc="-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Gateway,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used?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diﬀer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Balancer?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8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the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beneﬁts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Gateway?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2065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Technical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authorization?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limiting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throttling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Gateways.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implemented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Gateway?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8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against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attacks?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2065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Scenario-Based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large-scale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millions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users?</a:t>
            </a:r>
            <a:endParaRPr sz="1400">
              <a:latin typeface="Arial"/>
              <a:cs typeface="Arial"/>
            </a:endParaRPr>
          </a:p>
          <a:p>
            <a:pPr marL="836294" marR="9525" lvl="1" indent="-336550">
              <a:lnSpc>
                <a:spcPts val="1600"/>
              </a:lnSpc>
              <a:spcBef>
                <a:spcPts val="7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might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arise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implementing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Gateway,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you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address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them?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20" dirty="0"/>
              <a:t>Conclusion</a:t>
            </a:r>
            <a:r>
              <a:rPr sz="3200" spc="-55" dirty="0"/>
              <a:t> </a:t>
            </a:r>
            <a:r>
              <a:rPr sz="3200" dirty="0"/>
              <a:t>&amp;</a:t>
            </a:r>
            <a:r>
              <a:rPr sz="3200" spc="-50" dirty="0"/>
              <a:t> </a:t>
            </a:r>
            <a:r>
              <a:rPr sz="3200" spc="-240" dirty="0"/>
              <a:t>Key</a:t>
            </a:r>
            <a:r>
              <a:rPr sz="3200" spc="-250" dirty="0"/>
              <a:t> </a:t>
            </a:r>
            <a:r>
              <a:rPr sz="3200" spc="-285" dirty="0"/>
              <a:t>Takeaways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211059" cy="18592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centralized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entry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point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managing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traﬃc.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Provides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security,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limiting,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caching,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logging.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Useful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high-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Choosing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right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depends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case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scale.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Whats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400" spc="1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Delivery</a:t>
            </a:r>
            <a:r>
              <a:rPr sz="1400" spc="1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Networks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5D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686</Words>
  <Application>Microsoft Office PowerPoint</Application>
  <PresentationFormat>On-screen Show (16:9)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What is an API Gateway?</vt:lpstr>
      <vt:lpstr>Introduction to API Gateways</vt:lpstr>
      <vt:lpstr>How API Gateways Work?</vt:lpstr>
      <vt:lpstr>Beneﬁts of Using an API Gateway</vt:lpstr>
      <vt:lpstr>Security Features in API Gateways</vt:lpstr>
      <vt:lpstr>Rate Limiting &amp; Throttling</vt:lpstr>
      <vt:lpstr>Caching for Performance Optimization</vt:lpstr>
      <vt:lpstr>API Composition &amp; Aggregation</vt:lpstr>
      <vt:lpstr>Logging &amp; Monitoring with API Gateways</vt:lpstr>
      <vt:lpstr>Popular API Gateway Implementations</vt:lpstr>
      <vt:lpstr>When to Use an API Gateway?</vt:lpstr>
      <vt:lpstr>API Gateway - Interview Questions</vt:lpstr>
      <vt:lpstr>Conclusion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2</dc:title>
  <cp:lastModifiedBy>RAVI GV</cp:lastModifiedBy>
  <cp:revision>1</cp:revision>
  <dcterms:created xsi:type="dcterms:W3CDTF">2025-11-15T06:20:52Z</dcterms:created>
  <dcterms:modified xsi:type="dcterms:W3CDTF">2025-11-15T06:33:40Z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