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9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6962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10"/>
              </a:spcBef>
            </a:pPr>
            <a:r>
              <a:rPr sz="2950" spc="-245" dirty="0"/>
              <a:t>Content</a:t>
            </a:r>
            <a:r>
              <a:rPr sz="2950" spc="-35" dirty="0"/>
              <a:t> </a:t>
            </a:r>
            <a:r>
              <a:rPr sz="2950" spc="-190" dirty="0"/>
              <a:t>Delivery</a:t>
            </a:r>
            <a:r>
              <a:rPr sz="2950" spc="-125" dirty="0"/>
              <a:t> </a:t>
            </a:r>
            <a:r>
              <a:rPr sz="2950" spc="-265" dirty="0"/>
              <a:t>Networks</a:t>
            </a:r>
            <a:r>
              <a:rPr sz="2950" spc="-35" dirty="0"/>
              <a:t> </a:t>
            </a:r>
            <a:r>
              <a:rPr sz="2950" spc="-225" dirty="0"/>
              <a:t>(CDN)</a:t>
            </a:r>
            <a:r>
              <a:rPr sz="2950" spc="-35" dirty="0"/>
              <a:t> </a:t>
            </a:r>
            <a:r>
              <a:rPr sz="2950" spc="-170" dirty="0"/>
              <a:t>in</a:t>
            </a:r>
            <a:r>
              <a:rPr sz="2950" spc="-40" dirty="0"/>
              <a:t> </a:t>
            </a:r>
            <a:r>
              <a:rPr sz="2950" spc="-229" dirty="0"/>
              <a:t>System</a:t>
            </a:r>
            <a:r>
              <a:rPr sz="2950" spc="-35" dirty="0"/>
              <a:t> </a:t>
            </a:r>
            <a:r>
              <a:rPr sz="2950" spc="-114" dirty="0"/>
              <a:t>Design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2417245" y="2910872"/>
            <a:ext cx="4305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15" dirty="0"/>
              <a:t>Introduction</a:t>
            </a:r>
            <a:r>
              <a:rPr sz="3200" spc="-10" dirty="0"/>
              <a:t> </a:t>
            </a:r>
            <a:r>
              <a:rPr sz="3200" spc="-235" dirty="0"/>
              <a:t>to</a:t>
            </a:r>
            <a:r>
              <a:rPr sz="3200" spc="-50" dirty="0"/>
              <a:t> </a:t>
            </a:r>
            <a:r>
              <a:rPr sz="3200" spc="-290" dirty="0"/>
              <a:t>CDNs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603625" cy="2595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Deﬁnition: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globally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servers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together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deliver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CDNs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exist: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Enhances</a:t>
            </a: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availability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84492"/>
            <a:ext cx="4222386" cy="21609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Why</a:t>
            </a:r>
            <a:r>
              <a:rPr sz="3200" spc="-145" dirty="0"/>
              <a:t> </a:t>
            </a:r>
            <a:r>
              <a:rPr sz="3200" spc="-240" dirty="0"/>
              <a:t>are</a:t>
            </a:r>
            <a:r>
              <a:rPr sz="3200" spc="-85" dirty="0"/>
              <a:t> </a:t>
            </a:r>
            <a:r>
              <a:rPr sz="3200" spc="-270" dirty="0"/>
              <a:t>CDNs</a:t>
            </a:r>
            <a:r>
              <a:rPr sz="3200" spc="-40" dirty="0"/>
              <a:t> </a:t>
            </a:r>
            <a:r>
              <a:rPr sz="3200" spc="-275" dirty="0"/>
              <a:t>needed?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84725" y="1330206"/>
            <a:ext cx="3775710" cy="202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problem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without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CDNs:</a:t>
            </a:r>
            <a:endParaRPr sz="1800">
              <a:latin typeface="Arial"/>
              <a:cs typeface="Arial"/>
            </a:endParaRPr>
          </a:p>
          <a:p>
            <a:pPr marL="469900" marR="5080" indent="-313055">
              <a:lnSpc>
                <a:spcPct val="114999"/>
              </a:lnSpc>
              <a:spcBef>
                <a:spcPts val="1200"/>
              </a:spcBef>
              <a:buClr>
                <a:srgbClr val="000000"/>
              </a:buClr>
              <a:buSzPct val="61111"/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due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geographic distance</a:t>
            </a:r>
            <a:endParaRPr sz="180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Overloaded</a:t>
            </a:r>
            <a:r>
              <a:rPr sz="18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sz="18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endParaRPr sz="1800">
              <a:latin typeface="Arial"/>
              <a:cs typeface="Arial"/>
            </a:endParaRPr>
          </a:p>
          <a:p>
            <a:pPr marL="469900" marR="137795" indent="-313055">
              <a:lnSpc>
                <a:spcPct val="114999"/>
              </a:lnSpc>
              <a:buClr>
                <a:srgbClr val="000000"/>
              </a:buClr>
              <a:buSzPct val="61111"/>
              <a:buChar char="●"/>
              <a:tabLst>
                <a:tab pos="469900" algn="l"/>
              </a:tabLst>
            </a:pP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constraints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slow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times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465095"/>
            <a:ext cx="4267199" cy="2003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95" dirty="0"/>
              <a:t>CDN</a:t>
            </a:r>
            <a:r>
              <a:rPr sz="3200" spc="-150" dirty="0"/>
              <a:t> </a:t>
            </a:r>
            <a:r>
              <a:rPr sz="3200" spc="-210" dirty="0"/>
              <a:t>Architecture</a:t>
            </a:r>
            <a:r>
              <a:rPr sz="3200" spc="-75" dirty="0"/>
              <a:t> </a:t>
            </a:r>
            <a:r>
              <a:rPr sz="3200" spc="-275" dirty="0"/>
              <a:t>Overview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556885" cy="11029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CDN: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servers: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original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(PoPs):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cached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closer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routing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system: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the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nearest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675" y="2694975"/>
            <a:ext cx="4267199" cy="1762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How</a:t>
            </a:r>
            <a:r>
              <a:rPr sz="3200" spc="-114" dirty="0"/>
              <a:t> </a:t>
            </a:r>
            <a:r>
              <a:rPr sz="3200" spc="-254" dirty="0"/>
              <a:t>a</a:t>
            </a:r>
            <a:r>
              <a:rPr sz="3200" spc="-80" dirty="0"/>
              <a:t> </a:t>
            </a:r>
            <a:r>
              <a:rPr sz="3200" spc="-295" dirty="0"/>
              <a:t>CDN</a:t>
            </a:r>
            <a:r>
              <a:rPr sz="3200" spc="-110" dirty="0"/>
              <a:t> </a:t>
            </a:r>
            <a:r>
              <a:rPr sz="3200" spc="-320" dirty="0"/>
              <a:t>Works</a:t>
            </a:r>
            <a:r>
              <a:rPr sz="3200" spc="-45" dirty="0"/>
              <a:t> </a:t>
            </a:r>
            <a:r>
              <a:rPr sz="3200" spc="-270" dirty="0"/>
              <a:t>and</a:t>
            </a:r>
            <a:r>
              <a:rPr sz="3200" spc="-45" dirty="0"/>
              <a:t> </a:t>
            </a:r>
            <a:r>
              <a:rPr sz="3200" spc="-220" dirty="0"/>
              <a:t>Handles</a:t>
            </a:r>
            <a:r>
              <a:rPr sz="3200" spc="-45" dirty="0"/>
              <a:t> </a:t>
            </a:r>
            <a:r>
              <a:rPr sz="3200" spc="-254" dirty="0"/>
              <a:t>a</a:t>
            </a:r>
            <a:r>
              <a:rPr sz="3200" spc="-40" dirty="0"/>
              <a:t> </a:t>
            </a:r>
            <a:r>
              <a:rPr sz="3200" spc="-250" dirty="0"/>
              <a:t>User</a:t>
            </a:r>
            <a:r>
              <a:rPr sz="3200" spc="-45" dirty="0"/>
              <a:t> </a:t>
            </a:r>
            <a:r>
              <a:rPr sz="3200" spc="-200" dirty="0"/>
              <a:t>Request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6063615" cy="28651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165" indent="-418465" algn="just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16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website,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video,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data).</a:t>
            </a:r>
            <a:endParaRPr sz="1800">
              <a:latin typeface="Arial"/>
              <a:cs typeface="Arial"/>
            </a:endParaRPr>
          </a:p>
          <a:p>
            <a:pPr marL="430530" marR="158750" indent="-418465" algn="just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directs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nearest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 	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geographic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location,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latency,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	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load.</a:t>
            </a:r>
            <a:endParaRPr sz="1800">
              <a:latin typeface="Arial"/>
              <a:cs typeface="Arial"/>
            </a:endParaRPr>
          </a:p>
          <a:p>
            <a:pPr marL="431800" marR="517525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Hit: If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available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edge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it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delivered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instantly.</a:t>
            </a:r>
            <a:endParaRPr sz="1800">
              <a:latin typeface="Arial"/>
              <a:cs typeface="Arial"/>
            </a:endParaRPr>
          </a:p>
          <a:p>
            <a:pPr marL="431800" marR="10795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Miss: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cached,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request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forwarded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fetched,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stored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future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use.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5961" y="1220847"/>
            <a:ext cx="1813201" cy="3592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40" dirty="0"/>
              <a:t>Key</a:t>
            </a:r>
            <a:r>
              <a:rPr sz="3200" spc="-185" dirty="0"/>
              <a:t> </a:t>
            </a:r>
            <a:r>
              <a:rPr sz="3200" spc="-295" dirty="0"/>
              <a:t>CDN</a:t>
            </a:r>
            <a:r>
              <a:rPr sz="3200" spc="-40" dirty="0"/>
              <a:t> </a:t>
            </a:r>
            <a:r>
              <a:rPr sz="3200" spc="-225" dirty="0"/>
              <a:t>Features/Beneﬁts</a:t>
            </a:r>
            <a:r>
              <a:rPr sz="3200" spc="-40" dirty="0"/>
              <a:t> </a:t>
            </a:r>
            <a:r>
              <a:rPr sz="3200" spc="-250" dirty="0"/>
              <a:t>of</a:t>
            </a:r>
            <a:r>
              <a:rPr sz="3200" spc="-80" dirty="0"/>
              <a:t> </a:t>
            </a:r>
            <a:r>
              <a:rPr sz="3200" spc="-295" dirty="0"/>
              <a:t>CDN</a:t>
            </a:r>
            <a:r>
              <a:rPr sz="3200" spc="-110" dirty="0"/>
              <a:t> </a:t>
            </a:r>
            <a:r>
              <a:rPr sz="3200" spc="-265" dirty="0"/>
              <a:t>Working</a:t>
            </a:r>
            <a:r>
              <a:rPr sz="3200" spc="-40" dirty="0"/>
              <a:t> </a:t>
            </a:r>
            <a:r>
              <a:rPr sz="3200" spc="-305" dirty="0"/>
              <a:t>Mechanism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marR="15367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47980" algn="l"/>
              </a:tabLst>
            </a:pPr>
            <a:r>
              <a:rPr sz="1800" spc="-150" dirty="0">
                <a:latin typeface="Arial Black"/>
                <a:cs typeface="Arial Black"/>
              </a:rPr>
              <a:t>Caching</a:t>
            </a:r>
            <a:r>
              <a:rPr sz="1800" spc="-40" dirty="0">
                <a:latin typeface="Arial Black"/>
                <a:cs typeface="Arial Black"/>
              </a:rPr>
              <a:t> </a:t>
            </a:r>
            <a:r>
              <a:rPr sz="1800" spc="-260" dirty="0">
                <a:latin typeface="Arial Black"/>
                <a:cs typeface="Arial Black"/>
              </a:rPr>
              <a:t>&amp;</a:t>
            </a:r>
            <a:r>
              <a:rPr sz="1800" spc="-35" dirty="0">
                <a:latin typeface="Arial Black"/>
                <a:cs typeface="Arial Black"/>
              </a:rPr>
              <a:t> </a:t>
            </a:r>
            <a:r>
              <a:rPr sz="1800" spc="-130" dirty="0">
                <a:latin typeface="Arial Black"/>
                <a:cs typeface="Arial Black"/>
              </a:rPr>
              <a:t>Replication(Reduced</a:t>
            </a:r>
            <a:r>
              <a:rPr sz="1800" spc="-35" dirty="0">
                <a:latin typeface="Arial Black"/>
                <a:cs typeface="Arial Black"/>
              </a:rPr>
              <a:t> </a:t>
            </a:r>
            <a:r>
              <a:rPr sz="1800" spc="-114" dirty="0">
                <a:latin typeface="Arial Black"/>
                <a:cs typeface="Arial Black"/>
              </a:rPr>
              <a:t>Latency)</a:t>
            </a:r>
            <a:r>
              <a:rPr sz="1800" spc="-114" dirty="0"/>
              <a:t>:</a:t>
            </a:r>
            <a:r>
              <a:rPr sz="1800" spc="60" dirty="0"/>
              <a:t> </a:t>
            </a:r>
            <a:r>
              <a:rPr sz="1800" dirty="0"/>
              <a:t>Frequently</a:t>
            </a:r>
            <a:r>
              <a:rPr sz="1800" spc="65" dirty="0"/>
              <a:t> </a:t>
            </a:r>
            <a:r>
              <a:rPr sz="1800" spc="-10" dirty="0"/>
              <a:t>accessed</a:t>
            </a:r>
            <a:r>
              <a:rPr sz="1800" spc="60" dirty="0"/>
              <a:t> content </a:t>
            </a:r>
            <a:r>
              <a:rPr sz="1800" dirty="0"/>
              <a:t>is</a:t>
            </a:r>
            <a:r>
              <a:rPr sz="1800" spc="40" dirty="0"/>
              <a:t> </a:t>
            </a:r>
            <a:r>
              <a:rPr sz="1800" spc="60" dirty="0"/>
              <a:t>stored</a:t>
            </a:r>
            <a:r>
              <a:rPr sz="1800" spc="30" dirty="0"/>
              <a:t> </a:t>
            </a:r>
            <a:r>
              <a:rPr sz="1800" spc="65" dirty="0"/>
              <a:t>at</a:t>
            </a:r>
            <a:r>
              <a:rPr sz="1800" spc="40" dirty="0"/>
              <a:t> </a:t>
            </a:r>
            <a:r>
              <a:rPr sz="1800" dirty="0"/>
              <a:t>edge</a:t>
            </a:r>
            <a:r>
              <a:rPr sz="1800" spc="40" dirty="0"/>
              <a:t> </a:t>
            </a:r>
            <a:r>
              <a:rPr sz="1800" dirty="0"/>
              <a:t>locations</a:t>
            </a:r>
            <a:r>
              <a:rPr sz="1800" spc="40" dirty="0"/>
              <a:t> </a:t>
            </a:r>
            <a:r>
              <a:rPr sz="1800" spc="100" dirty="0"/>
              <a:t>to</a:t>
            </a:r>
            <a:r>
              <a:rPr sz="1800" spc="40" dirty="0"/>
              <a:t> </a:t>
            </a:r>
            <a:r>
              <a:rPr sz="1800" spc="55" dirty="0"/>
              <a:t>minimize</a:t>
            </a:r>
            <a:r>
              <a:rPr sz="1800" spc="40" dirty="0"/>
              <a:t> </a:t>
            </a:r>
            <a:r>
              <a:rPr sz="1800" spc="60" dirty="0"/>
              <a:t>origin</a:t>
            </a:r>
            <a:r>
              <a:rPr sz="1800" spc="40" dirty="0"/>
              <a:t> </a:t>
            </a:r>
            <a:r>
              <a:rPr sz="1800" dirty="0"/>
              <a:t>server</a:t>
            </a:r>
            <a:r>
              <a:rPr sz="1800" spc="35" dirty="0"/>
              <a:t> </a:t>
            </a:r>
            <a:r>
              <a:rPr sz="1800" spc="-10" dirty="0"/>
              <a:t>load.</a:t>
            </a:r>
            <a:endParaRPr sz="1800">
              <a:latin typeface="Arial Black"/>
              <a:cs typeface="Arial Black"/>
            </a:endParaRPr>
          </a:p>
          <a:p>
            <a:pPr marL="347980" marR="116205" indent="-367030">
              <a:lnSpc>
                <a:spcPct val="114999"/>
              </a:lnSpc>
              <a:buFont typeface="Arial"/>
              <a:buChar char="●"/>
              <a:tabLst>
                <a:tab pos="347980" algn="l"/>
              </a:tabLst>
            </a:pPr>
            <a:r>
              <a:rPr sz="1800" spc="-130" dirty="0">
                <a:latin typeface="Arial Black"/>
                <a:cs typeface="Arial Black"/>
              </a:rPr>
              <a:t>Load</a:t>
            </a:r>
            <a:r>
              <a:rPr sz="1800" spc="-80" dirty="0">
                <a:latin typeface="Arial Black"/>
                <a:cs typeface="Arial Black"/>
              </a:rPr>
              <a:t> </a:t>
            </a:r>
            <a:r>
              <a:rPr sz="1800" spc="-130" dirty="0">
                <a:latin typeface="Arial Black"/>
                <a:cs typeface="Arial Black"/>
              </a:rPr>
              <a:t>Balancing</a:t>
            </a:r>
            <a:r>
              <a:rPr sz="1800" spc="-80" dirty="0">
                <a:latin typeface="Arial Black"/>
                <a:cs typeface="Arial Black"/>
              </a:rPr>
              <a:t> and </a:t>
            </a:r>
            <a:r>
              <a:rPr sz="1800" spc="-95" dirty="0">
                <a:latin typeface="Arial Black"/>
                <a:cs typeface="Arial Black"/>
              </a:rPr>
              <a:t>request</a:t>
            </a:r>
            <a:r>
              <a:rPr sz="1800" spc="-75" dirty="0">
                <a:latin typeface="Arial Black"/>
                <a:cs typeface="Arial Black"/>
              </a:rPr>
              <a:t> </a:t>
            </a:r>
            <a:r>
              <a:rPr sz="1800" dirty="0">
                <a:latin typeface="Arial Black"/>
                <a:cs typeface="Arial Black"/>
              </a:rPr>
              <a:t>routing</a:t>
            </a:r>
            <a:r>
              <a:rPr sz="1800" dirty="0"/>
              <a:t>:(Improved</a:t>
            </a:r>
            <a:r>
              <a:rPr sz="1800" spc="20" dirty="0"/>
              <a:t> </a:t>
            </a:r>
            <a:r>
              <a:rPr sz="1800" dirty="0"/>
              <a:t>Availability)</a:t>
            </a:r>
            <a:r>
              <a:rPr sz="1800" spc="25" dirty="0"/>
              <a:t> </a:t>
            </a:r>
            <a:r>
              <a:rPr sz="1800" spc="55" dirty="0"/>
              <a:t>Traﬃc</a:t>
            </a:r>
            <a:r>
              <a:rPr sz="1800" spc="25" dirty="0"/>
              <a:t> </a:t>
            </a:r>
            <a:r>
              <a:rPr sz="1800" spc="-25" dirty="0"/>
              <a:t>is </a:t>
            </a:r>
            <a:r>
              <a:rPr sz="1800" spc="70" dirty="0"/>
              <a:t>distributed</a:t>
            </a:r>
            <a:r>
              <a:rPr sz="1800" dirty="0"/>
              <a:t> across</a:t>
            </a:r>
            <a:r>
              <a:rPr sz="1800" spc="5" dirty="0"/>
              <a:t> </a:t>
            </a:r>
            <a:r>
              <a:rPr sz="1800" spc="80" dirty="0"/>
              <a:t>multiple</a:t>
            </a:r>
            <a:r>
              <a:rPr sz="1800" spc="5" dirty="0"/>
              <a:t> </a:t>
            </a:r>
            <a:r>
              <a:rPr sz="1800" spc="-55" dirty="0"/>
              <a:t>PoPs</a:t>
            </a:r>
            <a:r>
              <a:rPr sz="1800" spc="5" dirty="0"/>
              <a:t> </a:t>
            </a:r>
            <a:r>
              <a:rPr sz="1800" spc="100" dirty="0"/>
              <a:t>to</a:t>
            </a:r>
            <a:r>
              <a:rPr sz="1800" spc="5" dirty="0"/>
              <a:t> </a:t>
            </a:r>
            <a:r>
              <a:rPr sz="1800" dirty="0"/>
              <a:t>ensure</a:t>
            </a:r>
            <a:r>
              <a:rPr sz="1800" spc="5" dirty="0"/>
              <a:t> </a:t>
            </a:r>
            <a:r>
              <a:rPr sz="1800" spc="50" dirty="0"/>
              <a:t>reliability</a:t>
            </a:r>
            <a:r>
              <a:rPr sz="1800" dirty="0"/>
              <a:t> </a:t>
            </a:r>
            <a:r>
              <a:rPr sz="1800" spc="55" dirty="0"/>
              <a:t>and</a:t>
            </a:r>
            <a:r>
              <a:rPr sz="1800" spc="5" dirty="0"/>
              <a:t> </a:t>
            </a:r>
            <a:r>
              <a:rPr sz="1800" spc="50" dirty="0"/>
              <a:t>prevent </a:t>
            </a:r>
            <a:r>
              <a:rPr sz="1800" dirty="0"/>
              <a:t>overload.</a:t>
            </a:r>
            <a:r>
              <a:rPr sz="1800" spc="90" dirty="0"/>
              <a:t> </a:t>
            </a:r>
            <a:r>
              <a:rPr sz="1800" spc="-30" dirty="0"/>
              <a:t>CDN</a:t>
            </a:r>
            <a:r>
              <a:rPr sz="1800" spc="90" dirty="0"/>
              <a:t> </a:t>
            </a:r>
            <a:r>
              <a:rPr sz="1800" dirty="0"/>
              <a:t>uses</a:t>
            </a:r>
            <a:r>
              <a:rPr sz="1800" spc="95" dirty="0"/>
              <a:t> </a:t>
            </a:r>
            <a:r>
              <a:rPr sz="1800" dirty="0"/>
              <a:t>Geo-based,</a:t>
            </a:r>
            <a:r>
              <a:rPr sz="1800" spc="90" dirty="0"/>
              <a:t> </a:t>
            </a:r>
            <a:r>
              <a:rPr sz="1800" dirty="0"/>
              <a:t>latency-based,</a:t>
            </a:r>
            <a:r>
              <a:rPr sz="1800" spc="90" dirty="0"/>
              <a:t> </a:t>
            </a:r>
            <a:r>
              <a:rPr sz="1800" spc="55" dirty="0"/>
              <a:t>and</a:t>
            </a:r>
            <a:r>
              <a:rPr sz="1800" spc="95" dirty="0"/>
              <a:t> </a:t>
            </a:r>
            <a:r>
              <a:rPr sz="1800" dirty="0"/>
              <a:t>load-aware</a:t>
            </a:r>
            <a:r>
              <a:rPr sz="1800" spc="95" dirty="0"/>
              <a:t> </a:t>
            </a:r>
            <a:r>
              <a:rPr sz="1800" spc="70" dirty="0"/>
              <a:t>routing</a:t>
            </a:r>
            <a:r>
              <a:rPr sz="1800" spc="90" dirty="0"/>
              <a:t> </a:t>
            </a:r>
            <a:r>
              <a:rPr sz="1800" spc="75" dirty="0"/>
              <a:t>to </a:t>
            </a:r>
            <a:r>
              <a:rPr sz="1800" spc="60" dirty="0"/>
              <a:t>optimize</a:t>
            </a:r>
            <a:r>
              <a:rPr sz="1800" spc="-15" dirty="0"/>
              <a:t> </a:t>
            </a:r>
            <a:r>
              <a:rPr sz="1800" spc="-10" dirty="0"/>
              <a:t>speed.</a:t>
            </a:r>
            <a:endParaRPr sz="1800">
              <a:latin typeface="Arial Black"/>
              <a:cs typeface="Arial Black"/>
            </a:endParaRPr>
          </a:p>
          <a:p>
            <a:pPr marL="347980" marR="5080" indent="-367030">
              <a:lnSpc>
                <a:spcPct val="114999"/>
              </a:lnSpc>
              <a:buFont typeface="Arial"/>
              <a:buChar char="●"/>
              <a:tabLst>
                <a:tab pos="347980" algn="l"/>
              </a:tabLst>
            </a:pPr>
            <a:r>
              <a:rPr sz="1800" spc="-114" dirty="0">
                <a:latin typeface="Arial Black"/>
                <a:cs typeface="Arial Black"/>
              </a:rPr>
              <a:t>Compression</a:t>
            </a:r>
            <a:r>
              <a:rPr sz="1800" spc="-55" dirty="0">
                <a:latin typeface="Arial Black"/>
                <a:cs typeface="Arial Black"/>
              </a:rPr>
              <a:t> </a:t>
            </a:r>
            <a:r>
              <a:rPr sz="1800" spc="-260" dirty="0">
                <a:latin typeface="Arial Black"/>
                <a:cs typeface="Arial Black"/>
              </a:rPr>
              <a:t>&amp;</a:t>
            </a:r>
            <a:r>
              <a:rPr sz="1800" spc="-55" dirty="0">
                <a:latin typeface="Arial Black"/>
                <a:cs typeface="Arial Black"/>
              </a:rPr>
              <a:t> </a:t>
            </a:r>
            <a:r>
              <a:rPr sz="1800" spc="-85" dirty="0">
                <a:latin typeface="Arial Black"/>
                <a:cs typeface="Arial Black"/>
              </a:rPr>
              <a:t>Optimization(Lower</a:t>
            </a:r>
            <a:r>
              <a:rPr sz="1800" spc="-50" dirty="0">
                <a:latin typeface="Arial Black"/>
                <a:cs typeface="Arial Black"/>
              </a:rPr>
              <a:t> </a:t>
            </a:r>
            <a:r>
              <a:rPr sz="1800" spc="-90" dirty="0">
                <a:latin typeface="Arial Black"/>
                <a:cs typeface="Arial Black"/>
              </a:rPr>
              <a:t>Bandwidth</a:t>
            </a:r>
            <a:r>
              <a:rPr sz="1800" spc="-55" dirty="0">
                <a:latin typeface="Arial Black"/>
                <a:cs typeface="Arial Black"/>
              </a:rPr>
              <a:t> </a:t>
            </a:r>
            <a:r>
              <a:rPr sz="1800" spc="-140" dirty="0">
                <a:latin typeface="Arial Black"/>
                <a:cs typeface="Arial Black"/>
              </a:rPr>
              <a:t>Costs)</a:t>
            </a:r>
            <a:r>
              <a:rPr sz="1800" spc="-140" dirty="0"/>
              <a:t>:</a:t>
            </a:r>
            <a:r>
              <a:rPr sz="1800" spc="45" dirty="0"/>
              <a:t> </a:t>
            </a:r>
            <a:r>
              <a:rPr sz="1800" dirty="0"/>
              <a:t>Techniques</a:t>
            </a:r>
            <a:r>
              <a:rPr sz="1800" spc="45" dirty="0"/>
              <a:t> </a:t>
            </a:r>
            <a:r>
              <a:rPr sz="1800" spc="-20" dirty="0"/>
              <a:t>like </a:t>
            </a:r>
            <a:r>
              <a:rPr sz="1800" dirty="0"/>
              <a:t>Gzip,</a:t>
            </a:r>
            <a:r>
              <a:rPr sz="1800" spc="25" dirty="0"/>
              <a:t> </a:t>
            </a:r>
            <a:r>
              <a:rPr sz="1800" spc="45" dirty="0"/>
              <a:t>Brotli,</a:t>
            </a:r>
            <a:r>
              <a:rPr sz="1800" spc="25" dirty="0"/>
              <a:t> </a:t>
            </a:r>
            <a:r>
              <a:rPr sz="1800" spc="55" dirty="0"/>
              <a:t>and</a:t>
            </a:r>
            <a:r>
              <a:rPr sz="1800" spc="25" dirty="0"/>
              <a:t> </a:t>
            </a:r>
            <a:r>
              <a:rPr sz="1800" dirty="0"/>
              <a:t>image</a:t>
            </a:r>
            <a:r>
              <a:rPr sz="1800" spc="35" dirty="0"/>
              <a:t> </a:t>
            </a:r>
            <a:r>
              <a:rPr sz="1800" spc="65" dirty="0"/>
              <a:t>optimization</a:t>
            </a:r>
            <a:r>
              <a:rPr sz="1800" spc="30" dirty="0"/>
              <a:t> </a:t>
            </a:r>
            <a:r>
              <a:rPr sz="1800" dirty="0"/>
              <a:t>reduce</a:t>
            </a:r>
            <a:r>
              <a:rPr sz="1800" spc="30" dirty="0"/>
              <a:t> </a:t>
            </a:r>
            <a:r>
              <a:rPr sz="1800" spc="65" dirty="0"/>
              <a:t>ﬁle</a:t>
            </a:r>
            <a:r>
              <a:rPr sz="1800" spc="35" dirty="0"/>
              <a:t> </a:t>
            </a:r>
            <a:r>
              <a:rPr sz="1800" spc="-10" dirty="0"/>
              <a:t>sizes</a:t>
            </a:r>
            <a:r>
              <a:rPr sz="1800" spc="30" dirty="0"/>
              <a:t> </a:t>
            </a:r>
            <a:r>
              <a:rPr sz="1800" spc="100" dirty="0"/>
              <a:t>for</a:t>
            </a:r>
            <a:r>
              <a:rPr sz="1800" spc="25" dirty="0"/>
              <a:t> </a:t>
            </a:r>
            <a:r>
              <a:rPr sz="1800" dirty="0"/>
              <a:t>faster</a:t>
            </a:r>
            <a:r>
              <a:rPr sz="1800" spc="30" dirty="0"/>
              <a:t> </a:t>
            </a:r>
            <a:r>
              <a:rPr sz="1800" spc="-10" dirty="0"/>
              <a:t>delivery.</a:t>
            </a:r>
            <a:endParaRPr sz="1800">
              <a:latin typeface="Arial Black"/>
              <a:cs typeface="Arial Black"/>
            </a:endParaRPr>
          </a:p>
          <a:p>
            <a:pPr marL="347980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47980" algn="l"/>
              </a:tabLst>
            </a:pPr>
            <a:r>
              <a:rPr sz="1800" spc="-125" dirty="0">
                <a:latin typeface="Arial Black"/>
                <a:cs typeface="Arial Black"/>
              </a:rPr>
              <a:t>Security</a:t>
            </a:r>
            <a:r>
              <a:rPr sz="1800" spc="-15" dirty="0">
                <a:latin typeface="Arial Black"/>
                <a:cs typeface="Arial Black"/>
              </a:rPr>
              <a:t> </a:t>
            </a:r>
            <a:r>
              <a:rPr sz="1800" spc="-105" dirty="0">
                <a:latin typeface="Arial Black"/>
                <a:cs typeface="Arial Black"/>
              </a:rPr>
              <a:t>Features(Better</a:t>
            </a:r>
            <a:r>
              <a:rPr sz="1800" dirty="0">
                <a:latin typeface="Arial Black"/>
                <a:cs typeface="Arial Black"/>
              </a:rPr>
              <a:t> </a:t>
            </a:r>
            <a:r>
              <a:rPr sz="1800" spc="-110" dirty="0">
                <a:latin typeface="Arial Black"/>
                <a:cs typeface="Arial Black"/>
              </a:rPr>
              <a:t>Security)</a:t>
            </a:r>
            <a:r>
              <a:rPr sz="1800" spc="-110" dirty="0"/>
              <a:t>:</a:t>
            </a:r>
            <a:r>
              <a:rPr sz="1800" spc="90" dirty="0"/>
              <a:t> </a:t>
            </a:r>
            <a:r>
              <a:rPr sz="1800" spc="-25" dirty="0"/>
              <a:t>DDoS</a:t>
            </a:r>
            <a:r>
              <a:rPr sz="1800" spc="95" dirty="0"/>
              <a:t> </a:t>
            </a:r>
            <a:r>
              <a:rPr sz="1800" dirty="0"/>
              <a:t>Protection,</a:t>
            </a:r>
            <a:r>
              <a:rPr sz="1800" spc="90" dirty="0"/>
              <a:t> </a:t>
            </a:r>
            <a:r>
              <a:rPr sz="1800" spc="-10" dirty="0"/>
              <a:t>SSL/TLS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54" dirty="0"/>
              <a:t>Content</a:t>
            </a:r>
            <a:r>
              <a:rPr sz="3200" spc="-70" dirty="0"/>
              <a:t> </a:t>
            </a:r>
            <a:r>
              <a:rPr sz="3200" spc="-204" dirty="0"/>
              <a:t>Caching</a:t>
            </a:r>
            <a:r>
              <a:rPr sz="3200" spc="-20" dirty="0"/>
              <a:t> </a:t>
            </a:r>
            <a:r>
              <a:rPr sz="3200" spc="-270" dirty="0"/>
              <a:t>and</a:t>
            </a:r>
            <a:r>
              <a:rPr sz="3200" spc="-25" dirty="0"/>
              <a:t> </a:t>
            </a:r>
            <a:r>
              <a:rPr sz="3200" spc="-175" dirty="0"/>
              <a:t>Replication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967479" cy="20840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content: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Frequently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accessed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stored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servers</a:t>
            </a:r>
            <a:endParaRPr sz="1400">
              <a:latin typeface="Arial"/>
              <a:cs typeface="Arial"/>
            </a:endParaRPr>
          </a:p>
          <a:p>
            <a:pPr marL="836294" marR="640715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expiration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TTL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(Time-To-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Live)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settings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control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freshness</a:t>
            </a:r>
            <a:endParaRPr sz="1400">
              <a:latin typeface="Arial"/>
              <a:cs typeface="Arial"/>
            </a:endParaRPr>
          </a:p>
          <a:p>
            <a:pPr marL="836294" marR="32384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invalidation</a:t>
            </a:r>
            <a:r>
              <a:rPr sz="14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4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(manual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purge,</a:t>
            </a:r>
            <a:r>
              <a:rPr sz="1400" spc="4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stale-while-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revalidate)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31138" cy="3269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5" dirty="0"/>
              <a:t>Load</a:t>
            </a:r>
            <a:r>
              <a:rPr sz="3200" spc="-25" dirty="0"/>
              <a:t> </a:t>
            </a:r>
            <a:r>
              <a:rPr sz="3200" spc="-190" dirty="0"/>
              <a:t>Balancing/Failover</a:t>
            </a:r>
            <a:r>
              <a:rPr sz="3200" spc="-25" dirty="0"/>
              <a:t> </a:t>
            </a:r>
            <a:r>
              <a:rPr sz="3200" spc="-200" dirty="0"/>
              <a:t>Handling</a:t>
            </a:r>
            <a:r>
              <a:rPr sz="3200" spc="-25" dirty="0"/>
              <a:t> </a:t>
            </a:r>
            <a:r>
              <a:rPr sz="3200" spc="-270" dirty="0"/>
              <a:t>and</a:t>
            </a:r>
            <a:r>
              <a:rPr sz="3200" spc="-25" dirty="0"/>
              <a:t> </a:t>
            </a:r>
            <a:r>
              <a:rPr sz="3200" spc="-245" dirty="0"/>
              <a:t>Request</a:t>
            </a:r>
            <a:r>
              <a:rPr sz="3200" spc="-25" dirty="0"/>
              <a:t> </a:t>
            </a:r>
            <a:r>
              <a:rPr sz="3200" spc="-140" dirty="0"/>
              <a:t>Routing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891405" cy="27006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PoPs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Rerouting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another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sz="140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sz="1400" spc="2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selection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strategies:</a:t>
            </a:r>
            <a:endParaRPr sz="1800">
              <a:latin typeface="Arial"/>
              <a:cs typeface="Arial"/>
            </a:endParaRPr>
          </a:p>
          <a:p>
            <a:pPr marL="836294" marR="129539" lvl="1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Geo-based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routing: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Directs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nearest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Latency-based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routing: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Chooses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lowest</a:t>
            </a:r>
            <a:r>
              <a:rPr sz="1400" spc="1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Load-aware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routing: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PoPs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050" y="1152425"/>
            <a:ext cx="3143798" cy="36222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50" dirty="0"/>
              <a:t>Compression</a:t>
            </a:r>
            <a:r>
              <a:rPr sz="3200" spc="-60" dirty="0"/>
              <a:t> </a:t>
            </a:r>
            <a:r>
              <a:rPr sz="3200" dirty="0"/>
              <a:t>&amp;</a:t>
            </a:r>
            <a:r>
              <a:rPr sz="3200" spc="-55" dirty="0"/>
              <a:t> </a:t>
            </a:r>
            <a:r>
              <a:rPr sz="3200" spc="-225" dirty="0"/>
              <a:t>Miniﬁcation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744595" cy="11029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r>
              <a:rPr sz="1800" spc="1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used: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Gzip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Brotli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Image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optimization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(WebP,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AVIF)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Minifying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60" dirty="0">
                <a:solidFill>
                  <a:srgbClr val="685D46"/>
                </a:solidFill>
                <a:latin typeface="Arial"/>
                <a:cs typeface="Arial"/>
              </a:rPr>
              <a:t>CSS/JS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ﬁle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sizes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04" dirty="0"/>
              <a:t>Security</a:t>
            </a:r>
            <a:r>
              <a:rPr sz="3200" spc="-105" dirty="0"/>
              <a:t> </a:t>
            </a:r>
            <a:r>
              <a:rPr sz="3200" spc="-185" dirty="0"/>
              <a:t>Features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363210" cy="116205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800" spc="-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mitigation: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sz="1400" spc="-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ﬁltering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Oﬄoading: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Encrypts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70" dirty="0"/>
              <a:t>Use</a:t>
            </a:r>
            <a:r>
              <a:rPr sz="3200" spc="-80" dirty="0"/>
              <a:t> </a:t>
            </a:r>
            <a:r>
              <a:rPr sz="3200" spc="-204" dirty="0"/>
              <a:t>Cases</a:t>
            </a:r>
            <a:r>
              <a:rPr sz="3200" spc="-35" dirty="0"/>
              <a:t> </a:t>
            </a:r>
            <a:r>
              <a:rPr sz="3200" spc="-250" dirty="0"/>
              <a:t>of</a:t>
            </a:r>
            <a:r>
              <a:rPr sz="3200" spc="-80" dirty="0"/>
              <a:t> </a:t>
            </a:r>
            <a:r>
              <a:rPr sz="3200" spc="-290" dirty="0"/>
              <a:t>CDNs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815330" cy="1663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content: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Images, videos,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HTML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ﬁles.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sz="14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content: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1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responses,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personalized</a:t>
            </a:r>
            <a:r>
              <a:rPr sz="1400" spc="1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pages.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Acceleration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Computing(CDNs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APIs):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times.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frequently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accessed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endpoints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455" y="1214385"/>
            <a:ext cx="4629785" cy="3601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9250" indent="-336550">
              <a:lnSpc>
                <a:spcPts val="1190"/>
              </a:lnSpc>
              <a:spcBef>
                <a:spcPts val="90"/>
              </a:spcBef>
              <a:buChar char="●"/>
              <a:tabLst>
                <a:tab pos="349250" algn="l"/>
              </a:tabLst>
            </a:pPr>
            <a:r>
              <a:rPr sz="1000" spc="-20" dirty="0">
                <a:solidFill>
                  <a:srgbClr val="685D46"/>
                </a:solidFill>
                <a:latin typeface="Arial"/>
                <a:cs typeface="Arial"/>
              </a:rPr>
              <a:t>Basics</a:t>
            </a:r>
            <a:r>
              <a:rPr sz="10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0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endParaRPr sz="100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CDN,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 do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design?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beneﬁts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marL="316865" indent="-304165">
              <a:lnSpc>
                <a:spcPts val="1155"/>
              </a:lnSpc>
              <a:buChar char="●"/>
              <a:tabLst>
                <a:tab pos="316865" algn="l"/>
              </a:tabLst>
            </a:pPr>
            <a:r>
              <a:rPr sz="1000" spc="-45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10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0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0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7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origin</a:t>
            </a:r>
            <a:r>
              <a:rPr sz="7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edge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7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CDN.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(Point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Presence)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marL="316865" indent="-304165">
              <a:lnSpc>
                <a:spcPts val="1155"/>
              </a:lnSpc>
              <a:buChar char="●"/>
              <a:tabLst>
                <a:tab pos="316865" algn="l"/>
              </a:tabLst>
            </a:pP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0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0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0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0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endParaRPr sz="100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hit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miss,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them?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expiration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40" dirty="0">
                <a:solidFill>
                  <a:srgbClr val="685D46"/>
                </a:solidFill>
                <a:latin typeface="Arial"/>
                <a:cs typeface="Arial"/>
              </a:rPr>
              <a:t>TTL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(Time-To-Live)</a:t>
            </a:r>
            <a:r>
              <a:rPr sz="7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CDN.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What are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cache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invalidation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strategies,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7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dynamic</a:t>
            </a:r>
            <a:r>
              <a:rPr sz="7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7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caching?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Load Balancing </a:t>
            </a:r>
            <a:r>
              <a:rPr sz="1000" spc="5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 Failover </a:t>
            </a:r>
            <a:r>
              <a:rPr sz="1000" spc="-1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endParaRPr sz="100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7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reliability?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75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75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750" spc="2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routing</a:t>
            </a:r>
            <a:r>
              <a:rPr sz="75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750" spc="2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(Geo-based,</a:t>
            </a:r>
            <a:r>
              <a:rPr sz="75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Latency-based,</a:t>
            </a:r>
            <a:r>
              <a:rPr sz="75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Load-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aware).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happens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PoP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fails?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failover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handling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sz="1000" spc="-45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1000" spc="1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Optimization</a:t>
            </a:r>
            <a:r>
              <a:rPr sz="10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endParaRPr sz="100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r>
              <a:rPr sz="7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miniﬁcation</a:t>
            </a:r>
            <a:r>
              <a:rPr sz="7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techniques</a:t>
            </a:r>
            <a:r>
              <a:rPr sz="75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7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sz="75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use?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optimize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image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delivery?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7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acceleration</a:t>
            </a:r>
            <a:r>
              <a:rPr sz="7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685D46"/>
                </a:solidFill>
                <a:latin typeface="Arial"/>
                <a:cs typeface="Arial"/>
              </a:rPr>
              <a:t>CDN?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sz="1000" spc="-45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10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0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0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endParaRPr sz="100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protect</a:t>
            </a:r>
            <a:r>
              <a:rPr sz="7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against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7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attacks?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40" dirty="0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oﬄoading,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7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useful?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55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7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implementation,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75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mitigated?</a:t>
            </a:r>
            <a:endParaRPr sz="750">
              <a:latin typeface="Arial"/>
              <a:cs typeface="Arial"/>
            </a:endParaRPr>
          </a:p>
          <a:p>
            <a:pPr marL="349250" indent="-336550">
              <a:lnSpc>
                <a:spcPts val="1155"/>
              </a:lnSpc>
              <a:buChar char="●"/>
              <a:tabLst>
                <a:tab pos="349250" algn="l"/>
              </a:tabLst>
            </a:pPr>
            <a:r>
              <a:rPr sz="1000" dirty="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sz="10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-45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10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685D46"/>
                </a:solidFill>
                <a:latin typeface="Arial"/>
                <a:cs typeface="Arial"/>
              </a:rPr>
              <a:t>Topics</a:t>
            </a:r>
            <a:endParaRPr sz="100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75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What is edge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computing, and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does it</a:t>
            </a:r>
            <a:r>
              <a:rPr sz="7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relate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7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CDNs?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80"/>
              </a:lnSpc>
              <a:buChar char="○"/>
              <a:tabLst>
                <a:tab pos="774065" algn="l"/>
              </a:tabLst>
            </a:pP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CDN</a:t>
            </a:r>
            <a:r>
              <a:rPr sz="7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7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platform?</a:t>
            </a:r>
            <a:endParaRPr sz="750">
              <a:latin typeface="Arial"/>
              <a:cs typeface="Arial"/>
            </a:endParaRPr>
          </a:p>
          <a:p>
            <a:pPr marL="774065" lvl="1" indent="-287655">
              <a:lnSpc>
                <a:spcPts val="890"/>
              </a:lnSpc>
              <a:buChar char="○"/>
              <a:tabLst>
                <a:tab pos="774065" algn="l"/>
              </a:tabLst>
            </a:pP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7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gaming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5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sz="7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685D46"/>
                </a:solidFill>
                <a:latin typeface="Arial"/>
                <a:cs typeface="Arial"/>
              </a:rPr>
              <a:t>trading?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10" dirty="0"/>
              <a:t>Wrap-</a:t>
            </a:r>
            <a:r>
              <a:rPr sz="3200" spc="-285" dirty="0"/>
              <a:t>Up</a:t>
            </a:r>
            <a:r>
              <a:rPr sz="3200" spc="-60" dirty="0"/>
              <a:t> </a:t>
            </a:r>
            <a:r>
              <a:rPr sz="3200" dirty="0"/>
              <a:t>&amp;</a:t>
            </a:r>
            <a:r>
              <a:rPr sz="3200" spc="-130" dirty="0"/>
              <a:t> </a:t>
            </a:r>
            <a:r>
              <a:rPr sz="3200" spc="-240" dirty="0"/>
              <a:t>Key</a:t>
            </a:r>
            <a:r>
              <a:rPr sz="3200" spc="-254" dirty="0"/>
              <a:t> </a:t>
            </a:r>
            <a:r>
              <a:rPr sz="3200" spc="-285" dirty="0"/>
              <a:t>Takeaways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03234" cy="24904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by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globally.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latency,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times,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lower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costs.</a:t>
            </a:r>
            <a:endParaRPr sz="1800">
              <a:latin typeface="Arial"/>
              <a:cs typeface="Arial"/>
            </a:endParaRPr>
          </a:p>
          <a:p>
            <a:pPr marL="379095" marR="26098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CDNs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enhance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DDoS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protection,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encryption,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WAFs.</a:t>
            </a:r>
            <a:endParaRPr sz="1800">
              <a:latin typeface="Arial"/>
              <a:cs typeface="Arial"/>
            </a:endParaRPr>
          </a:p>
          <a:p>
            <a:pPr marL="379095" marR="521334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cases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include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static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delivery,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acceleration,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edge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computing.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Topic: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95" dirty="0"/>
              <a:t>Summary</a:t>
            </a:r>
            <a:r>
              <a:rPr spc="-155" dirty="0"/>
              <a:t> </a:t>
            </a:r>
            <a:r>
              <a:rPr spc="-250" dirty="0"/>
              <a:t>of</a:t>
            </a:r>
            <a:r>
              <a:rPr spc="-85" dirty="0"/>
              <a:t> </a:t>
            </a:r>
            <a:r>
              <a:rPr spc="-270" dirty="0"/>
              <a:t>Covered</a:t>
            </a:r>
            <a:r>
              <a:rPr spc="-145" dirty="0"/>
              <a:t> </a:t>
            </a:r>
            <a:r>
              <a:rPr spc="-245" dirty="0"/>
              <a:t>Topics</a:t>
            </a:r>
            <a:r>
              <a:rPr spc="-175" dirty="0"/>
              <a:t> </a:t>
            </a:r>
            <a:r>
              <a:rPr spc="-45" dirty="0"/>
              <a:t>-</a:t>
            </a:r>
            <a:r>
              <a:rPr spc="-254" dirty="0"/>
              <a:t> </a:t>
            </a:r>
            <a:r>
              <a:rPr spc="-260" dirty="0"/>
              <a:t>Networking</a:t>
            </a:r>
            <a:r>
              <a:rPr spc="-50" dirty="0"/>
              <a:t> </a:t>
            </a:r>
            <a:r>
              <a:rPr spc="-130" dirty="0"/>
              <a:t>&amp;</a:t>
            </a:r>
            <a:r>
              <a:rPr spc="-85" dirty="0"/>
              <a:t> </a:t>
            </a:r>
            <a:r>
              <a:rPr spc="-280" dirty="0"/>
              <a:t>Communication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47980" marR="451484" indent="-335915">
              <a:lnSpc>
                <a:spcPts val="1590"/>
              </a:lnSpc>
              <a:spcBef>
                <a:spcPts val="220"/>
              </a:spcBef>
              <a:buFont typeface="Arial"/>
              <a:buChar char="●"/>
              <a:tabLst>
                <a:tab pos="347980" algn="l"/>
              </a:tabLst>
            </a:pPr>
            <a:r>
              <a:rPr spc="-65" dirty="0">
                <a:latin typeface="Arial Black"/>
                <a:cs typeface="Arial Black"/>
              </a:rPr>
              <a:t>Introduction</a:t>
            </a:r>
            <a:r>
              <a:rPr spc="-40" dirty="0">
                <a:latin typeface="Arial Black"/>
                <a:cs typeface="Arial Black"/>
              </a:rPr>
              <a:t> </a:t>
            </a:r>
            <a:r>
              <a:rPr spc="-55" dirty="0">
                <a:latin typeface="Arial Black"/>
                <a:cs typeface="Arial Black"/>
              </a:rPr>
              <a:t>to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85" dirty="0">
                <a:latin typeface="Arial Black"/>
                <a:cs typeface="Arial Black"/>
              </a:rPr>
              <a:t>Networking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40" dirty="0">
                <a:latin typeface="Arial Black"/>
                <a:cs typeface="Arial Black"/>
              </a:rPr>
              <a:t>in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114" dirty="0">
                <a:latin typeface="Arial Black"/>
                <a:cs typeface="Arial Black"/>
              </a:rPr>
              <a:t>System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100" dirty="0">
                <a:latin typeface="Arial Black"/>
                <a:cs typeface="Arial Black"/>
              </a:rPr>
              <a:t>Design</a:t>
            </a:r>
            <a:r>
              <a:rPr spc="-5"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45" dirty="0"/>
              <a:t> </a:t>
            </a:r>
            <a:r>
              <a:rPr dirty="0"/>
              <a:t>Why</a:t>
            </a:r>
            <a:r>
              <a:rPr spc="45" dirty="0"/>
              <a:t> </a:t>
            </a:r>
            <a:r>
              <a:rPr dirty="0"/>
              <a:t>networking</a:t>
            </a:r>
            <a:r>
              <a:rPr spc="45" dirty="0"/>
              <a:t> </a:t>
            </a:r>
            <a:r>
              <a:rPr dirty="0"/>
              <a:t>is</a:t>
            </a:r>
            <a:r>
              <a:rPr spc="45" dirty="0"/>
              <a:t> </a:t>
            </a:r>
            <a:r>
              <a:rPr dirty="0"/>
              <a:t>crucial</a:t>
            </a:r>
            <a:r>
              <a:rPr spc="45" dirty="0"/>
              <a:t> </a:t>
            </a:r>
            <a:r>
              <a:rPr spc="55" dirty="0"/>
              <a:t>in</a:t>
            </a:r>
            <a:r>
              <a:rPr spc="45" dirty="0"/>
              <a:t> </a:t>
            </a:r>
            <a:r>
              <a:rPr spc="40" dirty="0"/>
              <a:t>distributed </a:t>
            </a:r>
            <a:r>
              <a:rPr spc="-10" dirty="0"/>
              <a:t>systems.</a:t>
            </a:r>
          </a:p>
          <a:p>
            <a:pPr marL="347980" indent="-335280">
              <a:lnSpc>
                <a:spcPts val="1510"/>
              </a:lnSpc>
              <a:buFont typeface="Arial"/>
              <a:buChar char="●"/>
              <a:tabLst>
                <a:tab pos="347980" algn="l"/>
              </a:tabLst>
            </a:pPr>
            <a:r>
              <a:rPr spc="-80" dirty="0">
                <a:latin typeface="Arial Black"/>
                <a:cs typeface="Arial Black"/>
              </a:rPr>
              <a:t>Understanding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25" dirty="0">
                <a:latin typeface="Arial Black"/>
                <a:cs typeface="Arial Black"/>
              </a:rPr>
              <a:t>IP</a:t>
            </a:r>
            <a:r>
              <a:rPr spc="-10" dirty="0">
                <a:latin typeface="Arial Black"/>
                <a:cs typeface="Arial Black"/>
              </a:rPr>
              <a:t> </a:t>
            </a:r>
            <a:r>
              <a:rPr spc="-114" dirty="0">
                <a:latin typeface="Arial Black"/>
                <a:cs typeface="Arial Black"/>
              </a:rPr>
              <a:t>Addresses</a:t>
            </a:r>
            <a:r>
              <a:rPr spc="10"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70" dirty="0"/>
              <a:t> </a:t>
            </a:r>
            <a:r>
              <a:rPr dirty="0"/>
              <a:t>Diﬀerences</a:t>
            </a:r>
            <a:r>
              <a:rPr spc="70" dirty="0"/>
              <a:t> </a:t>
            </a:r>
            <a:r>
              <a:rPr dirty="0"/>
              <a:t>between</a:t>
            </a:r>
            <a:r>
              <a:rPr spc="70" dirty="0"/>
              <a:t> </a:t>
            </a:r>
            <a:r>
              <a:rPr spc="-20" dirty="0"/>
              <a:t>IPv4</a:t>
            </a:r>
            <a:r>
              <a:rPr spc="65" dirty="0"/>
              <a:t> </a:t>
            </a:r>
            <a:r>
              <a:rPr spc="75" dirty="0"/>
              <a:t>&amp;</a:t>
            </a:r>
            <a:r>
              <a:rPr spc="70" dirty="0"/>
              <a:t> </a:t>
            </a:r>
            <a:r>
              <a:rPr spc="-25" dirty="0"/>
              <a:t>IPv6,</a:t>
            </a:r>
            <a:r>
              <a:rPr spc="70" dirty="0"/>
              <a:t> </a:t>
            </a:r>
            <a:r>
              <a:rPr dirty="0"/>
              <a:t>public</a:t>
            </a:r>
            <a:r>
              <a:rPr spc="70" dirty="0"/>
              <a:t> </a:t>
            </a:r>
            <a:r>
              <a:rPr spc="-10" dirty="0"/>
              <a:t>vs.</a:t>
            </a:r>
            <a:r>
              <a:rPr spc="70" dirty="0"/>
              <a:t> </a:t>
            </a:r>
            <a:r>
              <a:rPr dirty="0"/>
              <a:t>private</a:t>
            </a:r>
            <a:r>
              <a:rPr spc="65" dirty="0"/>
              <a:t> </a:t>
            </a:r>
            <a:r>
              <a:rPr spc="-20" dirty="0"/>
              <a:t>IPs.</a:t>
            </a:r>
          </a:p>
          <a:p>
            <a:pPr marL="347980" indent="-335280">
              <a:lnSpc>
                <a:spcPts val="1590"/>
              </a:lnSpc>
              <a:buFont typeface="Arial"/>
              <a:buChar char="●"/>
              <a:tabLst>
                <a:tab pos="347980" algn="l"/>
              </a:tabLst>
            </a:pPr>
            <a:r>
              <a:rPr spc="-110" dirty="0">
                <a:latin typeface="Arial Black"/>
                <a:cs typeface="Arial Black"/>
              </a:rPr>
              <a:t>How</a:t>
            </a:r>
            <a:r>
              <a:rPr spc="-30" dirty="0">
                <a:latin typeface="Arial Black"/>
                <a:cs typeface="Arial Black"/>
              </a:rPr>
              <a:t> </a:t>
            </a:r>
            <a:r>
              <a:rPr spc="-130" dirty="0">
                <a:latin typeface="Arial Black"/>
                <a:cs typeface="Arial Black"/>
              </a:rPr>
              <a:t>DNS</a:t>
            </a:r>
            <a:r>
              <a:rPr spc="-30" dirty="0">
                <a:latin typeface="Arial Black"/>
                <a:cs typeface="Arial Black"/>
              </a:rPr>
              <a:t> </a:t>
            </a:r>
            <a:r>
              <a:rPr spc="-85" dirty="0">
                <a:latin typeface="Arial Black"/>
                <a:cs typeface="Arial Black"/>
              </a:rPr>
              <a:t>Works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55" dirty="0"/>
              <a:t> </a:t>
            </a:r>
            <a:r>
              <a:rPr dirty="0"/>
              <a:t>Domain</a:t>
            </a:r>
            <a:r>
              <a:rPr spc="55" dirty="0"/>
              <a:t> </a:t>
            </a:r>
            <a:r>
              <a:rPr dirty="0"/>
              <a:t>Name</a:t>
            </a:r>
            <a:r>
              <a:rPr spc="50" dirty="0"/>
              <a:t> </a:t>
            </a:r>
            <a:r>
              <a:rPr dirty="0"/>
              <a:t>Resolution,</a:t>
            </a:r>
            <a:r>
              <a:rPr spc="55" dirty="0"/>
              <a:t> </a:t>
            </a:r>
            <a:r>
              <a:rPr dirty="0"/>
              <a:t>caching,</a:t>
            </a:r>
            <a:r>
              <a:rPr spc="55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its</a:t>
            </a:r>
            <a:r>
              <a:rPr spc="55" dirty="0"/>
              <a:t> </a:t>
            </a:r>
            <a:r>
              <a:rPr dirty="0"/>
              <a:t>role</a:t>
            </a:r>
            <a:r>
              <a:rPr spc="55" dirty="0"/>
              <a:t> in</a:t>
            </a:r>
            <a:r>
              <a:rPr spc="50" dirty="0"/>
              <a:t> </a:t>
            </a:r>
            <a:r>
              <a:rPr dirty="0"/>
              <a:t>large-scale</a:t>
            </a:r>
            <a:r>
              <a:rPr spc="55" dirty="0"/>
              <a:t> </a:t>
            </a:r>
            <a:r>
              <a:rPr spc="-10" dirty="0"/>
              <a:t>systems.</a:t>
            </a:r>
          </a:p>
          <a:p>
            <a:pPr marL="347980" marR="412115" indent="-335915">
              <a:lnSpc>
                <a:spcPts val="1590"/>
              </a:lnSpc>
              <a:spcBef>
                <a:spcPts val="85"/>
              </a:spcBef>
              <a:buFont typeface="Arial"/>
              <a:buChar char="●"/>
              <a:tabLst>
                <a:tab pos="347980" algn="l"/>
              </a:tabLst>
            </a:pPr>
            <a:r>
              <a:rPr spc="-85" dirty="0">
                <a:latin typeface="Arial Black"/>
                <a:cs typeface="Arial Black"/>
              </a:rPr>
              <a:t>Client-</a:t>
            </a:r>
            <a:r>
              <a:rPr spc="-95" dirty="0">
                <a:latin typeface="Arial Black"/>
                <a:cs typeface="Arial Black"/>
              </a:rPr>
              <a:t>Server</a:t>
            </a:r>
            <a:r>
              <a:rPr spc="30" dirty="0">
                <a:latin typeface="Arial Black"/>
                <a:cs typeface="Arial Black"/>
              </a:rPr>
              <a:t> </a:t>
            </a:r>
            <a:r>
              <a:rPr spc="-75" dirty="0">
                <a:latin typeface="Arial Black"/>
                <a:cs typeface="Arial Black"/>
              </a:rPr>
              <a:t>Model</a:t>
            </a:r>
            <a:r>
              <a:rPr spc="35" dirty="0">
                <a:latin typeface="Arial Black"/>
                <a:cs typeface="Arial Black"/>
              </a:rPr>
              <a:t> </a:t>
            </a:r>
            <a:r>
              <a:rPr spc="-105" dirty="0">
                <a:latin typeface="Arial Black"/>
                <a:cs typeface="Arial Black"/>
              </a:rPr>
              <a:t>Explained</a:t>
            </a:r>
            <a:r>
              <a:rPr spc="50"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114" dirty="0"/>
              <a:t> </a:t>
            </a:r>
            <a:r>
              <a:rPr dirty="0"/>
              <a:t>How</a:t>
            </a:r>
            <a:r>
              <a:rPr spc="114" dirty="0"/>
              <a:t> </a:t>
            </a:r>
            <a:r>
              <a:rPr dirty="0"/>
              <a:t>clients</a:t>
            </a:r>
            <a:r>
              <a:rPr spc="114" dirty="0"/>
              <a:t> </a:t>
            </a:r>
            <a:r>
              <a:rPr dirty="0"/>
              <a:t>and</a:t>
            </a:r>
            <a:r>
              <a:rPr spc="120" dirty="0"/>
              <a:t> </a:t>
            </a:r>
            <a:r>
              <a:rPr dirty="0"/>
              <a:t>servers</a:t>
            </a:r>
            <a:r>
              <a:rPr spc="114" dirty="0"/>
              <a:t> </a:t>
            </a:r>
            <a:r>
              <a:rPr dirty="0"/>
              <a:t>interact</a:t>
            </a:r>
            <a:r>
              <a:rPr spc="114" dirty="0"/>
              <a:t> </a:t>
            </a:r>
            <a:r>
              <a:rPr dirty="0"/>
              <a:t>using</a:t>
            </a:r>
            <a:r>
              <a:rPr spc="114" dirty="0"/>
              <a:t> </a:t>
            </a:r>
            <a:r>
              <a:rPr dirty="0"/>
              <a:t>request-</a:t>
            </a:r>
            <a:r>
              <a:rPr spc="-10" dirty="0"/>
              <a:t>response cycles.</a:t>
            </a:r>
          </a:p>
          <a:p>
            <a:pPr marL="347980" indent="-335280">
              <a:lnSpc>
                <a:spcPts val="1510"/>
              </a:lnSpc>
              <a:buFont typeface="Arial"/>
              <a:buChar char="●"/>
              <a:tabLst>
                <a:tab pos="347980" algn="l"/>
              </a:tabLst>
            </a:pPr>
            <a:r>
              <a:rPr spc="-90" dirty="0">
                <a:latin typeface="Arial Black"/>
                <a:cs typeface="Arial Black"/>
              </a:rPr>
              <a:t>Forward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90" dirty="0">
                <a:latin typeface="Arial Black"/>
                <a:cs typeface="Arial Black"/>
              </a:rPr>
              <a:t>Proxy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105" dirty="0">
                <a:latin typeface="Arial Black"/>
                <a:cs typeface="Arial Black"/>
              </a:rPr>
              <a:t>vs.</a:t>
            </a:r>
            <a:r>
              <a:rPr spc="-30" dirty="0">
                <a:latin typeface="Arial Black"/>
                <a:cs typeface="Arial Black"/>
              </a:rPr>
              <a:t> </a:t>
            </a:r>
            <a:r>
              <a:rPr spc="-120" dirty="0">
                <a:latin typeface="Arial Black"/>
                <a:cs typeface="Arial Black"/>
              </a:rPr>
              <a:t>Reverse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85" dirty="0">
                <a:latin typeface="Arial Black"/>
                <a:cs typeface="Arial Black"/>
              </a:rPr>
              <a:t>Proxy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50" dirty="0"/>
              <a:t> </a:t>
            </a:r>
            <a:r>
              <a:rPr dirty="0"/>
              <a:t>Their</a:t>
            </a:r>
            <a:r>
              <a:rPr spc="45" dirty="0"/>
              <a:t> </a:t>
            </a:r>
            <a:r>
              <a:rPr dirty="0"/>
              <a:t>diﬀerences,</a:t>
            </a:r>
            <a:r>
              <a:rPr spc="50" dirty="0"/>
              <a:t> </a:t>
            </a:r>
            <a:r>
              <a:rPr dirty="0"/>
              <a:t>use</a:t>
            </a:r>
            <a:r>
              <a:rPr spc="50" dirty="0"/>
              <a:t> </a:t>
            </a:r>
            <a:r>
              <a:rPr spc="-20" dirty="0"/>
              <a:t>cases,</a:t>
            </a:r>
            <a:r>
              <a:rPr spc="50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impact</a:t>
            </a:r>
            <a:r>
              <a:rPr spc="50" dirty="0"/>
              <a:t> </a:t>
            </a:r>
            <a:r>
              <a:rPr spc="65" dirty="0"/>
              <a:t>on</a:t>
            </a:r>
            <a:r>
              <a:rPr spc="50" dirty="0"/>
              <a:t> </a:t>
            </a:r>
            <a:r>
              <a:rPr dirty="0"/>
              <a:t>system</a:t>
            </a:r>
            <a:r>
              <a:rPr spc="45" dirty="0"/>
              <a:t> </a:t>
            </a:r>
            <a:r>
              <a:rPr spc="-10" dirty="0"/>
              <a:t>design.</a:t>
            </a:r>
          </a:p>
          <a:p>
            <a:pPr marL="347980" marR="401320" indent="-335915">
              <a:lnSpc>
                <a:spcPts val="1590"/>
              </a:lnSpc>
              <a:spcBef>
                <a:spcPts val="85"/>
              </a:spcBef>
              <a:buFont typeface="Arial"/>
              <a:buChar char="●"/>
              <a:tabLst>
                <a:tab pos="347980" algn="l"/>
              </a:tabLst>
            </a:pPr>
            <a:r>
              <a:rPr spc="-65" dirty="0">
                <a:latin typeface="Arial Black"/>
                <a:cs typeface="Arial Black"/>
              </a:rPr>
              <a:t>Introduction</a:t>
            </a:r>
            <a:r>
              <a:rPr spc="-35" dirty="0">
                <a:latin typeface="Arial Black"/>
                <a:cs typeface="Arial Black"/>
              </a:rPr>
              <a:t> </a:t>
            </a:r>
            <a:r>
              <a:rPr spc="-55" dirty="0">
                <a:latin typeface="Arial Black"/>
                <a:cs typeface="Arial Black"/>
              </a:rPr>
              <a:t>to</a:t>
            </a:r>
            <a:r>
              <a:rPr spc="-30" dirty="0">
                <a:latin typeface="Arial Black"/>
                <a:cs typeface="Arial Black"/>
              </a:rPr>
              <a:t> </a:t>
            </a:r>
            <a:r>
              <a:rPr spc="-105" dirty="0">
                <a:latin typeface="Arial Black"/>
                <a:cs typeface="Arial Black"/>
              </a:rPr>
              <a:t>Load</a:t>
            </a:r>
            <a:r>
              <a:rPr spc="-30" dirty="0">
                <a:latin typeface="Arial Black"/>
                <a:cs typeface="Arial Black"/>
              </a:rPr>
              <a:t> </a:t>
            </a:r>
            <a:r>
              <a:rPr spc="-105" dirty="0">
                <a:latin typeface="Arial Black"/>
                <a:cs typeface="Arial Black"/>
              </a:rPr>
              <a:t>Balancing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50" dirty="0"/>
              <a:t> </a:t>
            </a:r>
            <a:r>
              <a:rPr dirty="0"/>
              <a:t>Why</a:t>
            </a:r>
            <a:r>
              <a:rPr spc="50" dirty="0"/>
              <a:t> </a:t>
            </a:r>
            <a:r>
              <a:rPr dirty="0"/>
              <a:t>it's</a:t>
            </a:r>
            <a:r>
              <a:rPr spc="50" dirty="0"/>
              <a:t> </a:t>
            </a:r>
            <a:r>
              <a:rPr dirty="0"/>
              <a:t>needed,</a:t>
            </a:r>
            <a:r>
              <a:rPr spc="50" dirty="0"/>
              <a:t> </a:t>
            </a:r>
            <a:r>
              <a:rPr dirty="0"/>
              <a:t>types</a:t>
            </a:r>
            <a:r>
              <a:rPr spc="50" dirty="0"/>
              <a:t> </a:t>
            </a:r>
            <a:r>
              <a:rPr spc="65" dirty="0"/>
              <a:t>of</a:t>
            </a:r>
            <a:r>
              <a:rPr spc="50" dirty="0"/>
              <a:t> </a:t>
            </a:r>
            <a:r>
              <a:rPr dirty="0"/>
              <a:t>load</a:t>
            </a:r>
            <a:r>
              <a:rPr spc="50" dirty="0"/>
              <a:t> </a:t>
            </a:r>
            <a:r>
              <a:rPr dirty="0"/>
              <a:t>balancers,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spc="-10" dirty="0"/>
              <a:t>balancing strategies.</a:t>
            </a:r>
          </a:p>
          <a:p>
            <a:pPr marL="347980" marR="426084" indent="-335915">
              <a:lnSpc>
                <a:spcPts val="1590"/>
              </a:lnSpc>
              <a:buFont typeface="Arial"/>
              <a:buChar char="●"/>
              <a:tabLst>
                <a:tab pos="347980" algn="l"/>
              </a:tabLst>
            </a:pPr>
            <a:r>
              <a:rPr spc="-60" dirty="0">
                <a:latin typeface="Arial Black"/>
                <a:cs typeface="Arial Black"/>
              </a:rPr>
              <a:t>What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05" dirty="0">
                <a:latin typeface="Arial Black"/>
                <a:cs typeface="Arial Black"/>
              </a:rPr>
              <a:t>is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75" dirty="0">
                <a:latin typeface="Arial Black"/>
                <a:cs typeface="Arial Black"/>
              </a:rPr>
              <a:t>an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35" dirty="0">
                <a:latin typeface="Arial Black"/>
                <a:cs typeface="Arial Black"/>
              </a:rPr>
              <a:t>API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25" dirty="0">
                <a:latin typeface="Arial Black"/>
                <a:cs typeface="Arial Black"/>
              </a:rPr>
              <a:t>Gateway?</a:t>
            </a:r>
            <a:r>
              <a:rPr spc="-10"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65" dirty="0"/>
              <a:t> </a:t>
            </a:r>
            <a:r>
              <a:rPr dirty="0"/>
              <a:t>Managing</a:t>
            </a:r>
            <a:r>
              <a:rPr spc="65" dirty="0"/>
              <a:t> </a:t>
            </a:r>
            <a:r>
              <a:rPr spc="-60" dirty="0"/>
              <a:t>API</a:t>
            </a:r>
            <a:r>
              <a:rPr spc="70" dirty="0"/>
              <a:t> </a:t>
            </a:r>
            <a:r>
              <a:rPr spc="55" dirty="0"/>
              <a:t>traﬃc,</a:t>
            </a:r>
            <a:r>
              <a:rPr spc="65" dirty="0"/>
              <a:t> </a:t>
            </a:r>
            <a:r>
              <a:rPr dirty="0"/>
              <a:t>enforcing</a:t>
            </a:r>
            <a:r>
              <a:rPr spc="70" dirty="0"/>
              <a:t> </a:t>
            </a:r>
            <a:r>
              <a:rPr dirty="0"/>
              <a:t>security,</a:t>
            </a:r>
            <a:r>
              <a:rPr spc="65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enabling</a:t>
            </a:r>
            <a:r>
              <a:rPr spc="65" dirty="0"/>
              <a:t> </a:t>
            </a:r>
            <a:r>
              <a:rPr spc="45" dirty="0"/>
              <a:t>eﬃcient </a:t>
            </a:r>
            <a:r>
              <a:rPr spc="-10" dirty="0"/>
              <a:t>routing.</a:t>
            </a:r>
          </a:p>
          <a:p>
            <a:pPr marL="347980" marR="96520" indent="-335915">
              <a:lnSpc>
                <a:spcPts val="1590"/>
              </a:lnSpc>
              <a:buFont typeface="Arial"/>
              <a:buChar char="●"/>
              <a:tabLst>
                <a:tab pos="347980" algn="l"/>
              </a:tabLst>
            </a:pPr>
            <a:r>
              <a:rPr spc="-80" dirty="0">
                <a:latin typeface="Arial Black"/>
                <a:cs typeface="Arial Black"/>
              </a:rPr>
              <a:t>Content </a:t>
            </a:r>
            <a:r>
              <a:rPr spc="-75" dirty="0">
                <a:latin typeface="Arial Black"/>
                <a:cs typeface="Arial Black"/>
              </a:rPr>
              <a:t>Delivery </a:t>
            </a:r>
            <a:r>
              <a:rPr spc="-85" dirty="0">
                <a:latin typeface="Arial Black"/>
                <a:cs typeface="Arial Black"/>
              </a:rPr>
              <a:t>Networks</a:t>
            </a:r>
            <a:r>
              <a:rPr spc="-75" dirty="0">
                <a:latin typeface="Arial Black"/>
                <a:cs typeface="Arial Black"/>
              </a:rPr>
              <a:t> </a:t>
            </a:r>
            <a:r>
              <a:rPr spc="-100" dirty="0">
                <a:latin typeface="Arial Black"/>
                <a:cs typeface="Arial Black"/>
              </a:rPr>
              <a:t>(CDN)</a:t>
            </a:r>
            <a:r>
              <a:rPr spc="-75" dirty="0">
                <a:latin typeface="Arial Black"/>
                <a:cs typeface="Arial Black"/>
              </a:rPr>
              <a:t> </a:t>
            </a:r>
            <a:r>
              <a:rPr spc="-40" dirty="0">
                <a:latin typeface="Arial Black"/>
                <a:cs typeface="Arial Black"/>
              </a:rPr>
              <a:t>in</a:t>
            </a:r>
            <a:r>
              <a:rPr spc="-75" dirty="0">
                <a:latin typeface="Arial Black"/>
                <a:cs typeface="Arial Black"/>
              </a:rPr>
              <a:t> </a:t>
            </a:r>
            <a:r>
              <a:rPr spc="-114" dirty="0">
                <a:latin typeface="Arial Black"/>
                <a:cs typeface="Arial Black"/>
              </a:rPr>
              <a:t>System</a:t>
            </a:r>
            <a:r>
              <a:rPr spc="-75" dirty="0">
                <a:latin typeface="Arial Black"/>
                <a:cs typeface="Arial Black"/>
              </a:rPr>
              <a:t> </a:t>
            </a:r>
            <a:r>
              <a:rPr spc="-100" dirty="0">
                <a:latin typeface="Arial Black"/>
                <a:cs typeface="Arial Black"/>
              </a:rPr>
              <a:t>Design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-80" dirty="0"/>
              <a:t>–</a:t>
            </a:r>
            <a:r>
              <a:rPr spc="5" dirty="0"/>
              <a:t> </a:t>
            </a:r>
            <a:r>
              <a:rPr dirty="0"/>
              <a:t>How</a:t>
            </a:r>
            <a:r>
              <a:rPr spc="5" dirty="0"/>
              <a:t> </a:t>
            </a:r>
            <a:r>
              <a:rPr spc="-40" dirty="0"/>
              <a:t>CDNs</a:t>
            </a:r>
            <a:r>
              <a:rPr spc="5" dirty="0"/>
              <a:t> </a:t>
            </a:r>
            <a:r>
              <a:rPr spc="50" dirty="0"/>
              <a:t>improve</a:t>
            </a:r>
            <a:r>
              <a:rPr spc="5" dirty="0"/>
              <a:t> </a:t>
            </a:r>
            <a:r>
              <a:rPr spc="50" dirty="0"/>
              <a:t>performance</a:t>
            </a:r>
            <a:r>
              <a:rPr spc="5" dirty="0"/>
              <a:t> </a:t>
            </a:r>
            <a:r>
              <a:rPr spc="-25" dirty="0"/>
              <a:t>and </a:t>
            </a:r>
            <a:r>
              <a:rPr dirty="0"/>
              <a:t>reduce</a:t>
            </a:r>
            <a:r>
              <a:rPr spc="155" dirty="0"/>
              <a:t> </a:t>
            </a:r>
            <a:r>
              <a:rPr spc="-10" dirty="0"/>
              <a:t>latency.</a:t>
            </a:r>
          </a:p>
          <a:p>
            <a:pPr marL="347980" indent="-335280">
              <a:lnSpc>
                <a:spcPts val="1540"/>
              </a:lnSpc>
              <a:buChar char="●"/>
              <a:tabLst>
                <a:tab pos="347980" algn="l"/>
              </a:tabLst>
            </a:pPr>
            <a:r>
              <a:rPr dirty="0"/>
              <a:t>Whats</a:t>
            </a:r>
            <a:r>
              <a:rPr spc="25" dirty="0"/>
              <a:t> </a:t>
            </a:r>
            <a:r>
              <a:rPr spc="-20" dirty="0"/>
              <a:t>Next</a:t>
            </a:r>
          </a:p>
          <a:p>
            <a:pPr marL="805180" lvl="1" indent="-311785">
              <a:lnSpc>
                <a:spcPts val="1250"/>
              </a:lnSpc>
              <a:buChar char="○"/>
              <a:tabLst>
                <a:tab pos="805180" algn="l"/>
              </a:tabLst>
            </a:pP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992</Words>
  <Application>Microsoft Office PowerPoint</Application>
  <PresentationFormat>On-screen Show (16:9)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Content Delivery Networks (CDN) in System Design</vt:lpstr>
      <vt:lpstr>Introduction to CDNs</vt:lpstr>
      <vt:lpstr>Why are CDNs needed?</vt:lpstr>
      <vt:lpstr>CDN Architecture Overview</vt:lpstr>
      <vt:lpstr>How a CDN Works and Handles a User Request</vt:lpstr>
      <vt:lpstr>Key CDN Features/Beneﬁts of CDN Working Mechanism</vt:lpstr>
      <vt:lpstr>Content Caching and Replication</vt:lpstr>
      <vt:lpstr>Load Balancing/Failover Handling and Request Routing</vt:lpstr>
      <vt:lpstr>Compression &amp; Miniﬁcation</vt:lpstr>
      <vt:lpstr>Security Features</vt:lpstr>
      <vt:lpstr>Use Cases of CDNs</vt:lpstr>
      <vt:lpstr>PowerPoint Presentation</vt:lpstr>
      <vt:lpstr>Wrap-Up &amp; Key Takeaways</vt:lpstr>
      <vt:lpstr>Summary of Covered Topics - Networking &amp; Communication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