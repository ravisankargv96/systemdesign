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8" r:id="rId2"/>
    <p:sldId id="299" r:id="rId3"/>
    <p:sldId id="300" r:id="rId4"/>
    <p:sldId id="301" r:id="rId5"/>
    <p:sldId id="302" r:id="rId6"/>
    <p:sldId id="303" r:id="rId7"/>
    <p:sldId id="304" r:id="rId8"/>
    <p:sldId id="305" r:id="rId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5396" y="2146606"/>
            <a:ext cx="6913206" cy="539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805688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352" y="1323759"/>
            <a:ext cx="8220075" cy="3021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32840">
              <a:lnSpc>
                <a:spcPct val="100000"/>
              </a:lnSpc>
              <a:spcBef>
                <a:spcPts val="110"/>
              </a:spcBef>
            </a:pPr>
            <a:r>
              <a:rPr sz="3350" spc="-240" dirty="0"/>
              <a:t>Introduction</a:t>
            </a:r>
            <a:r>
              <a:rPr sz="3350" spc="-30" dirty="0"/>
              <a:t> </a:t>
            </a:r>
            <a:r>
              <a:rPr sz="3350" spc="-254" dirty="0"/>
              <a:t>to</a:t>
            </a:r>
            <a:r>
              <a:rPr sz="3350" spc="-30" dirty="0"/>
              <a:t> </a:t>
            </a:r>
            <a:r>
              <a:rPr sz="3350" spc="-250" dirty="0"/>
              <a:t>Load</a:t>
            </a:r>
            <a:r>
              <a:rPr sz="3350" spc="-30" dirty="0"/>
              <a:t> </a:t>
            </a:r>
            <a:r>
              <a:rPr sz="3350" spc="-185" dirty="0"/>
              <a:t>Balancing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417245" y="2910872"/>
            <a:ext cx="4305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5" dirty="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14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70" dirty="0"/>
              <a:t>Why</a:t>
            </a:r>
            <a:r>
              <a:rPr sz="3200" spc="-150" dirty="0"/>
              <a:t> </a:t>
            </a:r>
            <a:r>
              <a:rPr sz="3200" spc="-225" dirty="0"/>
              <a:t>Load</a:t>
            </a:r>
            <a:r>
              <a:rPr sz="3200" spc="-45" dirty="0"/>
              <a:t> </a:t>
            </a:r>
            <a:r>
              <a:rPr sz="3200" spc="-190" dirty="0"/>
              <a:t>Balancing</a:t>
            </a:r>
            <a:r>
              <a:rPr sz="3200" spc="-50" dirty="0"/>
              <a:t> </a:t>
            </a:r>
            <a:r>
              <a:rPr sz="3200" spc="-90" dirty="0"/>
              <a:t>is</a:t>
            </a:r>
            <a:r>
              <a:rPr sz="3200" spc="-45" dirty="0"/>
              <a:t> </a:t>
            </a:r>
            <a:r>
              <a:rPr sz="3200" spc="-290" dirty="0"/>
              <a:t>Needed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06352" y="1323759"/>
            <a:ext cx="3985895" cy="306578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47980" marR="312420" indent="-335915">
              <a:lnSpc>
                <a:spcPts val="1590"/>
              </a:lnSpc>
              <a:spcBef>
                <a:spcPts val="220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Availability: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Ensures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uptime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even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under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traﬃc.</a:t>
            </a:r>
            <a:endParaRPr sz="1400">
              <a:latin typeface="Arial"/>
              <a:cs typeface="Arial"/>
            </a:endParaRPr>
          </a:p>
          <a:p>
            <a:pPr marL="347980" marR="563880" indent="-335915">
              <a:lnSpc>
                <a:spcPts val="1590"/>
              </a:lnSpc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Distribution: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Spreads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requests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evenly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400">
              <a:latin typeface="Arial"/>
              <a:cs typeface="Arial"/>
            </a:endParaRPr>
          </a:p>
          <a:p>
            <a:pPr marL="347980" marR="59690" indent="-335915">
              <a:lnSpc>
                <a:spcPts val="1590"/>
              </a:lnSpc>
              <a:spcBef>
                <a:spcPts val="5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Prevents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Overload: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Avoids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overburdening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a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server.</a:t>
            </a:r>
            <a:endParaRPr sz="1400">
              <a:latin typeface="Arial"/>
              <a:cs typeface="Arial"/>
            </a:endParaRPr>
          </a:p>
          <a:p>
            <a:pPr marL="347980" marR="321310" indent="-335915">
              <a:lnSpc>
                <a:spcPts val="1590"/>
              </a:lnSpc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Improves</a:t>
            </a:r>
            <a:r>
              <a:rPr sz="1400" spc="1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Performance:</a:t>
            </a:r>
            <a:r>
              <a:rPr sz="1400" spc="1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Reduces</a:t>
            </a:r>
            <a:r>
              <a:rPr sz="1400" spc="1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latency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enhances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times.</a:t>
            </a:r>
            <a:endParaRPr sz="1400">
              <a:latin typeface="Arial"/>
              <a:cs typeface="Arial"/>
            </a:endParaRPr>
          </a:p>
          <a:p>
            <a:pPr marL="347980" marR="5080" indent="-335915">
              <a:lnSpc>
                <a:spcPts val="1590"/>
              </a:lnSpc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Handles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Failures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Gracefully: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Redirects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traﬃc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case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server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failure.</a:t>
            </a:r>
            <a:endParaRPr sz="1400">
              <a:latin typeface="Arial"/>
              <a:cs typeface="Arial"/>
            </a:endParaRPr>
          </a:p>
          <a:p>
            <a:pPr marL="347980" marR="287655" indent="-335915">
              <a:lnSpc>
                <a:spcPts val="1590"/>
              </a:lnSpc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Supports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Scalability: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systems eﬃciently.</a:t>
            </a:r>
            <a:endParaRPr sz="1400">
              <a:latin typeface="Arial"/>
              <a:cs typeface="Arial"/>
            </a:endParaRPr>
          </a:p>
          <a:p>
            <a:pPr marL="347980" marR="285750" indent="-335915">
              <a:lnSpc>
                <a:spcPts val="1590"/>
              </a:lnSpc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high-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e-commerce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site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peak-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hour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requests.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5507" y="1207732"/>
            <a:ext cx="2910216" cy="34922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54" dirty="0"/>
              <a:t>Types</a:t>
            </a:r>
            <a:r>
              <a:rPr sz="3200" spc="-45" dirty="0"/>
              <a:t> </a:t>
            </a:r>
            <a:r>
              <a:rPr sz="3200" spc="-250" dirty="0"/>
              <a:t>of</a:t>
            </a:r>
            <a:r>
              <a:rPr sz="3200" spc="-45" dirty="0"/>
              <a:t> </a:t>
            </a:r>
            <a:r>
              <a:rPr sz="3200" spc="-225" dirty="0"/>
              <a:t>Load</a:t>
            </a:r>
            <a:r>
              <a:rPr sz="3200" spc="-45" dirty="0"/>
              <a:t> </a:t>
            </a:r>
            <a:r>
              <a:rPr sz="3200" spc="-185" dirty="0"/>
              <a:t>Balancers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7813675" cy="2183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ts val="2125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endParaRPr sz="1800">
              <a:latin typeface="Arial"/>
              <a:cs typeface="Arial"/>
            </a:endParaRPr>
          </a:p>
          <a:p>
            <a:pPr marL="836294" marR="5080" lvl="1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4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(Transport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Layer):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Operates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at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685D46"/>
                </a:solidFill>
                <a:latin typeface="Arial"/>
                <a:cs typeface="Arial"/>
              </a:rPr>
              <a:t>TCP/UDP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level,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distributing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on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network-level</a:t>
            </a:r>
            <a:r>
              <a:rPr sz="1400" spc="48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1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7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(Application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Layer):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Operates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at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685D46"/>
                </a:solidFill>
                <a:latin typeface="Arial"/>
                <a:cs typeface="Arial"/>
              </a:rPr>
              <a:t>HTTP/HTTPS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level,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making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routing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decisions</a:t>
            </a:r>
            <a:endParaRPr sz="1400">
              <a:latin typeface="Arial"/>
              <a:cs typeface="Arial"/>
            </a:endParaRPr>
          </a:p>
          <a:p>
            <a:pPr marL="836294">
              <a:lnSpc>
                <a:spcPts val="1580"/>
              </a:lnSpc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content.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2065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Deployment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Hardware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Balancers: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Specialized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devices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685D46"/>
                </a:solidFill>
                <a:latin typeface="Arial"/>
                <a:cs typeface="Arial"/>
              </a:rPr>
              <a:t>F5,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Citrix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NetScaler).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Software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Balancers: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Nginx,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HAProxy,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Envoy.</a:t>
            </a:r>
            <a:endParaRPr sz="1400">
              <a:latin typeface="Arial"/>
              <a:cs typeface="Arial"/>
            </a:endParaRPr>
          </a:p>
          <a:p>
            <a:pPr marL="836294" marR="256540" lvl="1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Cloud-based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Balancers: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95" dirty="0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Elastic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75" dirty="0">
                <a:solidFill>
                  <a:srgbClr val="685D46"/>
                </a:solidFill>
                <a:latin typeface="Arial"/>
                <a:cs typeface="Arial"/>
              </a:rPr>
              <a:t>(ELB),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Google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Load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Balancing.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6945" y="3375675"/>
            <a:ext cx="3942848" cy="14291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25" dirty="0"/>
              <a:t>Load</a:t>
            </a:r>
            <a:r>
              <a:rPr sz="3200" spc="-25" dirty="0"/>
              <a:t> </a:t>
            </a:r>
            <a:r>
              <a:rPr sz="3200" spc="-190" dirty="0"/>
              <a:t>Balancing</a:t>
            </a:r>
            <a:r>
              <a:rPr sz="3200" spc="-25" dirty="0"/>
              <a:t> </a:t>
            </a:r>
            <a:r>
              <a:rPr sz="3200" spc="-145" dirty="0"/>
              <a:t>Strategies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5677" y="1320742"/>
            <a:ext cx="3907790" cy="2959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68300" indent="-355600">
              <a:lnSpc>
                <a:spcPts val="1945"/>
              </a:lnSpc>
              <a:spcBef>
                <a:spcPts val="115"/>
              </a:spcBef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Static</a:t>
            </a:r>
            <a:r>
              <a:rPr sz="1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endParaRPr sz="1650">
              <a:latin typeface="Arial"/>
              <a:cs typeface="Arial"/>
            </a:endParaRPr>
          </a:p>
          <a:p>
            <a:pPr marL="826135" marR="452755" lvl="1" indent="-328295">
              <a:lnSpc>
                <a:spcPts val="1480"/>
              </a:lnSpc>
              <a:spcBef>
                <a:spcPts val="80"/>
              </a:spcBef>
              <a:buChar char="○"/>
              <a:tabLst>
                <a:tab pos="826135" algn="l"/>
              </a:tabLst>
            </a:pP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Round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Robin: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Distributes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requests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sequentially</a:t>
            </a:r>
            <a:r>
              <a:rPr sz="1300" spc="70" dirty="0">
                <a:solidFill>
                  <a:srgbClr val="685D46"/>
                </a:solidFill>
                <a:latin typeface="Arial"/>
                <a:cs typeface="Arial"/>
              </a:rPr>
              <a:t> to</a:t>
            </a:r>
            <a:r>
              <a:rPr sz="13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13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server.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39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Least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Connections: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Directs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75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7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endParaRPr sz="1300">
              <a:latin typeface="Arial"/>
              <a:cs typeface="Arial"/>
            </a:endParaRPr>
          </a:p>
          <a:p>
            <a:pPr marL="826135">
              <a:lnSpc>
                <a:spcPts val="1475"/>
              </a:lnSpc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3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3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3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fewest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connections.</a:t>
            </a:r>
            <a:endParaRPr sz="1300">
              <a:latin typeface="Arial"/>
              <a:cs typeface="Arial"/>
            </a:endParaRPr>
          </a:p>
          <a:p>
            <a:pPr marL="826135" marR="189230" lvl="1" indent="-328295">
              <a:lnSpc>
                <a:spcPts val="1480"/>
              </a:lnSpc>
              <a:spcBef>
                <a:spcPts val="75"/>
              </a:spcBef>
              <a:buChar char="○"/>
              <a:tabLst>
                <a:tab pos="826135" algn="l"/>
              </a:tabLst>
            </a:pPr>
            <a:r>
              <a:rPr sz="1300" spc="-35" dirty="0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Hashing: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Routes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on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3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IP.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ts val="1810"/>
              </a:lnSpc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Dynamic</a:t>
            </a:r>
            <a:r>
              <a:rPr sz="1650" spc="1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650" spc="1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endParaRPr sz="1650">
              <a:latin typeface="Arial"/>
              <a:cs typeface="Arial"/>
            </a:endParaRPr>
          </a:p>
          <a:p>
            <a:pPr marL="826135" marR="5080" lvl="1" indent="-328295">
              <a:lnSpc>
                <a:spcPts val="1480"/>
              </a:lnSpc>
              <a:spcBef>
                <a:spcPts val="80"/>
              </a:spcBef>
              <a:buChar char="○"/>
              <a:tabLst>
                <a:tab pos="826135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Least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 Time: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 requests </a:t>
            </a:r>
            <a:r>
              <a:rPr sz="1300" spc="45" dirty="0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fastest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response.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39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Adaptive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Balancing: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300" spc="-20" dirty="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endParaRPr sz="1300">
              <a:latin typeface="Arial"/>
              <a:cs typeface="Arial"/>
            </a:endParaRPr>
          </a:p>
          <a:p>
            <a:pPr marL="826135">
              <a:lnSpc>
                <a:spcPts val="1475"/>
              </a:lnSpc>
            </a:pP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monitoring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7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make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decisions.</a:t>
            </a:r>
            <a:endParaRPr sz="1300">
              <a:latin typeface="Arial"/>
              <a:cs typeface="Arial"/>
            </a:endParaRPr>
          </a:p>
          <a:p>
            <a:pPr marL="826135" marR="231775" lvl="1" indent="-328295">
              <a:lnSpc>
                <a:spcPts val="1480"/>
              </a:lnSpc>
              <a:spcBef>
                <a:spcPts val="75"/>
              </a:spcBef>
              <a:buChar char="○"/>
              <a:tabLst>
                <a:tab pos="826135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Weighted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Balancing: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Assigns 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weights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7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on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capacity.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1230950"/>
            <a:ext cx="4571999" cy="22163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25" dirty="0"/>
              <a:t>Load</a:t>
            </a:r>
            <a:r>
              <a:rPr sz="3200" spc="-35" dirty="0"/>
              <a:t> </a:t>
            </a:r>
            <a:r>
              <a:rPr sz="3200" spc="-220" dirty="0"/>
              <a:t>Balancer</a:t>
            </a:r>
            <a:r>
              <a:rPr sz="3200" spc="-30" dirty="0"/>
              <a:t> </a:t>
            </a:r>
            <a:r>
              <a:rPr sz="3200" spc="-165" dirty="0"/>
              <a:t>in</a:t>
            </a:r>
            <a:r>
              <a:rPr sz="3200" spc="-145" dirty="0"/>
              <a:t> </a:t>
            </a:r>
            <a:r>
              <a:rPr sz="3200" spc="-200" dirty="0"/>
              <a:t>Action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3870960" cy="134810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Example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Scenario:</a:t>
            </a:r>
            <a:endParaRPr sz="1800">
              <a:latin typeface="Arial"/>
              <a:cs typeface="Arial"/>
            </a:endParaRPr>
          </a:p>
          <a:p>
            <a:pPr marL="836294" marR="435609" lvl="1" indent="-336550">
              <a:lnSpc>
                <a:spcPct val="114999"/>
              </a:lnSpc>
              <a:spcBef>
                <a:spcPts val="9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application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multiple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400">
              <a:latin typeface="Arial"/>
              <a:cs typeface="Arial"/>
            </a:endParaRPr>
          </a:p>
          <a:p>
            <a:pPr marL="836294" marR="5080" lvl="1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Users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send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requests,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load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distributes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them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eﬃciently.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199" cy="24508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04" dirty="0"/>
              <a:t>Choosing</a:t>
            </a:r>
            <a:r>
              <a:rPr sz="3200" spc="-25" dirty="0"/>
              <a:t> </a:t>
            </a:r>
            <a:r>
              <a:rPr sz="3200" spc="-229" dirty="0"/>
              <a:t>the</a:t>
            </a:r>
            <a:r>
              <a:rPr sz="3200" spc="-25" dirty="0"/>
              <a:t> </a:t>
            </a:r>
            <a:r>
              <a:rPr sz="3200" spc="-160" dirty="0"/>
              <a:t>Right</a:t>
            </a:r>
            <a:r>
              <a:rPr sz="3200" spc="-20" dirty="0"/>
              <a:t> </a:t>
            </a:r>
            <a:r>
              <a:rPr sz="3200" spc="-225" dirty="0"/>
              <a:t>Load</a:t>
            </a:r>
            <a:r>
              <a:rPr sz="3200" spc="-25" dirty="0"/>
              <a:t> </a:t>
            </a:r>
            <a:r>
              <a:rPr sz="3200" spc="-195" dirty="0"/>
              <a:t>Balancer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618730" cy="203453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4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7: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type.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Needs: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Matching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right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volume.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Concerns: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80" dirty="0">
                <a:solidFill>
                  <a:srgbClr val="685D46"/>
                </a:solidFill>
                <a:latin typeface="Arial"/>
                <a:cs typeface="Arial"/>
              </a:rPr>
              <a:t>SSL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termination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protection.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-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Nginx/HAProxy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95" dirty="0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90" dirty="0">
                <a:solidFill>
                  <a:srgbClr val="685D46"/>
                </a:solidFill>
                <a:latin typeface="Arial"/>
                <a:cs typeface="Arial"/>
              </a:rPr>
              <a:t>ELB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for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cloud-native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Hardware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Balancers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enterprise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centers.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15" dirty="0"/>
              <a:t>Interview</a:t>
            </a:r>
            <a:r>
              <a:rPr sz="3200" spc="-140" dirty="0"/>
              <a:t> </a:t>
            </a:r>
            <a:r>
              <a:rPr sz="3200" spc="-229" dirty="0"/>
              <a:t>Questions</a:t>
            </a:r>
            <a:r>
              <a:rPr sz="3200" spc="-30" dirty="0"/>
              <a:t> </a:t>
            </a:r>
            <a:r>
              <a:rPr sz="3200" spc="-275" dirty="0"/>
              <a:t>on</a:t>
            </a:r>
            <a:r>
              <a:rPr sz="3200" spc="-30" dirty="0"/>
              <a:t> </a:t>
            </a:r>
            <a:r>
              <a:rPr sz="3200" spc="-225" dirty="0"/>
              <a:t>Load</a:t>
            </a:r>
            <a:r>
              <a:rPr sz="3200" spc="-30" dirty="0"/>
              <a:t> </a:t>
            </a:r>
            <a:r>
              <a:rPr sz="3200" spc="-160" dirty="0"/>
              <a:t>Balancing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09958"/>
            <a:ext cx="7919084" cy="291782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259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balancing,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4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7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balancing.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availability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failover?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Cases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Compare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Round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Robin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Least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Connections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strategies.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advantages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Weighted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Balancing?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software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hardware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one?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Scenarios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solution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large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e-commerce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site?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factors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considered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choosing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strategy?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security?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90" dirty="0"/>
              <a:t>Summary</a:t>
            </a:r>
            <a:r>
              <a:rPr sz="3200" spc="-160" dirty="0"/>
              <a:t> </a:t>
            </a:r>
            <a:r>
              <a:rPr sz="3200" dirty="0"/>
              <a:t>&amp;</a:t>
            </a:r>
            <a:r>
              <a:rPr sz="3200" spc="-130" dirty="0"/>
              <a:t> </a:t>
            </a:r>
            <a:r>
              <a:rPr sz="3200" spc="-240" dirty="0"/>
              <a:t>Key</a:t>
            </a:r>
            <a:r>
              <a:rPr sz="3200" spc="-254" dirty="0"/>
              <a:t> </a:t>
            </a:r>
            <a:r>
              <a:rPr sz="3200" spc="-285" dirty="0"/>
              <a:t>Takeaways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47980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47980" algn="l"/>
              </a:tabLst>
            </a:pPr>
            <a:r>
              <a:rPr sz="1800" spc="10" dirty="0"/>
              <a:t>Load</a:t>
            </a:r>
            <a:r>
              <a:rPr sz="1800" spc="114" dirty="0"/>
              <a:t> </a:t>
            </a:r>
            <a:r>
              <a:rPr sz="1800" spc="10" dirty="0"/>
              <a:t>balancing</a:t>
            </a:r>
            <a:r>
              <a:rPr sz="1800" spc="120" dirty="0"/>
              <a:t> </a:t>
            </a:r>
            <a:r>
              <a:rPr sz="1800" spc="10" dirty="0"/>
              <a:t>enhances</a:t>
            </a:r>
            <a:r>
              <a:rPr sz="1800" spc="125" dirty="0"/>
              <a:t> </a:t>
            </a:r>
            <a:r>
              <a:rPr sz="1800" spc="10" dirty="0"/>
              <a:t>scalability,</a:t>
            </a:r>
            <a:r>
              <a:rPr sz="1800" spc="114" dirty="0"/>
              <a:t> </a:t>
            </a:r>
            <a:r>
              <a:rPr sz="1800" spc="10" dirty="0"/>
              <a:t>reliability,</a:t>
            </a:r>
            <a:r>
              <a:rPr sz="1800" spc="120" dirty="0"/>
              <a:t> </a:t>
            </a:r>
            <a:r>
              <a:rPr sz="1800" spc="55" dirty="0"/>
              <a:t>and</a:t>
            </a:r>
            <a:r>
              <a:rPr sz="1800" spc="114" dirty="0"/>
              <a:t> </a:t>
            </a:r>
            <a:r>
              <a:rPr sz="1800" spc="45" dirty="0"/>
              <a:t>performance.</a:t>
            </a:r>
            <a:endParaRPr sz="1800"/>
          </a:p>
          <a:p>
            <a:pPr marL="347980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47980" algn="l"/>
              </a:tabLst>
            </a:pPr>
            <a:r>
              <a:rPr sz="1800" spc="80" dirty="0"/>
              <a:t>Diﬀerent</a:t>
            </a:r>
            <a:r>
              <a:rPr sz="1800" spc="40" dirty="0"/>
              <a:t> </a:t>
            </a:r>
            <a:r>
              <a:rPr sz="1800" dirty="0"/>
              <a:t>types</a:t>
            </a:r>
            <a:r>
              <a:rPr sz="1800" spc="45" dirty="0"/>
              <a:t> </a:t>
            </a:r>
            <a:r>
              <a:rPr sz="1800" dirty="0"/>
              <a:t>exist</a:t>
            </a:r>
            <a:r>
              <a:rPr sz="1800" spc="40" dirty="0"/>
              <a:t> </a:t>
            </a:r>
            <a:r>
              <a:rPr sz="1800" dirty="0"/>
              <a:t>based</a:t>
            </a:r>
            <a:r>
              <a:rPr sz="1800" spc="40" dirty="0"/>
              <a:t> </a:t>
            </a:r>
            <a:r>
              <a:rPr sz="1800" spc="85" dirty="0"/>
              <a:t>on</a:t>
            </a:r>
            <a:r>
              <a:rPr sz="1800" spc="40" dirty="0"/>
              <a:t> </a:t>
            </a:r>
            <a:r>
              <a:rPr sz="1800" dirty="0"/>
              <a:t>layers</a:t>
            </a:r>
            <a:r>
              <a:rPr sz="1800" spc="45" dirty="0"/>
              <a:t> </a:t>
            </a:r>
            <a:r>
              <a:rPr sz="1800" spc="55" dirty="0"/>
              <a:t>and</a:t>
            </a:r>
            <a:r>
              <a:rPr sz="1800" spc="40" dirty="0"/>
              <a:t> </a:t>
            </a:r>
            <a:r>
              <a:rPr sz="1800" spc="65" dirty="0"/>
              <a:t>deployment</a:t>
            </a:r>
            <a:r>
              <a:rPr sz="1800" spc="40" dirty="0"/>
              <a:t> </a:t>
            </a:r>
            <a:r>
              <a:rPr sz="1800" spc="-10" dirty="0"/>
              <a:t>models.</a:t>
            </a:r>
            <a:endParaRPr sz="1800"/>
          </a:p>
          <a:p>
            <a:pPr marL="347980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47980" algn="l"/>
              </a:tabLst>
            </a:pPr>
            <a:r>
              <a:rPr sz="1800" dirty="0"/>
              <a:t>Choosing</a:t>
            </a:r>
            <a:r>
              <a:rPr sz="1800" spc="25" dirty="0"/>
              <a:t> </a:t>
            </a:r>
            <a:r>
              <a:rPr sz="1800" spc="80" dirty="0"/>
              <a:t>the</a:t>
            </a:r>
            <a:r>
              <a:rPr sz="1800" spc="35" dirty="0"/>
              <a:t> </a:t>
            </a:r>
            <a:r>
              <a:rPr sz="1800" spc="70" dirty="0"/>
              <a:t>right</a:t>
            </a:r>
            <a:r>
              <a:rPr sz="1800" spc="30" dirty="0"/>
              <a:t> </a:t>
            </a:r>
            <a:r>
              <a:rPr sz="1800" dirty="0"/>
              <a:t>strategy</a:t>
            </a:r>
            <a:r>
              <a:rPr sz="1800" spc="30" dirty="0"/>
              <a:t> </a:t>
            </a:r>
            <a:r>
              <a:rPr sz="1800" spc="45" dirty="0"/>
              <a:t>depends</a:t>
            </a:r>
            <a:r>
              <a:rPr sz="1800" spc="35" dirty="0"/>
              <a:t> </a:t>
            </a:r>
            <a:r>
              <a:rPr sz="1800" spc="85" dirty="0"/>
              <a:t>on</a:t>
            </a:r>
            <a:r>
              <a:rPr sz="1800" spc="30" dirty="0"/>
              <a:t> </a:t>
            </a:r>
            <a:r>
              <a:rPr sz="1800" spc="100" dirty="0"/>
              <a:t>traﬃc</a:t>
            </a:r>
            <a:r>
              <a:rPr sz="1800" spc="35" dirty="0"/>
              <a:t> </a:t>
            </a:r>
            <a:r>
              <a:rPr sz="1800" spc="65" dirty="0"/>
              <a:t>patterns</a:t>
            </a:r>
            <a:r>
              <a:rPr sz="1800" spc="35" dirty="0"/>
              <a:t> </a:t>
            </a:r>
            <a:r>
              <a:rPr sz="1800" spc="55" dirty="0"/>
              <a:t>and</a:t>
            </a:r>
            <a:r>
              <a:rPr sz="1800" spc="25" dirty="0"/>
              <a:t> </a:t>
            </a:r>
            <a:r>
              <a:rPr sz="1800" dirty="0"/>
              <a:t>system</a:t>
            </a:r>
            <a:r>
              <a:rPr sz="1800" spc="30" dirty="0"/>
              <a:t> </a:t>
            </a:r>
            <a:r>
              <a:rPr sz="1800" spc="-10" dirty="0"/>
              <a:t>needs.</a:t>
            </a:r>
            <a:endParaRPr sz="1800"/>
          </a:p>
          <a:p>
            <a:pPr marL="347980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47980" algn="l"/>
              </a:tabLst>
            </a:pPr>
            <a:r>
              <a:rPr sz="1800" dirty="0"/>
              <a:t>Essential</a:t>
            </a:r>
            <a:r>
              <a:rPr sz="1800" spc="45" dirty="0"/>
              <a:t> </a:t>
            </a:r>
            <a:r>
              <a:rPr sz="1800" spc="100" dirty="0"/>
              <a:t>for</a:t>
            </a:r>
            <a:r>
              <a:rPr sz="1800" spc="35" dirty="0"/>
              <a:t> </a:t>
            </a:r>
            <a:r>
              <a:rPr sz="1800" dirty="0"/>
              <a:t>highly</a:t>
            </a:r>
            <a:r>
              <a:rPr sz="1800" spc="40" dirty="0"/>
              <a:t> </a:t>
            </a:r>
            <a:r>
              <a:rPr sz="1800" dirty="0"/>
              <a:t>available</a:t>
            </a:r>
            <a:r>
              <a:rPr sz="1800" spc="45" dirty="0"/>
              <a:t> </a:t>
            </a:r>
            <a:r>
              <a:rPr sz="1800" spc="55" dirty="0"/>
              <a:t>and</a:t>
            </a:r>
            <a:r>
              <a:rPr sz="1800" spc="40" dirty="0"/>
              <a:t> </a:t>
            </a:r>
            <a:r>
              <a:rPr sz="1800" spc="50" dirty="0"/>
              <a:t>resilient</a:t>
            </a:r>
            <a:r>
              <a:rPr sz="1800" spc="45" dirty="0"/>
              <a:t> </a:t>
            </a:r>
            <a:r>
              <a:rPr sz="1800" spc="-10" dirty="0"/>
              <a:t>architectures.</a:t>
            </a:r>
            <a:endParaRPr sz="1800"/>
          </a:p>
          <a:p>
            <a:pPr marL="347980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47980" algn="l"/>
              </a:tabLst>
            </a:pPr>
            <a:r>
              <a:rPr sz="1800" dirty="0"/>
              <a:t>What’s</a:t>
            </a:r>
            <a:r>
              <a:rPr sz="1800" spc="-15" dirty="0"/>
              <a:t> </a:t>
            </a:r>
            <a:r>
              <a:rPr sz="1800" spc="-10" dirty="0"/>
              <a:t>next:</a:t>
            </a:r>
            <a:endParaRPr sz="1800"/>
          </a:p>
          <a:p>
            <a:pPr marL="805180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05180" algn="l"/>
              </a:tabLst>
            </a:pP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5D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507</Words>
  <Application>Microsoft Office PowerPoint</Application>
  <PresentationFormat>On-screen Show (16:9)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Introduction to Load Balancing</vt:lpstr>
      <vt:lpstr>Why Load Balancing is Needed</vt:lpstr>
      <vt:lpstr>Types of Load Balancers</vt:lpstr>
      <vt:lpstr>Load Balancing Strategies</vt:lpstr>
      <vt:lpstr>Load Balancer in Action</vt:lpstr>
      <vt:lpstr>Choosing the Right Load Balancer</vt:lpstr>
      <vt:lpstr>Interview Questions on Load Balancing</vt:lpstr>
      <vt:lpstr>Summary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2</dc:title>
  <cp:lastModifiedBy>RAVI GV</cp:lastModifiedBy>
  <cp:revision>1</cp:revision>
  <dcterms:created xsi:type="dcterms:W3CDTF">2025-11-15T06:20:52Z</dcterms:created>
  <dcterms:modified xsi:type="dcterms:W3CDTF">2025-11-15T06:31:51Z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