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78" r:id="rId9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5396" y="2146606"/>
            <a:ext cx="6913206" cy="5398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8056880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6352" y="1323759"/>
            <a:ext cx="8220075" cy="3021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257425">
              <a:lnSpc>
                <a:spcPct val="100000"/>
              </a:lnSpc>
              <a:spcBef>
                <a:spcPts val="110"/>
              </a:spcBef>
            </a:pPr>
            <a:r>
              <a:rPr sz="3350" spc="-400" dirty="0"/>
              <a:t>How</a:t>
            </a:r>
            <a:r>
              <a:rPr sz="3350" spc="-125" dirty="0"/>
              <a:t> </a:t>
            </a:r>
            <a:r>
              <a:rPr sz="3350" spc="-280" dirty="0"/>
              <a:t>DNS</a:t>
            </a:r>
            <a:r>
              <a:rPr sz="3350" spc="-130" dirty="0"/>
              <a:t> </a:t>
            </a:r>
            <a:r>
              <a:rPr sz="3350" spc="-355" dirty="0"/>
              <a:t>Works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2417245" y="2910872"/>
            <a:ext cx="4305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75" dirty="0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sz="24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spc="14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24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spc="60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291719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15" dirty="0"/>
              <a:t>Introduction</a:t>
            </a:r>
            <a:r>
              <a:rPr sz="3200" spc="-10" dirty="0"/>
              <a:t> </a:t>
            </a:r>
            <a:r>
              <a:rPr sz="3200" spc="-235" dirty="0"/>
              <a:t>to</a:t>
            </a:r>
            <a:r>
              <a:rPr sz="3200" spc="-10" dirty="0"/>
              <a:t> </a:t>
            </a:r>
            <a:r>
              <a:rPr sz="3200" spc="-229" dirty="0"/>
              <a:t>DNS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7401559" cy="166370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DNS?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"phonebook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internet."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Translates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human-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readable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domain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names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google.com)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into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685D46"/>
                </a:solidFill>
                <a:latin typeface="Arial"/>
                <a:cs typeface="Arial"/>
              </a:rPr>
              <a:t>IP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addresses.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 DNS</a:t>
            </a:r>
            <a:r>
              <a:rPr sz="1800" spc="-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important?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Enables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accessibility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websites.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Supports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distributed,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scalable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internet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architecture.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0222" y="3050350"/>
            <a:ext cx="6672874" cy="17238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091815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54" dirty="0"/>
              <a:t>Types</a:t>
            </a:r>
            <a:r>
              <a:rPr sz="3200" spc="-50" dirty="0"/>
              <a:t> </a:t>
            </a:r>
            <a:r>
              <a:rPr sz="3200" spc="-250" dirty="0"/>
              <a:t>of</a:t>
            </a:r>
            <a:r>
              <a:rPr sz="3200" spc="-45" dirty="0"/>
              <a:t> </a:t>
            </a:r>
            <a:r>
              <a:rPr sz="3200" spc="-250" dirty="0"/>
              <a:t>DNS</a:t>
            </a:r>
            <a:r>
              <a:rPr sz="3200" spc="-50" dirty="0"/>
              <a:t> </a:t>
            </a:r>
            <a:r>
              <a:rPr sz="3200" spc="-175" dirty="0"/>
              <a:t>Servers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319233"/>
            <a:ext cx="4008754" cy="264541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79095" marR="255270" indent="-367030">
              <a:lnSpc>
                <a:spcPts val="2050"/>
              </a:lnSpc>
              <a:spcBef>
                <a:spcPts val="26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Root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Name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Servers: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Top-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level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servers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handling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.com,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.org,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etc.</a:t>
            </a:r>
            <a:endParaRPr sz="1800">
              <a:latin typeface="Arial"/>
              <a:cs typeface="Arial"/>
            </a:endParaRPr>
          </a:p>
          <a:p>
            <a:pPr marL="379095" marR="460375" indent="-367030">
              <a:lnSpc>
                <a:spcPts val="2050"/>
              </a:lnSpc>
              <a:buChar char="●"/>
              <a:tabLst>
                <a:tab pos="379095" algn="l"/>
              </a:tabLst>
            </a:pP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TLD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Name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Servers: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Speciﬁc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to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domains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.com,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.net.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ts val="2050"/>
              </a:lnSpc>
              <a:spcBef>
                <a:spcPts val="5"/>
              </a:spcBef>
              <a:buChar char="●"/>
              <a:tabLst>
                <a:tab pos="379095" algn="l"/>
              </a:tabLst>
            </a:pP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Authoritative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Name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Servers: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Store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domain-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speciﬁc</a:t>
            </a:r>
            <a:r>
              <a:rPr sz="1800" spc="2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records.</a:t>
            </a:r>
            <a:endParaRPr sz="1800">
              <a:latin typeface="Arial"/>
              <a:cs typeface="Arial"/>
            </a:endParaRPr>
          </a:p>
          <a:p>
            <a:pPr marL="379095" marR="31750" indent="-367030">
              <a:lnSpc>
                <a:spcPts val="2050"/>
              </a:lnSpc>
              <a:spcBef>
                <a:spcPts val="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Recursive</a:t>
            </a:r>
            <a:r>
              <a:rPr sz="1800" spc="-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Resolvers: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Handle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queries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behalf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users,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contacting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multiple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servers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if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necessary.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9534" y="882749"/>
            <a:ext cx="2743275" cy="36308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50" dirty="0"/>
              <a:t>DNS</a:t>
            </a:r>
            <a:r>
              <a:rPr sz="3200" spc="-70" dirty="0"/>
              <a:t> </a:t>
            </a:r>
            <a:r>
              <a:rPr sz="3200" spc="-204" dirty="0"/>
              <a:t>Caching</a:t>
            </a:r>
            <a:r>
              <a:rPr sz="3200" spc="-25" dirty="0"/>
              <a:t> </a:t>
            </a:r>
            <a:r>
              <a:rPr sz="3200" spc="-270" dirty="0"/>
              <a:t>and</a:t>
            </a:r>
            <a:r>
              <a:rPr sz="3200" spc="-30" dirty="0"/>
              <a:t> </a:t>
            </a:r>
            <a:r>
              <a:rPr sz="3200" spc="-254" dirty="0"/>
              <a:t>Performance</a:t>
            </a:r>
            <a:r>
              <a:rPr sz="3200" spc="-65" dirty="0"/>
              <a:t> </a:t>
            </a:r>
            <a:r>
              <a:rPr sz="3200" spc="-195" dirty="0"/>
              <a:t>Optimization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7301865" cy="22136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matters?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Reduces</a:t>
            </a:r>
            <a:r>
              <a:rPr sz="14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latency.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Reduces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servers.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Where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occurs?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Browser</a:t>
            </a:r>
            <a:r>
              <a:rPr sz="14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sz="14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(stores</a:t>
            </a:r>
            <a:r>
              <a:rPr sz="14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previous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lookups).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-100" dirty="0">
                <a:solidFill>
                  <a:srgbClr val="685D46"/>
                </a:solidFill>
                <a:latin typeface="Arial"/>
                <a:cs typeface="Arial"/>
              </a:rPr>
              <a:t>OS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(/etc/hosts,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Windows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cache).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Recursive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Resolver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95" dirty="0">
                <a:solidFill>
                  <a:srgbClr val="685D46"/>
                </a:solidFill>
                <a:latin typeface="Arial"/>
                <a:cs typeface="Arial"/>
              </a:rPr>
              <a:t>(ISP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level).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Time-To-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Live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685D46"/>
                </a:solidFill>
                <a:latin typeface="Arial"/>
                <a:cs typeface="Arial"/>
              </a:rPr>
              <a:t>(TTL):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Determines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long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 cached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record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is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valid.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553466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190" dirty="0"/>
              <a:t>The</a:t>
            </a:r>
            <a:r>
              <a:rPr sz="3200" spc="-25" dirty="0"/>
              <a:t> </a:t>
            </a:r>
            <a:r>
              <a:rPr sz="3200" spc="-280" dirty="0"/>
              <a:t>Domain</a:t>
            </a:r>
            <a:r>
              <a:rPr sz="3200" spc="-25" dirty="0"/>
              <a:t> </a:t>
            </a:r>
            <a:r>
              <a:rPr sz="3200" spc="-340" dirty="0"/>
              <a:t>Name</a:t>
            </a:r>
            <a:r>
              <a:rPr sz="3200" spc="-25" dirty="0"/>
              <a:t> </a:t>
            </a:r>
            <a:r>
              <a:rPr sz="3200" spc="-215" dirty="0"/>
              <a:t>Resolution</a:t>
            </a:r>
            <a:r>
              <a:rPr sz="3200" spc="-25" dirty="0"/>
              <a:t> </a:t>
            </a:r>
            <a:r>
              <a:rPr sz="3200" spc="-170" dirty="0"/>
              <a:t>Process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96014" y="1322250"/>
            <a:ext cx="3997325" cy="272161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358140" marR="311785" indent="-346075">
              <a:lnSpc>
                <a:spcPts val="1739"/>
              </a:lnSpc>
              <a:spcBef>
                <a:spcPts val="235"/>
              </a:spcBef>
              <a:buChar char="●"/>
              <a:tabLst>
                <a:tab pos="358140" algn="l"/>
              </a:tabLst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Step-by-step</a:t>
            </a: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breakdown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8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685D46"/>
                </a:solidFill>
                <a:latin typeface="Arial"/>
                <a:cs typeface="Arial"/>
              </a:rPr>
              <a:t>DNS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resolves</a:t>
            </a:r>
            <a:r>
              <a:rPr sz="15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5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75" dirty="0">
                <a:solidFill>
                  <a:srgbClr val="685D46"/>
                </a:solidFill>
                <a:latin typeface="Arial"/>
                <a:cs typeface="Arial"/>
              </a:rPr>
              <a:t>domain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name:</a:t>
            </a:r>
            <a:endParaRPr sz="1500">
              <a:latin typeface="Arial"/>
              <a:cs typeface="Arial"/>
            </a:endParaRPr>
          </a:p>
          <a:p>
            <a:pPr marL="815340" lvl="1" indent="-351790">
              <a:lnSpc>
                <a:spcPts val="1290"/>
              </a:lnSpc>
              <a:buAutoNum type="alphaLcPeriod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User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types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domain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name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browser.</a:t>
            </a:r>
            <a:endParaRPr sz="1200">
              <a:latin typeface="Arial"/>
              <a:cs typeface="Arial"/>
            </a:endParaRPr>
          </a:p>
          <a:p>
            <a:pPr marL="815340" marR="380365" lvl="1" indent="-361315">
              <a:lnSpc>
                <a:spcPts val="1360"/>
              </a:lnSpc>
              <a:spcBef>
                <a:spcPts val="70"/>
              </a:spcBef>
              <a:buAutoNum type="alphaLcPeriod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Browser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check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(if</a:t>
            </a:r>
            <a:r>
              <a:rPr sz="12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685D46"/>
                </a:solidFill>
                <a:latin typeface="Arial"/>
                <a:cs typeface="Arial"/>
              </a:rPr>
              <a:t>IP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already known).</a:t>
            </a:r>
            <a:endParaRPr sz="1200">
              <a:latin typeface="Arial"/>
              <a:cs typeface="Arial"/>
            </a:endParaRPr>
          </a:p>
          <a:p>
            <a:pPr marL="815340" lvl="1" indent="-340360">
              <a:lnSpc>
                <a:spcPts val="1280"/>
              </a:lnSpc>
              <a:buAutoNum type="alphaLcPeriod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Operating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2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685D46"/>
                </a:solidFill>
                <a:latin typeface="Arial"/>
                <a:cs typeface="Arial"/>
              </a:rPr>
              <a:t>(OS)</a:t>
            </a:r>
            <a:r>
              <a:rPr sz="12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sz="12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check.</a:t>
            </a:r>
            <a:endParaRPr sz="1200">
              <a:latin typeface="Arial"/>
              <a:cs typeface="Arial"/>
            </a:endParaRPr>
          </a:p>
          <a:p>
            <a:pPr marL="815340" marR="408305" lvl="1" indent="-361315">
              <a:lnSpc>
                <a:spcPts val="1360"/>
              </a:lnSpc>
              <a:spcBef>
                <a:spcPts val="70"/>
              </a:spcBef>
              <a:buAutoNum type="alphaLcPeriod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Query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 the Local</a:t>
            </a:r>
            <a:r>
              <a:rPr sz="12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 Resolver </a:t>
            </a:r>
            <a:r>
              <a:rPr sz="1200" spc="-85" dirty="0">
                <a:solidFill>
                  <a:srgbClr val="685D46"/>
                </a:solidFill>
                <a:latin typeface="Arial"/>
                <a:cs typeface="Arial"/>
              </a:rPr>
              <a:t>(ISP</a:t>
            </a:r>
            <a:r>
              <a:rPr sz="12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35" dirty="0">
                <a:solidFill>
                  <a:srgbClr val="685D46"/>
                </a:solidFill>
                <a:latin typeface="Arial"/>
                <a:cs typeface="Arial"/>
              </a:rPr>
              <a:t>or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conﬁgured</a:t>
            </a:r>
            <a:r>
              <a:rPr sz="12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sz="1200" spc="1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server).</a:t>
            </a:r>
            <a:endParaRPr sz="1200">
              <a:latin typeface="Arial"/>
              <a:cs typeface="Arial"/>
            </a:endParaRPr>
          </a:p>
          <a:p>
            <a:pPr marL="815340" lvl="1" indent="-353060">
              <a:lnSpc>
                <a:spcPts val="1280"/>
              </a:lnSpc>
              <a:buAutoNum type="alphaLcPeriod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If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not</a:t>
            </a:r>
            <a:r>
              <a:rPr sz="12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found,</a:t>
            </a:r>
            <a:r>
              <a:rPr sz="12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query</a:t>
            </a:r>
            <a:r>
              <a:rPr sz="12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goes</a:t>
            </a:r>
            <a:r>
              <a:rPr sz="12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Root</a:t>
            </a:r>
            <a:r>
              <a:rPr sz="12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sz="12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servers.</a:t>
            </a:r>
            <a:endParaRPr sz="1200">
              <a:latin typeface="Arial"/>
              <a:cs typeface="Arial"/>
            </a:endParaRPr>
          </a:p>
          <a:p>
            <a:pPr marL="815340" marR="107314" lvl="1" indent="-319405">
              <a:lnSpc>
                <a:spcPts val="1360"/>
              </a:lnSpc>
              <a:spcBef>
                <a:spcPts val="70"/>
              </a:spcBef>
              <a:buAutoNum type="alphaLcPeriod"/>
              <a:tabLst>
                <a:tab pos="815340" algn="l"/>
              </a:tabLst>
            </a:pPr>
            <a:r>
              <a:rPr sz="1200" spc="-50" dirty="0">
                <a:solidFill>
                  <a:srgbClr val="685D46"/>
                </a:solidFill>
                <a:latin typeface="Arial"/>
                <a:cs typeface="Arial"/>
              </a:rPr>
              <a:t>TLD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685D46"/>
                </a:solidFill>
                <a:latin typeface="Arial"/>
                <a:cs typeface="Arial"/>
              </a:rPr>
              <a:t>(Top-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Level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Domain)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servers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provide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Authoritative</a:t>
            </a:r>
            <a:r>
              <a:rPr sz="1200" spc="1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sz="1200" spc="1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200" spc="1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details.</a:t>
            </a:r>
            <a:endParaRPr sz="1200">
              <a:latin typeface="Arial"/>
              <a:cs typeface="Arial"/>
            </a:endParaRPr>
          </a:p>
          <a:p>
            <a:pPr marL="815340" lvl="1" indent="-349885">
              <a:lnSpc>
                <a:spcPts val="1280"/>
              </a:lnSpc>
              <a:buAutoNum type="alphaLcPeriod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Authoritative</a:t>
            </a:r>
            <a:r>
              <a:rPr sz="120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sz="1200" spc="1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200" spc="1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returns</a:t>
            </a:r>
            <a:r>
              <a:rPr sz="1200" spc="1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200" spc="1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685D46"/>
                </a:solidFill>
                <a:latin typeface="Arial"/>
                <a:cs typeface="Arial"/>
              </a:rPr>
              <a:t>IP</a:t>
            </a:r>
            <a:endParaRPr sz="1200">
              <a:latin typeface="Arial"/>
              <a:cs typeface="Arial"/>
            </a:endParaRPr>
          </a:p>
          <a:p>
            <a:pPr marL="815340">
              <a:lnSpc>
                <a:spcPts val="1355"/>
              </a:lnSpc>
            </a:pP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address.</a:t>
            </a:r>
            <a:endParaRPr sz="1200">
              <a:latin typeface="Arial"/>
              <a:cs typeface="Arial"/>
            </a:endParaRPr>
          </a:p>
          <a:p>
            <a:pPr marL="815340" marR="379730" lvl="1" indent="-361315">
              <a:lnSpc>
                <a:spcPts val="1360"/>
              </a:lnSpc>
              <a:spcBef>
                <a:spcPts val="75"/>
              </a:spcBef>
              <a:buAutoNum type="alphaLcPeriod" startAt="8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2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cached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2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returned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2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user.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1475" y="1074537"/>
            <a:ext cx="2375731" cy="35905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50" dirty="0"/>
              <a:t>Importance</a:t>
            </a:r>
            <a:r>
              <a:rPr sz="3200" spc="-20" dirty="0"/>
              <a:t> </a:t>
            </a:r>
            <a:r>
              <a:rPr sz="3200" spc="-250" dirty="0"/>
              <a:t>of</a:t>
            </a:r>
            <a:r>
              <a:rPr sz="3200" spc="-15" dirty="0"/>
              <a:t> </a:t>
            </a:r>
            <a:r>
              <a:rPr sz="3200" spc="-250" dirty="0"/>
              <a:t>DNS</a:t>
            </a:r>
            <a:r>
              <a:rPr sz="3200" spc="-15" dirty="0"/>
              <a:t> </a:t>
            </a:r>
            <a:r>
              <a:rPr sz="3200" spc="-170" dirty="0"/>
              <a:t>in</a:t>
            </a:r>
            <a:r>
              <a:rPr sz="3200" spc="-15" dirty="0"/>
              <a:t> </a:t>
            </a:r>
            <a:r>
              <a:rPr sz="3200" spc="-145" dirty="0"/>
              <a:t>Large-</a:t>
            </a:r>
            <a:r>
              <a:rPr sz="3200" spc="-140" dirty="0"/>
              <a:t>Scale</a:t>
            </a:r>
            <a:r>
              <a:rPr sz="3200" spc="-20" dirty="0"/>
              <a:t> </a:t>
            </a:r>
            <a:r>
              <a:rPr sz="3200" spc="-185" dirty="0"/>
              <a:t>Systems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319233"/>
            <a:ext cx="3940810" cy="2965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ts val="2125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Ensuring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High</a:t>
            </a:r>
            <a:r>
              <a:rPr sz="18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Availability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sz="14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using</a:t>
            </a:r>
            <a:r>
              <a:rPr sz="14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DNS.</a:t>
            </a:r>
            <a:endParaRPr sz="1400">
              <a:latin typeface="Arial"/>
              <a:cs typeface="Arial"/>
            </a:endParaRPr>
          </a:p>
          <a:p>
            <a:pPr marL="836294" marR="691515" lvl="1" indent="-336550">
              <a:lnSpc>
                <a:spcPts val="1600"/>
              </a:lnSpc>
              <a:spcBef>
                <a:spcPts val="7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Anycast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faster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global resolution.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ts val="1960"/>
              </a:lnSpc>
              <a:buChar char="●"/>
              <a:tabLst>
                <a:tab pos="379095" algn="l"/>
              </a:tabLst>
            </a:pP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Failover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Strategies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ts val="1585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Primary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secondary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servers.</a:t>
            </a:r>
            <a:endParaRPr sz="1400">
              <a:latin typeface="Arial"/>
              <a:cs typeface="Arial"/>
            </a:endParaRPr>
          </a:p>
          <a:p>
            <a:pPr marL="379095" marR="705485" indent="-367030">
              <a:lnSpc>
                <a:spcPts val="205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Delivery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Networks 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(CDNs)</a:t>
            </a:r>
            <a:r>
              <a:rPr sz="1800" spc="-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-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endParaRPr sz="1800">
              <a:latin typeface="Arial"/>
              <a:cs typeface="Arial"/>
            </a:endParaRPr>
          </a:p>
          <a:p>
            <a:pPr marL="836294" marR="5080" lvl="1" indent="-336550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directs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users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nearest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node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 fast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loading.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ts val="1960"/>
              </a:lnSpc>
              <a:buChar char="●"/>
              <a:tabLst>
                <a:tab pos="379095" algn="l"/>
              </a:tabLst>
            </a:pP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Risks</a:t>
            </a:r>
            <a:endParaRPr sz="1800">
              <a:latin typeface="Arial"/>
              <a:cs typeface="Arial"/>
            </a:endParaRPr>
          </a:p>
          <a:p>
            <a:pPr marL="836294" marR="44450" lvl="1" indent="-336550">
              <a:lnSpc>
                <a:spcPts val="16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spc="-50" dirty="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poisoning,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poisoning,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and DDoS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attacks.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143374" cy="28098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5224145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15" dirty="0"/>
              <a:t>Interview</a:t>
            </a:r>
            <a:r>
              <a:rPr sz="3200" spc="-130" dirty="0"/>
              <a:t> </a:t>
            </a:r>
            <a:r>
              <a:rPr sz="3200" spc="-229" dirty="0"/>
              <a:t>Questions</a:t>
            </a:r>
            <a:r>
              <a:rPr sz="3200" spc="-25" dirty="0"/>
              <a:t> </a:t>
            </a:r>
            <a:r>
              <a:rPr sz="3200" spc="-220" dirty="0"/>
              <a:t>Related</a:t>
            </a:r>
            <a:r>
              <a:rPr sz="3200" spc="-25" dirty="0"/>
              <a:t> </a:t>
            </a:r>
            <a:r>
              <a:rPr sz="3200" spc="-235" dirty="0"/>
              <a:t>to</a:t>
            </a:r>
            <a:r>
              <a:rPr sz="3200" spc="-25" dirty="0"/>
              <a:t> </a:t>
            </a:r>
            <a:r>
              <a:rPr sz="3200" spc="-180" dirty="0"/>
              <a:t>DNS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22564" y="1289058"/>
            <a:ext cx="8137525" cy="223393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resolution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process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step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by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step.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diﬀerence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authoritative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recursive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servers?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performance?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Where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occur?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685D46"/>
                </a:solidFill>
                <a:latin typeface="Arial"/>
                <a:cs typeface="Arial"/>
              </a:rPr>
              <a:t>TTL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685D46"/>
                </a:solidFill>
                <a:latin typeface="Arial"/>
                <a:cs typeface="Arial"/>
              </a:rPr>
              <a:t>DNS,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important?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DNS-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work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large-scale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systems?</a:t>
            </a:r>
            <a:endParaRPr sz="1800">
              <a:latin typeface="Arial"/>
              <a:cs typeface="Arial"/>
            </a:endParaRPr>
          </a:p>
          <a:p>
            <a:pPr marL="431800" marR="338455" indent="-419734">
              <a:lnSpc>
                <a:spcPct val="114999"/>
              </a:lnSpc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common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DNS-related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threats,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be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mitigated?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90" dirty="0"/>
              <a:t>Summary</a:t>
            </a:r>
            <a:r>
              <a:rPr sz="3200" spc="-160" dirty="0"/>
              <a:t> </a:t>
            </a:r>
            <a:r>
              <a:rPr sz="3200" spc="-90" dirty="0"/>
              <a:t>&amp;</a:t>
            </a:r>
            <a:r>
              <a:rPr sz="3200" spc="-155" dirty="0"/>
              <a:t> </a:t>
            </a:r>
            <a:r>
              <a:rPr sz="3200" spc="-285" dirty="0"/>
              <a:t>Takeaways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175158"/>
            <a:ext cx="3940810" cy="312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83566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critical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internet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functionality.</a:t>
            </a:r>
            <a:endParaRPr sz="1800">
              <a:latin typeface="Arial"/>
              <a:cs typeface="Arial"/>
            </a:endParaRPr>
          </a:p>
          <a:p>
            <a:pPr marL="379095" marR="13906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improves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eﬃciency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reduces</a:t>
            </a:r>
            <a:r>
              <a:rPr sz="1800" spc="1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latency.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failover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are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essential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large-scale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systems.</a:t>
            </a:r>
            <a:endParaRPr sz="1800">
              <a:latin typeface="Arial"/>
              <a:cs typeface="Arial"/>
            </a:endParaRPr>
          </a:p>
          <a:p>
            <a:pPr marL="379095" marR="33401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threats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exist,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but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best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practices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help mitigate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them.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What's</a:t>
            </a:r>
            <a:r>
              <a:rPr sz="18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Next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Client-Server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Model</a:t>
            </a:r>
            <a:r>
              <a:rPr sz="1400" spc="1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Explained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2210" y="1377735"/>
            <a:ext cx="3980570" cy="142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85D4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450</Words>
  <Application>Microsoft Office PowerPoint</Application>
  <PresentationFormat>On-screen Show (16:9)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How DNS Works</vt:lpstr>
      <vt:lpstr>Introduction to DNS</vt:lpstr>
      <vt:lpstr>Types of DNS Servers</vt:lpstr>
      <vt:lpstr>DNS Caching and Performance Optimization</vt:lpstr>
      <vt:lpstr>The Domain Name Resolution Process</vt:lpstr>
      <vt:lpstr>Importance of DNS in Large-Scale Systems</vt:lpstr>
      <vt:lpstr>Interview Questions Related to DNS</vt:lpstr>
      <vt:lpstr>Summary &amp;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2</dc:title>
  <cp:lastModifiedBy>RAVI GV</cp:lastModifiedBy>
  <cp:revision>1</cp:revision>
  <dcterms:created xsi:type="dcterms:W3CDTF">2025-11-15T06:20:52Z</dcterms:created>
  <dcterms:modified xsi:type="dcterms:W3CDTF">2025-11-15T06:28:55Z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2025-11-15T00:00:00Z</vt:filetime>
  </property>
</Properties>
</file>