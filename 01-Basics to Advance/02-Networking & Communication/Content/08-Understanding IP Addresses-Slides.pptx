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sz="3350" spc="-254" dirty="0"/>
              <a:t>Understanding</a:t>
            </a:r>
            <a:r>
              <a:rPr sz="3350" spc="-60" dirty="0"/>
              <a:t> </a:t>
            </a:r>
            <a:r>
              <a:rPr sz="3350" spc="-155" dirty="0"/>
              <a:t>IP</a:t>
            </a:r>
            <a:r>
              <a:rPr sz="3350" spc="-285" dirty="0"/>
              <a:t> </a:t>
            </a:r>
            <a:r>
              <a:rPr sz="3350" spc="-254" dirty="0"/>
              <a:t>Addresses</a:t>
            </a:r>
            <a:r>
              <a:rPr sz="3350" spc="-45" dirty="0"/>
              <a:t> </a:t>
            </a:r>
            <a:r>
              <a:rPr sz="3350" spc="-190" dirty="0"/>
              <a:t>in</a:t>
            </a:r>
            <a:r>
              <a:rPr sz="3350" spc="-55" dirty="0"/>
              <a:t> </a:t>
            </a:r>
            <a:r>
              <a:rPr sz="3350" spc="-254" dirty="0"/>
              <a:t>System</a:t>
            </a:r>
            <a:r>
              <a:rPr sz="3350" spc="-50" dirty="0"/>
              <a:t> </a:t>
            </a:r>
            <a:r>
              <a:rPr sz="3350" spc="-140" dirty="0"/>
              <a:t>Design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Introduction</a:t>
            </a:r>
            <a:r>
              <a:rPr sz="3200" spc="-20" dirty="0"/>
              <a:t> </a:t>
            </a:r>
            <a:r>
              <a:rPr sz="3200" spc="-235" dirty="0"/>
              <a:t>to</a:t>
            </a:r>
            <a:r>
              <a:rPr sz="3200" spc="-15" dirty="0"/>
              <a:t> </a:t>
            </a:r>
            <a:r>
              <a:rPr sz="3200" spc="-135" dirty="0"/>
              <a:t>IP</a:t>
            </a:r>
            <a:r>
              <a:rPr sz="3200" spc="-245" dirty="0"/>
              <a:t> </a:t>
            </a:r>
            <a:r>
              <a:rPr sz="3200" spc="-210" dirty="0"/>
              <a:t>Addresses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20684" cy="291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Protocol)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unique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numerical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labels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assigned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network.</a:t>
            </a:r>
            <a:endParaRPr sz="1800">
              <a:latin typeface="Arial"/>
              <a:cs typeface="Arial"/>
            </a:endParaRPr>
          </a:p>
          <a:p>
            <a:pPr marL="379095" marR="16192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enable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machines,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Two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versions: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Two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categories: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7566" y="2623399"/>
            <a:ext cx="4122502" cy="1870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0129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60" dirty="0"/>
              <a:t> </a:t>
            </a:r>
            <a:r>
              <a:rPr sz="3200" spc="-90" dirty="0"/>
              <a:t>is</a:t>
            </a:r>
            <a:r>
              <a:rPr sz="3200" spc="-85" dirty="0"/>
              <a:t> </a:t>
            </a:r>
            <a:r>
              <a:rPr sz="3200" spc="-135" dirty="0"/>
              <a:t>IPv4?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700009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482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4)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addressing system.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32-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bit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192.168.1.1)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Total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available: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~4.3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billion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networking,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most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current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internet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devices.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Challenges: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Limited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IPs,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fragmentation,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225" y="3684697"/>
            <a:ext cx="6409950" cy="1031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0129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30" dirty="0"/>
              <a:t>What</a:t>
            </a:r>
            <a:r>
              <a:rPr sz="3200" spc="-60" dirty="0"/>
              <a:t> </a:t>
            </a:r>
            <a:r>
              <a:rPr sz="3200" spc="-90" dirty="0"/>
              <a:t>is</a:t>
            </a:r>
            <a:r>
              <a:rPr sz="3200" spc="-85" dirty="0"/>
              <a:t> </a:t>
            </a:r>
            <a:r>
              <a:rPr sz="3200" spc="-135" dirty="0"/>
              <a:t>IPv6?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31577"/>
            <a:ext cx="3962400" cy="2675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8140" marR="83185" indent="-346075">
              <a:lnSpc>
                <a:spcPct val="10710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6)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next-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generation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standard.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128-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bit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format </a:t>
            </a: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  <a:p>
            <a:pPr marL="35814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685D46"/>
                </a:solidFill>
                <a:latin typeface="Arial Black"/>
                <a:cs typeface="Arial Black"/>
              </a:rPr>
              <a:t>2001:0db8:85a3:0000:0000:8a2e:0370:7334</a:t>
            </a:r>
            <a:endParaRPr sz="1300">
              <a:latin typeface="Arial Black"/>
              <a:cs typeface="Arial Black"/>
            </a:endParaRPr>
          </a:p>
          <a:p>
            <a:pPr marL="358140" marR="761365" indent="-346075">
              <a:lnSpc>
                <a:spcPts val="1930"/>
              </a:lnSpc>
              <a:spcBef>
                <a:spcPts val="6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Total</a:t>
            </a:r>
            <a:r>
              <a:rPr sz="15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5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available:</a:t>
            </a:r>
            <a:r>
              <a:rPr sz="15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340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undecillion</a:t>
            </a:r>
            <a:r>
              <a:rPr sz="15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(virtually</a:t>
            </a:r>
            <a:r>
              <a:rPr sz="15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unlimited).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40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Designed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for: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IoT,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networks,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500">
              <a:latin typeface="Arial"/>
              <a:cs typeface="Arial"/>
            </a:endParaRPr>
          </a:p>
          <a:p>
            <a:pPr marL="358140">
              <a:lnSpc>
                <a:spcPct val="100000"/>
              </a:lnSpc>
              <a:spcBef>
                <a:spcPts val="125"/>
              </a:spcBef>
            </a:pP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future</a:t>
            </a:r>
            <a:r>
              <a:rPr sz="15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scalability.</a:t>
            </a:r>
            <a:endParaRPr sz="1500">
              <a:latin typeface="Arial"/>
              <a:cs typeface="Arial"/>
            </a:endParaRPr>
          </a:p>
          <a:p>
            <a:pPr marL="358140" marR="211454" indent="-346075">
              <a:lnSpc>
                <a:spcPct val="10710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beneﬁts: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address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space,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better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improved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routing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eﬃciency.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00" y="1385875"/>
            <a:ext cx="3924299" cy="23717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50" dirty="0"/>
              <a:t>IPv4</a:t>
            </a:r>
            <a:r>
              <a:rPr sz="3200" spc="-100" dirty="0"/>
              <a:t> </a:t>
            </a:r>
            <a:r>
              <a:rPr sz="3200" spc="-190" dirty="0"/>
              <a:t>vs.</a:t>
            </a:r>
            <a:r>
              <a:rPr sz="3200" spc="-240" dirty="0"/>
              <a:t> </a:t>
            </a:r>
            <a:r>
              <a:rPr sz="3200" spc="-150" dirty="0"/>
              <a:t>IPv6</a:t>
            </a:r>
            <a:r>
              <a:rPr sz="3200" spc="-170" dirty="0"/>
              <a:t> </a:t>
            </a:r>
            <a:r>
              <a:rPr sz="3200" spc="140" dirty="0"/>
              <a:t>–</a:t>
            </a:r>
            <a:r>
              <a:rPr sz="3200" spc="-254" dirty="0"/>
              <a:t> </a:t>
            </a:r>
            <a:r>
              <a:rPr sz="3200" spc="-235" dirty="0"/>
              <a:t>Key</a:t>
            </a:r>
            <a:r>
              <a:rPr sz="3200" spc="-135" dirty="0"/>
              <a:t> </a:t>
            </a:r>
            <a:r>
              <a:rPr sz="3200" spc="-185" dirty="0"/>
              <a:t>Differences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00" y="1266325"/>
            <a:ext cx="8520598" cy="2684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819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0" dirty="0"/>
              <a:t>Private</a:t>
            </a:r>
            <a:r>
              <a:rPr sz="3200" spc="-75" dirty="0"/>
              <a:t> </a:t>
            </a:r>
            <a:r>
              <a:rPr sz="3200" spc="-190" dirty="0"/>
              <a:t>vs.</a:t>
            </a:r>
            <a:r>
              <a:rPr sz="3200" spc="-220" dirty="0"/>
              <a:t> </a:t>
            </a:r>
            <a:r>
              <a:rPr sz="3200" spc="-185" dirty="0"/>
              <a:t>Public</a:t>
            </a:r>
            <a:r>
              <a:rPr sz="3200" spc="-80" dirty="0"/>
              <a:t> </a:t>
            </a:r>
            <a:r>
              <a:rPr sz="3200" spc="-95" dirty="0"/>
              <a:t>IPs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71290" cy="25488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sz="15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IPs: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Assigned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685D46"/>
                </a:solidFill>
                <a:latin typeface="Arial"/>
                <a:cs typeface="Arial"/>
              </a:rPr>
              <a:t>ISPs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(Internet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Providers).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Unique</a:t>
            </a:r>
            <a:r>
              <a:rPr sz="12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worldwide.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192.203.23.45.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sz="15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IPs:</a:t>
            </a:r>
            <a:endParaRPr sz="1500">
              <a:latin typeface="Arial"/>
              <a:cs typeface="Arial"/>
            </a:endParaRPr>
          </a:p>
          <a:p>
            <a:pPr marL="815340" marR="780415" lvl="1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within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local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(LANs,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enterprises,</a:t>
            </a:r>
            <a:r>
              <a:rPr sz="1200" spc="2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homes).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Cannot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55"/>
              </a:lnSpc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internet.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200">
              <a:latin typeface="Arial"/>
              <a:cs typeface="Arial"/>
            </a:endParaRPr>
          </a:p>
          <a:p>
            <a:pPr marL="1272540" lvl="2" indent="-319405">
              <a:lnSpc>
                <a:spcPts val="1355"/>
              </a:lnSpc>
              <a:buChar char="■"/>
              <a:tabLst>
                <a:tab pos="12725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10.0.0.0</a:t>
            </a:r>
            <a:r>
              <a:rPr sz="1200" spc="-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10.255.255.255</a:t>
            </a:r>
            <a:endParaRPr sz="1200">
              <a:latin typeface="Arial"/>
              <a:cs typeface="Arial"/>
            </a:endParaRPr>
          </a:p>
          <a:p>
            <a:pPr marL="1272540" lvl="2" indent="-319405">
              <a:lnSpc>
                <a:spcPts val="1355"/>
              </a:lnSpc>
              <a:buChar char="■"/>
              <a:tabLst>
                <a:tab pos="12725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172.16.0.0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200" spc="-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172.31.255.255</a:t>
            </a:r>
            <a:endParaRPr sz="1200">
              <a:latin typeface="Arial"/>
              <a:cs typeface="Arial"/>
            </a:endParaRPr>
          </a:p>
          <a:p>
            <a:pPr marL="1272540" lvl="2" indent="-319405">
              <a:lnSpc>
                <a:spcPts val="1400"/>
              </a:lnSpc>
              <a:buChar char="■"/>
              <a:tabLst>
                <a:tab pos="12725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192.168.0.0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192.168.255.255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2300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30149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Why</a:t>
            </a:r>
            <a:r>
              <a:rPr sz="3200" spc="-145" dirty="0"/>
              <a:t> </a:t>
            </a:r>
            <a:r>
              <a:rPr sz="3200" spc="-300" dirty="0"/>
              <a:t>Do</a:t>
            </a:r>
            <a:r>
              <a:rPr sz="3200" spc="-110" dirty="0"/>
              <a:t> </a:t>
            </a:r>
            <a:r>
              <a:rPr sz="3200" spc="-490" dirty="0"/>
              <a:t>We</a:t>
            </a:r>
            <a:r>
              <a:rPr sz="3200" spc="-40" dirty="0"/>
              <a:t> </a:t>
            </a:r>
            <a:r>
              <a:rPr sz="3200" spc="-285" dirty="0"/>
              <a:t>Need</a:t>
            </a:r>
            <a:r>
              <a:rPr sz="3200" spc="-40" dirty="0"/>
              <a:t> </a:t>
            </a:r>
            <a:r>
              <a:rPr sz="3200" spc="-210" dirty="0"/>
              <a:t>Private</a:t>
            </a:r>
            <a:r>
              <a:rPr sz="3200" spc="-40" dirty="0"/>
              <a:t> </a:t>
            </a:r>
            <a:r>
              <a:rPr sz="3200" spc="-110" dirty="0"/>
              <a:t>IPs?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5677" y="1318204"/>
            <a:ext cx="3879215" cy="2689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935" marR="5080" indent="-356870">
              <a:lnSpc>
                <a:spcPct val="106000"/>
              </a:lnSpc>
              <a:spcBef>
                <a:spcPts val="95"/>
              </a:spcBef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Conserves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public </a:t>
            </a:r>
            <a:r>
              <a:rPr sz="1650" spc="-30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(IPv4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limitation).</a:t>
            </a:r>
            <a:endParaRPr sz="1650">
              <a:latin typeface="Arial"/>
              <a:cs typeface="Arial"/>
            </a:endParaRPr>
          </a:p>
          <a:p>
            <a:pPr marL="368935" marR="21209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65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65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(private</a:t>
            </a:r>
            <a:r>
              <a:rPr sz="165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sz="165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sz="1650" spc="10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5" dirty="0">
                <a:solidFill>
                  <a:srgbClr val="685D46"/>
                </a:solidFill>
                <a:latin typeface="Arial"/>
                <a:cs typeface="Arial"/>
              </a:rPr>
              <a:t>routable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685D46"/>
                </a:solidFill>
                <a:latin typeface="Arial"/>
                <a:cs typeface="Arial"/>
              </a:rPr>
              <a:t>internet).</a:t>
            </a:r>
            <a:endParaRPr sz="1650">
              <a:latin typeface="Arial"/>
              <a:cs typeface="Arial"/>
            </a:endParaRPr>
          </a:p>
          <a:p>
            <a:pPr marL="368935" marR="118110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6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685D46"/>
                </a:solidFill>
                <a:latin typeface="Arial"/>
                <a:cs typeface="Arial"/>
              </a:rPr>
              <a:t>Address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Translation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40" dirty="0">
                <a:solidFill>
                  <a:srgbClr val="685D46"/>
                </a:solidFill>
                <a:latin typeface="Arial"/>
                <a:cs typeface="Arial"/>
              </a:rPr>
              <a:t>(NAT)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6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55" dirty="0">
                <a:solidFill>
                  <a:srgbClr val="685D46"/>
                </a:solidFill>
                <a:latin typeface="Arial"/>
                <a:cs typeface="Arial"/>
              </a:rPr>
              <a:t>allow</a:t>
            </a:r>
            <a:r>
              <a:rPr sz="16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devices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10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share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IP.</a:t>
            </a:r>
            <a:endParaRPr sz="1650">
              <a:latin typeface="Arial"/>
              <a:cs typeface="Arial"/>
            </a:endParaRPr>
          </a:p>
          <a:p>
            <a:pPr marL="368935" marR="311785" indent="-356870">
              <a:lnSpc>
                <a:spcPct val="106000"/>
              </a:lnSpc>
              <a:buChar char="●"/>
              <a:tabLst>
                <a:tab pos="368935" algn="l"/>
              </a:tabLst>
            </a:pPr>
            <a:r>
              <a:rPr sz="1650" spc="7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8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65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corporate</a:t>
            </a:r>
            <a:r>
              <a:rPr sz="165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networks, 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data </a:t>
            </a:r>
            <a:r>
              <a:rPr sz="1650" dirty="0">
                <a:solidFill>
                  <a:srgbClr val="685D46"/>
                </a:solidFill>
                <a:latin typeface="Arial"/>
                <a:cs typeface="Arial"/>
              </a:rPr>
              <a:t>centers,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6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685D46"/>
                </a:solidFill>
                <a:latin typeface="Arial"/>
                <a:cs typeface="Arial"/>
              </a:rPr>
              <a:t>cloud environments.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041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79044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90" dirty="0"/>
              <a:t>The</a:t>
            </a:r>
            <a:r>
              <a:rPr sz="3200" spc="-35" dirty="0"/>
              <a:t> </a:t>
            </a:r>
            <a:r>
              <a:rPr sz="3200" spc="-220" dirty="0"/>
              <a:t>Role</a:t>
            </a:r>
            <a:r>
              <a:rPr sz="3200" spc="-35" dirty="0"/>
              <a:t> </a:t>
            </a:r>
            <a:r>
              <a:rPr sz="3200" spc="-250" dirty="0"/>
              <a:t>of</a:t>
            </a:r>
            <a:r>
              <a:rPr sz="3200" spc="-30" dirty="0"/>
              <a:t> </a:t>
            </a:r>
            <a:r>
              <a:rPr sz="3200" spc="-170" dirty="0"/>
              <a:t>IPs</a:t>
            </a:r>
            <a:r>
              <a:rPr sz="3200" spc="-35" dirty="0"/>
              <a:t> </a:t>
            </a:r>
            <a:r>
              <a:rPr sz="3200" spc="-170" dirty="0"/>
              <a:t>in</a:t>
            </a:r>
            <a:r>
              <a:rPr sz="3200" spc="-35" dirty="0"/>
              <a:t> </a:t>
            </a:r>
            <a:r>
              <a:rPr sz="3200" spc="-229" dirty="0"/>
              <a:t>System</a:t>
            </a:r>
            <a:r>
              <a:rPr sz="3200" spc="-30" dirty="0"/>
              <a:t> </a:t>
            </a:r>
            <a:r>
              <a:rPr sz="3200" spc="-145" dirty="0"/>
              <a:t>Design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890645" cy="29171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4965" marR="879475" indent="-342900" algn="just">
              <a:lnSpc>
                <a:spcPts val="1739"/>
              </a:lnSpc>
              <a:spcBef>
                <a:spcPts val="23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designing 	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distributed,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region,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685D46"/>
                </a:solidFill>
                <a:latin typeface="Arial"/>
                <a:cs typeface="Arial"/>
              </a:rPr>
              <a:t>and 	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500" spc="4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architectures.</a:t>
            </a:r>
            <a:endParaRPr sz="1500">
              <a:latin typeface="Arial"/>
              <a:cs typeface="Arial"/>
            </a:endParaRPr>
          </a:p>
          <a:p>
            <a:pPr marL="358140" marR="167005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sz="15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5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ﬁrewall</a:t>
            </a:r>
            <a:r>
              <a:rPr sz="15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rules,</a:t>
            </a:r>
            <a:r>
              <a:rPr sz="15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VPNs,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networking.</a:t>
            </a:r>
            <a:endParaRPr sz="1500">
              <a:latin typeface="Arial"/>
              <a:cs typeface="Arial"/>
            </a:endParaRPr>
          </a:p>
          <a:p>
            <a:pPr marL="358140" marR="207010" indent="-346075">
              <a:lnSpc>
                <a:spcPts val="1739"/>
              </a:lnSpc>
              <a:spcBef>
                <a:spcPts val="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Balancing: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IP-based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traﬃc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distribution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Round-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robin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DNS,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Anycast</a:t>
            </a:r>
            <a:r>
              <a:rPr sz="15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IPs).</a:t>
            </a:r>
            <a:endParaRPr sz="1500">
              <a:latin typeface="Arial"/>
              <a:cs typeface="Arial"/>
            </a:endParaRPr>
          </a:p>
          <a:p>
            <a:pPr marL="358140" marR="79375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5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Networking:</a:t>
            </a:r>
            <a:r>
              <a:rPr sz="15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Public,</a:t>
            </a:r>
            <a:r>
              <a:rPr sz="15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private,</a:t>
            </a:r>
            <a:r>
              <a:rPr sz="15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hybrid</a:t>
            </a:r>
            <a:r>
              <a:rPr sz="15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(AWS, </a:t>
            </a:r>
            <a:r>
              <a:rPr sz="1500" spc="-80" dirty="0">
                <a:solidFill>
                  <a:srgbClr val="685D46"/>
                </a:solidFill>
                <a:latin typeface="Arial"/>
                <a:cs typeface="Arial"/>
              </a:rPr>
              <a:t>GCP,</a:t>
            </a:r>
            <a:r>
              <a:rPr sz="15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Azure).</a:t>
            </a:r>
            <a:endParaRPr sz="1500">
              <a:latin typeface="Arial"/>
              <a:cs typeface="Arial"/>
            </a:endParaRPr>
          </a:p>
          <a:p>
            <a:pPr marL="358140" marR="5080" indent="-346075">
              <a:lnSpc>
                <a:spcPts val="1739"/>
              </a:lnSpc>
              <a:spcBef>
                <a:spcPts val="15"/>
              </a:spcBef>
              <a:buChar char="●"/>
              <a:tabLst>
                <a:tab pos="358140" algn="l"/>
              </a:tabLst>
            </a:pP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5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Containers:</a:t>
            </a:r>
            <a:r>
              <a:rPr sz="15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Use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9575" y="1304825"/>
            <a:ext cx="4653650" cy="19232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747966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50" dirty="0"/>
              <a:t>Common</a:t>
            </a:r>
            <a:r>
              <a:rPr sz="3200" spc="-30" dirty="0"/>
              <a:t> </a:t>
            </a:r>
            <a:r>
              <a:rPr sz="3200" spc="-229" dirty="0"/>
              <a:t>System</a:t>
            </a:r>
            <a:r>
              <a:rPr sz="3200" spc="-30" dirty="0"/>
              <a:t> </a:t>
            </a:r>
            <a:r>
              <a:rPr sz="3200" spc="-185" dirty="0"/>
              <a:t>Design</a:t>
            </a:r>
            <a:r>
              <a:rPr sz="3200" spc="-30" dirty="0"/>
              <a:t> </a:t>
            </a:r>
            <a:r>
              <a:rPr sz="3200" spc="-215" dirty="0"/>
              <a:t>Interview</a:t>
            </a:r>
            <a:r>
              <a:rPr sz="3200" spc="-135" dirty="0"/>
              <a:t> </a:t>
            </a:r>
            <a:r>
              <a:rPr sz="3200" spc="-229" dirty="0"/>
              <a:t>Questions</a:t>
            </a:r>
            <a:r>
              <a:rPr sz="3200" spc="-30" dirty="0"/>
              <a:t> </a:t>
            </a:r>
            <a:r>
              <a:rPr sz="3200" spc="-275" dirty="0"/>
              <a:t>on</a:t>
            </a:r>
            <a:r>
              <a:rPr sz="3200" spc="-30" dirty="0"/>
              <a:t> </a:t>
            </a:r>
            <a:r>
              <a:rPr sz="3200" spc="-65" dirty="0"/>
              <a:t>IPs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74687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diﬀer?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NAT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shortage?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balancer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distributes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resolve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 large-scale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90" dirty="0"/>
              <a:t>Summary</a:t>
            </a:r>
            <a:r>
              <a:rPr sz="3200" spc="-155" dirty="0"/>
              <a:t> </a:t>
            </a:r>
            <a:r>
              <a:rPr sz="3200" spc="-90" dirty="0"/>
              <a:t>&amp;</a:t>
            </a:r>
            <a:r>
              <a:rPr sz="3200" spc="-114" dirty="0"/>
              <a:t> </a:t>
            </a:r>
            <a:r>
              <a:rPr sz="3200" spc="-325" dirty="0"/>
              <a:t>What’s</a:t>
            </a:r>
            <a:r>
              <a:rPr sz="3200" spc="-45" dirty="0"/>
              <a:t> </a:t>
            </a:r>
            <a:r>
              <a:rPr sz="3200" spc="-150" dirty="0"/>
              <a:t>Next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88250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IPv4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IPv6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protocols.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Private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Public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manage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external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networking.</a:t>
            </a:r>
            <a:endParaRPr sz="1800">
              <a:latin typeface="Arial"/>
              <a:cs typeface="Arial"/>
            </a:endParaRPr>
          </a:p>
          <a:p>
            <a:pPr marL="379095" marR="2203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IPs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Coming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role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498</Words>
  <Application>Microsoft Office PowerPoint</Application>
  <PresentationFormat>On-screen Show (16:9)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Understanding IP Addresses in System Design</vt:lpstr>
      <vt:lpstr>Introduction to IP Addresses</vt:lpstr>
      <vt:lpstr>What is IPv4?</vt:lpstr>
      <vt:lpstr>What is IPv6?</vt:lpstr>
      <vt:lpstr>IPv4 vs. IPv6 – Key Differences</vt:lpstr>
      <vt:lpstr>Private vs. Public IPs</vt:lpstr>
      <vt:lpstr>Why Do We Need Private IPs?</vt:lpstr>
      <vt:lpstr>The Role of IPs in System Design</vt:lpstr>
      <vt:lpstr>Common System Design Interview Questions on IPs</vt:lpstr>
      <vt:lpstr>Summary &amp; 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