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5396" y="2146606"/>
            <a:ext cx="6913206" cy="539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8056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352" y="1323759"/>
            <a:ext cx="8220075" cy="302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50620">
              <a:lnSpc>
                <a:spcPct val="100000"/>
              </a:lnSpc>
              <a:spcBef>
                <a:spcPts val="110"/>
              </a:spcBef>
            </a:pPr>
            <a:r>
              <a:rPr sz="3350" spc="-180" dirty="0"/>
              <a:t>Client-</a:t>
            </a:r>
            <a:r>
              <a:rPr sz="3350" spc="-210" dirty="0"/>
              <a:t>Server</a:t>
            </a:r>
            <a:r>
              <a:rPr sz="3350" spc="-15" dirty="0"/>
              <a:t> </a:t>
            </a:r>
            <a:r>
              <a:rPr sz="3350" spc="-330" dirty="0"/>
              <a:t>Model</a:t>
            </a:r>
            <a:r>
              <a:rPr sz="3350" dirty="0"/>
              <a:t> </a:t>
            </a:r>
            <a:r>
              <a:rPr sz="3350" spc="-185" dirty="0"/>
              <a:t>Explained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14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30" dirty="0"/>
              <a:t>What</a:t>
            </a:r>
            <a:r>
              <a:rPr sz="3200" spc="-35" dirty="0"/>
              <a:t> </a:t>
            </a:r>
            <a:r>
              <a:rPr sz="3200" spc="-90" dirty="0"/>
              <a:t>is</a:t>
            </a:r>
            <a:r>
              <a:rPr sz="3200" spc="-35" dirty="0"/>
              <a:t> </a:t>
            </a:r>
            <a:r>
              <a:rPr sz="3200" spc="-229" dirty="0"/>
              <a:t>the</a:t>
            </a:r>
            <a:r>
              <a:rPr sz="3200" spc="-80" dirty="0"/>
              <a:t> </a:t>
            </a:r>
            <a:r>
              <a:rPr sz="3200" spc="-170" dirty="0"/>
              <a:t>Client-</a:t>
            </a:r>
            <a:r>
              <a:rPr sz="3200" spc="-190" dirty="0"/>
              <a:t>Server</a:t>
            </a:r>
            <a:r>
              <a:rPr sz="3200" spc="-35" dirty="0"/>
              <a:t> </a:t>
            </a:r>
            <a:r>
              <a:rPr sz="3200" spc="-300" dirty="0"/>
              <a:t>Model?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18204"/>
            <a:ext cx="4759325" cy="3079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935" marR="288925" indent="-356870">
              <a:lnSpc>
                <a:spcPct val="106000"/>
              </a:lnSpc>
              <a:spcBef>
                <a:spcPts val="95"/>
              </a:spcBef>
              <a:buChar char="●"/>
              <a:tabLst>
                <a:tab pos="36893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computing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sz="16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request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provide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them.</a:t>
            </a:r>
            <a:endParaRPr sz="1650">
              <a:latin typeface="Arial"/>
              <a:cs typeface="Arial"/>
            </a:endParaRPr>
          </a:p>
          <a:p>
            <a:pPr marL="368935" marR="194310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Foundation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web,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database,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sz="16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architectures.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114"/>
              </a:spcBef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6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6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650">
              <a:latin typeface="Arial"/>
              <a:cs typeface="Arial"/>
            </a:endParaRPr>
          </a:p>
          <a:p>
            <a:pPr marL="825500" lvl="1" indent="-362585">
              <a:lnSpc>
                <a:spcPct val="100000"/>
              </a:lnSpc>
              <a:spcBef>
                <a:spcPts val="114"/>
              </a:spcBef>
              <a:buAutoNum type="alphaLcPeriod"/>
              <a:tabLst>
                <a:tab pos="825500" algn="l"/>
              </a:tabLst>
            </a:pP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management.</a:t>
            </a:r>
            <a:endParaRPr sz="1300">
              <a:latin typeface="Arial"/>
              <a:cs typeface="Arial"/>
            </a:endParaRPr>
          </a:p>
          <a:p>
            <a:pPr marL="826135" marR="81280" lvl="1" indent="-372745">
              <a:lnSpc>
                <a:spcPct val="104600"/>
              </a:lnSpc>
              <a:buAutoNum type="alphaLcPeriod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browsing,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email,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databases,</a:t>
            </a:r>
            <a:r>
              <a:rPr sz="13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3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75"/>
              </a:spcBef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650" spc="3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endParaRPr sz="1650">
              <a:latin typeface="Arial"/>
              <a:cs typeface="Arial"/>
            </a:endParaRPr>
          </a:p>
          <a:p>
            <a:pPr marL="826135" marR="5080" lvl="1" indent="-363220">
              <a:lnSpc>
                <a:spcPct val="104600"/>
              </a:lnSpc>
              <a:spcBef>
                <a:spcPts val="40"/>
              </a:spcBef>
              <a:buAutoNum type="alphaLcPeriod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Browsing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website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(Browser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Client,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685D46"/>
                </a:solidFill>
                <a:latin typeface="Arial"/>
                <a:cs typeface="Arial"/>
              </a:rPr>
              <a:t>=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300">
              <a:latin typeface="Arial"/>
              <a:cs typeface="Arial"/>
            </a:endParaRPr>
          </a:p>
          <a:p>
            <a:pPr marL="826135" marR="64135" lvl="1" indent="-372745">
              <a:lnSpc>
                <a:spcPct val="104600"/>
              </a:lnSpc>
              <a:buAutoNum type="alphaLcPeriod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Sending</a:t>
            </a:r>
            <a:r>
              <a:rPr sz="13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3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email</a:t>
            </a:r>
            <a:r>
              <a:rPr sz="13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(Email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App</a:t>
            </a:r>
            <a:r>
              <a:rPr sz="13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3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Client,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Mail</a:t>
            </a:r>
            <a:r>
              <a:rPr sz="13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3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685D46"/>
                </a:solidFill>
                <a:latin typeface="Arial"/>
                <a:cs typeface="Arial"/>
              </a:rPr>
              <a:t>=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7400" y="1304825"/>
            <a:ext cx="3286124" cy="20192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40" dirty="0"/>
              <a:t>Key</a:t>
            </a:r>
            <a:r>
              <a:rPr sz="3200" spc="-175" dirty="0"/>
              <a:t> </a:t>
            </a:r>
            <a:r>
              <a:rPr sz="3200" spc="-275" dirty="0"/>
              <a:t>Components</a:t>
            </a:r>
            <a:r>
              <a:rPr sz="3200" spc="-25" dirty="0"/>
              <a:t> </a:t>
            </a:r>
            <a:r>
              <a:rPr sz="3200" spc="-250" dirty="0"/>
              <a:t>of</a:t>
            </a:r>
            <a:r>
              <a:rPr sz="3200" spc="-30" dirty="0"/>
              <a:t> </a:t>
            </a:r>
            <a:r>
              <a:rPr sz="3200" spc="-229" dirty="0"/>
              <a:t>the</a:t>
            </a:r>
            <a:r>
              <a:rPr sz="3200" spc="-65" dirty="0"/>
              <a:t> </a:t>
            </a:r>
            <a:r>
              <a:rPr sz="3200" spc="-170" dirty="0"/>
              <a:t>Client-</a:t>
            </a:r>
            <a:r>
              <a:rPr sz="3200" spc="-190" dirty="0"/>
              <a:t>Server</a:t>
            </a:r>
            <a:r>
              <a:rPr sz="3200" spc="-30" dirty="0"/>
              <a:t> </a:t>
            </a:r>
            <a:r>
              <a:rPr sz="3200" spc="-305" dirty="0"/>
              <a:t>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4805680" cy="31419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Client: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user-facing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400">
              <a:latin typeface="Arial"/>
              <a:cs typeface="Arial"/>
            </a:endParaRPr>
          </a:p>
          <a:p>
            <a:pPr marL="836294" marR="590550" lvl="1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browser,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mobile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app,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API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consumer.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Server:</a:t>
            </a:r>
            <a:endParaRPr sz="1800">
              <a:latin typeface="Arial"/>
              <a:cs typeface="Arial"/>
            </a:endParaRPr>
          </a:p>
          <a:p>
            <a:pPr marL="836294" marR="176530" lvl="1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and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returns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responses.</a:t>
            </a:r>
            <a:endParaRPr sz="1400">
              <a:latin typeface="Arial"/>
              <a:cs typeface="Arial"/>
            </a:endParaRPr>
          </a:p>
          <a:p>
            <a:pPr marL="836294" marR="277495" lvl="1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mail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Network:</a:t>
            </a:r>
            <a:endParaRPr sz="1800">
              <a:latin typeface="Arial"/>
              <a:cs typeface="Arial"/>
            </a:endParaRPr>
          </a:p>
          <a:p>
            <a:pPr marL="836294" marR="366395" lvl="1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medium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facilitates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communication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Internet,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LAN,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685D46"/>
                </a:solidFill>
                <a:latin typeface="Arial"/>
                <a:cs typeface="Arial"/>
              </a:rPr>
              <a:t>Wi-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Fi,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5G.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7400" y="1304825"/>
            <a:ext cx="3286124" cy="20192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70" dirty="0"/>
              <a:t>How</a:t>
            </a:r>
            <a:r>
              <a:rPr sz="3200" spc="-135" dirty="0"/>
              <a:t> </a:t>
            </a:r>
            <a:r>
              <a:rPr sz="3200" spc="-160" dirty="0"/>
              <a:t>Clients</a:t>
            </a:r>
            <a:r>
              <a:rPr sz="3200" spc="-25" dirty="0"/>
              <a:t> </a:t>
            </a:r>
            <a:r>
              <a:rPr sz="3200" spc="-270" dirty="0"/>
              <a:t>and</a:t>
            </a:r>
            <a:r>
              <a:rPr sz="3200" spc="-25" dirty="0"/>
              <a:t> </a:t>
            </a:r>
            <a:r>
              <a:rPr sz="3200" spc="-200" dirty="0"/>
              <a:t>Servers</a:t>
            </a:r>
            <a:r>
              <a:rPr sz="3200" spc="-70" dirty="0"/>
              <a:t> </a:t>
            </a:r>
            <a:r>
              <a:rPr sz="3200" spc="-285" dirty="0"/>
              <a:t>Communicate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12163"/>
            <a:ext cx="3961129" cy="305625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260"/>
              </a:spcBef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sz="1650" spc="-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Steps:</a:t>
            </a:r>
            <a:endParaRPr sz="1650">
              <a:latin typeface="Arial"/>
              <a:cs typeface="Arial"/>
            </a:endParaRPr>
          </a:p>
          <a:p>
            <a:pPr marL="826135" marR="22225" lvl="1" indent="-328295">
              <a:lnSpc>
                <a:spcPct val="104600"/>
              </a:lnSpc>
              <a:spcBef>
                <a:spcPts val="40"/>
              </a:spcBef>
              <a:buChar char="○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685D46"/>
                </a:solidFill>
                <a:latin typeface="Arial"/>
                <a:cs typeface="Arial"/>
              </a:rPr>
              <a:t>(HTTP,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685D46"/>
                </a:solidFill>
                <a:latin typeface="Arial"/>
                <a:cs typeface="Arial"/>
              </a:rPr>
              <a:t>SQL</a:t>
            </a:r>
            <a:r>
              <a:rPr sz="13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query, etc.).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ct val="100000"/>
              </a:lnSpc>
              <a:spcBef>
                <a:spcPts val="75"/>
              </a:spcBef>
              <a:buChar char="○"/>
              <a:tabLst>
                <a:tab pos="825500" algn="l"/>
              </a:tabLst>
            </a:pPr>
            <a:r>
              <a:rPr sz="1300" spc="1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3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is transmitted over </a:t>
            </a:r>
            <a:r>
              <a:rPr sz="1300" spc="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3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network.</a:t>
            </a:r>
            <a:endParaRPr sz="1300">
              <a:latin typeface="Arial"/>
              <a:cs typeface="Arial"/>
            </a:endParaRPr>
          </a:p>
          <a:p>
            <a:pPr marL="826135" marR="532130" lvl="1" indent="-328295">
              <a:lnSpc>
                <a:spcPct val="104600"/>
              </a:lnSpc>
              <a:buChar char="○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 receives and</a:t>
            </a:r>
            <a:r>
              <a:rPr sz="13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processes 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300">
              <a:latin typeface="Arial"/>
              <a:cs typeface="Arial"/>
            </a:endParaRPr>
          </a:p>
          <a:p>
            <a:pPr marL="825500" lvl="1" indent="-327660">
              <a:lnSpc>
                <a:spcPct val="100000"/>
              </a:lnSpc>
              <a:spcBef>
                <a:spcPts val="70"/>
              </a:spcBef>
              <a:buChar char="○"/>
              <a:tabLst>
                <a:tab pos="825500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response.</a:t>
            </a:r>
            <a:endParaRPr sz="1300">
              <a:latin typeface="Arial"/>
              <a:cs typeface="Arial"/>
            </a:endParaRPr>
          </a:p>
          <a:p>
            <a:pPr marL="826135" marR="585470" lvl="1" indent="-328295">
              <a:lnSpc>
                <a:spcPct val="104600"/>
              </a:lnSpc>
              <a:buChar char="○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receives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3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response.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75"/>
              </a:spcBef>
              <a:buChar char="●"/>
              <a:tabLst>
                <a:tab pos="368300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sz="165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65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endParaRPr sz="1650">
              <a:latin typeface="Arial"/>
              <a:cs typeface="Arial"/>
            </a:endParaRPr>
          </a:p>
          <a:p>
            <a:pPr marL="826135" marR="288925" lvl="1" indent="-328295">
              <a:lnSpc>
                <a:spcPct val="104600"/>
              </a:lnSpc>
              <a:spcBef>
                <a:spcPts val="45"/>
              </a:spcBef>
              <a:buChar char="○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Request/Response</a:t>
            </a:r>
            <a:r>
              <a:rPr sz="13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3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685D46"/>
                </a:solidFill>
                <a:latin typeface="Arial"/>
                <a:cs typeface="Arial"/>
              </a:rPr>
              <a:t>HTTP, </a:t>
            </a:r>
            <a:r>
              <a:rPr sz="1300" spc="-15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APIs)</a:t>
            </a:r>
            <a:endParaRPr sz="1300">
              <a:latin typeface="Arial"/>
              <a:cs typeface="Arial"/>
            </a:endParaRPr>
          </a:p>
          <a:p>
            <a:pPr marL="826135" marR="963930" lvl="1" indent="-328295">
              <a:lnSpc>
                <a:spcPct val="104600"/>
              </a:lnSpc>
              <a:buChar char="○"/>
              <a:tabLst>
                <a:tab pos="826135" algn="l"/>
              </a:tabLst>
            </a:pP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Persistent</a:t>
            </a:r>
            <a:r>
              <a:rPr sz="13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85D46"/>
                </a:solidFill>
                <a:latin typeface="Arial"/>
                <a:cs typeface="Arial"/>
              </a:rPr>
              <a:t>Connections</a:t>
            </a:r>
            <a:r>
              <a:rPr sz="13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(e.g., WebSockets,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20" dirty="0">
                <a:solidFill>
                  <a:srgbClr val="685D46"/>
                </a:solidFill>
                <a:latin typeface="Arial"/>
                <a:cs typeface="Arial"/>
              </a:rPr>
              <a:t>FTP</a:t>
            </a:r>
            <a:r>
              <a:rPr sz="13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85D46"/>
                </a:solidFill>
                <a:latin typeface="Arial"/>
                <a:cs typeface="Arial"/>
              </a:rPr>
              <a:t>sessions)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1576" y="1304825"/>
            <a:ext cx="4141789" cy="2212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190" dirty="0"/>
              <a:t>The</a:t>
            </a:r>
            <a:r>
              <a:rPr sz="3200" spc="-10" dirty="0"/>
              <a:t> </a:t>
            </a:r>
            <a:r>
              <a:rPr sz="3200" spc="-220" dirty="0"/>
              <a:t>Request-</a:t>
            </a:r>
            <a:r>
              <a:rPr sz="3200" spc="-250" dirty="0"/>
              <a:t>Response</a:t>
            </a:r>
            <a:r>
              <a:rPr sz="3200" spc="-55" dirty="0"/>
              <a:t> </a:t>
            </a:r>
            <a:r>
              <a:rPr sz="3200" spc="-220" dirty="0"/>
              <a:t>Cycle</a:t>
            </a:r>
            <a:r>
              <a:rPr sz="3200" spc="-10" dirty="0"/>
              <a:t> </a:t>
            </a:r>
            <a:r>
              <a:rPr sz="3200" spc="-130" dirty="0"/>
              <a:t>(HTTP</a:t>
            </a:r>
            <a:r>
              <a:rPr sz="3200" spc="-120" dirty="0"/>
              <a:t> </a:t>
            </a:r>
            <a:r>
              <a:rPr sz="3200" spc="-160" dirty="0"/>
              <a:t>Example)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2564" y="1330206"/>
            <a:ext cx="5506085" cy="260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800" spc="2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800" spc="3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  <a:hlinkClick r:id="rId2"/>
              </a:rPr>
              <a:t>https://example.com.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31800" algn="l"/>
              </a:tabLst>
            </a:pP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resolves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domain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address.</a:t>
            </a:r>
            <a:endParaRPr sz="1800">
              <a:latin typeface="Arial"/>
              <a:cs typeface="Arial"/>
            </a:endParaRPr>
          </a:p>
          <a:p>
            <a:pPr marL="431800" marR="5080" indent="-419734">
              <a:lnSpc>
                <a:spcPct val="105000"/>
              </a:lnSpc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GET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web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800">
              <a:latin typeface="Arial"/>
              <a:cs typeface="Arial"/>
            </a:endParaRPr>
          </a:p>
          <a:p>
            <a:pPr marL="431800" marR="233679" indent="-419734">
              <a:lnSpc>
                <a:spcPct val="105000"/>
              </a:lnSpc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sz="18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request,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fetches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HTML,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queries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needed.</a:t>
            </a:r>
            <a:endParaRPr sz="1800">
              <a:latin typeface="Arial"/>
              <a:cs typeface="Arial"/>
            </a:endParaRPr>
          </a:p>
          <a:p>
            <a:pPr marL="431800" marR="304800" indent="-419734">
              <a:lnSpc>
                <a:spcPct val="105000"/>
              </a:lnSpc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status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code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(200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685D46"/>
                </a:solidFill>
                <a:latin typeface="Arial"/>
                <a:cs typeface="Arial"/>
              </a:rPr>
              <a:t>OK)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webpage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content.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renders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webpage.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0479" y="1181826"/>
            <a:ext cx="2381561" cy="36164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35" dirty="0"/>
              <a:t>Synchronous</a:t>
            </a:r>
            <a:r>
              <a:rPr sz="3200" spc="-110" dirty="0"/>
              <a:t> </a:t>
            </a:r>
            <a:r>
              <a:rPr sz="3200" spc="-185" dirty="0"/>
              <a:t>vs</a:t>
            </a:r>
            <a:r>
              <a:rPr sz="3200" spc="-160" dirty="0"/>
              <a:t> </a:t>
            </a:r>
            <a:r>
              <a:rPr sz="3200" spc="-235" dirty="0"/>
              <a:t>Asynchronous</a:t>
            </a:r>
            <a:r>
              <a:rPr sz="3200" spc="-85" dirty="0"/>
              <a:t> </a:t>
            </a:r>
            <a:r>
              <a:rPr sz="3200" spc="-275" dirty="0"/>
              <a:t>Communication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3977004" cy="299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Synchronous</a:t>
            </a:r>
            <a:r>
              <a:rPr sz="1800" spc="3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endParaRPr sz="1800">
              <a:latin typeface="Arial"/>
              <a:cs typeface="Arial"/>
            </a:endParaRPr>
          </a:p>
          <a:p>
            <a:pPr marL="836294" marR="347980" lvl="1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waits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for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before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proceeding.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 A user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submits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 a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form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595"/>
              </a:lnSpc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waits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conﬁrmation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message.</a:t>
            </a:r>
            <a:endParaRPr sz="1400">
              <a:latin typeface="Arial"/>
              <a:cs typeface="Arial"/>
            </a:endParaRPr>
          </a:p>
          <a:p>
            <a:pPr marL="836294" marR="321310" lvl="1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5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web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6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sz="1800" spc="3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endParaRPr sz="1800">
              <a:latin typeface="Arial"/>
              <a:cs typeface="Arial"/>
            </a:endParaRPr>
          </a:p>
          <a:p>
            <a:pPr marL="836294" marR="15875" lvl="1" indent="-336550">
              <a:lnSpc>
                <a:spcPts val="16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doesn’t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wait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perform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other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tasks.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595"/>
              </a:lnSpc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chat,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50" dirty="0">
                <a:solidFill>
                  <a:srgbClr val="685D46"/>
                </a:solidFill>
                <a:latin typeface="Arial"/>
                <a:cs typeface="Arial"/>
              </a:rPr>
              <a:t>AJAX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background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messaging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apps,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live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updates,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IoT</a:t>
            </a:r>
            <a:r>
              <a:rPr sz="1400" spc="-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3100" y="1301965"/>
            <a:ext cx="2459184" cy="20315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814" y="2977807"/>
            <a:ext cx="1948605" cy="1931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160" dirty="0"/>
              <a:t>Stateless</a:t>
            </a:r>
            <a:r>
              <a:rPr sz="3200" spc="-100" dirty="0"/>
              <a:t> </a:t>
            </a:r>
            <a:r>
              <a:rPr sz="3200" spc="-190" dirty="0"/>
              <a:t>vs</a:t>
            </a:r>
            <a:r>
              <a:rPr sz="3200" spc="-35" dirty="0"/>
              <a:t> </a:t>
            </a:r>
            <a:r>
              <a:rPr sz="3200" spc="-175" dirty="0"/>
              <a:t>Stateful</a:t>
            </a:r>
            <a:r>
              <a:rPr sz="3200" spc="-30" dirty="0"/>
              <a:t> </a:t>
            </a:r>
            <a:r>
              <a:rPr sz="3200" spc="-175" dirty="0"/>
              <a:t>Servers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3959860" cy="307784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1800" spc="-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endParaRPr sz="1800">
              <a:latin typeface="Arial"/>
              <a:cs typeface="Arial"/>
            </a:endParaRPr>
          </a:p>
          <a:p>
            <a:pPr marL="836294" marR="5080" lvl="1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past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interactions;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each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independent.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 </a:t>
            </a:r>
            <a:r>
              <a:rPr sz="1400" spc="-15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836294" marR="344170" lvl="1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Beneﬁts: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easy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caching,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balancing.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Stateful</a:t>
            </a:r>
            <a:r>
              <a:rPr sz="1800" spc="2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endParaRPr sz="1800">
              <a:latin typeface="Arial"/>
              <a:cs typeface="Arial"/>
            </a:endParaRPr>
          </a:p>
          <a:p>
            <a:pPr marL="836294" marR="120650" lvl="1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information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across requests.</a:t>
            </a:r>
            <a:endParaRPr sz="1400">
              <a:latin typeface="Arial"/>
              <a:cs typeface="Arial"/>
            </a:endParaRPr>
          </a:p>
          <a:p>
            <a:pPr marL="836294" marR="280670" lvl="1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WebSockets,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multiplayer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games,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banking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marL="836294" marR="220345" lvl="1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Beneﬁts:</a:t>
            </a:r>
            <a:r>
              <a:rPr sz="1400" spc="2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Personalization,</a:t>
            </a:r>
            <a:r>
              <a:rPr sz="1400" spc="2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seamless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experiences.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4499" y="1304825"/>
            <a:ext cx="4062887" cy="2708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185" dirty="0"/>
              <a:t>Real-</a:t>
            </a:r>
            <a:r>
              <a:rPr sz="3200" spc="-300" dirty="0"/>
              <a:t>World</a:t>
            </a:r>
            <a:r>
              <a:rPr sz="3200" spc="-10" dirty="0"/>
              <a:t> </a:t>
            </a:r>
            <a:r>
              <a:rPr sz="3200" spc="-185" dirty="0"/>
              <a:t>Examples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208395" cy="229489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Applications: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Browsing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website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(Client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Browser,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Microservices: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Mobile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calling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20" dirty="0">
                <a:solidFill>
                  <a:srgbClr val="685D46"/>
                </a:solidFill>
                <a:latin typeface="Arial"/>
                <a:cs typeface="Arial"/>
              </a:rPr>
              <a:t>(REST,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GraphQL).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40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Databases: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querying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5" dirty="0">
                <a:solidFill>
                  <a:srgbClr val="685D46"/>
                </a:solidFill>
                <a:latin typeface="Arial"/>
                <a:cs typeface="Arial"/>
              </a:rPr>
              <a:t>(SQL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Messaging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WhatsApp,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Slack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15" dirty="0"/>
              <a:t>Interview</a:t>
            </a:r>
            <a:r>
              <a:rPr sz="3200" spc="-125" dirty="0"/>
              <a:t> </a:t>
            </a:r>
            <a:r>
              <a:rPr sz="3200" spc="-229" dirty="0"/>
              <a:t>Questions</a:t>
            </a:r>
            <a:r>
              <a:rPr sz="3200" spc="-20" dirty="0"/>
              <a:t> </a:t>
            </a:r>
            <a:r>
              <a:rPr sz="3200" spc="-275" dirty="0"/>
              <a:t>on</a:t>
            </a:r>
            <a:r>
              <a:rPr sz="3200" spc="-15" dirty="0"/>
              <a:t> </a:t>
            </a:r>
            <a:r>
              <a:rPr sz="3200" spc="-229" dirty="0"/>
              <a:t>the</a:t>
            </a:r>
            <a:r>
              <a:rPr sz="3200" spc="-60" dirty="0"/>
              <a:t> </a:t>
            </a:r>
            <a:r>
              <a:rPr sz="3200" spc="-170" dirty="0"/>
              <a:t>Client-</a:t>
            </a:r>
            <a:r>
              <a:rPr sz="3200" spc="-190" dirty="0"/>
              <a:t>Server</a:t>
            </a:r>
            <a:r>
              <a:rPr sz="3200" spc="-20" dirty="0"/>
              <a:t> </a:t>
            </a:r>
            <a:r>
              <a:rPr sz="3200" spc="-305" dirty="0"/>
              <a:t>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06352" y="1323759"/>
            <a:ext cx="6421120" cy="304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7980" indent="-335280">
              <a:lnSpc>
                <a:spcPts val="1670"/>
              </a:lnSpc>
              <a:spcBef>
                <a:spcPts val="95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Fundamental</a:t>
            </a:r>
            <a:r>
              <a:rPr sz="1400" spc="3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400">
              <a:latin typeface="Arial"/>
              <a:cs typeface="Arial"/>
            </a:endParaRPr>
          </a:p>
          <a:p>
            <a:pPr marL="805180" lvl="1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0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model,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0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0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communicate</a:t>
            </a:r>
            <a:r>
              <a:rPr sz="10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0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server?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0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0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10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world</a:t>
            </a:r>
            <a:r>
              <a:rPr sz="10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examples</a:t>
            </a:r>
            <a:r>
              <a:rPr sz="10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0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0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0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model?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ts val="1205"/>
              </a:lnSpc>
              <a:buChar char="○"/>
              <a:tabLst>
                <a:tab pos="805180" algn="l"/>
              </a:tabLst>
            </a:pP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0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0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0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0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0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0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0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server?</a:t>
            </a:r>
            <a:endParaRPr sz="1050">
              <a:latin typeface="Arial"/>
              <a:cs typeface="Arial"/>
            </a:endParaRPr>
          </a:p>
          <a:p>
            <a:pPr marL="347980" indent="-335280">
              <a:lnSpc>
                <a:spcPts val="1625"/>
              </a:lnSpc>
              <a:buChar char="●"/>
              <a:tabLst>
                <a:tab pos="347980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Request-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Cycle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400">
              <a:latin typeface="Arial"/>
              <a:cs typeface="Arial"/>
            </a:endParaRPr>
          </a:p>
          <a:p>
            <a:pPr marL="805180" lvl="1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0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0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0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request-response</a:t>
            </a:r>
            <a:r>
              <a:rPr sz="10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cycle</a:t>
            </a:r>
            <a:r>
              <a:rPr sz="10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0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example.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0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0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0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synchronous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0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communication?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ts val="1205"/>
              </a:lnSpc>
              <a:buChar char="○"/>
              <a:tabLst>
                <a:tab pos="805180" algn="l"/>
              </a:tabLst>
            </a:pP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webpage?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Walk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685D46"/>
                </a:solidFill>
                <a:latin typeface="Arial"/>
                <a:cs typeface="Arial"/>
              </a:rPr>
              <a:t>me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through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steps.</a:t>
            </a:r>
            <a:endParaRPr sz="1050">
              <a:latin typeface="Arial"/>
              <a:cs typeface="Arial"/>
            </a:endParaRPr>
          </a:p>
          <a:p>
            <a:pPr marL="347980" indent="-335280">
              <a:lnSpc>
                <a:spcPts val="1625"/>
              </a:lnSpc>
              <a:buChar char="●"/>
              <a:tabLst>
                <a:tab pos="347980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400">
              <a:latin typeface="Arial"/>
              <a:cs typeface="Arial"/>
            </a:endParaRPr>
          </a:p>
          <a:p>
            <a:pPr marL="805180" lvl="1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0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stateful</a:t>
            </a:r>
            <a:r>
              <a:rPr sz="10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servers?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model?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ts val="1205"/>
              </a:lnSpc>
              <a:buChar char="○"/>
              <a:tabLst>
                <a:tab pos="805180" algn="l"/>
              </a:tabLst>
            </a:pP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balancers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 work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050">
              <a:latin typeface="Arial"/>
              <a:cs typeface="Arial"/>
            </a:endParaRPr>
          </a:p>
          <a:p>
            <a:pPr marL="347980" indent="-335280">
              <a:lnSpc>
                <a:spcPts val="1625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400">
              <a:latin typeface="Arial"/>
              <a:cs typeface="Arial"/>
            </a:endParaRPr>
          </a:p>
          <a:p>
            <a:pPr marL="805180" lvl="1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model?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0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0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75" dirty="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sz="10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sz="10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request-response</a:t>
            </a:r>
            <a:r>
              <a:rPr sz="10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communication?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0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limitations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model?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0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addressed?</a:t>
            </a:r>
            <a:endParaRPr sz="1050">
              <a:latin typeface="Arial"/>
              <a:cs typeface="Arial"/>
            </a:endParaRPr>
          </a:p>
          <a:p>
            <a:pPr marL="805180" lvl="1" indent="-311785">
              <a:lnSpc>
                <a:spcPts val="1250"/>
              </a:lnSpc>
              <a:buChar char="○"/>
              <a:tabLst>
                <a:tab pos="805180" algn="l"/>
              </a:tabLst>
            </a:pP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0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5" dirty="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0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application?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97256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60" dirty="0"/>
              <a:t>Wrap</a:t>
            </a:r>
            <a:r>
              <a:rPr sz="3200" spc="-55" dirty="0"/>
              <a:t> </a:t>
            </a:r>
            <a:r>
              <a:rPr sz="3200" spc="-275" dirty="0"/>
              <a:t>up</a:t>
            </a:r>
            <a:r>
              <a:rPr sz="3200" spc="-55" dirty="0"/>
              <a:t> </a:t>
            </a:r>
            <a:r>
              <a:rPr sz="3200" spc="-270" dirty="0"/>
              <a:t>and</a:t>
            </a:r>
            <a:r>
              <a:rPr sz="3200" spc="-90" dirty="0"/>
              <a:t> </a:t>
            </a:r>
            <a:r>
              <a:rPr sz="3200" spc="-295" dirty="0"/>
              <a:t>what’s</a:t>
            </a:r>
            <a:r>
              <a:rPr sz="3200" spc="-55" dirty="0"/>
              <a:t> </a:t>
            </a:r>
            <a:r>
              <a:rPr sz="3200" spc="-110" dirty="0"/>
              <a:t>next….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386955" cy="19088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800" spc="-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Takeaways: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underpins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most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computing.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(sync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vs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async,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vs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stateful)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optimize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cases.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this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planning.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733</Words>
  <Application>Microsoft Office PowerPoint</Application>
  <PresentationFormat>On-screen Show (16:9)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Client-Server Model Explained</vt:lpstr>
      <vt:lpstr>What is the Client-Server Model?</vt:lpstr>
      <vt:lpstr>Key Components of the Client-Server Model</vt:lpstr>
      <vt:lpstr>How Clients and Servers Communicate</vt:lpstr>
      <vt:lpstr>The Request-Response Cycle (HTTP Example)</vt:lpstr>
      <vt:lpstr>Synchronous vs Asynchronous Communication</vt:lpstr>
      <vt:lpstr>Stateless vs Stateful Servers</vt:lpstr>
      <vt:lpstr>Real-World Examples</vt:lpstr>
      <vt:lpstr>Interview Questions on the Client-Server Model</vt:lpstr>
      <vt:lpstr>Wrap up and what’s next….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2</dc:title>
  <cp:lastModifiedBy>RAVI GV</cp:lastModifiedBy>
  <cp:revision>1</cp:revision>
  <dcterms:created xsi:type="dcterms:W3CDTF">2025-11-15T06:20:52Z</dcterms:created>
  <dcterms:modified xsi:type="dcterms:W3CDTF">2025-11-15T06:29:46Z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