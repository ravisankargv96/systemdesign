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15396" y="2146606"/>
            <a:ext cx="6913206" cy="5398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805688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6352" y="1323759"/>
            <a:ext cx="8220075" cy="3021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077551" y="1490473"/>
            <a:ext cx="4991100" cy="690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350" spc="-330" dirty="0"/>
              <a:t>Mastering</a:t>
            </a:r>
            <a:r>
              <a:rPr sz="4350" spc="-80" dirty="0"/>
              <a:t> </a:t>
            </a:r>
            <a:r>
              <a:rPr sz="4350" spc="-330" dirty="0"/>
              <a:t>System</a:t>
            </a:r>
            <a:r>
              <a:rPr sz="4350" spc="-65" dirty="0"/>
              <a:t> </a:t>
            </a:r>
            <a:r>
              <a:rPr sz="4350" spc="-275" dirty="0"/>
              <a:t>Design</a:t>
            </a:r>
            <a:endParaRPr sz="4350"/>
          </a:p>
        </p:txBody>
      </p:sp>
      <p:sp>
        <p:nvSpPr>
          <p:cNvPr id="9" name="object 9"/>
          <p:cNvSpPr txBox="1"/>
          <p:nvPr/>
        </p:nvSpPr>
        <p:spPr>
          <a:xfrm>
            <a:off x="1743450" y="2297787"/>
            <a:ext cx="5652135" cy="10045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85D46"/>
                </a:solidFill>
                <a:latin typeface="Arial"/>
                <a:cs typeface="Arial"/>
              </a:rPr>
              <a:t>Section</a:t>
            </a:r>
            <a:r>
              <a:rPr sz="2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85D46"/>
                </a:solidFill>
                <a:latin typeface="Arial"/>
                <a:cs typeface="Arial"/>
              </a:rPr>
              <a:t>2:</a:t>
            </a:r>
            <a:r>
              <a:rPr sz="2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24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sz="24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endParaRPr sz="24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  <a:spcBef>
                <a:spcPts val="1945"/>
              </a:spcBef>
            </a:pPr>
            <a:r>
              <a:rPr sz="2400" spc="75" dirty="0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sz="2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140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24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60" dirty="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370" dirty="0"/>
              <a:t>Why</a:t>
            </a:r>
            <a:r>
              <a:rPr sz="3200" spc="-140" dirty="0"/>
              <a:t> </a:t>
            </a:r>
            <a:r>
              <a:rPr sz="3200" spc="-250" dirty="0"/>
              <a:t>Networking</a:t>
            </a:r>
            <a:r>
              <a:rPr sz="3200" spc="-30" dirty="0"/>
              <a:t> </a:t>
            </a:r>
            <a:r>
              <a:rPr sz="3200" spc="-270" dirty="0"/>
              <a:t>Matters</a:t>
            </a:r>
            <a:r>
              <a:rPr sz="3200" spc="-30" dirty="0"/>
              <a:t> </a:t>
            </a:r>
            <a:r>
              <a:rPr sz="3200" spc="-170" dirty="0"/>
              <a:t>in</a:t>
            </a:r>
            <a:r>
              <a:rPr sz="3200" spc="-30" dirty="0"/>
              <a:t> </a:t>
            </a:r>
            <a:r>
              <a:rPr sz="3200" spc="-229" dirty="0"/>
              <a:t>System</a:t>
            </a:r>
            <a:r>
              <a:rPr sz="3200" spc="-30" dirty="0"/>
              <a:t> </a:t>
            </a:r>
            <a:r>
              <a:rPr sz="3200" spc="-145" dirty="0"/>
              <a:t>Design?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527027" y="1307917"/>
            <a:ext cx="3961129" cy="2588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7025" marR="531495" indent="-314960">
              <a:lnSpc>
                <a:spcPct val="117600"/>
              </a:lnSpc>
              <a:spcBef>
                <a:spcPts val="95"/>
              </a:spcBef>
              <a:buChar char="●"/>
              <a:tabLst>
                <a:tab pos="327025" algn="l"/>
              </a:tabLst>
            </a:pPr>
            <a:r>
              <a:rPr sz="1100" dirty="0">
                <a:solidFill>
                  <a:srgbClr val="685D46"/>
                </a:solidFill>
                <a:latin typeface="Arial"/>
                <a:cs typeface="Arial"/>
              </a:rPr>
              <a:t>Every</a:t>
            </a:r>
            <a:r>
              <a:rPr sz="11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1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85D46"/>
                </a:solidFill>
                <a:latin typeface="Arial"/>
                <a:cs typeface="Arial"/>
              </a:rPr>
              <a:t>relies</a:t>
            </a:r>
            <a:r>
              <a:rPr sz="11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60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1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1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85D46"/>
                </a:solidFill>
                <a:latin typeface="Arial"/>
                <a:cs typeface="Arial"/>
              </a:rPr>
              <a:t>exchange</a:t>
            </a:r>
            <a:r>
              <a:rPr sz="11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685D46"/>
                </a:solidFill>
                <a:latin typeface="Arial"/>
                <a:cs typeface="Arial"/>
              </a:rPr>
              <a:t>between components</a:t>
            </a:r>
            <a:endParaRPr sz="1100">
              <a:latin typeface="Arial"/>
              <a:cs typeface="Arial"/>
            </a:endParaRPr>
          </a:p>
          <a:p>
            <a:pPr marL="327025" marR="607060" indent="-314960">
              <a:lnSpc>
                <a:spcPct val="117600"/>
              </a:lnSpc>
              <a:buChar char="●"/>
              <a:tabLst>
                <a:tab pos="327025" algn="l"/>
              </a:tabLst>
            </a:pPr>
            <a:r>
              <a:rPr sz="1100" spc="50" dirty="0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sz="11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685D46"/>
                </a:solidFill>
                <a:latin typeface="Arial"/>
                <a:cs typeface="Arial"/>
              </a:rPr>
              <a:t>enables</a:t>
            </a:r>
            <a:r>
              <a:rPr sz="11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685D46"/>
                </a:solidFill>
                <a:latin typeface="Arial"/>
                <a:cs typeface="Arial"/>
              </a:rPr>
              <a:t>scalability,</a:t>
            </a:r>
            <a:r>
              <a:rPr sz="11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685D46"/>
                </a:solidFill>
                <a:latin typeface="Arial"/>
                <a:cs typeface="Arial"/>
              </a:rPr>
              <a:t>reliability,</a:t>
            </a:r>
            <a:r>
              <a:rPr sz="11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25" dirty="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sz="1100" spc="40" dirty="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endParaRPr sz="1100">
              <a:latin typeface="Arial"/>
              <a:cs typeface="Arial"/>
            </a:endParaRPr>
          </a:p>
          <a:p>
            <a:pPr marL="327025" indent="-314325">
              <a:lnSpc>
                <a:spcPct val="100000"/>
              </a:lnSpc>
              <a:spcBef>
                <a:spcPts val="229"/>
              </a:spcBef>
              <a:buChar char="●"/>
              <a:tabLst>
                <a:tab pos="327025" algn="l"/>
              </a:tabLst>
            </a:pPr>
            <a:r>
              <a:rPr sz="1100" dirty="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sz="11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85D46"/>
                </a:solidFill>
                <a:latin typeface="Arial"/>
                <a:cs typeface="Arial"/>
              </a:rPr>
              <a:t>areas</a:t>
            </a:r>
            <a:r>
              <a:rPr sz="11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sz="11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sz="1100" spc="10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85D46"/>
                </a:solidFill>
                <a:latin typeface="Arial"/>
                <a:cs typeface="Arial"/>
              </a:rPr>
              <a:t>plays</a:t>
            </a:r>
            <a:r>
              <a:rPr sz="11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1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85D46"/>
                </a:solidFill>
                <a:latin typeface="Arial"/>
                <a:cs typeface="Arial"/>
              </a:rPr>
              <a:t>crucial</a:t>
            </a:r>
            <a:r>
              <a:rPr sz="11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685D46"/>
                </a:solidFill>
                <a:latin typeface="Arial"/>
                <a:cs typeface="Arial"/>
              </a:rPr>
              <a:t>role:</a:t>
            </a:r>
            <a:endParaRPr sz="1100">
              <a:latin typeface="Arial"/>
              <a:cs typeface="Arial"/>
            </a:endParaRPr>
          </a:p>
          <a:p>
            <a:pPr marL="784225" marR="5080" lvl="1" indent="-295910">
              <a:lnSpc>
                <a:spcPct val="117600"/>
              </a:lnSpc>
              <a:buSzPct val="77272"/>
              <a:buChar char="○"/>
              <a:tabLst>
                <a:tab pos="784225" algn="l"/>
              </a:tabLst>
            </a:pPr>
            <a:r>
              <a:rPr sz="1100" spc="30" dirty="0">
                <a:solidFill>
                  <a:srgbClr val="685D46"/>
                </a:solidFill>
                <a:latin typeface="Arial"/>
                <a:cs typeface="Arial"/>
              </a:rPr>
              <a:t>Communication:</a:t>
            </a:r>
            <a:r>
              <a:rPr sz="11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685D46"/>
                </a:solidFill>
                <a:latin typeface="Arial"/>
                <a:cs typeface="Arial"/>
              </a:rPr>
              <a:t>Ensuring</a:t>
            </a:r>
            <a:r>
              <a:rPr sz="11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60" dirty="0">
                <a:solidFill>
                  <a:srgbClr val="685D46"/>
                </a:solidFill>
                <a:latin typeface="Arial"/>
                <a:cs typeface="Arial"/>
              </a:rPr>
              <a:t>smooth</a:t>
            </a:r>
            <a:r>
              <a:rPr sz="11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3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1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40" dirty="0">
                <a:solidFill>
                  <a:srgbClr val="685D46"/>
                </a:solidFill>
                <a:latin typeface="Arial"/>
                <a:cs typeface="Arial"/>
              </a:rPr>
              <a:t>transfer </a:t>
            </a:r>
            <a:r>
              <a:rPr sz="1100" spc="45" dirty="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sz="11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85D46"/>
                </a:solidFill>
                <a:latin typeface="Arial"/>
                <a:cs typeface="Arial"/>
              </a:rPr>
              <a:t>clients,</a:t>
            </a:r>
            <a:r>
              <a:rPr sz="11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85D46"/>
                </a:solidFill>
                <a:latin typeface="Arial"/>
                <a:cs typeface="Arial"/>
              </a:rPr>
              <a:t>servers,</a:t>
            </a:r>
            <a:r>
              <a:rPr sz="11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1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685D46"/>
                </a:solidFill>
                <a:latin typeface="Arial"/>
                <a:cs typeface="Arial"/>
              </a:rPr>
              <a:t>databases</a:t>
            </a:r>
            <a:endParaRPr sz="1100">
              <a:latin typeface="Arial"/>
              <a:cs typeface="Arial"/>
            </a:endParaRPr>
          </a:p>
          <a:p>
            <a:pPr marL="784225" marR="28575" lvl="1" indent="-295910">
              <a:lnSpc>
                <a:spcPct val="117600"/>
              </a:lnSpc>
              <a:buSzPct val="77272"/>
              <a:buChar char="○"/>
              <a:tabLst>
                <a:tab pos="784225" algn="l"/>
              </a:tabLst>
            </a:pPr>
            <a:r>
              <a:rPr sz="1100" spc="3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1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685D46"/>
                </a:solidFill>
                <a:latin typeface="Arial"/>
                <a:cs typeface="Arial"/>
              </a:rPr>
              <a:t>Balancing: </a:t>
            </a:r>
            <a:r>
              <a:rPr sz="1100" spc="30" dirty="0">
                <a:solidFill>
                  <a:srgbClr val="685D46"/>
                </a:solidFill>
                <a:latin typeface="Arial"/>
                <a:cs typeface="Arial"/>
              </a:rPr>
              <a:t>Distributing</a:t>
            </a:r>
            <a:r>
              <a:rPr sz="11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75" dirty="0">
                <a:solidFill>
                  <a:srgbClr val="685D46"/>
                </a:solidFill>
                <a:latin typeface="Arial"/>
                <a:cs typeface="Arial"/>
              </a:rPr>
              <a:t>traﬃc</a:t>
            </a:r>
            <a:r>
              <a:rPr sz="11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685D46"/>
                </a:solidFill>
                <a:latin typeface="Arial"/>
                <a:cs typeface="Arial"/>
              </a:rPr>
              <a:t>eﬃciently</a:t>
            </a:r>
            <a:r>
              <a:rPr sz="11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685D46"/>
                </a:solidFill>
                <a:latin typeface="Arial"/>
                <a:cs typeface="Arial"/>
              </a:rPr>
              <a:t>to </a:t>
            </a:r>
            <a:r>
              <a:rPr sz="1100" spc="45" dirty="0">
                <a:solidFill>
                  <a:srgbClr val="685D46"/>
                </a:solidFill>
                <a:latin typeface="Arial"/>
                <a:cs typeface="Arial"/>
              </a:rPr>
              <a:t>prevent </a:t>
            </a:r>
            <a:r>
              <a:rPr sz="1100" spc="10" dirty="0">
                <a:solidFill>
                  <a:srgbClr val="685D46"/>
                </a:solidFill>
                <a:latin typeface="Arial"/>
                <a:cs typeface="Arial"/>
              </a:rPr>
              <a:t>overload</a:t>
            </a:r>
            <a:r>
              <a:rPr sz="11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60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1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sz="11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685D46"/>
                </a:solidFill>
                <a:latin typeface="Arial"/>
                <a:cs typeface="Arial"/>
              </a:rPr>
              <a:t>single</a:t>
            </a:r>
            <a:r>
              <a:rPr sz="11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endParaRPr sz="1100">
              <a:latin typeface="Arial"/>
              <a:cs typeface="Arial"/>
            </a:endParaRPr>
          </a:p>
          <a:p>
            <a:pPr marL="784225" marR="255904" lvl="1" indent="-295910">
              <a:lnSpc>
                <a:spcPct val="117600"/>
              </a:lnSpc>
              <a:buSzPct val="77272"/>
              <a:buChar char="○"/>
              <a:tabLst>
                <a:tab pos="784225" algn="l"/>
              </a:tabLst>
            </a:pPr>
            <a:r>
              <a:rPr sz="1100" spc="10" dirty="0">
                <a:solidFill>
                  <a:srgbClr val="685D46"/>
                </a:solidFill>
                <a:latin typeface="Arial"/>
                <a:cs typeface="Arial"/>
              </a:rPr>
              <a:t>Security:</a:t>
            </a:r>
            <a:r>
              <a:rPr sz="11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685D46"/>
                </a:solidFill>
                <a:latin typeface="Arial"/>
                <a:cs typeface="Arial"/>
              </a:rPr>
              <a:t>Protecting</a:t>
            </a:r>
            <a:r>
              <a:rPr sz="11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1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100" spc="9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80" dirty="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sz="11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685D46"/>
                </a:solidFill>
                <a:latin typeface="Arial"/>
                <a:cs typeface="Arial"/>
              </a:rPr>
              <a:t>unauthorized </a:t>
            </a:r>
            <a:r>
              <a:rPr sz="1100" dirty="0">
                <a:solidFill>
                  <a:srgbClr val="685D46"/>
                </a:solidFill>
                <a:latin typeface="Arial"/>
                <a:cs typeface="Arial"/>
              </a:rPr>
              <a:t>access</a:t>
            </a:r>
            <a:r>
              <a:rPr sz="11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1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85D46"/>
                </a:solidFill>
                <a:latin typeface="Arial"/>
                <a:cs typeface="Arial"/>
              </a:rPr>
              <a:t>cyber</a:t>
            </a:r>
            <a:r>
              <a:rPr sz="11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685D46"/>
                </a:solidFill>
                <a:latin typeface="Arial"/>
                <a:cs typeface="Arial"/>
              </a:rPr>
              <a:t>threats</a:t>
            </a:r>
            <a:endParaRPr sz="1100">
              <a:latin typeface="Arial"/>
              <a:cs typeface="Arial"/>
            </a:endParaRPr>
          </a:p>
          <a:p>
            <a:pPr marL="784225" marR="88900" lvl="1" indent="-295910">
              <a:lnSpc>
                <a:spcPct val="117600"/>
              </a:lnSpc>
              <a:buSzPct val="77272"/>
              <a:buChar char="○"/>
              <a:tabLst>
                <a:tab pos="784225" algn="l"/>
              </a:tabLst>
            </a:pPr>
            <a:r>
              <a:rPr sz="1100" spc="20" dirty="0">
                <a:solidFill>
                  <a:srgbClr val="685D46"/>
                </a:solidFill>
                <a:latin typeface="Arial"/>
                <a:cs typeface="Arial"/>
              </a:rPr>
              <a:t>Eﬃciency:</a:t>
            </a:r>
            <a:r>
              <a:rPr sz="11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20" dirty="0">
                <a:solidFill>
                  <a:srgbClr val="685D46"/>
                </a:solidFill>
                <a:latin typeface="Arial"/>
                <a:cs typeface="Arial"/>
              </a:rPr>
              <a:t>Optimizing</a:t>
            </a:r>
            <a:r>
              <a:rPr sz="11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60" dirty="0">
                <a:solidFill>
                  <a:srgbClr val="685D46"/>
                </a:solidFill>
                <a:latin typeface="Arial"/>
                <a:cs typeface="Arial"/>
              </a:rPr>
              <a:t>network</a:t>
            </a:r>
            <a:r>
              <a:rPr sz="11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sz="11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685D46"/>
                </a:solidFill>
                <a:latin typeface="Arial"/>
                <a:cs typeface="Arial"/>
              </a:rPr>
              <a:t>to </a:t>
            </a:r>
            <a:r>
              <a:rPr sz="1100" dirty="0">
                <a:solidFill>
                  <a:srgbClr val="685D46"/>
                </a:solidFill>
                <a:latin typeface="Arial"/>
                <a:cs typeface="Arial"/>
              </a:rPr>
              <a:t>reduce</a:t>
            </a:r>
            <a:r>
              <a:rPr sz="11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r>
              <a:rPr sz="11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50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100" spc="10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55" dirty="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sz="1100" spc="114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sz="1100" spc="1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685D46"/>
                </a:solidFill>
                <a:latin typeface="Arial"/>
                <a:cs typeface="Arial"/>
              </a:rPr>
              <a:t>experience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48950" y="1557325"/>
            <a:ext cx="3409949" cy="20288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6739255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370" dirty="0"/>
              <a:t>How</a:t>
            </a:r>
            <a:r>
              <a:rPr sz="3200" spc="-80" dirty="0"/>
              <a:t> </a:t>
            </a:r>
            <a:r>
              <a:rPr sz="3200" spc="-250" dirty="0"/>
              <a:t>Networking</a:t>
            </a:r>
            <a:r>
              <a:rPr sz="3200" spc="-5" dirty="0"/>
              <a:t> </a:t>
            </a:r>
            <a:r>
              <a:rPr sz="3200" spc="-229" dirty="0"/>
              <a:t>Impacts</a:t>
            </a:r>
            <a:r>
              <a:rPr sz="3200" spc="-5" dirty="0"/>
              <a:t> </a:t>
            </a:r>
            <a:r>
              <a:rPr sz="3200" spc="-145" dirty="0"/>
              <a:t>Large-</a:t>
            </a:r>
            <a:r>
              <a:rPr sz="3200" spc="-140" dirty="0"/>
              <a:t>Scale</a:t>
            </a:r>
            <a:r>
              <a:rPr sz="3200" spc="-10" dirty="0"/>
              <a:t> </a:t>
            </a:r>
            <a:r>
              <a:rPr sz="3200" spc="-180" dirty="0"/>
              <a:t>Systems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5910580" cy="12877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Helps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millions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users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concurrently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Enables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fast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eﬃcient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exchange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Reduces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improves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resilience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Essential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cloud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computing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-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distributed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systems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29" dirty="0"/>
              <a:t>Agenda:</a:t>
            </a:r>
            <a:r>
              <a:rPr sz="3200" spc="-20" dirty="0"/>
              <a:t> </a:t>
            </a:r>
            <a:r>
              <a:rPr sz="3200" spc="-235" dirty="0"/>
              <a:t>Key</a:t>
            </a:r>
            <a:r>
              <a:rPr sz="3200" spc="-120" dirty="0"/>
              <a:t> </a:t>
            </a:r>
            <a:r>
              <a:rPr sz="3200" spc="-250" dirty="0"/>
              <a:t>Networking</a:t>
            </a:r>
            <a:r>
              <a:rPr sz="3200" spc="-60" dirty="0"/>
              <a:t> </a:t>
            </a:r>
            <a:r>
              <a:rPr sz="3200" spc="-254" dirty="0"/>
              <a:t>Concepts</a:t>
            </a:r>
            <a:r>
              <a:rPr sz="3200" spc="-15" dirty="0"/>
              <a:t> </a:t>
            </a:r>
            <a:r>
              <a:rPr sz="3200" spc="-170" dirty="0"/>
              <a:t>in</a:t>
            </a:r>
            <a:r>
              <a:rPr sz="3200" spc="-15" dirty="0"/>
              <a:t> </a:t>
            </a:r>
            <a:r>
              <a:rPr sz="3200" spc="-229" dirty="0"/>
              <a:t>System</a:t>
            </a:r>
            <a:r>
              <a:rPr sz="3200" spc="-15" dirty="0"/>
              <a:t> </a:t>
            </a:r>
            <a:r>
              <a:rPr sz="3200" spc="-125" dirty="0"/>
              <a:t>Design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5784215" cy="22339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Understanding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IP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Addresses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-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40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sz="1800" spc="-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Works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Model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Explained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Forward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Reverse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Proxy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Introduction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0" dirty="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Load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Balancing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70" dirty="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Gateway?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Delivery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Networks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685D46"/>
                </a:solidFill>
                <a:latin typeface="Arial"/>
                <a:cs typeface="Arial"/>
              </a:rPr>
              <a:t>(CDN)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472815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310" dirty="0"/>
              <a:t>Wrap-</a:t>
            </a:r>
            <a:r>
              <a:rPr sz="3200" spc="-285" dirty="0"/>
              <a:t>Up</a:t>
            </a:r>
            <a:r>
              <a:rPr sz="3200" spc="-50" dirty="0"/>
              <a:t> </a:t>
            </a:r>
            <a:r>
              <a:rPr sz="3200" spc="-90" dirty="0"/>
              <a:t>&amp;</a:t>
            </a:r>
            <a:r>
              <a:rPr sz="3200" spc="-114" dirty="0"/>
              <a:t> </a:t>
            </a:r>
            <a:r>
              <a:rPr sz="3200" spc="-325" dirty="0"/>
              <a:t>What’s</a:t>
            </a:r>
            <a:r>
              <a:rPr sz="3200" spc="-50" dirty="0"/>
              <a:t> </a:t>
            </a:r>
            <a:r>
              <a:rPr sz="3200" spc="-175" dirty="0"/>
              <a:t>Next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5690235" cy="9721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foundation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Next,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we’ll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deep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dive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into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5" dirty="0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Coming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up: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35" dirty="0">
                <a:solidFill>
                  <a:srgbClr val="685D46"/>
                </a:solidFill>
                <a:latin typeface="Arial"/>
                <a:cs typeface="Arial"/>
              </a:rPr>
              <a:t>IP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Addressing</a:t>
            </a:r>
            <a:r>
              <a:rPr sz="1800" spc="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85D4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190</Words>
  <Application>Microsoft Office PowerPoint</Application>
  <PresentationFormat>On-screen Show (16:9)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Mastering System Design</vt:lpstr>
      <vt:lpstr>Why Networking Matters in System Design?</vt:lpstr>
      <vt:lpstr>How Networking Impacts Large-Scale Systems</vt:lpstr>
      <vt:lpstr>Agenda: Key Networking Concepts in System Design</vt:lpstr>
      <vt:lpstr>Wrap-Up &amp; What’s Next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2</dc:title>
  <cp:lastModifiedBy>RAVI GV</cp:lastModifiedBy>
  <cp:revision>1</cp:revision>
  <dcterms:created xsi:type="dcterms:W3CDTF">2025-11-15T06:20:52Z</dcterms:created>
  <dcterms:modified xsi:type="dcterms:W3CDTF">2025-11-15T06:28:03Z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2025-11-15T00:00:00Z</vt:filetime>
  </property>
</Properties>
</file>