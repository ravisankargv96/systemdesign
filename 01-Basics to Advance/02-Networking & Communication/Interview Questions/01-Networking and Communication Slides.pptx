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png" ContentType="image/pn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Relationship Id="rId3" Type="http://schemas.openxmlformats.org/officeDocument/2006/relationships/image" Target="../media/image16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350" spc="-330"/>
              <a:t>Mastering</a:t>
            </a:r>
            <a:r>
              <a:rPr dirty="0" sz="4350" spc="-80"/>
              <a:t> </a:t>
            </a:r>
            <a:r>
              <a:rPr dirty="0" sz="4350" spc="-330"/>
              <a:t>System</a:t>
            </a:r>
            <a:r>
              <a:rPr dirty="0" sz="4350" spc="-65"/>
              <a:t> </a:t>
            </a:r>
            <a:r>
              <a:rPr dirty="0" sz="4350" spc="-275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1743450" y="2297787"/>
            <a:ext cx="5652135" cy="1004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Section</a:t>
            </a:r>
            <a:r>
              <a:rPr dirty="0" sz="2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2:</a:t>
            </a:r>
            <a:r>
              <a:rPr dirty="0" sz="2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2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2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24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1945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70"/>
              <a:t>Why</a:t>
            </a:r>
            <a:r>
              <a:rPr dirty="0" sz="3200" spc="-140"/>
              <a:t> </a:t>
            </a:r>
            <a:r>
              <a:rPr dirty="0" sz="3200" spc="-250"/>
              <a:t>Networking</a:t>
            </a:r>
            <a:r>
              <a:rPr dirty="0" sz="3200" spc="-30"/>
              <a:t> </a:t>
            </a:r>
            <a:r>
              <a:rPr dirty="0" sz="3200" spc="-270"/>
              <a:t>Matters</a:t>
            </a:r>
            <a:r>
              <a:rPr dirty="0" sz="3200" spc="-30"/>
              <a:t> </a:t>
            </a:r>
            <a:r>
              <a:rPr dirty="0" sz="3200" spc="-170"/>
              <a:t>in</a:t>
            </a:r>
            <a:r>
              <a:rPr dirty="0" sz="3200" spc="-30"/>
              <a:t> </a:t>
            </a:r>
            <a:r>
              <a:rPr dirty="0" sz="3200" spc="-229"/>
              <a:t>System</a:t>
            </a:r>
            <a:r>
              <a:rPr dirty="0" sz="3200" spc="-30"/>
              <a:t> </a:t>
            </a:r>
            <a:r>
              <a:rPr dirty="0" sz="3200" spc="-145"/>
              <a:t>Design?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27027" y="1307917"/>
            <a:ext cx="3961129" cy="2588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7025" marR="531495" indent="-314960">
              <a:lnSpc>
                <a:spcPct val="117600"/>
              </a:lnSpc>
              <a:spcBef>
                <a:spcPts val="95"/>
              </a:spcBef>
              <a:buChar char="●"/>
              <a:tabLst>
                <a:tab pos="327025" algn="l"/>
              </a:tabLst>
            </a:pP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Every</a:t>
            </a:r>
            <a:r>
              <a:rPr dirty="0" sz="11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1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relies</a:t>
            </a:r>
            <a:r>
              <a:rPr dirty="0" sz="11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1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1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11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85D46"/>
                </a:solidFill>
                <a:latin typeface="Arial"/>
                <a:cs typeface="Arial"/>
              </a:rPr>
              <a:t>between components</a:t>
            </a:r>
            <a:endParaRPr sz="1100">
              <a:latin typeface="Arial"/>
              <a:cs typeface="Arial"/>
            </a:endParaRPr>
          </a:p>
          <a:p>
            <a:pPr marL="327025" marR="607060" indent="-314960">
              <a:lnSpc>
                <a:spcPct val="117600"/>
              </a:lnSpc>
              <a:buChar char="●"/>
              <a:tabLst>
                <a:tab pos="327025" algn="l"/>
              </a:tabLst>
            </a:pP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11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1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1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reliability,</a:t>
            </a:r>
            <a:r>
              <a:rPr dirty="0" sz="11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25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100" spc="4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endParaRPr sz="1100">
              <a:latin typeface="Arial"/>
              <a:cs typeface="Arial"/>
            </a:endParaRPr>
          </a:p>
          <a:p>
            <a:pPr marL="327025" indent="-314325">
              <a:lnSpc>
                <a:spcPct val="100000"/>
              </a:lnSpc>
              <a:spcBef>
                <a:spcPts val="229"/>
              </a:spcBef>
              <a:buChar char="●"/>
              <a:tabLst>
                <a:tab pos="327025" algn="l"/>
              </a:tabLst>
            </a:pP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1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areas</a:t>
            </a:r>
            <a:r>
              <a:rPr dirty="0" sz="11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1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11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plays</a:t>
            </a:r>
            <a:r>
              <a:rPr dirty="0" sz="11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1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crucial</a:t>
            </a:r>
            <a:r>
              <a:rPr dirty="0" sz="11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85D46"/>
                </a:solidFill>
                <a:latin typeface="Arial"/>
                <a:cs typeface="Arial"/>
              </a:rPr>
              <a:t>role:</a:t>
            </a:r>
            <a:endParaRPr sz="1100">
              <a:latin typeface="Arial"/>
              <a:cs typeface="Arial"/>
            </a:endParaRPr>
          </a:p>
          <a:p>
            <a:pPr lvl="1" marL="784225" marR="5080" indent="-295910">
              <a:lnSpc>
                <a:spcPct val="117600"/>
              </a:lnSpc>
              <a:buSzPct val="77272"/>
              <a:buChar char="○"/>
              <a:tabLst>
                <a:tab pos="784225" algn="l"/>
              </a:tabLst>
            </a:pPr>
            <a:r>
              <a:rPr dirty="0" sz="1100" spc="3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Ensuring</a:t>
            </a:r>
            <a:r>
              <a:rPr dirty="0" sz="11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685D46"/>
                </a:solidFill>
                <a:latin typeface="Arial"/>
                <a:cs typeface="Arial"/>
              </a:rPr>
              <a:t>smooth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3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40">
                <a:solidFill>
                  <a:srgbClr val="685D46"/>
                </a:solidFill>
                <a:latin typeface="Arial"/>
                <a:cs typeface="Arial"/>
              </a:rPr>
              <a:t>transfer 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1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clients,</a:t>
            </a:r>
            <a:r>
              <a:rPr dirty="0" sz="11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dirty="0" sz="11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1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endParaRPr sz="1100">
              <a:latin typeface="Arial"/>
              <a:cs typeface="Arial"/>
            </a:endParaRPr>
          </a:p>
          <a:p>
            <a:pPr lvl="1" marL="784225" marR="28575" indent="-295910">
              <a:lnSpc>
                <a:spcPct val="117600"/>
              </a:lnSpc>
              <a:buSzPct val="77272"/>
              <a:buChar char="○"/>
              <a:tabLst>
                <a:tab pos="784225" algn="l"/>
              </a:tabLst>
            </a:pPr>
            <a:r>
              <a:rPr dirty="0" sz="1100" spc="3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1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Balancing: </a:t>
            </a:r>
            <a:r>
              <a:rPr dirty="0" sz="1100" spc="30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dirty="0" sz="11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75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eﬃciently</a:t>
            </a:r>
            <a:r>
              <a:rPr dirty="0" sz="11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prevent </a:t>
            </a:r>
            <a:r>
              <a:rPr dirty="0" sz="1100" spc="10">
                <a:solidFill>
                  <a:srgbClr val="685D46"/>
                </a:solidFill>
                <a:latin typeface="Arial"/>
                <a:cs typeface="Arial"/>
              </a:rPr>
              <a:t>overload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  <a:p>
            <a:pPr lvl="1" marL="784225" marR="255904" indent="-295910">
              <a:lnSpc>
                <a:spcPct val="117600"/>
              </a:lnSpc>
              <a:buSzPct val="77272"/>
              <a:buChar char="○"/>
              <a:tabLst>
                <a:tab pos="784225" algn="l"/>
              </a:tabLst>
            </a:pPr>
            <a:r>
              <a:rPr dirty="0" sz="1100" spc="10">
                <a:solidFill>
                  <a:srgbClr val="685D46"/>
                </a:solidFill>
                <a:latin typeface="Arial"/>
                <a:cs typeface="Arial"/>
              </a:rPr>
              <a:t>Security:</a:t>
            </a:r>
            <a:r>
              <a:rPr dirty="0" sz="11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85D46"/>
                </a:solidFill>
                <a:latin typeface="Arial"/>
                <a:cs typeface="Arial"/>
              </a:rPr>
              <a:t>Protecting</a:t>
            </a:r>
            <a:r>
              <a:rPr dirty="0" sz="11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1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8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1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85D46"/>
                </a:solidFill>
                <a:latin typeface="Arial"/>
                <a:cs typeface="Arial"/>
              </a:rPr>
              <a:t>unauthorized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access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cyber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85D46"/>
                </a:solidFill>
                <a:latin typeface="Arial"/>
                <a:cs typeface="Arial"/>
              </a:rPr>
              <a:t>threats</a:t>
            </a:r>
            <a:endParaRPr sz="1100">
              <a:latin typeface="Arial"/>
              <a:cs typeface="Arial"/>
            </a:endParaRPr>
          </a:p>
          <a:p>
            <a:pPr lvl="1" marL="784225" marR="88900" indent="-295910">
              <a:lnSpc>
                <a:spcPct val="117600"/>
              </a:lnSpc>
              <a:buSzPct val="77272"/>
              <a:buChar char="○"/>
              <a:tabLst>
                <a:tab pos="784225" algn="l"/>
              </a:tabLst>
            </a:pP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Eﬃciency:</a:t>
            </a:r>
            <a:r>
              <a:rPr dirty="0" sz="11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685D46"/>
                </a:solidFill>
                <a:latin typeface="Arial"/>
                <a:cs typeface="Arial"/>
              </a:rPr>
              <a:t>Optimizing</a:t>
            </a:r>
            <a:r>
              <a:rPr dirty="0" sz="11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1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dirty="0" sz="11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1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1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55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1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1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85D46"/>
                </a:solidFill>
                <a:latin typeface="Arial"/>
                <a:cs typeface="Arial"/>
              </a:rPr>
              <a:t>experience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8950" y="1557325"/>
            <a:ext cx="3409949" cy="2028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73925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70"/>
              <a:t>How</a:t>
            </a:r>
            <a:r>
              <a:rPr dirty="0" sz="3200" spc="-80"/>
              <a:t> </a:t>
            </a:r>
            <a:r>
              <a:rPr dirty="0" sz="3200" spc="-250"/>
              <a:t>Networking</a:t>
            </a:r>
            <a:r>
              <a:rPr dirty="0" sz="3200" spc="-5"/>
              <a:t> </a:t>
            </a:r>
            <a:r>
              <a:rPr dirty="0" sz="3200" spc="-229"/>
              <a:t>Impacts</a:t>
            </a:r>
            <a:r>
              <a:rPr dirty="0" sz="3200" spc="-5"/>
              <a:t> </a:t>
            </a:r>
            <a:r>
              <a:rPr dirty="0" sz="3200" spc="-145"/>
              <a:t>Large-</a:t>
            </a:r>
            <a:r>
              <a:rPr dirty="0" sz="3200" spc="-140"/>
              <a:t>Scale</a:t>
            </a:r>
            <a:r>
              <a:rPr dirty="0" sz="3200" spc="-10"/>
              <a:t> </a:t>
            </a:r>
            <a:r>
              <a:rPr dirty="0" sz="3200" spc="-180"/>
              <a:t>Systems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5910580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millions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concurrently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resilience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computing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29"/>
              <a:t>Agenda:</a:t>
            </a:r>
            <a:r>
              <a:rPr dirty="0" sz="3200" spc="-20"/>
              <a:t> </a:t>
            </a:r>
            <a:r>
              <a:rPr dirty="0" sz="3200" spc="-235"/>
              <a:t>Key</a:t>
            </a:r>
            <a:r>
              <a:rPr dirty="0" sz="3200" spc="-120"/>
              <a:t> </a:t>
            </a:r>
            <a:r>
              <a:rPr dirty="0" sz="3200" spc="-250"/>
              <a:t>Networking</a:t>
            </a:r>
            <a:r>
              <a:rPr dirty="0" sz="3200" spc="-60"/>
              <a:t> </a:t>
            </a:r>
            <a:r>
              <a:rPr dirty="0" sz="3200" spc="-254"/>
              <a:t>Concepts</a:t>
            </a:r>
            <a:r>
              <a:rPr dirty="0" sz="3200" spc="-15"/>
              <a:t> </a:t>
            </a:r>
            <a:r>
              <a:rPr dirty="0" sz="3200" spc="-170"/>
              <a:t>in</a:t>
            </a:r>
            <a:r>
              <a:rPr dirty="0" sz="3200" spc="-15"/>
              <a:t> </a:t>
            </a:r>
            <a:r>
              <a:rPr dirty="0" sz="3200" spc="-229"/>
              <a:t>System</a:t>
            </a:r>
            <a:r>
              <a:rPr dirty="0" sz="3200" spc="-15"/>
              <a:t> </a:t>
            </a:r>
            <a:r>
              <a:rPr dirty="0" sz="3200" spc="-125"/>
              <a:t>Design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5784215" cy="22339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IP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Explained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Gateway?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Networks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(CDN)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47281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10"/>
              <a:t>Wrap-</a:t>
            </a:r>
            <a:r>
              <a:rPr dirty="0" sz="3200" spc="-285"/>
              <a:t>Up</a:t>
            </a:r>
            <a:r>
              <a:rPr dirty="0" sz="3200" spc="-50"/>
              <a:t> </a:t>
            </a:r>
            <a:r>
              <a:rPr dirty="0" sz="3200" spc="-90"/>
              <a:t>&amp;</a:t>
            </a:r>
            <a:r>
              <a:rPr dirty="0" sz="3200" spc="-114"/>
              <a:t> </a:t>
            </a:r>
            <a:r>
              <a:rPr dirty="0" sz="3200" spc="-325"/>
              <a:t>What’s</a:t>
            </a:r>
            <a:r>
              <a:rPr dirty="0" sz="3200" spc="-50"/>
              <a:t> </a:t>
            </a:r>
            <a:r>
              <a:rPr dirty="0" sz="3200" spc="-175"/>
              <a:t>Next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5690235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foundation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Next,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we’ll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deep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dive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Coming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up: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Addressing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DNS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10"/>
              </a:spcBef>
            </a:pPr>
            <a:r>
              <a:rPr dirty="0" sz="3350" spc="-254"/>
              <a:t>Understanding</a:t>
            </a:r>
            <a:r>
              <a:rPr dirty="0" sz="3350" spc="-60"/>
              <a:t> </a:t>
            </a:r>
            <a:r>
              <a:rPr dirty="0" sz="3350" spc="-155"/>
              <a:t>IP</a:t>
            </a:r>
            <a:r>
              <a:rPr dirty="0" sz="3350" spc="-285"/>
              <a:t> </a:t>
            </a:r>
            <a:r>
              <a:rPr dirty="0" sz="3350" spc="-254"/>
              <a:t>Addresses</a:t>
            </a:r>
            <a:r>
              <a:rPr dirty="0" sz="3350" spc="-45"/>
              <a:t> </a:t>
            </a:r>
            <a:r>
              <a:rPr dirty="0" sz="3350" spc="-190"/>
              <a:t>in</a:t>
            </a:r>
            <a:r>
              <a:rPr dirty="0" sz="3350" spc="-55"/>
              <a:t> </a:t>
            </a:r>
            <a:r>
              <a:rPr dirty="0" sz="3350" spc="-254"/>
              <a:t>System</a:t>
            </a:r>
            <a:r>
              <a:rPr dirty="0" sz="3350" spc="-50"/>
              <a:t> </a:t>
            </a:r>
            <a:r>
              <a:rPr dirty="0" sz="3350" spc="-140"/>
              <a:t>Design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5"/>
              <a:t>Introduction</a:t>
            </a:r>
            <a:r>
              <a:rPr dirty="0" sz="3200" spc="-20"/>
              <a:t> </a:t>
            </a:r>
            <a:r>
              <a:rPr dirty="0" sz="3200" spc="-235"/>
              <a:t>to</a:t>
            </a:r>
            <a:r>
              <a:rPr dirty="0" sz="3200" spc="-15"/>
              <a:t> </a:t>
            </a:r>
            <a:r>
              <a:rPr dirty="0" sz="3200" spc="-135"/>
              <a:t>IP</a:t>
            </a:r>
            <a:r>
              <a:rPr dirty="0" sz="3200" spc="-245"/>
              <a:t> </a:t>
            </a:r>
            <a:r>
              <a:rPr dirty="0" sz="3200" spc="-210"/>
              <a:t>Addresses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20684" cy="2910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(Internet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Protocol)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unique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numerical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labels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assigned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devices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network.</a:t>
            </a:r>
            <a:endParaRPr sz="1800">
              <a:latin typeface="Arial"/>
              <a:cs typeface="Arial"/>
            </a:endParaRPr>
          </a:p>
          <a:p>
            <a:pPr marL="379095" marR="16192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enable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machines,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internet.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Two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primary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versions: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IPv6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Two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primary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categories: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Public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7566" y="2623399"/>
            <a:ext cx="4122502" cy="18702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01295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30"/>
              <a:t>What</a:t>
            </a:r>
            <a:r>
              <a:rPr dirty="0" sz="3200" spc="-60"/>
              <a:t> </a:t>
            </a:r>
            <a:r>
              <a:rPr dirty="0" sz="3200" spc="-90"/>
              <a:t>is</a:t>
            </a:r>
            <a:r>
              <a:rPr dirty="0" sz="3200" spc="-85"/>
              <a:t> </a:t>
            </a:r>
            <a:r>
              <a:rPr dirty="0" sz="3200" spc="-135"/>
              <a:t>IPv4?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700009" cy="223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4826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(Internet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Version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4)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most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addressing system.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32-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bit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address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192.168.1.1)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Total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available: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~4.3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billion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Uses: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networking,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most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current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internet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devices.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Challenges: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Limited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IPs,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fragmentation,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0225" y="3684697"/>
            <a:ext cx="6409950" cy="1031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01295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30"/>
              <a:t>What</a:t>
            </a:r>
            <a:r>
              <a:rPr dirty="0" sz="3200" spc="-60"/>
              <a:t> </a:t>
            </a:r>
            <a:r>
              <a:rPr dirty="0" sz="3200" spc="-90"/>
              <a:t>is</a:t>
            </a:r>
            <a:r>
              <a:rPr dirty="0" sz="3200" spc="-85"/>
              <a:t> </a:t>
            </a:r>
            <a:r>
              <a:rPr dirty="0" sz="3200" spc="-135"/>
              <a:t>IPv6?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014" y="1331577"/>
            <a:ext cx="3962400" cy="2675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8140" marR="83185" indent="-346075">
              <a:lnSpc>
                <a:spcPct val="107100"/>
              </a:lnSpc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IPv6</a:t>
            </a:r>
            <a:r>
              <a:rPr dirty="0" sz="15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(Internet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Version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6)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next-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generation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standard.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128-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bit</a:t>
            </a:r>
            <a:r>
              <a:rPr dirty="0" sz="15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address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format </a:t>
            </a: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  <a:p>
            <a:pPr marL="358140">
              <a:lnSpc>
                <a:spcPct val="100000"/>
              </a:lnSpc>
              <a:spcBef>
                <a:spcPts val="135"/>
              </a:spcBef>
            </a:pPr>
            <a:r>
              <a:rPr dirty="0" sz="1300" spc="-75">
                <a:solidFill>
                  <a:srgbClr val="685D46"/>
                </a:solidFill>
                <a:latin typeface="Arial Black"/>
                <a:cs typeface="Arial Black"/>
              </a:rPr>
              <a:t>2001:0db8:85a3:0000:0000:8a2e:0370:7334</a:t>
            </a:r>
            <a:endParaRPr sz="1300">
              <a:latin typeface="Arial Black"/>
              <a:cs typeface="Arial Black"/>
            </a:endParaRPr>
          </a:p>
          <a:p>
            <a:pPr marL="358140" marR="761365" indent="-346075">
              <a:lnSpc>
                <a:spcPts val="1930"/>
              </a:lnSpc>
              <a:spcBef>
                <a:spcPts val="6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Total</a:t>
            </a:r>
            <a:r>
              <a:rPr dirty="0" sz="150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dirty="0" sz="15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available:</a:t>
            </a:r>
            <a:r>
              <a:rPr dirty="0" sz="15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685D46"/>
                </a:solidFill>
                <a:latin typeface="Arial"/>
                <a:cs typeface="Arial"/>
              </a:rPr>
              <a:t>340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undecillion</a:t>
            </a:r>
            <a:r>
              <a:rPr dirty="0" sz="15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(virtually</a:t>
            </a:r>
            <a:r>
              <a:rPr dirty="0" sz="15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unlimited).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40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Designed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for: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IoT,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networks,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3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1500">
              <a:latin typeface="Arial"/>
              <a:cs typeface="Arial"/>
            </a:endParaRPr>
          </a:p>
          <a:p>
            <a:pPr marL="358140">
              <a:lnSpc>
                <a:spcPct val="100000"/>
              </a:lnSpc>
              <a:spcBef>
                <a:spcPts val="125"/>
              </a:spcBef>
            </a:pPr>
            <a:r>
              <a:rPr dirty="0" sz="1500" spc="90">
                <a:solidFill>
                  <a:srgbClr val="685D46"/>
                </a:solidFill>
                <a:latin typeface="Arial"/>
                <a:cs typeface="Arial"/>
              </a:rPr>
              <a:t>future</a:t>
            </a:r>
            <a:r>
              <a:rPr dirty="0" sz="15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scalability.</a:t>
            </a:r>
            <a:endParaRPr sz="1500">
              <a:latin typeface="Arial"/>
              <a:cs typeface="Arial"/>
            </a:endParaRPr>
          </a:p>
          <a:p>
            <a:pPr marL="358140" marR="211454" indent="-346075">
              <a:lnSpc>
                <a:spcPct val="107100"/>
              </a:lnSpc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beneﬁts:</a:t>
            </a:r>
            <a:r>
              <a:rPr dirty="0" sz="15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Larger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address</a:t>
            </a:r>
            <a:r>
              <a:rPr dirty="0" sz="15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space, 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better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5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improved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routing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eﬃciency.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9500" y="1385875"/>
            <a:ext cx="3924299" cy="2371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50"/>
              <a:t>IPv4</a:t>
            </a:r>
            <a:r>
              <a:rPr dirty="0" sz="3200" spc="-100"/>
              <a:t> </a:t>
            </a:r>
            <a:r>
              <a:rPr dirty="0" sz="3200" spc="-190"/>
              <a:t>vs.</a:t>
            </a:r>
            <a:r>
              <a:rPr dirty="0" sz="3200" spc="-240"/>
              <a:t> </a:t>
            </a:r>
            <a:r>
              <a:rPr dirty="0" sz="3200" spc="-150"/>
              <a:t>IPv6</a:t>
            </a:r>
            <a:r>
              <a:rPr dirty="0" sz="3200" spc="-170"/>
              <a:t> </a:t>
            </a:r>
            <a:r>
              <a:rPr dirty="0" sz="3200" spc="140"/>
              <a:t>–</a:t>
            </a:r>
            <a:r>
              <a:rPr dirty="0" sz="3200" spc="-254"/>
              <a:t> </a:t>
            </a:r>
            <a:r>
              <a:rPr dirty="0" sz="3200" spc="-235"/>
              <a:t>Key</a:t>
            </a:r>
            <a:r>
              <a:rPr dirty="0" sz="3200" spc="-135"/>
              <a:t> </a:t>
            </a:r>
            <a:r>
              <a:rPr dirty="0" sz="3200" spc="-185"/>
              <a:t>Differences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00" y="1266325"/>
            <a:ext cx="8520598" cy="26849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98196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0"/>
              <a:t>Private</a:t>
            </a:r>
            <a:r>
              <a:rPr dirty="0" sz="3200" spc="-75"/>
              <a:t> </a:t>
            </a:r>
            <a:r>
              <a:rPr dirty="0" sz="3200" spc="-190"/>
              <a:t>vs.</a:t>
            </a:r>
            <a:r>
              <a:rPr dirty="0" sz="3200" spc="-220"/>
              <a:t> </a:t>
            </a:r>
            <a:r>
              <a:rPr dirty="0" sz="3200" spc="-185"/>
              <a:t>Public</a:t>
            </a:r>
            <a:r>
              <a:rPr dirty="0" sz="3200" spc="-80"/>
              <a:t> </a:t>
            </a:r>
            <a:r>
              <a:rPr dirty="0" sz="3200" spc="-95"/>
              <a:t>IPs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3971290" cy="25488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58140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Public</a:t>
            </a:r>
            <a:r>
              <a:rPr dirty="0" sz="15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IPs: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Assigned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685D46"/>
                </a:solidFill>
                <a:latin typeface="Arial"/>
                <a:cs typeface="Arial"/>
              </a:rPr>
              <a:t>ISPs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(Internet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Providers).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internet.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Unique</a:t>
            </a:r>
            <a:r>
              <a:rPr dirty="0" sz="12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worldwide.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192.203.23.45.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dirty="0" sz="15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IPs:</a:t>
            </a:r>
            <a:endParaRPr sz="1500">
              <a:latin typeface="Arial"/>
              <a:cs typeface="Arial"/>
            </a:endParaRPr>
          </a:p>
          <a:p>
            <a:pPr lvl="1" marL="815340" marR="780415" indent="-320040">
              <a:lnSpc>
                <a:spcPts val="1360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within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local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networks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(LANs,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enterprises,</a:t>
            </a:r>
            <a:r>
              <a:rPr dirty="0" sz="1200" spc="2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homes).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Cannot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accessed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55"/>
              </a:lnSpc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internet.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endParaRPr sz="1200">
              <a:latin typeface="Arial"/>
              <a:cs typeface="Arial"/>
            </a:endParaRPr>
          </a:p>
          <a:p>
            <a:pPr lvl="2" marL="1272540" indent="-319405">
              <a:lnSpc>
                <a:spcPts val="1355"/>
              </a:lnSpc>
              <a:buChar char="■"/>
              <a:tabLst>
                <a:tab pos="12725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10.0.0.0</a:t>
            </a:r>
            <a:r>
              <a:rPr dirty="0" sz="1200" spc="-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2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10.255.255.255</a:t>
            </a:r>
            <a:endParaRPr sz="1200">
              <a:latin typeface="Arial"/>
              <a:cs typeface="Arial"/>
            </a:endParaRPr>
          </a:p>
          <a:p>
            <a:pPr lvl="2" marL="1272540" indent="-319405">
              <a:lnSpc>
                <a:spcPts val="1355"/>
              </a:lnSpc>
              <a:buChar char="■"/>
              <a:tabLst>
                <a:tab pos="12725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172.16.0.0</a:t>
            </a:r>
            <a:r>
              <a:rPr dirty="0" sz="1200" spc="-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200" spc="-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172.31.255.255</a:t>
            </a:r>
            <a:endParaRPr sz="1200">
              <a:latin typeface="Arial"/>
              <a:cs typeface="Arial"/>
            </a:endParaRPr>
          </a:p>
          <a:p>
            <a:pPr lvl="2" marL="1272540" indent="-319405">
              <a:lnSpc>
                <a:spcPts val="1400"/>
              </a:lnSpc>
              <a:buChar char="■"/>
              <a:tabLst>
                <a:tab pos="12725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192.168.0.0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192.168.255.255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2300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30149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70"/>
              <a:t>Why</a:t>
            </a:r>
            <a:r>
              <a:rPr dirty="0" sz="3200" spc="-145"/>
              <a:t> </a:t>
            </a:r>
            <a:r>
              <a:rPr dirty="0" sz="3200" spc="-300"/>
              <a:t>Do</a:t>
            </a:r>
            <a:r>
              <a:rPr dirty="0" sz="3200" spc="-110"/>
              <a:t> </a:t>
            </a:r>
            <a:r>
              <a:rPr dirty="0" sz="3200" spc="-490"/>
              <a:t>We</a:t>
            </a:r>
            <a:r>
              <a:rPr dirty="0" sz="3200" spc="-40"/>
              <a:t> </a:t>
            </a:r>
            <a:r>
              <a:rPr dirty="0" sz="3200" spc="-285"/>
              <a:t>Need</a:t>
            </a:r>
            <a:r>
              <a:rPr dirty="0" sz="3200" spc="-40"/>
              <a:t> </a:t>
            </a:r>
            <a:r>
              <a:rPr dirty="0" sz="3200" spc="-210"/>
              <a:t>Private</a:t>
            </a:r>
            <a:r>
              <a:rPr dirty="0" sz="3200" spc="-40"/>
              <a:t> </a:t>
            </a:r>
            <a:r>
              <a:rPr dirty="0" sz="3200" spc="-110"/>
              <a:t>IPs?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18204"/>
            <a:ext cx="3879215" cy="2689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marR="5080" indent="-356870">
              <a:lnSpc>
                <a:spcPct val="106000"/>
              </a:lnSpc>
              <a:spcBef>
                <a:spcPts val="95"/>
              </a:spcBef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Conserves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public </a:t>
            </a:r>
            <a:r>
              <a:rPr dirty="0" sz="1650" spc="-3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(IPv4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limitation).</a:t>
            </a:r>
            <a:endParaRPr sz="1650">
              <a:latin typeface="Arial"/>
              <a:cs typeface="Arial"/>
            </a:endParaRPr>
          </a:p>
          <a:p>
            <a:pPr marL="368935" marR="21209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dirty="0" sz="165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65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(private</a:t>
            </a:r>
            <a:r>
              <a:rPr dirty="0" sz="165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4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dirty="0" sz="165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are 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routable</a:t>
            </a:r>
            <a:r>
              <a:rPr dirty="0" sz="165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65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internet).</a:t>
            </a:r>
            <a:endParaRPr sz="1650">
              <a:latin typeface="Arial"/>
              <a:cs typeface="Arial"/>
            </a:endParaRPr>
          </a:p>
          <a:p>
            <a:pPr marL="368935" marR="11811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Address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Translation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40">
                <a:solidFill>
                  <a:srgbClr val="685D46"/>
                </a:solidFill>
                <a:latin typeface="Arial"/>
                <a:cs typeface="Arial"/>
              </a:rPr>
              <a:t>(NAT)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allow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devices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share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public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IP.</a:t>
            </a:r>
            <a:endParaRPr sz="1650">
              <a:latin typeface="Arial"/>
              <a:cs typeface="Arial"/>
            </a:endParaRPr>
          </a:p>
          <a:p>
            <a:pPr marL="368935" marR="311785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65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corporate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networks,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data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centers,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cloud environments.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0414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79044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90"/>
              <a:t>The</a:t>
            </a:r>
            <a:r>
              <a:rPr dirty="0" sz="3200" spc="-35"/>
              <a:t> </a:t>
            </a:r>
            <a:r>
              <a:rPr dirty="0" sz="3200" spc="-220"/>
              <a:t>Role</a:t>
            </a:r>
            <a:r>
              <a:rPr dirty="0" sz="3200" spc="-35"/>
              <a:t> </a:t>
            </a:r>
            <a:r>
              <a:rPr dirty="0" sz="3200" spc="-250"/>
              <a:t>of</a:t>
            </a:r>
            <a:r>
              <a:rPr dirty="0" sz="3200" spc="-30"/>
              <a:t> </a:t>
            </a:r>
            <a:r>
              <a:rPr dirty="0" sz="3200" spc="-170"/>
              <a:t>IPs</a:t>
            </a:r>
            <a:r>
              <a:rPr dirty="0" sz="3200" spc="-35"/>
              <a:t> </a:t>
            </a:r>
            <a:r>
              <a:rPr dirty="0" sz="3200" spc="-170"/>
              <a:t>in</a:t>
            </a:r>
            <a:r>
              <a:rPr dirty="0" sz="3200" spc="-35"/>
              <a:t> </a:t>
            </a:r>
            <a:r>
              <a:rPr dirty="0" sz="3200" spc="-229"/>
              <a:t>System</a:t>
            </a:r>
            <a:r>
              <a:rPr dirty="0" sz="3200" spc="-30"/>
              <a:t> </a:t>
            </a:r>
            <a:r>
              <a:rPr dirty="0" sz="3200" spc="-145"/>
              <a:t>Design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3890645" cy="291719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354965" marR="879475" indent="-342900">
              <a:lnSpc>
                <a:spcPts val="1739"/>
              </a:lnSpc>
              <a:spcBef>
                <a:spcPts val="23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designing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distributed,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region,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35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500" spc="35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dirty="0" sz="1500" spc="4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500">
              <a:latin typeface="Arial"/>
              <a:cs typeface="Arial"/>
            </a:endParaRPr>
          </a:p>
          <a:p>
            <a:pPr marL="358140" marR="167005" indent="-346075">
              <a:lnSpc>
                <a:spcPts val="1739"/>
              </a:lnSpc>
              <a:spcBef>
                <a:spcPts val="1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Security:</a:t>
            </a:r>
            <a:r>
              <a:rPr dirty="0" sz="15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5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ﬁrewall</a:t>
            </a:r>
            <a:r>
              <a:rPr dirty="0" sz="15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rules,</a:t>
            </a:r>
            <a:r>
              <a:rPr dirty="0" sz="15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VPNs,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networking.</a:t>
            </a:r>
            <a:endParaRPr sz="1500">
              <a:latin typeface="Arial"/>
              <a:cs typeface="Arial"/>
            </a:endParaRPr>
          </a:p>
          <a:p>
            <a:pPr marL="358140" marR="207010" indent="-346075">
              <a:lnSpc>
                <a:spcPts val="1739"/>
              </a:lnSpc>
              <a:spcBef>
                <a:spcPts val="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IP-based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90">
                <a:solidFill>
                  <a:srgbClr val="685D46"/>
                </a:solidFill>
                <a:latin typeface="Arial"/>
                <a:cs typeface="Arial"/>
              </a:rPr>
              <a:t>traﬃc 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distribution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Round-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robin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DNS,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Anycast</a:t>
            </a:r>
            <a:r>
              <a:rPr dirty="0" sz="15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IPs).</a:t>
            </a:r>
            <a:endParaRPr sz="1500">
              <a:latin typeface="Arial"/>
              <a:cs typeface="Arial"/>
            </a:endParaRPr>
          </a:p>
          <a:p>
            <a:pPr marL="358140" marR="79375" indent="-346075">
              <a:lnSpc>
                <a:spcPts val="1739"/>
              </a:lnSpc>
              <a:spcBef>
                <a:spcPts val="1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dirty="0" sz="15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Networking:</a:t>
            </a:r>
            <a:r>
              <a:rPr dirty="0" sz="15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Public,</a:t>
            </a:r>
            <a:r>
              <a:rPr dirty="0" sz="15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private,</a:t>
            </a:r>
            <a:r>
              <a:rPr dirty="0" sz="15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35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hybrid</a:t>
            </a:r>
            <a:r>
              <a:rPr dirty="0" sz="15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(AWS, </a:t>
            </a:r>
            <a:r>
              <a:rPr dirty="0" sz="1500" spc="-80">
                <a:solidFill>
                  <a:srgbClr val="685D46"/>
                </a:solidFill>
                <a:latin typeface="Arial"/>
                <a:cs typeface="Arial"/>
              </a:rPr>
              <a:t>GCP,</a:t>
            </a:r>
            <a:r>
              <a:rPr dirty="0" sz="15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Azure).</a:t>
            </a:r>
            <a:endParaRPr sz="1500">
              <a:latin typeface="Arial"/>
              <a:cs typeface="Arial"/>
            </a:endParaRPr>
          </a:p>
          <a:p>
            <a:pPr marL="358140" marR="5080" indent="-346075">
              <a:lnSpc>
                <a:spcPts val="1739"/>
              </a:lnSpc>
              <a:spcBef>
                <a:spcPts val="15"/>
              </a:spcBef>
              <a:buChar char="●"/>
              <a:tabLst>
                <a:tab pos="358140" algn="l"/>
              </a:tabLst>
            </a:pP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5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Containers:</a:t>
            </a:r>
            <a:r>
              <a:rPr dirty="0" sz="15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685D46"/>
                </a:solidFill>
                <a:latin typeface="Arial"/>
                <a:cs typeface="Arial"/>
              </a:rPr>
              <a:t>Use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internal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5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9575" y="1304825"/>
            <a:ext cx="4653650" cy="19232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747966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50"/>
              <a:t>Common</a:t>
            </a:r>
            <a:r>
              <a:rPr dirty="0" sz="3200" spc="-30"/>
              <a:t> </a:t>
            </a:r>
            <a:r>
              <a:rPr dirty="0" sz="3200" spc="-229"/>
              <a:t>System</a:t>
            </a:r>
            <a:r>
              <a:rPr dirty="0" sz="3200" spc="-30"/>
              <a:t> </a:t>
            </a:r>
            <a:r>
              <a:rPr dirty="0" sz="3200" spc="-185"/>
              <a:t>Design</a:t>
            </a:r>
            <a:r>
              <a:rPr dirty="0" sz="3200" spc="-30"/>
              <a:t> </a:t>
            </a:r>
            <a:r>
              <a:rPr dirty="0" sz="3200" spc="-215"/>
              <a:t>Interview</a:t>
            </a:r>
            <a:r>
              <a:rPr dirty="0" sz="3200" spc="-135"/>
              <a:t> </a:t>
            </a:r>
            <a:r>
              <a:rPr dirty="0" sz="3200" spc="-229"/>
              <a:t>Questions</a:t>
            </a:r>
            <a:r>
              <a:rPr dirty="0" sz="3200" spc="-30"/>
              <a:t> </a:t>
            </a:r>
            <a:r>
              <a:rPr dirty="0" sz="3200" spc="-275"/>
              <a:t>on</a:t>
            </a:r>
            <a:r>
              <a:rPr dirty="0" sz="3200" spc="-30"/>
              <a:t> </a:t>
            </a:r>
            <a:r>
              <a:rPr dirty="0" sz="3200" spc="-65"/>
              <a:t>IPs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746875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IPv6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diﬀer?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does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NAT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addressing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shortage?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IPs.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does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resolve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 large-scale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55346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90"/>
              <a:t>Summary</a:t>
            </a:r>
            <a:r>
              <a:rPr dirty="0" sz="3200" spc="-155"/>
              <a:t> </a:t>
            </a:r>
            <a:r>
              <a:rPr dirty="0" sz="3200" spc="-90"/>
              <a:t>&amp;</a:t>
            </a:r>
            <a:r>
              <a:rPr dirty="0" sz="3200" spc="-114"/>
              <a:t> </a:t>
            </a:r>
            <a:r>
              <a:rPr dirty="0" sz="3200" spc="-325"/>
              <a:t>What’s</a:t>
            </a:r>
            <a:r>
              <a:rPr dirty="0" sz="3200" spc="-45"/>
              <a:t> </a:t>
            </a:r>
            <a:r>
              <a:rPr dirty="0" sz="3200" spc="-150"/>
              <a:t>Next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588250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IPv6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two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primary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internet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protocols.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Public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manage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internal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external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networking.</a:t>
            </a:r>
            <a:endParaRPr sz="1800">
              <a:latin typeface="Arial"/>
              <a:cs typeface="Arial"/>
            </a:endParaRPr>
          </a:p>
          <a:p>
            <a:pPr marL="379095" marR="22034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Coming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its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role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257425">
              <a:lnSpc>
                <a:spcPct val="100000"/>
              </a:lnSpc>
              <a:spcBef>
                <a:spcPts val="110"/>
              </a:spcBef>
            </a:pPr>
            <a:r>
              <a:rPr dirty="0" sz="3350" spc="-400"/>
              <a:t>How</a:t>
            </a:r>
            <a:r>
              <a:rPr dirty="0" sz="3350" spc="-125"/>
              <a:t> </a:t>
            </a:r>
            <a:r>
              <a:rPr dirty="0" sz="3350" spc="-280"/>
              <a:t>DNS</a:t>
            </a:r>
            <a:r>
              <a:rPr dirty="0" sz="3350" spc="-130"/>
              <a:t> </a:t>
            </a:r>
            <a:r>
              <a:rPr dirty="0" sz="3350" spc="-355"/>
              <a:t>Works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91719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5"/>
              <a:t>Introduction</a:t>
            </a:r>
            <a:r>
              <a:rPr dirty="0" sz="3200" spc="-10"/>
              <a:t> </a:t>
            </a:r>
            <a:r>
              <a:rPr dirty="0" sz="3200" spc="-235"/>
              <a:t>to</a:t>
            </a:r>
            <a:r>
              <a:rPr dirty="0" sz="3200" spc="-10"/>
              <a:t> </a:t>
            </a:r>
            <a:r>
              <a:rPr dirty="0" sz="3200" spc="-229"/>
              <a:t>DNS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401559" cy="166370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DNS?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"phonebook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internet."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Translates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human-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readable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domain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names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google.com)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into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addresses.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DNS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accessibility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websites.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distributed,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internet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architecture.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222" y="3050350"/>
            <a:ext cx="6672874" cy="17238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09181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54"/>
              <a:t>Types</a:t>
            </a:r>
            <a:r>
              <a:rPr dirty="0" sz="3200" spc="-50"/>
              <a:t> </a:t>
            </a:r>
            <a:r>
              <a:rPr dirty="0" sz="3200" spc="-250"/>
              <a:t>of</a:t>
            </a:r>
            <a:r>
              <a:rPr dirty="0" sz="3200" spc="-45"/>
              <a:t> </a:t>
            </a:r>
            <a:r>
              <a:rPr dirty="0" sz="3200" spc="-250"/>
              <a:t>DNS</a:t>
            </a:r>
            <a:r>
              <a:rPr dirty="0" sz="3200" spc="-50"/>
              <a:t> </a:t>
            </a:r>
            <a:r>
              <a:rPr dirty="0" sz="3200" spc="-175"/>
              <a:t>Servers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4008754" cy="264541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79095" marR="255270" indent="-367030">
              <a:lnSpc>
                <a:spcPts val="2050"/>
              </a:lnSpc>
              <a:spcBef>
                <a:spcPts val="26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Root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Top-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level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.com,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.org,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marL="379095" marR="460375" indent="-367030">
              <a:lnSpc>
                <a:spcPts val="2050"/>
              </a:lnSpc>
              <a:buChar char="●"/>
              <a:tabLst>
                <a:tab pos="379095" algn="l"/>
              </a:tabLst>
            </a:pP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TLD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Speciﬁc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domains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.com,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.net.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ts val="205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Authoritative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Store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domain-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speciﬁc</a:t>
            </a:r>
            <a:r>
              <a:rPr dirty="0" sz="1800" spc="2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records.</a:t>
            </a:r>
            <a:endParaRPr sz="1800">
              <a:latin typeface="Arial"/>
              <a:cs typeface="Arial"/>
            </a:endParaRPr>
          </a:p>
          <a:p>
            <a:pPr marL="379095" marR="31750" indent="-367030">
              <a:lnSpc>
                <a:spcPts val="205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Recursive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Resolvers: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Handle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queries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behalf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users,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contacting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if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necessary.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534" y="882749"/>
            <a:ext cx="2743275" cy="3630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50"/>
              <a:t>DNS</a:t>
            </a:r>
            <a:r>
              <a:rPr dirty="0" sz="3200" spc="-70"/>
              <a:t> </a:t>
            </a:r>
            <a:r>
              <a:rPr dirty="0" sz="3200" spc="-204"/>
              <a:t>Caching</a:t>
            </a:r>
            <a:r>
              <a:rPr dirty="0" sz="3200" spc="-25"/>
              <a:t> </a:t>
            </a:r>
            <a:r>
              <a:rPr dirty="0" sz="3200" spc="-270"/>
              <a:t>and</a:t>
            </a:r>
            <a:r>
              <a:rPr dirty="0" sz="3200" spc="-30"/>
              <a:t> </a:t>
            </a:r>
            <a:r>
              <a:rPr dirty="0" sz="3200" spc="-254"/>
              <a:t>Performance</a:t>
            </a:r>
            <a:r>
              <a:rPr dirty="0" sz="3200" spc="-65"/>
              <a:t> </a:t>
            </a:r>
            <a:r>
              <a:rPr dirty="0" sz="3200" spc="-195"/>
              <a:t>Optimization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301865" cy="221361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matters?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latency.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occurs?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(stores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previous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lookups).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00">
                <a:solidFill>
                  <a:srgbClr val="685D46"/>
                </a:solidFill>
                <a:latin typeface="Arial"/>
                <a:cs typeface="Arial"/>
              </a:rPr>
              <a:t>OS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(/etc/hosts,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Windows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cache).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Recursive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Resolver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(ISP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level).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Time-To-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Live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685D46"/>
                </a:solidFill>
                <a:latin typeface="Arial"/>
                <a:cs typeface="Arial"/>
              </a:rPr>
              <a:t>(TTL):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Determines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long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 cached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record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is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valid.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553466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90"/>
              <a:t>The</a:t>
            </a:r>
            <a:r>
              <a:rPr dirty="0" sz="3200" spc="-25"/>
              <a:t> </a:t>
            </a:r>
            <a:r>
              <a:rPr dirty="0" sz="3200" spc="-280"/>
              <a:t>Domain</a:t>
            </a:r>
            <a:r>
              <a:rPr dirty="0" sz="3200" spc="-25"/>
              <a:t> </a:t>
            </a:r>
            <a:r>
              <a:rPr dirty="0" sz="3200" spc="-340"/>
              <a:t>Name</a:t>
            </a:r>
            <a:r>
              <a:rPr dirty="0" sz="3200" spc="-25"/>
              <a:t> </a:t>
            </a:r>
            <a:r>
              <a:rPr dirty="0" sz="3200" spc="-215"/>
              <a:t>Resolution</a:t>
            </a:r>
            <a:r>
              <a:rPr dirty="0" sz="3200" spc="-25"/>
              <a:t> </a:t>
            </a:r>
            <a:r>
              <a:rPr dirty="0" sz="3200" spc="-170"/>
              <a:t>Process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3997325" cy="272161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58140" marR="311785" indent="-346075">
              <a:lnSpc>
                <a:spcPts val="1739"/>
              </a:lnSpc>
              <a:spcBef>
                <a:spcPts val="23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Step-by-step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breakdown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685D46"/>
                </a:solidFill>
                <a:latin typeface="Arial"/>
                <a:cs typeface="Arial"/>
              </a:rPr>
              <a:t>DNS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resolves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domain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name:</a:t>
            </a:r>
            <a:endParaRPr sz="1500">
              <a:latin typeface="Arial"/>
              <a:cs typeface="Arial"/>
            </a:endParaRPr>
          </a:p>
          <a:p>
            <a:pPr lvl="1" marL="815340" indent="-351790">
              <a:lnSpc>
                <a:spcPts val="1290"/>
              </a:lnSpc>
              <a:buAutoNum type="alphaLcPeriod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domain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browser.</a:t>
            </a:r>
            <a:endParaRPr sz="1200">
              <a:latin typeface="Arial"/>
              <a:cs typeface="Arial"/>
            </a:endParaRPr>
          </a:p>
          <a:p>
            <a:pPr lvl="1" marL="815340" marR="380365" indent="-361315">
              <a:lnSpc>
                <a:spcPts val="1360"/>
              </a:lnSpc>
              <a:spcBef>
                <a:spcPts val="70"/>
              </a:spcBef>
              <a:buAutoNum type="alphaLcPeriod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check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(if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already known).</a:t>
            </a:r>
            <a:endParaRPr sz="1200">
              <a:latin typeface="Arial"/>
              <a:cs typeface="Arial"/>
            </a:endParaRPr>
          </a:p>
          <a:p>
            <a:pPr lvl="1" marL="815340" indent="-340360">
              <a:lnSpc>
                <a:spcPts val="1280"/>
              </a:lnSpc>
              <a:buAutoNum type="alphaLcPeriod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Operating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685D46"/>
                </a:solidFill>
                <a:latin typeface="Arial"/>
                <a:cs typeface="Arial"/>
              </a:rPr>
              <a:t>(OS)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check.</a:t>
            </a:r>
            <a:endParaRPr sz="1200">
              <a:latin typeface="Arial"/>
              <a:cs typeface="Arial"/>
            </a:endParaRPr>
          </a:p>
          <a:p>
            <a:pPr lvl="1" marL="815340" marR="408305" indent="-361315">
              <a:lnSpc>
                <a:spcPts val="1360"/>
              </a:lnSpc>
              <a:spcBef>
                <a:spcPts val="70"/>
              </a:spcBef>
              <a:buAutoNum type="alphaLcPeriod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Query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the Local</a:t>
            </a:r>
            <a:r>
              <a:rPr dirty="0" sz="12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Resolver </a:t>
            </a:r>
            <a:r>
              <a:rPr dirty="0" sz="1200" spc="-85">
                <a:solidFill>
                  <a:srgbClr val="685D46"/>
                </a:solidFill>
                <a:latin typeface="Arial"/>
                <a:cs typeface="Arial"/>
              </a:rPr>
              <a:t>(ISP</a:t>
            </a:r>
            <a:r>
              <a:rPr dirty="0" sz="12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or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conﬁgured</a:t>
            </a:r>
            <a:r>
              <a:rPr dirty="0" sz="12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2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200">
              <a:latin typeface="Arial"/>
              <a:cs typeface="Arial"/>
            </a:endParaRPr>
          </a:p>
          <a:p>
            <a:pPr lvl="1" marL="815340" indent="-353060">
              <a:lnSpc>
                <a:spcPts val="1280"/>
              </a:lnSpc>
              <a:buAutoNum type="alphaLcPeriod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found,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query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goes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Root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200">
              <a:latin typeface="Arial"/>
              <a:cs typeface="Arial"/>
            </a:endParaRPr>
          </a:p>
          <a:p>
            <a:pPr lvl="1" marL="815340" marR="107314" indent="-319405">
              <a:lnSpc>
                <a:spcPts val="1360"/>
              </a:lnSpc>
              <a:spcBef>
                <a:spcPts val="70"/>
              </a:spcBef>
              <a:buAutoNum type="alphaLcPeriod"/>
              <a:tabLst>
                <a:tab pos="815340" algn="l"/>
              </a:tabLst>
            </a:pP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TLD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(Top-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Level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Domain)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provide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Authoritative</a:t>
            </a:r>
            <a:r>
              <a:rPr dirty="0" sz="12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2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2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details.</a:t>
            </a:r>
            <a:endParaRPr sz="1200">
              <a:latin typeface="Arial"/>
              <a:cs typeface="Arial"/>
            </a:endParaRPr>
          </a:p>
          <a:p>
            <a:pPr lvl="1" marL="815340" indent="-349885">
              <a:lnSpc>
                <a:spcPts val="1280"/>
              </a:lnSpc>
              <a:buAutoNum type="alphaLcPeriod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Authoritative</a:t>
            </a:r>
            <a:r>
              <a:rPr dirty="0" sz="12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2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2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returns</a:t>
            </a:r>
            <a:r>
              <a:rPr dirty="0" sz="12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IP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55"/>
              </a:lnSpc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address.</a:t>
            </a:r>
            <a:endParaRPr sz="1200">
              <a:latin typeface="Arial"/>
              <a:cs typeface="Arial"/>
            </a:endParaRPr>
          </a:p>
          <a:p>
            <a:pPr lvl="1" marL="815340" marR="379730" indent="-361315">
              <a:lnSpc>
                <a:spcPts val="1360"/>
              </a:lnSpc>
              <a:spcBef>
                <a:spcPts val="75"/>
              </a:spcBef>
              <a:buAutoNum type="alphaLcPeriod" startAt="8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cached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returned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user.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1475" y="1074537"/>
            <a:ext cx="2375731" cy="35905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50"/>
              <a:t>Importance</a:t>
            </a:r>
            <a:r>
              <a:rPr dirty="0" sz="3200" spc="-20"/>
              <a:t> </a:t>
            </a:r>
            <a:r>
              <a:rPr dirty="0" sz="3200" spc="-250"/>
              <a:t>of</a:t>
            </a:r>
            <a:r>
              <a:rPr dirty="0" sz="3200" spc="-15"/>
              <a:t> </a:t>
            </a:r>
            <a:r>
              <a:rPr dirty="0" sz="3200" spc="-250"/>
              <a:t>DNS</a:t>
            </a:r>
            <a:r>
              <a:rPr dirty="0" sz="3200" spc="-15"/>
              <a:t> </a:t>
            </a:r>
            <a:r>
              <a:rPr dirty="0" sz="3200" spc="-170"/>
              <a:t>in</a:t>
            </a:r>
            <a:r>
              <a:rPr dirty="0" sz="3200" spc="-15"/>
              <a:t> </a:t>
            </a:r>
            <a:r>
              <a:rPr dirty="0" sz="3200" spc="-145"/>
              <a:t>Large-</a:t>
            </a:r>
            <a:r>
              <a:rPr dirty="0" sz="3200" spc="-140"/>
              <a:t>Scale</a:t>
            </a:r>
            <a:r>
              <a:rPr dirty="0" sz="3200" spc="-20"/>
              <a:t> </a:t>
            </a:r>
            <a:r>
              <a:rPr dirty="0" sz="3200" spc="-185"/>
              <a:t>Systems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3940810" cy="296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Ensuring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Availability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DNS.</a:t>
            </a:r>
            <a:endParaRPr sz="1400">
              <a:latin typeface="Arial"/>
              <a:cs typeface="Arial"/>
            </a:endParaRPr>
          </a:p>
          <a:p>
            <a:pPr lvl="1" marL="836294" marR="691515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Anycast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global resolution.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60"/>
              </a:lnSpc>
              <a:buChar char="●"/>
              <a:tabLst>
                <a:tab pos="379095" algn="l"/>
              </a:tabLst>
            </a:pP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Failover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58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Primary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secondary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379095" marR="705485" indent="-367030">
              <a:lnSpc>
                <a:spcPts val="205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Networks 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(CDNs)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DNS</a:t>
            </a:r>
            <a:endParaRPr sz="1800">
              <a:latin typeface="Arial"/>
              <a:cs typeface="Arial"/>
            </a:endParaRPr>
          </a:p>
          <a:p>
            <a:pPr lvl="1" marL="836294" marR="5080" indent="-336550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nearest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node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fast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loading.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60"/>
              </a:lnSpc>
              <a:buChar char="●"/>
              <a:tabLst>
                <a:tab pos="379095" algn="l"/>
              </a:tabLst>
            </a:pP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endParaRPr sz="1800">
              <a:latin typeface="Arial"/>
              <a:cs typeface="Arial"/>
            </a:endParaRPr>
          </a:p>
          <a:p>
            <a:pPr lvl="1" marL="836294" marR="44450" indent="-336550">
              <a:lnSpc>
                <a:spcPts val="16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poisoning,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poisoning,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and DDoS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attacks.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143374" cy="28098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522414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5"/>
              <a:t>Interview</a:t>
            </a:r>
            <a:r>
              <a:rPr dirty="0" sz="3200" spc="-130"/>
              <a:t> </a:t>
            </a:r>
            <a:r>
              <a:rPr dirty="0" sz="3200" spc="-229"/>
              <a:t>Questions</a:t>
            </a:r>
            <a:r>
              <a:rPr dirty="0" sz="3200" spc="-25"/>
              <a:t> </a:t>
            </a:r>
            <a:r>
              <a:rPr dirty="0" sz="3200" spc="-220"/>
              <a:t>Related</a:t>
            </a:r>
            <a:r>
              <a:rPr dirty="0" sz="3200" spc="-25"/>
              <a:t> </a:t>
            </a:r>
            <a:r>
              <a:rPr dirty="0" sz="3200" spc="-235"/>
              <a:t>to</a:t>
            </a:r>
            <a:r>
              <a:rPr dirty="0" sz="3200" spc="-25"/>
              <a:t> </a:t>
            </a:r>
            <a:r>
              <a:rPr dirty="0" sz="3200" spc="-180"/>
              <a:t>DNS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8137525" cy="22339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resolution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step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step.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authoritative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recursive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servers?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performance?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occur?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TTL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DNS,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DNS-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1800">
              <a:latin typeface="Arial"/>
              <a:cs typeface="Arial"/>
            </a:endParaRPr>
          </a:p>
          <a:p>
            <a:pPr marL="431800" marR="338455" indent="-419734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common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DNS-related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threats,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be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mitigated?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90"/>
              <a:t>Summary</a:t>
            </a:r>
            <a:r>
              <a:rPr dirty="0" sz="3200" spc="-160"/>
              <a:t> </a:t>
            </a:r>
            <a:r>
              <a:rPr dirty="0" sz="3200" spc="-90"/>
              <a:t>&amp;</a:t>
            </a:r>
            <a:r>
              <a:rPr dirty="0" sz="3200" spc="-155"/>
              <a:t> </a:t>
            </a:r>
            <a:r>
              <a:rPr dirty="0" sz="3200" spc="-285"/>
              <a:t>Takeaways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175158"/>
            <a:ext cx="3940810" cy="312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83566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critical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internet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functionality.</a:t>
            </a:r>
            <a:endParaRPr sz="1800">
              <a:latin typeface="Arial"/>
              <a:cs typeface="Arial"/>
            </a:endParaRPr>
          </a:p>
          <a:p>
            <a:pPr marL="379095" marR="13906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eﬃciency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dirty="0" sz="18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latency.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failover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are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  <a:p>
            <a:pPr marL="379095" marR="33401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threats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exist,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best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help mitigate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them.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What's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Explained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2210" y="1377735"/>
            <a:ext cx="3980570" cy="142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150620">
              <a:lnSpc>
                <a:spcPct val="100000"/>
              </a:lnSpc>
              <a:spcBef>
                <a:spcPts val="110"/>
              </a:spcBef>
            </a:pPr>
            <a:r>
              <a:rPr dirty="0" sz="3350" spc="-180"/>
              <a:t>Client-</a:t>
            </a:r>
            <a:r>
              <a:rPr dirty="0" sz="3350" spc="-210"/>
              <a:t>Server</a:t>
            </a:r>
            <a:r>
              <a:rPr dirty="0" sz="3350" spc="-15"/>
              <a:t> </a:t>
            </a:r>
            <a:r>
              <a:rPr dirty="0" sz="3350" spc="-330"/>
              <a:t>Model</a:t>
            </a:r>
            <a:r>
              <a:rPr dirty="0" sz="3350"/>
              <a:t> </a:t>
            </a:r>
            <a:r>
              <a:rPr dirty="0" sz="3350" spc="-185"/>
              <a:t>Explained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30"/>
              <a:t>What</a:t>
            </a:r>
            <a:r>
              <a:rPr dirty="0" sz="3200" spc="-35"/>
              <a:t> </a:t>
            </a:r>
            <a:r>
              <a:rPr dirty="0" sz="3200" spc="-90"/>
              <a:t>is</a:t>
            </a:r>
            <a:r>
              <a:rPr dirty="0" sz="3200" spc="-35"/>
              <a:t> </a:t>
            </a:r>
            <a:r>
              <a:rPr dirty="0" sz="3200" spc="-229"/>
              <a:t>the</a:t>
            </a:r>
            <a:r>
              <a:rPr dirty="0" sz="3200" spc="-80"/>
              <a:t> </a:t>
            </a:r>
            <a:r>
              <a:rPr dirty="0" sz="3200" spc="-170"/>
              <a:t>Client-</a:t>
            </a:r>
            <a:r>
              <a:rPr dirty="0" sz="3200" spc="-190"/>
              <a:t>Server</a:t>
            </a:r>
            <a:r>
              <a:rPr dirty="0" sz="3200" spc="-35"/>
              <a:t> </a:t>
            </a:r>
            <a:r>
              <a:rPr dirty="0" sz="3200" spc="-300"/>
              <a:t>Model?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18204"/>
            <a:ext cx="4759325" cy="307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marR="288925" indent="-356870">
              <a:lnSpc>
                <a:spcPct val="106000"/>
              </a:lnSpc>
              <a:spcBef>
                <a:spcPts val="95"/>
              </a:spcBef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computing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request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provide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them.</a:t>
            </a:r>
            <a:endParaRPr sz="1650">
              <a:latin typeface="Arial"/>
              <a:cs typeface="Arial"/>
            </a:endParaRPr>
          </a:p>
          <a:p>
            <a:pPr marL="368935" marR="19431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Foundation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web,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database,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114"/>
              </a:spcBef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650">
              <a:latin typeface="Arial"/>
              <a:cs typeface="Arial"/>
            </a:endParaRPr>
          </a:p>
          <a:p>
            <a:pPr lvl="1" marL="825500" indent="-362585">
              <a:lnSpc>
                <a:spcPct val="100000"/>
              </a:lnSpc>
              <a:spcBef>
                <a:spcPts val="114"/>
              </a:spcBef>
              <a:buAutoNum type="alphaLcPeriod"/>
              <a:tabLst>
                <a:tab pos="825500" algn="l"/>
              </a:tabLst>
            </a:pP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management.</a:t>
            </a:r>
            <a:endParaRPr sz="1300">
              <a:latin typeface="Arial"/>
              <a:cs typeface="Arial"/>
            </a:endParaRPr>
          </a:p>
          <a:p>
            <a:pPr lvl="1" marL="826135" marR="81280" indent="-372745">
              <a:lnSpc>
                <a:spcPct val="104600"/>
              </a:lnSpc>
              <a:buAutoNum type="alphaLcPeriod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browsing,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email,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databases,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dirty="0" sz="13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75"/>
              </a:spcBef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650" spc="3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endParaRPr sz="1650">
              <a:latin typeface="Arial"/>
              <a:cs typeface="Arial"/>
            </a:endParaRPr>
          </a:p>
          <a:p>
            <a:pPr lvl="1" marL="826135" marR="5080" indent="-363220">
              <a:lnSpc>
                <a:spcPct val="104600"/>
              </a:lnSpc>
              <a:spcBef>
                <a:spcPts val="40"/>
              </a:spcBef>
              <a:buAutoNum type="alphaLcPeriod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Browsing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website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(Browser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Client,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685D46"/>
                </a:solidFill>
                <a:latin typeface="Arial"/>
                <a:cs typeface="Arial"/>
              </a:rPr>
              <a:t>=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300">
              <a:latin typeface="Arial"/>
              <a:cs typeface="Arial"/>
            </a:endParaRPr>
          </a:p>
          <a:p>
            <a:pPr lvl="1" marL="826135" marR="64135" indent="-372745">
              <a:lnSpc>
                <a:spcPct val="104600"/>
              </a:lnSpc>
              <a:buAutoNum type="alphaLcPeriod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Sending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email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(Email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App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Client,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Mail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685D46"/>
                </a:solidFill>
                <a:latin typeface="Arial"/>
                <a:cs typeface="Arial"/>
              </a:rPr>
              <a:t>=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7400" y="1304825"/>
            <a:ext cx="3286124" cy="20192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40"/>
              <a:t>Key</a:t>
            </a:r>
            <a:r>
              <a:rPr dirty="0" sz="3200" spc="-175"/>
              <a:t> </a:t>
            </a:r>
            <a:r>
              <a:rPr dirty="0" sz="3200" spc="-275"/>
              <a:t>Components</a:t>
            </a:r>
            <a:r>
              <a:rPr dirty="0" sz="3200" spc="-25"/>
              <a:t> </a:t>
            </a:r>
            <a:r>
              <a:rPr dirty="0" sz="3200" spc="-250"/>
              <a:t>of</a:t>
            </a:r>
            <a:r>
              <a:rPr dirty="0" sz="3200" spc="-30"/>
              <a:t> </a:t>
            </a:r>
            <a:r>
              <a:rPr dirty="0" sz="3200" spc="-229"/>
              <a:t>the</a:t>
            </a:r>
            <a:r>
              <a:rPr dirty="0" sz="3200" spc="-65"/>
              <a:t> </a:t>
            </a:r>
            <a:r>
              <a:rPr dirty="0" sz="3200" spc="-170"/>
              <a:t>Client-</a:t>
            </a:r>
            <a:r>
              <a:rPr dirty="0" sz="3200" spc="-190"/>
              <a:t>Server</a:t>
            </a:r>
            <a:r>
              <a:rPr dirty="0" sz="3200" spc="-30"/>
              <a:t> </a:t>
            </a:r>
            <a:r>
              <a:rPr dirty="0" sz="3200" spc="-305"/>
              <a:t>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4805680" cy="314198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Client: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user-facing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  <a:p>
            <a:pPr lvl="1" marL="836294" marR="590550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browser,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app,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API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consumer.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Server:</a:t>
            </a:r>
            <a:endParaRPr sz="1800">
              <a:latin typeface="Arial"/>
              <a:cs typeface="Arial"/>
            </a:endParaRPr>
          </a:p>
          <a:p>
            <a:pPr lvl="1" marL="836294" marR="176530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and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returns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responses.</a:t>
            </a:r>
            <a:endParaRPr sz="1400">
              <a:latin typeface="Arial"/>
              <a:cs typeface="Arial"/>
            </a:endParaRPr>
          </a:p>
          <a:p>
            <a:pPr lvl="1" marL="836294" marR="277495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mail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Network:</a:t>
            </a:r>
            <a:endParaRPr sz="1800">
              <a:latin typeface="Arial"/>
              <a:cs typeface="Arial"/>
            </a:endParaRPr>
          </a:p>
          <a:p>
            <a:pPr lvl="1" marL="836294" marR="366395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medium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facilitates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communication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Internet,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LAN,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685D46"/>
                </a:solidFill>
                <a:latin typeface="Arial"/>
                <a:cs typeface="Arial"/>
              </a:rPr>
              <a:t>Wi-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Fi,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5G.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7400" y="1304825"/>
            <a:ext cx="3286124" cy="20192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70"/>
              <a:t>How</a:t>
            </a:r>
            <a:r>
              <a:rPr dirty="0" sz="3200" spc="-135"/>
              <a:t> </a:t>
            </a:r>
            <a:r>
              <a:rPr dirty="0" sz="3200" spc="-160"/>
              <a:t>Clients</a:t>
            </a:r>
            <a:r>
              <a:rPr dirty="0" sz="3200" spc="-25"/>
              <a:t> </a:t>
            </a:r>
            <a:r>
              <a:rPr dirty="0" sz="3200" spc="-270"/>
              <a:t>and</a:t>
            </a:r>
            <a:r>
              <a:rPr dirty="0" sz="3200" spc="-25"/>
              <a:t> </a:t>
            </a:r>
            <a:r>
              <a:rPr dirty="0" sz="3200" spc="-200"/>
              <a:t>Servers</a:t>
            </a:r>
            <a:r>
              <a:rPr dirty="0" sz="3200" spc="-70"/>
              <a:t> </a:t>
            </a:r>
            <a:r>
              <a:rPr dirty="0" sz="3200" spc="-285"/>
              <a:t>Communicate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12163"/>
            <a:ext cx="3961129" cy="305625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260"/>
              </a:spcBef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dirty="0" sz="1650" spc="-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Steps:</a:t>
            </a:r>
            <a:endParaRPr sz="1650">
              <a:latin typeface="Arial"/>
              <a:cs typeface="Arial"/>
            </a:endParaRPr>
          </a:p>
          <a:p>
            <a:pPr lvl="1" marL="826135" marR="22225" indent="-328295">
              <a:lnSpc>
                <a:spcPct val="104600"/>
              </a:lnSpc>
              <a:spcBef>
                <a:spcPts val="40"/>
              </a:spcBef>
              <a:buChar char="○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685D46"/>
                </a:solidFill>
                <a:latin typeface="Arial"/>
                <a:cs typeface="Arial"/>
              </a:rPr>
              <a:t>(HTTP,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75">
                <a:solidFill>
                  <a:srgbClr val="685D46"/>
                </a:solidFill>
                <a:latin typeface="Arial"/>
                <a:cs typeface="Arial"/>
              </a:rPr>
              <a:t>SQL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query, etc.).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ct val="100000"/>
              </a:lnSpc>
              <a:spcBef>
                <a:spcPts val="75"/>
              </a:spcBef>
              <a:buChar char="○"/>
              <a:tabLst>
                <a:tab pos="825500" algn="l"/>
              </a:tabLst>
            </a:pP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is transmitted over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network.</a:t>
            </a:r>
            <a:endParaRPr sz="1300">
              <a:latin typeface="Arial"/>
              <a:cs typeface="Arial"/>
            </a:endParaRPr>
          </a:p>
          <a:p>
            <a:pPr lvl="1" marL="826135" marR="532130" indent="-328295">
              <a:lnSpc>
                <a:spcPct val="104600"/>
              </a:lnSpc>
              <a:buChar char="○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 receives and</a:t>
            </a:r>
            <a:r>
              <a:rPr dirty="0" sz="13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processes 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ct val="100000"/>
              </a:lnSpc>
              <a:spcBef>
                <a:spcPts val="70"/>
              </a:spcBef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300">
              <a:latin typeface="Arial"/>
              <a:cs typeface="Arial"/>
            </a:endParaRPr>
          </a:p>
          <a:p>
            <a:pPr lvl="1" marL="826135" marR="585470" indent="-328295">
              <a:lnSpc>
                <a:spcPct val="104600"/>
              </a:lnSpc>
              <a:buChar char="○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receives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75"/>
              </a:spcBef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dirty="0" sz="165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65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650">
              <a:latin typeface="Arial"/>
              <a:cs typeface="Arial"/>
            </a:endParaRPr>
          </a:p>
          <a:p>
            <a:pPr lvl="1" marL="826135" marR="288925" indent="-328295">
              <a:lnSpc>
                <a:spcPct val="104600"/>
              </a:lnSpc>
              <a:spcBef>
                <a:spcPts val="45"/>
              </a:spcBef>
              <a:buChar char="○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Request/Response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30">
                <a:solidFill>
                  <a:srgbClr val="685D46"/>
                </a:solidFill>
                <a:latin typeface="Arial"/>
                <a:cs typeface="Arial"/>
              </a:rPr>
              <a:t>HTTP, </a:t>
            </a:r>
            <a:r>
              <a:rPr dirty="0" sz="1300" spc="-15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APIs)</a:t>
            </a:r>
            <a:endParaRPr sz="1300">
              <a:latin typeface="Arial"/>
              <a:cs typeface="Arial"/>
            </a:endParaRPr>
          </a:p>
          <a:p>
            <a:pPr lvl="1" marL="826135" marR="963930" indent="-328295">
              <a:lnSpc>
                <a:spcPct val="104600"/>
              </a:lnSpc>
              <a:buChar char="○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Persistent</a:t>
            </a:r>
            <a:r>
              <a:rPr dirty="0" sz="13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Connections</a:t>
            </a:r>
            <a:r>
              <a:rPr dirty="0" sz="13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(e.g., WebSockets,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20">
                <a:solidFill>
                  <a:srgbClr val="685D46"/>
                </a:solidFill>
                <a:latin typeface="Arial"/>
                <a:cs typeface="Arial"/>
              </a:rPr>
              <a:t>FTP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sessions)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1576" y="1304825"/>
            <a:ext cx="4141789" cy="22123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90"/>
              <a:t>The</a:t>
            </a:r>
            <a:r>
              <a:rPr dirty="0" sz="3200" spc="-10"/>
              <a:t> </a:t>
            </a:r>
            <a:r>
              <a:rPr dirty="0" sz="3200" spc="-220"/>
              <a:t>Request-</a:t>
            </a:r>
            <a:r>
              <a:rPr dirty="0" sz="3200" spc="-250"/>
              <a:t>Response</a:t>
            </a:r>
            <a:r>
              <a:rPr dirty="0" sz="3200" spc="-55"/>
              <a:t> </a:t>
            </a:r>
            <a:r>
              <a:rPr dirty="0" sz="3200" spc="-220"/>
              <a:t>Cycle</a:t>
            </a:r>
            <a:r>
              <a:rPr dirty="0" sz="3200" spc="-10"/>
              <a:t> </a:t>
            </a:r>
            <a:r>
              <a:rPr dirty="0" sz="3200" spc="-130"/>
              <a:t>(HTTP</a:t>
            </a:r>
            <a:r>
              <a:rPr dirty="0" sz="3200" spc="-120"/>
              <a:t> </a:t>
            </a:r>
            <a:r>
              <a:rPr dirty="0" sz="3200" spc="-160"/>
              <a:t>Example)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2564" y="1330206"/>
            <a:ext cx="5506085" cy="260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800" spc="2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800" spc="3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  <a:hlinkClick r:id="rId2"/>
              </a:rPr>
              <a:t>https://example.com.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31800" algn="l"/>
              </a:tabLst>
            </a:pP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resolves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domain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address.</a:t>
            </a:r>
            <a:endParaRPr sz="1800">
              <a:latin typeface="Arial"/>
              <a:cs typeface="Arial"/>
            </a:endParaRPr>
          </a:p>
          <a:p>
            <a:pPr marL="431800" marR="5080" indent="-419734">
              <a:lnSpc>
                <a:spcPct val="105000"/>
              </a:lnSpc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web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800">
              <a:latin typeface="Arial"/>
              <a:cs typeface="Arial"/>
            </a:endParaRPr>
          </a:p>
          <a:p>
            <a:pPr marL="431800" marR="233679" indent="-419734">
              <a:lnSpc>
                <a:spcPct val="105000"/>
              </a:lnSpc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dirty="0" sz="18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request,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fetches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HTML,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queries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needed.</a:t>
            </a:r>
            <a:endParaRPr sz="1800">
              <a:latin typeface="Arial"/>
              <a:cs typeface="Arial"/>
            </a:endParaRPr>
          </a:p>
          <a:p>
            <a:pPr marL="431800" marR="304800" indent="-419734">
              <a:lnSpc>
                <a:spcPct val="105000"/>
              </a:lnSpc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status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code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(200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685D46"/>
                </a:solidFill>
                <a:latin typeface="Arial"/>
                <a:cs typeface="Arial"/>
              </a:rPr>
              <a:t>OK)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webpage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content.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renders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webpage.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0479" y="1181826"/>
            <a:ext cx="2381561" cy="361644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35"/>
              <a:t>Synchronous</a:t>
            </a:r>
            <a:r>
              <a:rPr dirty="0" sz="3200" spc="-110"/>
              <a:t> </a:t>
            </a:r>
            <a:r>
              <a:rPr dirty="0" sz="3200" spc="-185"/>
              <a:t>vs</a:t>
            </a:r>
            <a:r>
              <a:rPr dirty="0" sz="3200" spc="-160"/>
              <a:t> </a:t>
            </a:r>
            <a:r>
              <a:rPr dirty="0" sz="3200" spc="-235"/>
              <a:t>Asynchronous</a:t>
            </a:r>
            <a:r>
              <a:rPr dirty="0" sz="3200" spc="-85"/>
              <a:t> </a:t>
            </a:r>
            <a:r>
              <a:rPr dirty="0" sz="3200" spc="-275"/>
              <a:t>Communication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3977004" cy="2994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dirty="0" sz="1800" spc="3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800">
              <a:latin typeface="Arial"/>
              <a:cs typeface="Arial"/>
            </a:endParaRPr>
          </a:p>
          <a:p>
            <a:pPr lvl="1" marL="836294" marR="347980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waits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for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before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proceeding.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 A user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submits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a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form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595"/>
              </a:lnSpc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waits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conﬁrmation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message.</a:t>
            </a:r>
            <a:endParaRPr sz="1400">
              <a:latin typeface="Arial"/>
              <a:cs typeface="Arial"/>
            </a:endParaRPr>
          </a:p>
          <a:p>
            <a:pPr lvl="1" marL="836294" marR="321310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5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web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apps.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60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dirty="0" sz="1800" spc="3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800">
              <a:latin typeface="Arial"/>
              <a:cs typeface="Arial"/>
            </a:endParaRPr>
          </a:p>
          <a:p>
            <a:pPr lvl="1" marL="836294" marR="15875" indent="-336550">
              <a:lnSpc>
                <a:spcPts val="16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doesn’t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wait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perform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other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tasks.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595"/>
              </a:lnSpc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chat,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50">
                <a:solidFill>
                  <a:srgbClr val="685D46"/>
                </a:solidFill>
                <a:latin typeface="Arial"/>
                <a:cs typeface="Arial"/>
              </a:rPr>
              <a:t>AJAX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background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  <a:p>
            <a:pPr lvl="1" marL="836294" marR="5080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messaging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apps,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live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updates,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IoT</a:t>
            </a:r>
            <a:r>
              <a:rPr dirty="0" sz="1400" spc="-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3100" y="1301965"/>
            <a:ext cx="2459184" cy="20315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814" y="2977807"/>
            <a:ext cx="1948605" cy="19316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60"/>
              <a:t>Stateless</a:t>
            </a:r>
            <a:r>
              <a:rPr dirty="0" sz="3200" spc="-100"/>
              <a:t> </a:t>
            </a:r>
            <a:r>
              <a:rPr dirty="0" sz="3200" spc="-190"/>
              <a:t>vs</a:t>
            </a:r>
            <a:r>
              <a:rPr dirty="0" sz="3200" spc="-35"/>
              <a:t> </a:t>
            </a:r>
            <a:r>
              <a:rPr dirty="0" sz="3200" spc="-175"/>
              <a:t>Stateful</a:t>
            </a:r>
            <a:r>
              <a:rPr dirty="0" sz="3200" spc="-30"/>
              <a:t> </a:t>
            </a:r>
            <a:r>
              <a:rPr dirty="0" sz="3200" spc="-175"/>
              <a:t>Servers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3959860" cy="307784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1800" spc="-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endParaRPr sz="1800">
              <a:latin typeface="Arial"/>
              <a:cs typeface="Arial"/>
            </a:endParaRPr>
          </a:p>
          <a:p>
            <a:pPr lvl="1" marL="836294" marR="5080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past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interactions;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each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independent.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 </a:t>
            </a:r>
            <a:r>
              <a:rPr dirty="0" sz="1400" spc="-15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lvl="1" marL="836294" marR="344170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Beneﬁts: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easy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caching,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Stateful</a:t>
            </a:r>
            <a:r>
              <a:rPr dirty="0" sz="1800" spc="2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endParaRPr sz="1800">
              <a:latin typeface="Arial"/>
              <a:cs typeface="Arial"/>
            </a:endParaRPr>
          </a:p>
          <a:p>
            <a:pPr lvl="1" marL="836294" marR="120650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information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across requests.</a:t>
            </a:r>
            <a:endParaRPr sz="1400">
              <a:latin typeface="Arial"/>
              <a:cs typeface="Arial"/>
            </a:endParaRPr>
          </a:p>
          <a:p>
            <a:pPr lvl="1" marL="836294" marR="280670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WebSockets,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multiplayer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games,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banking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lvl="1" marL="836294" marR="220345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Beneﬁts:</a:t>
            </a:r>
            <a:r>
              <a:rPr dirty="0" sz="1400" spc="2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Personalization,</a:t>
            </a:r>
            <a:r>
              <a:rPr dirty="0" sz="1400" spc="2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seamless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experiences.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4499" y="1304825"/>
            <a:ext cx="4062887" cy="270859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85"/>
              <a:t>Real-</a:t>
            </a:r>
            <a:r>
              <a:rPr dirty="0" sz="3200" spc="-300"/>
              <a:t>World</a:t>
            </a:r>
            <a:r>
              <a:rPr dirty="0" sz="3200" spc="-10"/>
              <a:t> </a:t>
            </a:r>
            <a:r>
              <a:rPr dirty="0" sz="3200" spc="-185"/>
              <a:t>Examples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208395" cy="229489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Browsing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website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(Client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Browser,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Microservices: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calling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20">
                <a:solidFill>
                  <a:srgbClr val="685D46"/>
                </a:solidFill>
                <a:latin typeface="Arial"/>
                <a:cs typeface="Arial"/>
              </a:rPr>
              <a:t>(REST,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GraphQL).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Databases: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querying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85">
                <a:solidFill>
                  <a:srgbClr val="685D46"/>
                </a:solidFill>
                <a:latin typeface="Arial"/>
                <a:cs typeface="Arial"/>
              </a:rPr>
              <a:t>(SQL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Messaging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WhatsApp,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Slack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5"/>
              <a:t>Interview</a:t>
            </a:r>
            <a:r>
              <a:rPr dirty="0" sz="3200" spc="-125"/>
              <a:t> </a:t>
            </a:r>
            <a:r>
              <a:rPr dirty="0" sz="3200" spc="-229"/>
              <a:t>Questions</a:t>
            </a:r>
            <a:r>
              <a:rPr dirty="0" sz="3200" spc="-20"/>
              <a:t> </a:t>
            </a:r>
            <a:r>
              <a:rPr dirty="0" sz="3200" spc="-275"/>
              <a:t>on</a:t>
            </a:r>
            <a:r>
              <a:rPr dirty="0" sz="3200" spc="-15"/>
              <a:t> </a:t>
            </a:r>
            <a:r>
              <a:rPr dirty="0" sz="3200" spc="-229"/>
              <a:t>the</a:t>
            </a:r>
            <a:r>
              <a:rPr dirty="0" sz="3200" spc="-60"/>
              <a:t> </a:t>
            </a:r>
            <a:r>
              <a:rPr dirty="0" sz="3200" spc="-170"/>
              <a:t>Client-</a:t>
            </a:r>
            <a:r>
              <a:rPr dirty="0" sz="3200" spc="-190"/>
              <a:t>Server</a:t>
            </a:r>
            <a:r>
              <a:rPr dirty="0" sz="3200" spc="-20"/>
              <a:t> </a:t>
            </a:r>
            <a:r>
              <a:rPr dirty="0" sz="3200" spc="-305"/>
              <a:t>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06352" y="1323759"/>
            <a:ext cx="6421120" cy="3044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7980" indent="-335280">
              <a:lnSpc>
                <a:spcPts val="1670"/>
              </a:lnSpc>
              <a:spcBef>
                <a:spcPts val="95"/>
              </a:spcBef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Fundamental</a:t>
            </a:r>
            <a:r>
              <a:rPr dirty="0" sz="1400" spc="3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40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0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model,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server?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0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0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10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world</a:t>
            </a:r>
            <a:r>
              <a:rPr dirty="0" sz="10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examples</a:t>
            </a:r>
            <a:r>
              <a:rPr dirty="0" sz="10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0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0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model?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05"/>
              </a:lnSpc>
              <a:buChar char="○"/>
              <a:tabLst>
                <a:tab pos="805180" algn="l"/>
              </a:tabLst>
            </a:pP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server?</a:t>
            </a:r>
            <a:endParaRPr sz="1050">
              <a:latin typeface="Arial"/>
              <a:cs typeface="Arial"/>
            </a:endParaRPr>
          </a:p>
          <a:p>
            <a:pPr marL="347980" indent="-335280">
              <a:lnSpc>
                <a:spcPts val="1625"/>
              </a:lnSpc>
              <a:buChar char="●"/>
              <a:tabLst>
                <a:tab pos="347980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Request-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Cycle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40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0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0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dirty="0" sz="10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cycle</a:t>
            </a:r>
            <a:r>
              <a:rPr dirty="0" sz="10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0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example.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communication?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05"/>
              </a:lnSpc>
              <a:buChar char="○"/>
              <a:tabLst>
                <a:tab pos="805180" algn="l"/>
              </a:tabLst>
            </a:pP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webpage?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Walk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me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through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steps.</a:t>
            </a:r>
            <a:endParaRPr sz="1050">
              <a:latin typeface="Arial"/>
              <a:cs typeface="Arial"/>
            </a:endParaRPr>
          </a:p>
          <a:p>
            <a:pPr marL="347980" indent="-335280">
              <a:lnSpc>
                <a:spcPts val="1625"/>
              </a:lnSpc>
              <a:buChar char="●"/>
              <a:tabLst>
                <a:tab pos="347980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40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0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stateful</a:t>
            </a:r>
            <a:r>
              <a:rPr dirty="0" sz="10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servers?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model?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05"/>
              </a:lnSpc>
              <a:buChar char="○"/>
              <a:tabLst>
                <a:tab pos="805180" algn="l"/>
              </a:tabLst>
            </a:pP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balancers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 work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050">
              <a:latin typeface="Arial"/>
              <a:cs typeface="Arial"/>
            </a:endParaRPr>
          </a:p>
          <a:p>
            <a:pPr marL="347980" indent="-335280">
              <a:lnSpc>
                <a:spcPts val="1625"/>
              </a:lnSpc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40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model?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communication?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35"/>
              </a:lnSpc>
              <a:buChar char="○"/>
              <a:tabLst>
                <a:tab pos="805180" algn="l"/>
              </a:tabLst>
            </a:pP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0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limitations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model?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0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addressed?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ts val="1250"/>
              </a:lnSpc>
              <a:buChar char="○"/>
              <a:tabLst>
                <a:tab pos="805180" algn="l"/>
              </a:tabLst>
            </a:pP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application?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97256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60"/>
              <a:t>Wrap</a:t>
            </a:r>
            <a:r>
              <a:rPr dirty="0" sz="3200" spc="-55"/>
              <a:t> </a:t>
            </a:r>
            <a:r>
              <a:rPr dirty="0" sz="3200" spc="-275"/>
              <a:t>up</a:t>
            </a:r>
            <a:r>
              <a:rPr dirty="0" sz="3200" spc="-55"/>
              <a:t> </a:t>
            </a:r>
            <a:r>
              <a:rPr dirty="0" sz="3200" spc="-270"/>
              <a:t>and</a:t>
            </a:r>
            <a:r>
              <a:rPr dirty="0" sz="3200" spc="-90"/>
              <a:t> </a:t>
            </a:r>
            <a:r>
              <a:rPr dirty="0" sz="3200" spc="-295"/>
              <a:t>what’s</a:t>
            </a:r>
            <a:r>
              <a:rPr dirty="0" sz="3200" spc="-55"/>
              <a:t> </a:t>
            </a:r>
            <a:r>
              <a:rPr dirty="0" sz="3200" spc="-110"/>
              <a:t>next….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386955" cy="190881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Takeaways: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underpins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most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computing.</a:t>
            </a:r>
            <a:endParaRPr sz="1400">
              <a:latin typeface="Arial"/>
              <a:cs typeface="Arial"/>
            </a:endParaRPr>
          </a:p>
          <a:p>
            <a:pPr lvl="1" marL="836294" marR="5080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(sync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vs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async,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vs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stateful)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optimize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cases.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planning.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Steps: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23619">
              <a:lnSpc>
                <a:spcPct val="100000"/>
              </a:lnSpc>
              <a:spcBef>
                <a:spcPts val="110"/>
              </a:spcBef>
            </a:pPr>
            <a:r>
              <a:rPr dirty="0" sz="3350" spc="-285"/>
              <a:t>Forward</a:t>
            </a:r>
            <a:r>
              <a:rPr dirty="0" sz="3350" spc="-40"/>
              <a:t> </a:t>
            </a:r>
            <a:r>
              <a:rPr dirty="0" sz="3350" spc="-235"/>
              <a:t>Proxy</a:t>
            </a:r>
            <a:r>
              <a:rPr dirty="0" sz="3350" spc="-200"/>
              <a:t> </a:t>
            </a:r>
            <a:r>
              <a:rPr dirty="0" sz="3350" spc="-210"/>
              <a:t>vs.</a:t>
            </a:r>
            <a:r>
              <a:rPr dirty="0" sz="3350" spc="-254"/>
              <a:t> </a:t>
            </a:r>
            <a:r>
              <a:rPr dirty="0" sz="3350" spc="-260"/>
              <a:t>Reverse</a:t>
            </a:r>
            <a:r>
              <a:rPr dirty="0" sz="3350" spc="-35"/>
              <a:t> </a:t>
            </a:r>
            <a:r>
              <a:rPr dirty="0" sz="3350" spc="-180"/>
              <a:t>Proxy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30"/>
              <a:t>What</a:t>
            </a:r>
            <a:r>
              <a:rPr dirty="0" sz="3200" spc="-60"/>
              <a:t> </a:t>
            </a:r>
            <a:r>
              <a:rPr dirty="0" sz="3200" spc="-90"/>
              <a:t>is</a:t>
            </a:r>
            <a:r>
              <a:rPr dirty="0" sz="3200" spc="-80"/>
              <a:t> </a:t>
            </a:r>
            <a:r>
              <a:rPr dirty="0" sz="3200" spc="-254"/>
              <a:t>a</a:t>
            </a:r>
            <a:r>
              <a:rPr dirty="0" sz="3200" spc="-60"/>
              <a:t> </a:t>
            </a:r>
            <a:r>
              <a:rPr dirty="0" sz="3200" spc="-190"/>
              <a:t>Proxy?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950335" cy="2549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4826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intermediary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another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800">
              <a:latin typeface="Arial"/>
              <a:cs typeface="Arial"/>
            </a:endParaRPr>
          </a:p>
          <a:p>
            <a:pPr marL="379095" marR="67564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security,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control,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anonymity.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Two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main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types: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800" spc="-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Proxy.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043799" cy="16623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72554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30"/>
              <a:t>What</a:t>
            </a:r>
            <a:r>
              <a:rPr dirty="0" sz="3200" spc="-60"/>
              <a:t> </a:t>
            </a:r>
            <a:r>
              <a:rPr dirty="0" sz="3200" spc="-90"/>
              <a:t>is</a:t>
            </a:r>
            <a:r>
              <a:rPr dirty="0" sz="3200" spc="-80"/>
              <a:t> </a:t>
            </a:r>
            <a:r>
              <a:rPr dirty="0" sz="3200" spc="-254"/>
              <a:t>a</a:t>
            </a:r>
            <a:r>
              <a:rPr dirty="0" sz="3200" spc="-60"/>
              <a:t> </a:t>
            </a:r>
            <a:r>
              <a:rPr dirty="0" sz="3200" spc="-254"/>
              <a:t>Forward</a:t>
            </a:r>
            <a:r>
              <a:rPr dirty="0" sz="3200" spc="-60"/>
              <a:t> </a:t>
            </a:r>
            <a:r>
              <a:rPr dirty="0" sz="3200" spc="-180"/>
              <a:t>Proxy?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3823335" cy="299339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79095" marR="386080" indent="-367030">
              <a:lnSpc>
                <a:spcPts val="2270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Sits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internet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(used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clients).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connect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endParaRPr sz="1800">
              <a:latin typeface="Arial"/>
              <a:cs typeface="Arial"/>
            </a:endParaRPr>
          </a:p>
          <a:p>
            <a:pPr marL="379095" marR="876935">
              <a:lnSpc>
                <a:spcPct val="105000"/>
              </a:lnSpc>
            </a:pP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directly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accessing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websites.</a:t>
            </a:r>
            <a:endParaRPr sz="1800">
              <a:latin typeface="Arial"/>
              <a:cs typeface="Arial"/>
            </a:endParaRPr>
          </a:p>
          <a:p>
            <a:pPr marL="379095" marR="67310" indent="-367030">
              <a:lnSpc>
                <a:spcPct val="105000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ﬁlter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content,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provide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anonymity,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1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Bypassing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geo-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restrictions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Anonymous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browsing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(VPNs,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TOR)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pages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access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9714" y="1266325"/>
            <a:ext cx="4680797" cy="1964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9797" y="3320218"/>
            <a:ext cx="3681410" cy="158414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30"/>
              <a:t>What</a:t>
            </a:r>
            <a:r>
              <a:rPr dirty="0" sz="3200" spc="-55"/>
              <a:t> </a:t>
            </a:r>
            <a:r>
              <a:rPr dirty="0" sz="3200" spc="-90"/>
              <a:t>is</a:t>
            </a:r>
            <a:r>
              <a:rPr dirty="0" sz="3200" spc="-50"/>
              <a:t> </a:t>
            </a:r>
            <a:r>
              <a:rPr dirty="0" sz="3200" spc="-254"/>
              <a:t>a</a:t>
            </a:r>
            <a:r>
              <a:rPr dirty="0" sz="3200" spc="-50"/>
              <a:t> </a:t>
            </a:r>
            <a:r>
              <a:rPr dirty="0" sz="3200" spc="-240"/>
              <a:t>Reverse</a:t>
            </a:r>
            <a:r>
              <a:rPr dirty="0" sz="3200" spc="-50"/>
              <a:t> </a:t>
            </a:r>
            <a:r>
              <a:rPr dirty="0" sz="3200" spc="-180"/>
              <a:t>Proxy?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292830"/>
            <a:ext cx="3832860" cy="3051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68935" marR="289560" indent="-356870">
              <a:lnSpc>
                <a:spcPct val="115999"/>
              </a:lnSpc>
              <a:spcBef>
                <a:spcPts val="95"/>
              </a:spcBef>
              <a:buChar char="●"/>
              <a:tabLst>
                <a:tab pos="368935" algn="l"/>
                <a:tab pos="37020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	Sits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backend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(used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servers).</a:t>
            </a:r>
            <a:endParaRPr sz="1650">
              <a:latin typeface="Arial"/>
              <a:cs typeface="Arial"/>
            </a:endParaRPr>
          </a:p>
          <a:p>
            <a:pPr algn="just" marL="368935" marR="5080" indent="-356870">
              <a:lnSpc>
                <a:spcPct val="115999"/>
              </a:lnSpc>
              <a:buChar char="●"/>
              <a:tabLst>
                <a:tab pos="368935" algn="l"/>
                <a:tab pos="37020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	Clients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don’t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communicate 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65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65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servers—requests</a:t>
            </a:r>
            <a:r>
              <a:rPr dirty="0" sz="165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35">
                <a:solidFill>
                  <a:srgbClr val="685D46"/>
                </a:solidFill>
                <a:latin typeface="Arial"/>
                <a:cs typeface="Arial"/>
              </a:rPr>
              <a:t>go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through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proxy.</a:t>
            </a:r>
            <a:endParaRPr sz="1650">
              <a:latin typeface="Arial"/>
              <a:cs typeface="Arial"/>
            </a:endParaRPr>
          </a:p>
          <a:p>
            <a:pPr algn="just" marL="368935" marR="222250" indent="-356870">
              <a:lnSpc>
                <a:spcPct val="115999"/>
              </a:lnSpc>
              <a:spcBef>
                <a:spcPts val="5"/>
              </a:spcBef>
              <a:buChar char="●"/>
              <a:tabLst>
                <a:tab pos="368935" algn="l"/>
                <a:tab pos="37020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	Used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balancing,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caching,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55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termination.</a:t>
            </a:r>
            <a:endParaRPr sz="1650">
              <a:latin typeface="Arial"/>
              <a:cs typeface="Arial"/>
            </a:endParaRPr>
          </a:p>
          <a:p>
            <a:pPr algn="just" marL="370840" indent="-358140">
              <a:lnSpc>
                <a:spcPct val="100000"/>
              </a:lnSpc>
              <a:spcBef>
                <a:spcPts val="315"/>
              </a:spcBef>
              <a:buChar char="●"/>
              <a:tabLst>
                <a:tab pos="370840" algn="l"/>
              </a:tabLst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ct val="100000"/>
              </a:lnSpc>
              <a:spcBef>
                <a:spcPts val="315"/>
              </a:spcBef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ct val="100000"/>
              </a:lnSpc>
              <a:spcBef>
                <a:spcPts val="225"/>
              </a:spcBef>
              <a:buChar char="○"/>
              <a:tabLst>
                <a:tab pos="825500" algn="l"/>
              </a:tabLst>
            </a:pP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3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3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3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3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speed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ct val="100000"/>
              </a:lnSpc>
              <a:spcBef>
                <a:spcPts val="229"/>
              </a:spcBef>
              <a:buChar char="○"/>
              <a:tabLst>
                <a:tab pos="825500" algn="l"/>
              </a:tabLst>
            </a:pPr>
            <a:r>
              <a:rPr dirty="0" sz="1300" spc="-2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3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protection</a:t>
            </a:r>
            <a:r>
              <a:rPr dirty="0" sz="13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3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6425" y="1230992"/>
            <a:ext cx="4242648" cy="18070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4675" y="3261720"/>
            <a:ext cx="3260133" cy="16862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31698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35"/>
              <a:t>Key</a:t>
            </a:r>
            <a:r>
              <a:rPr dirty="0" sz="3200" spc="-140"/>
              <a:t> </a:t>
            </a:r>
            <a:r>
              <a:rPr dirty="0" sz="3200" spc="-210"/>
              <a:t>Differences</a:t>
            </a:r>
            <a:r>
              <a:rPr dirty="0" sz="3200" spc="-165"/>
              <a:t> </a:t>
            </a:r>
            <a:r>
              <a:rPr dirty="0" sz="3200" spc="-10"/>
              <a:t>-</a:t>
            </a:r>
            <a:r>
              <a:rPr dirty="0" sz="3200" spc="-250"/>
              <a:t> </a:t>
            </a:r>
            <a:r>
              <a:rPr dirty="0" sz="3200" spc="-254"/>
              <a:t>Forward</a:t>
            </a:r>
            <a:r>
              <a:rPr dirty="0" sz="3200" spc="-90"/>
              <a:t> </a:t>
            </a:r>
            <a:r>
              <a:rPr dirty="0" sz="3200" spc="-190"/>
              <a:t>vs.</a:t>
            </a:r>
            <a:r>
              <a:rPr dirty="0" sz="3200" spc="-235"/>
              <a:t> </a:t>
            </a:r>
            <a:r>
              <a:rPr dirty="0" sz="3200" spc="-240"/>
              <a:t>Reverse</a:t>
            </a:r>
            <a:r>
              <a:rPr dirty="0" sz="3200" spc="-30"/>
              <a:t> </a:t>
            </a:r>
            <a:r>
              <a:rPr dirty="0" sz="3200" spc="-140"/>
              <a:t>Proxy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575" y="1310875"/>
            <a:ext cx="8124824" cy="19049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15226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70"/>
              <a:t>Use</a:t>
            </a:r>
            <a:r>
              <a:rPr dirty="0" sz="3200" spc="-85"/>
              <a:t> </a:t>
            </a:r>
            <a:r>
              <a:rPr dirty="0" sz="3200" spc="-204"/>
              <a:t>Cases</a:t>
            </a:r>
            <a:r>
              <a:rPr dirty="0" sz="3200" spc="-40"/>
              <a:t> </a:t>
            </a:r>
            <a:r>
              <a:rPr dirty="0" sz="3200" spc="-215"/>
              <a:t>for</a:t>
            </a:r>
            <a:r>
              <a:rPr dirty="0" sz="3200" spc="-45"/>
              <a:t> </a:t>
            </a:r>
            <a:r>
              <a:rPr dirty="0" sz="3200" spc="-254"/>
              <a:t>Forward</a:t>
            </a:r>
            <a:r>
              <a:rPr dirty="0" sz="3200" spc="-40"/>
              <a:t> </a:t>
            </a:r>
            <a:r>
              <a:rPr dirty="0" sz="3200" spc="-180"/>
              <a:t>Proxy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884929" cy="2549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6096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Privacy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Anonymity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(Hides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user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IP)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Filtering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(Restrict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certain websites)</a:t>
            </a:r>
            <a:endParaRPr sz="1800">
              <a:latin typeface="Arial"/>
              <a:cs typeface="Arial"/>
            </a:endParaRPr>
          </a:p>
          <a:p>
            <a:pPr marL="379095" marR="15430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Bypass</a:t>
            </a:r>
            <a:r>
              <a:rPr dirty="0" sz="180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Geo-restrictions</a:t>
            </a:r>
            <a:r>
              <a:rPr dirty="0" sz="18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(Access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region-blocked</a:t>
            </a:r>
            <a:r>
              <a:rPr dirty="0" sz="1800" spc="48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content)</a:t>
            </a:r>
            <a:endParaRPr sz="1800">
              <a:latin typeface="Arial"/>
              <a:cs typeface="Arial"/>
            </a:endParaRPr>
          </a:p>
          <a:p>
            <a:pPr marL="379095" marR="36385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(Reduce</a:t>
            </a:r>
            <a:r>
              <a:rPr dirty="0" sz="1800" spc="-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redundant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speed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browsing)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079882"/>
            <a:ext cx="3160958" cy="355041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09892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70"/>
              <a:t>Use</a:t>
            </a:r>
            <a:r>
              <a:rPr dirty="0" sz="3200" spc="-70"/>
              <a:t> </a:t>
            </a:r>
            <a:r>
              <a:rPr dirty="0" sz="3200" spc="-204"/>
              <a:t>Cases</a:t>
            </a:r>
            <a:r>
              <a:rPr dirty="0" sz="3200" spc="-30"/>
              <a:t> </a:t>
            </a:r>
            <a:r>
              <a:rPr dirty="0" sz="3200" spc="-215"/>
              <a:t>for</a:t>
            </a:r>
            <a:r>
              <a:rPr dirty="0" sz="3200" spc="-25"/>
              <a:t> </a:t>
            </a:r>
            <a:r>
              <a:rPr dirty="0" sz="3200" spc="-240"/>
              <a:t>Reverse</a:t>
            </a:r>
            <a:r>
              <a:rPr dirty="0" sz="3200" spc="-30"/>
              <a:t> </a:t>
            </a:r>
            <a:r>
              <a:rPr dirty="0" sz="3200" spc="-180"/>
              <a:t>Proxy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903979" cy="2549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4254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8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(Distribute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traﬃc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servers)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Protection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(Hide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block</a:t>
            </a:r>
            <a:r>
              <a:rPr dirty="0" sz="18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attacks)</a:t>
            </a:r>
            <a:endParaRPr sz="1800">
              <a:latin typeface="Arial"/>
              <a:cs typeface="Arial"/>
            </a:endParaRPr>
          </a:p>
          <a:p>
            <a:pPr marL="379095" marR="43942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-18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Termination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(Oﬄoad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685D46"/>
                </a:solidFill>
                <a:latin typeface="Arial"/>
                <a:cs typeface="Arial"/>
              </a:rPr>
              <a:t>SSL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proxy)</a:t>
            </a:r>
            <a:endParaRPr sz="1800">
              <a:latin typeface="Arial"/>
              <a:cs typeface="Arial"/>
            </a:endParaRPr>
          </a:p>
          <a:p>
            <a:pPr marL="379095" marR="6985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Compression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(Reduce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600" y="1111592"/>
            <a:ext cx="3362105" cy="353808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8160384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5"/>
              <a:t>Interview</a:t>
            </a:r>
            <a:r>
              <a:rPr dirty="0" sz="3200" spc="-135"/>
              <a:t> </a:t>
            </a:r>
            <a:r>
              <a:rPr dirty="0" sz="3200" spc="-229"/>
              <a:t>Questions</a:t>
            </a:r>
            <a:r>
              <a:rPr dirty="0" sz="3200" spc="-25"/>
              <a:t> </a:t>
            </a:r>
            <a:r>
              <a:rPr dirty="0" sz="3200" spc="-275"/>
              <a:t>on</a:t>
            </a:r>
            <a:r>
              <a:rPr dirty="0" sz="3200" spc="-25"/>
              <a:t> </a:t>
            </a:r>
            <a:r>
              <a:rPr dirty="0" sz="3200" spc="-254"/>
              <a:t>Forward</a:t>
            </a:r>
            <a:r>
              <a:rPr dirty="0" sz="3200" spc="-25"/>
              <a:t> </a:t>
            </a:r>
            <a:r>
              <a:rPr dirty="0" sz="3200" spc="-215"/>
              <a:t>Proxy</a:t>
            </a:r>
            <a:r>
              <a:rPr dirty="0" sz="3200" spc="-190"/>
              <a:t> vs.</a:t>
            </a:r>
            <a:r>
              <a:rPr dirty="0" sz="3200" spc="-229"/>
              <a:t> </a:t>
            </a:r>
            <a:r>
              <a:rPr dirty="0" sz="3200" spc="-240"/>
              <a:t>Reverse</a:t>
            </a:r>
            <a:r>
              <a:rPr dirty="0" sz="3200" spc="-30"/>
              <a:t> </a:t>
            </a:r>
            <a:r>
              <a:rPr dirty="0" sz="3200" spc="-140"/>
              <a:t>Proxy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7216775" cy="306641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68300" indent="-355600">
              <a:lnSpc>
                <a:spcPts val="1945"/>
              </a:lnSpc>
              <a:spcBef>
                <a:spcPts val="115"/>
              </a:spcBef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dirty="0" sz="1650" spc="-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used?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proxy.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Technical</a:t>
            </a:r>
            <a:r>
              <a:rPr dirty="0" sz="1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Deep</a:t>
            </a:r>
            <a:r>
              <a:rPr dirty="0" sz="1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685D46"/>
                </a:solidFill>
                <a:latin typeface="Arial"/>
                <a:cs typeface="Arial"/>
              </a:rPr>
              <a:t>Dive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3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3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3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3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3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3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privacy?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caching?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examples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3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proxies?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Implementation</a:t>
            </a:r>
            <a:r>
              <a:rPr dirty="0" sz="165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65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65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Cases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tools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technologies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type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of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proxy?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45">
                <a:solidFill>
                  <a:srgbClr val="685D46"/>
                </a:solidFill>
                <a:latin typeface="Arial"/>
                <a:cs typeface="Arial"/>
              </a:rPr>
              <a:t>protect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3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attacks?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dirty="0" sz="165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Topics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35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termination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proxy?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Cloudﬂare,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Nginx,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HAProxy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proxy?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520"/>
              </a:lnSpc>
              <a:buChar char="○"/>
              <a:tabLst>
                <a:tab pos="825500" algn="l"/>
              </a:tabLst>
            </a:pP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3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transparent</a:t>
            </a:r>
            <a:r>
              <a:rPr dirty="0" sz="13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dirty="0" sz="13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3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3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proxy?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62966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10"/>
              <a:t>Wrap-</a:t>
            </a:r>
            <a:r>
              <a:rPr dirty="0" sz="3200" spc="-285"/>
              <a:t>Up</a:t>
            </a:r>
            <a:r>
              <a:rPr dirty="0" sz="3200" spc="-50"/>
              <a:t> </a:t>
            </a:r>
            <a:r>
              <a:rPr dirty="0" sz="3200" spc="-90"/>
              <a:t>&amp;</a:t>
            </a:r>
            <a:r>
              <a:rPr dirty="0" sz="3200" spc="-114"/>
              <a:t> </a:t>
            </a:r>
            <a:r>
              <a:rPr dirty="0" sz="3200" spc="-325"/>
              <a:t>What’s</a:t>
            </a:r>
            <a:r>
              <a:rPr dirty="0" sz="3200" spc="-50"/>
              <a:t> </a:t>
            </a:r>
            <a:r>
              <a:rPr dirty="0" sz="3200" spc="-190"/>
              <a:t>Next?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327265" cy="166370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Takeaways: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interact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internet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securely.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protects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optimizes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usage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designing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Topic: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Balancers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132840">
              <a:lnSpc>
                <a:spcPct val="100000"/>
              </a:lnSpc>
              <a:spcBef>
                <a:spcPts val="110"/>
              </a:spcBef>
            </a:pPr>
            <a:r>
              <a:rPr dirty="0" sz="3350" spc="-240"/>
              <a:t>Introduction</a:t>
            </a:r>
            <a:r>
              <a:rPr dirty="0" sz="3350" spc="-30"/>
              <a:t> </a:t>
            </a:r>
            <a:r>
              <a:rPr dirty="0" sz="3350" spc="-254"/>
              <a:t>to</a:t>
            </a:r>
            <a:r>
              <a:rPr dirty="0" sz="3350" spc="-30"/>
              <a:t> </a:t>
            </a:r>
            <a:r>
              <a:rPr dirty="0" sz="3350" spc="-250"/>
              <a:t>Load</a:t>
            </a:r>
            <a:r>
              <a:rPr dirty="0" sz="3350" spc="-30"/>
              <a:t> </a:t>
            </a:r>
            <a:r>
              <a:rPr dirty="0" sz="3350" spc="-185"/>
              <a:t>Balancing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70"/>
              <a:t>Why</a:t>
            </a:r>
            <a:r>
              <a:rPr dirty="0" sz="3200" spc="-150"/>
              <a:t> </a:t>
            </a:r>
            <a:r>
              <a:rPr dirty="0" sz="3200" spc="-225"/>
              <a:t>Load</a:t>
            </a:r>
            <a:r>
              <a:rPr dirty="0" sz="3200" spc="-45"/>
              <a:t> </a:t>
            </a:r>
            <a:r>
              <a:rPr dirty="0" sz="3200" spc="-190"/>
              <a:t>Balancing</a:t>
            </a:r>
            <a:r>
              <a:rPr dirty="0" sz="3200" spc="-50"/>
              <a:t> </a:t>
            </a:r>
            <a:r>
              <a:rPr dirty="0" sz="3200" spc="-90"/>
              <a:t>is</a:t>
            </a:r>
            <a:r>
              <a:rPr dirty="0" sz="3200" spc="-45"/>
              <a:t> </a:t>
            </a:r>
            <a:r>
              <a:rPr dirty="0" sz="3200" spc="-290"/>
              <a:t>Needed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06352" y="1323759"/>
            <a:ext cx="3985895" cy="306578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47980" marR="312420" indent="-335915">
              <a:lnSpc>
                <a:spcPts val="1590"/>
              </a:lnSpc>
              <a:spcBef>
                <a:spcPts val="220"/>
              </a:spcBef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Availability: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uptime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under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400">
              <a:latin typeface="Arial"/>
              <a:cs typeface="Arial"/>
            </a:endParaRPr>
          </a:p>
          <a:p>
            <a:pPr marL="347980" marR="56388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Distribution: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Spreads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requests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evenly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347980" marR="59690" indent="-335915">
              <a:lnSpc>
                <a:spcPts val="1590"/>
              </a:lnSpc>
              <a:spcBef>
                <a:spcPts val="5"/>
              </a:spcBef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Prevents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Overload: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Avoids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overburdening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400">
              <a:latin typeface="Arial"/>
              <a:cs typeface="Arial"/>
            </a:endParaRPr>
          </a:p>
          <a:p>
            <a:pPr marL="347980" marR="32131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dirty="0" sz="14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Performance: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latency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times.</a:t>
            </a:r>
            <a:endParaRPr sz="1400">
              <a:latin typeface="Arial"/>
              <a:cs typeface="Arial"/>
            </a:endParaRPr>
          </a:p>
          <a:p>
            <a:pPr marL="347980" marR="508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Failures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Gracefully: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Redirects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traﬃc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case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failure.</a:t>
            </a:r>
            <a:endParaRPr sz="1400">
              <a:latin typeface="Arial"/>
              <a:cs typeface="Arial"/>
            </a:endParaRPr>
          </a:p>
          <a:p>
            <a:pPr marL="347980" marR="287655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systems eﬃciently.</a:t>
            </a:r>
            <a:endParaRPr sz="1400">
              <a:latin typeface="Arial"/>
              <a:cs typeface="Arial"/>
            </a:endParaRPr>
          </a:p>
          <a:p>
            <a:pPr marL="347980" marR="285750" indent="-335915">
              <a:lnSpc>
                <a:spcPts val="1590"/>
              </a:lnSpc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e-commerce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site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peak-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hour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5507" y="1207732"/>
            <a:ext cx="2910216" cy="34922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54"/>
              <a:t>Types</a:t>
            </a:r>
            <a:r>
              <a:rPr dirty="0" sz="3200" spc="-45"/>
              <a:t> </a:t>
            </a:r>
            <a:r>
              <a:rPr dirty="0" sz="3200" spc="-250"/>
              <a:t>of</a:t>
            </a:r>
            <a:r>
              <a:rPr dirty="0" sz="3200" spc="-45"/>
              <a:t> </a:t>
            </a:r>
            <a:r>
              <a:rPr dirty="0" sz="3200" spc="-225"/>
              <a:t>Load</a:t>
            </a:r>
            <a:r>
              <a:rPr dirty="0" sz="3200" spc="-45"/>
              <a:t> </a:t>
            </a:r>
            <a:r>
              <a:rPr dirty="0" sz="3200" spc="-185"/>
              <a:t>Balancers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7813675" cy="2183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  <a:p>
            <a:pPr lvl="1" marL="836294" marR="5080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(Transport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Layer):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Operates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85D46"/>
                </a:solidFill>
                <a:latin typeface="Arial"/>
                <a:cs typeface="Arial"/>
              </a:rPr>
              <a:t>TCP/UDP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level,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network-level</a:t>
            </a:r>
            <a:r>
              <a:rPr dirty="0" sz="1400" spc="48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7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(Application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Layer):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Operates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685D46"/>
                </a:solidFill>
                <a:latin typeface="Arial"/>
                <a:cs typeface="Arial"/>
              </a:rPr>
              <a:t>HTTP/HTTPS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level,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making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decisions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580"/>
              </a:lnSpc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content.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Deployment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Hardware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Specialized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devices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F5,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Citrix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NetScaler).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Nginx,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HAProxy,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Envoy.</a:t>
            </a:r>
            <a:endParaRPr sz="1400">
              <a:latin typeface="Arial"/>
              <a:cs typeface="Arial"/>
            </a:endParaRPr>
          </a:p>
          <a:p>
            <a:pPr lvl="1" marL="836294" marR="256540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Elastic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5">
                <a:solidFill>
                  <a:srgbClr val="685D46"/>
                </a:solidFill>
                <a:latin typeface="Arial"/>
                <a:cs typeface="Arial"/>
              </a:rPr>
              <a:t>(ELB),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Google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Load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6945" y="3375675"/>
            <a:ext cx="3942848" cy="142911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25"/>
              <a:t>Load</a:t>
            </a:r>
            <a:r>
              <a:rPr dirty="0" sz="3200" spc="-25"/>
              <a:t> </a:t>
            </a:r>
            <a:r>
              <a:rPr dirty="0" sz="3200" spc="-190"/>
              <a:t>Balancing</a:t>
            </a:r>
            <a:r>
              <a:rPr dirty="0" sz="3200" spc="-25"/>
              <a:t> </a:t>
            </a:r>
            <a:r>
              <a:rPr dirty="0" sz="3200" spc="-145"/>
              <a:t>Strategies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3907790" cy="2959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68300" indent="-355600">
              <a:lnSpc>
                <a:spcPts val="1945"/>
              </a:lnSpc>
              <a:spcBef>
                <a:spcPts val="115"/>
              </a:spcBef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650">
              <a:latin typeface="Arial"/>
              <a:cs typeface="Arial"/>
            </a:endParaRPr>
          </a:p>
          <a:p>
            <a:pPr lvl="1" marL="826135" marR="452755" indent="-328295">
              <a:lnSpc>
                <a:spcPts val="1480"/>
              </a:lnSpc>
              <a:spcBef>
                <a:spcPts val="80"/>
              </a:spcBef>
              <a:buChar char="○"/>
              <a:tabLst>
                <a:tab pos="826135" algn="l"/>
              </a:tabLst>
            </a:pP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Round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Robin: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requests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sequentially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 to</a:t>
            </a:r>
            <a:r>
              <a:rPr dirty="0" sz="13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server.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39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Least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Connections: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75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the</a:t>
            </a:r>
            <a:endParaRPr sz="130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3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3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3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fewest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connections.</a:t>
            </a:r>
            <a:endParaRPr sz="1300">
              <a:latin typeface="Arial"/>
              <a:cs typeface="Arial"/>
            </a:endParaRPr>
          </a:p>
          <a:p>
            <a:pPr lvl="1" marL="826135" marR="189230" indent="-328295">
              <a:lnSpc>
                <a:spcPts val="1480"/>
              </a:lnSpc>
              <a:spcBef>
                <a:spcPts val="75"/>
              </a:spcBef>
              <a:buChar char="○"/>
              <a:tabLst>
                <a:tab pos="826135" algn="l"/>
              </a:tabLst>
            </a:pPr>
            <a:r>
              <a:rPr dirty="0" sz="1300" spc="-35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Hashing: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Routes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3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IP.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10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dirty="0" sz="165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65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650">
              <a:latin typeface="Arial"/>
              <a:cs typeface="Arial"/>
            </a:endParaRPr>
          </a:p>
          <a:p>
            <a:pPr lvl="1" marL="826135" marR="5080" indent="-328295">
              <a:lnSpc>
                <a:spcPts val="1480"/>
              </a:lnSpc>
              <a:spcBef>
                <a:spcPts val="80"/>
              </a:spcBef>
              <a:buChar char="○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Least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Time: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 requests </a:t>
            </a:r>
            <a:r>
              <a:rPr dirty="0" sz="1300" spc="45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fastest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39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Adaptive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300" spc="-2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endParaRPr sz="1300">
              <a:latin typeface="Arial"/>
              <a:cs typeface="Arial"/>
            </a:endParaRPr>
          </a:p>
          <a:p>
            <a:pPr marL="826135">
              <a:lnSpc>
                <a:spcPts val="1475"/>
              </a:lnSpc>
            </a:pP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monitoring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decisions.</a:t>
            </a:r>
            <a:endParaRPr sz="1300">
              <a:latin typeface="Arial"/>
              <a:cs typeface="Arial"/>
            </a:endParaRPr>
          </a:p>
          <a:p>
            <a:pPr lvl="1" marL="826135" marR="231775" indent="-328295">
              <a:lnSpc>
                <a:spcPts val="1480"/>
              </a:lnSpc>
              <a:spcBef>
                <a:spcPts val="75"/>
              </a:spcBef>
              <a:buChar char="○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Weighted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Assigns 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weights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dirty="0" sz="13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3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25">
                <a:solidFill>
                  <a:srgbClr val="685D46"/>
                </a:solidFill>
                <a:latin typeface="Arial"/>
                <a:cs typeface="Arial"/>
              </a:rPr>
              <a:t>on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capacity.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230950"/>
            <a:ext cx="4571999" cy="221637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25"/>
              <a:t>Load</a:t>
            </a:r>
            <a:r>
              <a:rPr dirty="0" sz="3200" spc="-35"/>
              <a:t> </a:t>
            </a:r>
            <a:r>
              <a:rPr dirty="0" sz="3200" spc="-220"/>
              <a:t>Balancer</a:t>
            </a:r>
            <a:r>
              <a:rPr dirty="0" sz="3200" spc="-30"/>
              <a:t> </a:t>
            </a:r>
            <a:r>
              <a:rPr dirty="0" sz="3200" spc="-165"/>
              <a:t>in</a:t>
            </a:r>
            <a:r>
              <a:rPr dirty="0" sz="3200" spc="-145"/>
              <a:t> </a:t>
            </a:r>
            <a:r>
              <a:rPr dirty="0" sz="3200" spc="-200"/>
              <a:t>Action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870960" cy="134810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Scenario:</a:t>
            </a:r>
            <a:endParaRPr sz="1800">
              <a:latin typeface="Arial"/>
              <a:cs typeface="Arial"/>
            </a:endParaRPr>
          </a:p>
          <a:p>
            <a:pPr lvl="1" marL="836294" marR="435609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lvl="1" marL="836294" marR="5080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load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them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45086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04"/>
              <a:t>Choosing</a:t>
            </a:r>
            <a:r>
              <a:rPr dirty="0" sz="3200" spc="-25"/>
              <a:t> </a:t>
            </a:r>
            <a:r>
              <a:rPr dirty="0" sz="3200" spc="-229"/>
              <a:t>the</a:t>
            </a:r>
            <a:r>
              <a:rPr dirty="0" sz="3200" spc="-25"/>
              <a:t> </a:t>
            </a:r>
            <a:r>
              <a:rPr dirty="0" sz="3200" spc="-160"/>
              <a:t>Right</a:t>
            </a:r>
            <a:r>
              <a:rPr dirty="0" sz="3200" spc="-20"/>
              <a:t> </a:t>
            </a:r>
            <a:r>
              <a:rPr dirty="0" sz="3200" spc="-225"/>
              <a:t>Load</a:t>
            </a:r>
            <a:r>
              <a:rPr dirty="0" sz="3200" spc="-25"/>
              <a:t> </a:t>
            </a:r>
            <a:r>
              <a:rPr dirty="0" sz="3200" spc="-195"/>
              <a:t>Balancer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618730" cy="2034539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7: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type.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Needs: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Matching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volume.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Concerns: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8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termination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protection.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Nginx/HAProxy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0">
                <a:solidFill>
                  <a:srgbClr val="685D46"/>
                </a:solidFill>
                <a:latin typeface="Arial"/>
                <a:cs typeface="Arial"/>
              </a:rPr>
              <a:t>ELB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for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cloud-native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Hardware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Balancers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centers.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5"/>
              <a:t>Interview</a:t>
            </a:r>
            <a:r>
              <a:rPr dirty="0" sz="3200" spc="-140"/>
              <a:t> </a:t>
            </a:r>
            <a:r>
              <a:rPr dirty="0" sz="3200" spc="-229"/>
              <a:t>Questions</a:t>
            </a:r>
            <a:r>
              <a:rPr dirty="0" sz="3200" spc="-30"/>
              <a:t> </a:t>
            </a:r>
            <a:r>
              <a:rPr dirty="0" sz="3200" spc="-275"/>
              <a:t>on</a:t>
            </a:r>
            <a:r>
              <a:rPr dirty="0" sz="3200" spc="-30"/>
              <a:t> </a:t>
            </a:r>
            <a:r>
              <a:rPr dirty="0" sz="3200" spc="-225"/>
              <a:t>Load</a:t>
            </a:r>
            <a:r>
              <a:rPr dirty="0" sz="3200" spc="-30"/>
              <a:t> </a:t>
            </a:r>
            <a:r>
              <a:rPr dirty="0" sz="3200" spc="-160"/>
              <a:t>Balancing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7919084" cy="29178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balancing,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4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7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availability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failover?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Cases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Compare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Round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Robin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Least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Connections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strategies.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Weighted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Balancing?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hardware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one?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solution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large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e-commerce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site?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factors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strategy?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security?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90"/>
              <a:t>Summary</a:t>
            </a:r>
            <a:r>
              <a:rPr dirty="0" sz="3200" spc="-160"/>
              <a:t> </a:t>
            </a:r>
            <a:r>
              <a:rPr dirty="0" sz="3200"/>
              <a:t>&amp;</a:t>
            </a:r>
            <a:r>
              <a:rPr dirty="0" sz="3200" spc="-130"/>
              <a:t> </a:t>
            </a:r>
            <a:r>
              <a:rPr dirty="0" sz="3200" spc="-240"/>
              <a:t>Key</a:t>
            </a:r>
            <a:r>
              <a:rPr dirty="0" sz="3200" spc="-254"/>
              <a:t> </a:t>
            </a:r>
            <a:r>
              <a:rPr dirty="0" sz="3200" spc="-285"/>
              <a:t>Takeaways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47980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47980" algn="l"/>
              </a:tabLst>
            </a:pPr>
            <a:r>
              <a:rPr dirty="0" sz="1800" spc="10"/>
              <a:t>Load</a:t>
            </a:r>
            <a:r>
              <a:rPr dirty="0" sz="1800" spc="114"/>
              <a:t> </a:t>
            </a:r>
            <a:r>
              <a:rPr dirty="0" sz="1800" spc="10"/>
              <a:t>balancing</a:t>
            </a:r>
            <a:r>
              <a:rPr dirty="0" sz="1800" spc="120"/>
              <a:t> </a:t>
            </a:r>
            <a:r>
              <a:rPr dirty="0" sz="1800" spc="10"/>
              <a:t>enhances</a:t>
            </a:r>
            <a:r>
              <a:rPr dirty="0" sz="1800" spc="125"/>
              <a:t> </a:t>
            </a:r>
            <a:r>
              <a:rPr dirty="0" sz="1800" spc="10"/>
              <a:t>scalability,</a:t>
            </a:r>
            <a:r>
              <a:rPr dirty="0" sz="1800" spc="114"/>
              <a:t> </a:t>
            </a:r>
            <a:r>
              <a:rPr dirty="0" sz="1800" spc="10"/>
              <a:t>reliability,</a:t>
            </a:r>
            <a:r>
              <a:rPr dirty="0" sz="1800" spc="120"/>
              <a:t> </a:t>
            </a:r>
            <a:r>
              <a:rPr dirty="0" sz="1800" spc="55"/>
              <a:t>and</a:t>
            </a:r>
            <a:r>
              <a:rPr dirty="0" sz="1800" spc="114"/>
              <a:t> </a:t>
            </a:r>
            <a:r>
              <a:rPr dirty="0" sz="1800" spc="45"/>
              <a:t>performance.</a:t>
            </a:r>
            <a:endParaRPr sz="1800"/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47980" algn="l"/>
              </a:tabLst>
            </a:pPr>
            <a:r>
              <a:rPr dirty="0" sz="1800" spc="80"/>
              <a:t>Diﬀerent</a:t>
            </a:r>
            <a:r>
              <a:rPr dirty="0" sz="1800" spc="40"/>
              <a:t> </a:t>
            </a:r>
            <a:r>
              <a:rPr dirty="0" sz="1800"/>
              <a:t>types</a:t>
            </a:r>
            <a:r>
              <a:rPr dirty="0" sz="1800" spc="45"/>
              <a:t> </a:t>
            </a:r>
            <a:r>
              <a:rPr dirty="0" sz="1800"/>
              <a:t>exist</a:t>
            </a:r>
            <a:r>
              <a:rPr dirty="0" sz="1800" spc="40"/>
              <a:t> </a:t>
            </a:r>
            <a:r>
              <a:rPr dirty="0" sz="1800"/>
              <a:t>based</a:t>
            </a:r>
            <a:r>
              <a:rPr dirty="0" sz="1800" spc="40"/>
              <a:t> </a:t>
            </a:r>
            <a:r>
              <a:rPr dirty="0" sz="1800" spc="85"/>
              <a:t>on</a:t>
            </a:r>
            <a:r>
              <a:rPr dirty="0" sz="1800" spc="40"/>
              <a:t> </a:t>
            </a:r>
            <a:r>
              <a:rPr dirty="0" sz="1800"/>
              <a:t>layers</a:t>
            </a:r>
            <a:r>
              <a:rPr dirty="0" sz="1800" spc="45"/>
              <a:t> </a:t>
            </a:r>
            <a:r>
              <a:rPr dirty="0" sz="1800" spc="55"/>
              <a:t>and</a:t>
            </a:r>
            <a:r>
              <a:rPr dirty="0" sz="1800" spc="40"/>
              <a:t> </a:t>
            </a:r>
            <a:r>
              <a:rPr dirty="0" sz="1800" spc="65"/>
              <a:t>deployment</a:t>
            </a:r>
            <a:r>
              <a:rPr dirty="0" sz="1800" spc="40"/>
              <a:t> </a:t>
            </a:r>
            <a:r>
              <a:rPr dirty="0" sz="1800" spc="-10"/>
              <a:t>models.</a:t>
            </a:r>
            <a:endParaRPr sz="1800"/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47980" algn="l"/>
              </a:tabLst>
            </a:pPr>
            <a:r>
              <a:rPr dirty="0" sz="1800"/>
              <a:t>Choosing</a:t>
            </a:r>
            <a:r>
              <a:rPr dirty="0" sz="1800" spc="25"/>
              <a:t> </a:t>
            </a:r>
            <a:r>
              <a:rPr dirty="0" sz="1800" spc="80"/>
              <a:t>the</a:t>
            </a:r>
            <a:r>
              <a:rPr dirty="0" sz="1800" spc="35"/>
              <a:t> </a:t>
            </a:r>
            <a:r>
              <a:rPr dirty="0" sz="1800" spc="70"/>
              <a:t>right</a:t>
            </a:r>
            <a:r>
              <a:rPr dirty="0" sz="1800" spc="30"/>
              <a:t> </a:t>
            </a:r>
            <a:r>
              <a:rPr dirty="0" sz="1800"/>
              <a:t>strategy</a:t>
            </a:r>
            <a:r>
              <a:rPr dirty="0" sz="1800" spc="30"/>
              <a:t> </a:t>
            </a:r>
            <a:r>
              <a:rPr dirty="0" sz="1800" spc="45"/>
              <a:t>depends</a:t>
            </a:r>
            <a:r>
              <a:rPr dirty="0" sz="1800" spc="35"/>
              <a:t> </a:t>
            </a:r>
            <a:r>
              <a:rPr dirty="0" sz="1800" spc="85"/>
              <a:t>on</a:t>
            </a:r>
            <a:r>
              <a:rPr dirty="0" sz="1800" spc="30"/>
              <a:t> </a:t>
            </a:r>
            <a:r>
              <a:rPr dirty="0" sz="1800" spc="100"/>
              <a:t>traﬃc</a:t>
            </a:r>
            <a:r>
              <a:rPr dirty="0" sz="1800" spc="35"/>
              <a:t> </a:t>
            </a:r>
            <a:r>
              <a:rPr dirty="0" sz="1800" spc="65"/>
              <a:t>patterns</a:t>
            </a:r>
            <a:r>
              <a:rPr dirty="0" sz="1800" spc="35"/>
              <a:t> </a:t>
            </a:r>
            <a:r>
              <a:rPr dirty="0" sz="1800" spc="55"/>
              <a:t>and</a:t>
            </a:r>
            <a:r>
              <a:rPr dirty="0" sz="1800" spc="25"/>
              <a:t> </a:t>
            </a:r>
            <a:r>
              <a:rPr dirty="0" sz="1800"/>
              <a:t>system</a:t>
            </a:r>
            <a:r>
              <a:rPr dirty="0" sz="1800" spc="30"/>
              <a:t> </a:t>
            </a:r>
            <a:r>
              <a:rPr dirty="0" sz="1800" spc="-10"/>
              <a:t>needs.</a:t>
            </a:r>
            <a:endParaRPr sz="1800"/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47980" algn="l"/>
              </a:tabLst>
            </a:pPr>
            <a:r>
              <a:rPr dirty="0" sz="1800"/>
              <a:t>Essential</a:t>
            </a:r>
            <a:r>
              <a:rPr dirty="0" sz="1800" spc="45"/>
              <a:t> </a:t>
            </a:r>
            <a:r>
              <a:rPr dirty="0" sz="1800" spc="100"/>
              <a:t>for</a:t>
            </a:r>
            <a:r>
              <a:rPr dirty="0" sz="1800" spc="35"/>
              <a:t> </a:t>
            </a:r>
            <a:r>
              <a:rPr dirty="0" sz="1800"/>
              <a:t>highly</a:t>
            </a:r>
            <a:r>
              <a:rPr dirty="0" sz="1800" spc="40"/>
              <a:t> </a:t>
            </a:r>
            <a:r>
              <a:rPr dirty="0" sz="1800"/>
              <a:t>available</a:t>
            </a:r>
            <a:r>
              <a:rPr dirty="0" sz="1800" spc="45"/>
              <a:t> </a:t>
            </a:r>
            <a:r>
              <a:rPr dirty="0" sz="1800" spc="55"/>
              <a:t>and</a:t>
            </a:r>
            <a:r>
              <a:rPr dirty="0" sz="1800" spc="40"/>
              <a:t> </a:t>
            </a:r>
            <a:r>
              <a:rPr dirty="0" sz="1800" spc="50"/>
              <a:t>resilient</a:t>
            </a:r>
            <a:r>
              <a:rPr dirty="0" sz="1800" spc="45"/>
              <a:t> </a:t>
            </a:r>
            <a:r>
              <a:rPr dirty="0" sz="1800" spc="-10"/>
              <a:t>architectures.</a:t>
            </a:r>
            <a:endParaRPr sz="1800"/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47980" algn="l"/>
              </a:tabLst>
            </a:pPr>
            <a:r>
              <a:rPr dirty="0" sz="1800"/>
              <a:t>What’s</a:t>
            </a:r>
            <a:r>
              <a:rPr dirty="0" sz="1800" spc="-15"/>
              <a:t> </a:t>
            </a:r>
            <a:r>
              <a:rPr dirty="0" sz="1800" spc="-10"/>
              <a:t>next:</a:t>
            </a:r>
            <a:endParaRPr sz="1800"/>
          </a:p>
          <a:p>
            <a:pPr lvl="1" marL="805180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05180" algn="l"/>
              </a:tabLst>
            </a:pP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595755">
              <a:lnSpc>
                <a:spcPct val="100000"/>
              </a:lnSpc>
              <a:spcBef>
                <a:spcPts val="110"/>
              </a:spcBef>
            </a:pPr>
            <a:r>
              <a:rPr dirty="0" sz="3350" spc="-345"/>
              <a:t>What</a:t>
            </a:r>
            <a:r>
              <a:rPr dirty="0" sz="3350" spc="-65"/>
              <a:t> </a:t>
            </a:r>
            <a:r>
              <a:rPr dirty="0" sz="3350" spc="-120"/>
              <a:t>is</a:t>
            </a:r>
            <a:r>
              <a:rPr dirty="0" sz="3350" spc="-60"/>
              <a:t> </a:t>
            </a:r>
            <a:r>
              <a:rPr dirty="0" sz="3350" spc="-295"/>
              <a:t>an</a:t>
            </a:r>
            <a:r>
              <a:rPr dirty="0" sz="3350" spc="-175"/>
              <a:t> </a:t>
            </a:r>
            <a:r>
              <a:rPr dirty="0" sz="3350" spc="-225"/>
              <a:t>API</a:t>
            </a:r>
            <a:r>
              <a:rPr dirty="0" sz="3350" spc="-105"/>
              <a:t> </a:t>
            </a:r>
            <a:r>
              <a:rPr dirty="0" sz="3350" spc="-325"/>
              <a:t>Gateway?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5"/>
              <a:t>Introduction</a:t>
            </a:r>
            <a:r>
              <a:rPr dirty="0" sz="3200" spc="-25"/>
              <a:t> </a:t>
            </a:r>
            <a:r>
              <a:rPr dirty="0" sz="3200" spc="-229"/>
              <a:t>to</a:t>
            </a:r>
            <a:r>
              <a:rPr dirty="0" sz="3200" spc="-135"/>
              <a:t> </a:t>
            </a:r>
            <a:r>
              <a:rPr dirty="0" sz="3200" spc="-200"/>
              <a:t>API</a:t>
            </a:r>
            <a:r>
              <a:rPr dirty="0" sz="3200" spc="-65"/>
              <a:t> </a:t>
            </a:r>
            <a:r>
              <a:rPr dirty="0" sz="3200" spc="-290"/>
              <a:t>Gateways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18204"/>
            <a:ext cx="3979545" cy="2956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marR="44450" indent="-356870">
              <a:lnSpc>
                <a:spcPct val="106000"/>
              </a:lnSpc>
              <a:spcBef>
                <a:spcPts val="95"/>
              </a:spcBef>
              <a:buChar char="●"/>
              <a:tabLst>
                <a:tab pos="368935" algn="l"/>
              </a:tabLst>
            </a:pP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architecture,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APIs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connect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(web,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mobile,</a:t>
            </a:r>
            <a:endParaRPr sz="1650">
              <a:latin typeface="Arial"/>
              <a:cs typeface="Arial"/>
            </a:endParaRPr>
          </a:p>
          <a:p>
            <a:pPr marL="368935" marR="806450">
              <a:lnSpc>
                <a:spcPct val="106000"/>
              </a:lnSpc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third-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party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apps)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backend services.</a:t>
            </a:r>
            <a:endParaRPr sz="1650">
              <a:latin typeface="Arial"/>
              <a:cs typeface="Arial"/>
            </a:endParaRPr>
          </a:p>
          <a:p>
            <a:pPr marL="368935" marR="18796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dirty="0" sz="165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exposing</a:t>
            </a:r>
            <a:r>
              <a:rPr dirty="0" sz="165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65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services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lead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security,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 challenges.</a:t>
            </a:r>
            <a:endParaRPr sz="1650">
              <a:latin typeface="Arial"/>
              <a:cs typeface="Arial"/>
            </a:endParaRPr>
          </a:p>
          <a:p>
            <a:pPr marL="368935" marR="508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dirty="0" sz="1650" spc="-45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centralized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entry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point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45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handling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authentication,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routing,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security.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520" y="1304825"/>
            <a:ext cx="4113079" cy="258151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70"/>
              <a:t>How</a:t>
            </a:r>
            <a:r>
              <a:rPr dirty="0" sz="3200" spc="-220"/>
              <a:t> </a:t>
            </a:r>
            <a:r>
              <a:rPr dirty="0" sz="3200" spc="-200"/>
              <a:t>API</a:t>
            </a:r>
            <a:r>
              <a:rPr dirty="0" sz="3200" spc="-85"/>
              <a:t> </a:t>
            </a:r>
            <a:r>
              <a:rPr dirty="0" sz="3200" spc="-280"/>
              <a:t>Gateways</a:t>
            </a:r>
            <a:r>
              <a:rPr dirty="0" sz="3200" spc="-110"/>
              <a:t> </a:t>
            </a:r>
            <a:r>
              <a:rPr dirty="0" sz="3200" spc="-350"/>
              <a:t>Work?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729354" cy="318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19621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acts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reverse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between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80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  <a:p>
            <a:pPr marL="379095" marR="12128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receives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requests,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them,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forwards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them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correct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service.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functions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include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request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transformation,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authentication,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limiting,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response handling.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2531" y="1266320"/>
            <a:ext cx="4933946" cy="203827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25"/>
              <a:t>Beneﬁts</a:t>
            </a:r>
            <a:r>
              <a:rPr dirty="0" sz="3200" spc="-35"/>
              <a:t> </a:t>
            </a:r>
            <a:r>
              <a:rPr dirty="0" sz="3200" spc="-250"/>
              <a:t>of</a:t>
            </a:r>
            <a:r>
              <a:rPr dirty="0" sz="3200" spc="-35"/>
              <a:t> </a:t>
            </a:r>
            <a:r>
              <a:rPr dirty="0" sz="3200" spc="-200"/>
              <a:t>Using</a:t>
            </a:r>
            <a:r>
              <a:rPr dirty="0" sz="3200" spc="-30"/>
              <a:t> </a:t>
            </a:r>
            <a:r>
              <a:rPr dirty="0" sz="3200" spc="-265"/>
              <a:t>an</a:t>
            </a:r>
            <a:r>
              <a:rPr dirty="0" sz="3200" spc="-145"/>
              <a:t> </a:t>
            </a:r>
            <a:r>
              <a:rPr dirty="0" sz="3200" spc="-200"/>
              <a:t>API</a:t>
            </a:r>
            <a:r>
              <a:rPr dirty="0" sz="3200" spc="-75"/>
              <a:t> </a:t>
            </a:r>
            <a:r>
              <a:rPr dirty="0" sz="3200" spc="-300"/>
              <a:t>Gateway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3915410" cy="293116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368935" marR="100965" indent="-356870">
              <a:lnSpc>
                <a:spcPts val="1900"/>
              </a:lnSpc>
              <a:spcBef>
                <a:spcPts val="244"/>
              </a:spcBef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Security:</a:t>
            </a:r>
            <a:r>
              <a:rPr dirty="0" sz="16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Protects</a:t>
            </a:r>
            <a:r>
              <a:rPr dirty="0" sz="16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6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services </a:t>
            </a:r>
            <a:r>
              <a:rPr dirty="0" sz="1650" spc="11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65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direct</a:t>
            </a:r>
            <a:r>
              <a:rPr dirty="0" sz="165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exposure.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5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Limiting: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Prevents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abuse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&amp;</a:t>
            </a:r>
            <a:endParaRPr sz="1650">
              <a:latin typeface="Arial"/>
              <a:cs typeface="Arial"/>
            </a:endParaRPr>
          </a:p>
          <a:p>
            <a:pPr marL="368935">
              <a:lnSpc>
                <a:spcPts val="1900"/>
              </a:lnSpc>
            </a:pP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650" spc="-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attacks.</a:t>
            </a:r>
            <a:endParaRPr sz="1650">
              <a:latin typeface="Arial"/>
              <a:cs typeface="Arial"/>
            </a:endParaRPr>
          </a:p>
          <a:p>
            <a:pPr marL="368935" marR="230504" indent="-356870">
              <a:lnSpc>
                <a:spcPts val="1900"/>
              </a:lnSpc>
              <a:spcBef>
                <a:spcPts val="90"/>
              </a:spcBef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traﬃc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5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Caching: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Speeds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times.</a:t>
            </a:r>
            <a:endParaRPr sz="1650">
              <a:latin typeface="Arial"/>
              <a:cs typeface="Arial"/>
            </a:endParaRPr>
          </a:p>
          <a:p>
            <a:pPr marL="368935" marR="161925" indent="-356870">
              <a:lnSpc>
                <a:spcPts val="1900"/>
              </a:lnSpc>
              <a:spcBef>
                <a:spcPts val="85"/>
              </a:spcBef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Transformation: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Converts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formats,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protocols,</a:t>
            </a:r>
            <a:r>
              <a:rPr dirty="0" sz="16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headers.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5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Logging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Monitoring: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Tracks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API</a:t>
            </a:r>
            <a:endParaRPr sz="1650">
              <a:latin typeface="Arial"/>
              <a:cs typeface="Arial"/>
            </a:endParaRPr>
          </a:p>
          <a:p>
            <a:pPr marL="368935">
              <a:lnSpc>
                <a:spcPts val="1939"/>
              </a:lnSpc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events.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8520" y="1304825"/>
            <a:ext cx="4113079" cy="258151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04"/>
              <a:t>Security</a:t>
            </a:r>
            <a:r>
              <a:rPr dirty="0" sz="3200" spc="-130"/>
              <a:t> </a:t>
            </a:r>
            <a:r>
              <a:rPr dirty="0" sz="3200" spc="-210"/>
              <a:t>Features</a:t>
            </a:r>
            <a:r>
              <a:rPr dirty="0" sz="3200" spc="-15"/>
              <a:t> </a:t>
            </a:r>
            <a:r>
              <a:rPr dirty="0" sz="3200" spc="-165"/>
              <a:t>in</a:t>
            </a:r>
            <a:r>
              <a:rPr dirty="0" sz="3200" spc="-140"/>
              <a:t> </a:t>
            </a:r>
            <a:r>
              <a:rPr dirty="0" sz="3200" spc="-200"/>
              <a:t>API</a:t>
            </a:r>
            <a:r>
              <a:rPr dirty="0" sz="3200" spc="-60"/>
              <a:t> </a:t>
            </a:r>
            <a:r>
              <a:rPr dirty="0" sz="3200" spc="-290"/>
              <a:t>Gateways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589520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Authorization: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OAuth,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70">
                <a:solidFill>
                  <a:srgbClr val="685D46"/>
                </a:solidFill>
                <a:latin typeface="Arial"/>
                <a:cs typeface="Arial"/>
              </a:rPr>
              <a:t>JWT,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keys.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Protection: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Blocks</a:t>
            </a:r>
            <a:r>
              <a:rPr dirty="0" sz="18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excessive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malicious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sources.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Bot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Protection: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limiting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685D46"/>
                </a:solidFill>
                <a:latin typeface="Arial"/>
                <a:cs typeface="Arial"/>
              </a:rPr>
              <a:t>CAPTCHA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ﬁlter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out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bot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TLS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Termination: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80">
                <a:solidFill>
                  <a:srgbClr val="685D46"/>
                </a:solidFill>
                <a:latin typeface="Arial"/>
                <a:cs typeface="Arial"/>
              </a:rPr>
              <a:t>SSL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encryption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20"/>
              <a:t>Rate</a:t>
            </a:r>
            <a:r>
              <a:rPr dirty="0" sz="3200" spc="-30"/>
              <a:t> </a:t>
            </a:r>
            <a:r>
              <a:rPr dirty="0" sz="3200" spc="-155"/>
              <a:t>Limiting</a:t>
            </a:r>
            <a:r>
              <a:rPr dirty="0" sz="3200" spc="-25"/>
              <a:t> </a:t>
            </a:r>
            <a:r>
              <a:rPr dirty="0" sz="3200" spc="-90"/>
              <a:t>&amp;</a:t>
            </a:r>
            <a:r>
              <a:rPr dirty="0" sz="3200" spc="-135"/>
              <a:t> </a:t>
            </a:r>
            <a:r>
              <a:rPr dirty="0" sz="3200" spc="-140"/>
              <a:t>Throttling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42275" cy="1287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106616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Limiting: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Restricts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number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per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user/IP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per second/minute.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Throttling: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Controls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during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peak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loads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crashes.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prevent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abuse,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protects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services,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fair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usage.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04"/>
              <a:t>Caching</a:t>
            </a:r>
            <a:r>
              <a:rPr dirty="0" sz="3200" spc="-20"/>
              <a:t> </a:t>
            </a:r>
            <a:r>
              <a:rPr dirty="0" sz="3200" spc="-215"/>
              <a:t>for</a:t>
            </a:r>
            <a:r>
              <a:rPr dirty="0" sz="3200" spc="-20"/>
              <a:t> </a:t>
            </a:r>
            <a:r>
              <a:rPr dirty="0" sz="3200" spc="-254"/>
              <a:t>Performance</a:t>
            </a:r>
            <a:r>
              <a:rPr dirty="0" sz="3200" spc="-60"/>
              <a:t> </a:t>
            </a:r>
            <a:r>
              <a:rPr dirty="0" sz="3200" spc="-195"/>
              <a:t>Optimization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933055" cy="1719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Caching?: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Speeds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responses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storing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frequently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accessed data.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-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Caching: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In-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Redis)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(storing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responses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quick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reuse)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85D46"/>
                </a:solidFill>
                <a:latin typeface="Arial"/>
                <a:cs typeface="Arial"/>
              </a:rPr>
              <a:t>(CDN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integration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global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boost)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00"/>
              <a:t>API</a:t>
            </a:r>
            <a:r>
              <a:rPr dirty="0" sz="3200" spc="-60"/>
              <a:t> </a:t>
            </a:r>
            <a:r>
              <a:rPr dirty="0" sz="3200" spc="-245"/>
              <a:t>Composition</a:t>
            </a:r>
            <a:r>
              <a:rPr dirty="0" sz="3200" spc="-20"/>
              <a:t> </a:t>
            </a:r>
            <a:r>
              <a:rPr dirty="0" sz="3200" spc="-90"/>
              <a:t>&amp;</a:t>
            </a:r>
            <a:r>
              <a:rPr dirty="0" sz="3200" spc="-130"/>
              <a:t> </a:t>
            </a:r>
            <a:r>
              <a:rPr dirty="0" sz="3200" spc="-180"/>
              <a:t>Aggregation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12759" cy="17894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combine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Useful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may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need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of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calling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/user,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/orders,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/cart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separately,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3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internally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returns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response.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40"/>
              </a:spcBef>
            </a:pPr>
            <a:r>
              <a:rPr dirty="0" sz="3200" spc="-140"/>
              <a:t>Logging</a:t>
            </a:r>
            <a:r>
              <a:rPr dirty="0" sz="3200" spc="-45"/>
              <a:t> </a:t>
            </a:r>
            <a:r>
              <a:rPr dirty="0" sz="3200"/>
              <a:t>&amp;</a:t>
            </a:r>
            <a:r>
              <a:rPr dirty="0" sz="3200" spc="-45"/>
              <a:t> </a:t>
            </a:r>
            <a:r>
              <a:rPr dirty="0" sz="3200" spc="-250"/>
              <a:t>Monitoring</a:t>
            </a:r>
            <a:r>
              <a:rPr dirty="0" sz="3200" spc="-85"/>
              <a:t> </a:t>
            </a:r>
            <a:r>
              <a:rPr dirty="0" sz="3200" spc="-245"/>
              <a:t>with</a:t>
            </a:r>
            <a:r>
              <a:rPr dirty="0" sz="3200" spc="-155"/>
              <a:t> </a:t>
            </a:r>
            <a:r>
              <a:rPr dirty="0" sz="3200" spc="-200"/>
              <a:t>API</a:t>
            </a:r>
            <a:r>
              <a:rPr dirty="0" sz="3200" spc="-85"/>
              <a:t> </a:t>
            </a:r>
            <a:r>
              <a:rPr dirty="0" sz="3200" spc="-290"/>
              <a:t>Gateways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205470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errors,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threats.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Logs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debugging,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auditing,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analytics.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integrations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tools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Prometheus,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Grafana,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685D46"/>
                </a:solidFill>
                <a:latin typeface="Arial"/>
                <a:cs typeface="Arial"/>
              </a:rPr>
              <a:t>ELK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Stack.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29"/>
              <a:t>Popular</a:t>
            </a:r>
            <a:r>
              <a:rPr dirty="0" sz="3200" spc="-145"/>
              <a:t> </a:t>
            </a:r>
            <a:r>
              <a:rPr dirty="0" sz="3200" spc="-200"/>
              <a:t>API</a:t>
            </a:r>
            <a:r>
              <a:rPr dirty="0" sz="3200" spc="-75"/>
              <a:t> </a:t>
            </a:r>
            <a:r>
              <a:rPr dirty="0" sz="3200" spc="-290"/>
              <a:t>Gateway</a:t>
            </a:r>
            <a:r>
              <a:rPr dirty="0" sz="3200" spc="-125"/>
              <a:t> </a:t>
            </a:r>
            <a:r>
              <a:rPr dirty="0" sz="3200" spc="-210"/>
              <a:t>Implementations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2856865" cy="215455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Open-source</a:t>
            </a:r>
            <a:r>
              <a:rPr dirty="0" sz="1800" spc="3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solutions: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Kong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NGINX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Traeﬁk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dirty="0" sz="180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solutions: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Google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Apigee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Azure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40"/>
              <a:t>When</a:t>
            </a:r>
            <a:r>
              <a:rPr dirty="0" sz="3200" spc="-50"/>
              <a:t> </a:t>
            </a:r>
            <a:r>
              <a:rPr dirty="0" sz="3200" spc="-235"/>
              <a:t>to</a:t>
            </a:r>
            <a:r>
              <a:rPr dirty="0" sz="3200" spc="-45"/>
              <a:t> </a:t>
            </a:r>
            <a:r>
              <a:rPr dirty="0" sz="3200" spc="-270"/>
              <a:t>Use</a:t>
            </a:r>
            <a:r>
              <a:rPr dirty="0" sz="3200" spc="-50"/>
              <a:t> </a:t>
            </a:r>
            <a:r>
              <a:rPr dirty="0" sz="3200" spc="-265"/>
              <a:t>an</a:t>
            </a:r>
            <a:r>
              <a:rPr dirty="0" sz="3200" spc="-160"/>
              <a:t> </a:t>
            </a:r>
            <a:r>
              <a:rPr dirty="0" sz="3200" spc="-200"/>
              <a:t>API</a:t>
            </a:r>
            <a:r>
              <a:rPr dirty="0" sz="3200" spc="-85"/>
              <a:t> </a:t>
            </a:r>
            <a:r>
              <a:rPr dirty="0" sz="3200" spc="-295"/>
              <a:t>Gateway?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201920" cy="190881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suited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for: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400" spc="2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Multi-client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(Web,</a:t>
            </a:r>
            <a:r>
              <a:rPr dirty="0" sz="14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Mobile,</a:t>
            </a:r>
            <a:r>
              <a:rPr dirty="0" sz="14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IoT).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requiring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limiting,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monitoring.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if: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minimal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exposure.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Low-traﬃc,</a:t>
            </a:r>
            <a:r>
              <a:rPr dirty="0" sz="1400" spc="4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internal-only</a:t>
            </a:r>
            <a:r>
              <a:rPr dirty="0" sz="1400" spc="459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00"/>
              <a:t>API</a:t>
            </a:r>
            <a:r>
              <a:rPr dirty="0" sz="3200" spc="-85"/>
              <a:t> </a:t>
            </a:r>
            <a:r>
              <a:rPr dirty="0" sz="3200" spc="-290"/>
              <a:t>Gateway</a:t>
            </a:r>
            <a:r>
              <a:rPr dirty="0" sz="3200" spc="-270"/>
              <a:t> </a:t>
            </a:r>
            <a:r>
              <a:rPr dirty="0" sz="3200" spc="-10"/>
              <a:t>-</a:t>
            </a:r>
            <a:r>
              <a:rPr dirty="0" sz="3200" spc="-254"/>
              <a:t> </a:t>
            </a:r>
            <a:r>
              <a:rPr dirty="0" sz="3200" spc="-215"/>
              <a:t>Interview</a:t>
            </a:r>
            <a:r>
              <a:rPr dirty="0" sz="3200" spc="-140"/>
              <a:t> </a:t>
            </a:r>
            <a:r>
              <a:rPr dirty="0" sz="3200" spc="-204"/>
              <a:t>Questions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7915275" cy="3052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dirty="0" sz="1800" spc="-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Gateway,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used?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Balancer?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8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the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beneﬁts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Gateway?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Technical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authorization?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limiting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throttling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Gateways.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implemented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Gateway?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8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against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attacks?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Scenario-Based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millions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users?</a:t>
            </a:r>
            <a:endParaRPr sz="1400">
              <a:latin typeface="Arial"/>
              <a:cs typeface="Arial"/>
            </a:endParaRPr>
          </a:p>
          <a:p>
            <a:pPr lvl="1" marL="836294" marR="9525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might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arise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implementing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Gateway,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you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address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them?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20"/>
              <a:t>Conclusion</a:t>
            </a:r>
            <a:r>
              <a:rPr dirty="0" sz="3200" spc="-55"/>
              <a:t> </a:t>
            </a:r>
            <a:r>
              <a:rPr dirty="0" sz="3200"/>
              <a:t>&amp;</a:t>
            </a:r>
            <a:r>
              <a:rPr dirty="0" sz="3200" spc="-50"/>
              <a:t> </a:t>
            </a:r>
            <a:r>
              <a:rPr dirty="0" sz="3200" spc="-240"/>
              <a:t>Key</a:t>
            </a:r>
            <a:r>
              <a:rPr dirty="0" sz="3200" spc="-250"/>
              <a:t> </a:t>
            </a:r>
            <a:r>
              <a:rPr dirty="0" sz="3200" spc="-285"/>
              <a:t>Takeaways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211059" cy="18592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centralized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entry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point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managing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Provides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limiting,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logging.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Useful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depends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case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scale.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4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r>
              <a:rPr dirty="0" sz="14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76962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110"/>
              </a:spcBef>
            </a:pPr>
            <a:r>
              <a:rPr dirty="0" sz="2950" spc="-245"/>
              <a:t>Content</a:t>
            </a:r>
            <a:r>
              <a:rPr dirty="0" sz="2950" spc="-35"/>
              <a:t> </a:t>
            </a:r>
            <a:r>
              <a:rPr dirty="0" sz="2950" spc="-190"/>
              <a:t>Delivery</a:t>
            </a:r>
            <a:r>
              <a:rPr dirty="0" sz="2950" spc="-125"/>
              <a:t> </a:t>
            </a:r>
            <a:r>
              <a:rPr dirty="0" sz="2950" spc="-265"/>
              <a:t>Networks</a:t>
            </a:r>
            <a:r>
              <a:rPr dirty="0" sz="2950" spc="-35"/>
              <a:t> </a:t>
            </a:r>
            <a:r>
              <a:rPr dirty="0" sz="2950" spc="-225"/>
              <a:t>(CDN)</a:t>
            </a:r>
            <a:r>
              <a:rPr dirty="0" sz="2950" spc="-35"/>
              <a:t> </a:t>
            </a:r>
            <a:r>
              <a:rPr dirty="0" sz="2950" spc="-170"/>
              <a:t>in</a:t>
            </a:r>
            <a:r>
              <a:rPr dirty="0" sz="2950" spc="-40"/>
              <a:t> </a:t>
            </a:r>
            <a:r>
              <a:rPr dirty="0" sz="2950" spc="-229"/>
              <a:t>System</a:t>
            </a:r>
            <a:r>
              <a:rPr dirty="0" sz="2950" spc="-35"/>
              <a:t> </a:t>
            </a:r>
            <a:r>
              <a:rPr dirty="0" sz="2950" spc="-114"/>
              <a:t>Design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15"/>
              <a:t>Introduction</a:t>
            </a:r>
            <a:r>
              <a:rPr dirty="0" sz="3200" spc="-10"/>
              <a:t> </a:t>
            </a:r>
            <a:r>
              <a:rPr dirty="0" sz="3200" spc="-235"/>
              <a:t>to</a:t>
            </a:r>
            <a:r>
              <a:rPr dirty="0" sz="3200" spc="-50"/>
              <a:t> </a:t>
            </a:r>
            <a:r>
              <a:rPr dirty="0" sz="3200" spc="-290"/>
              <a:t>CDNs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603625" cy="2595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Deﬁnition: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globally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servers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together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deliver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CDNs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exist: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dirty="0" sz="14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4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availability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dirty="0" sz="14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2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84492"/>
            <a:ext cx="4222386" cy="216098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70"/>
              <a:t>Why</a:t>
            </a:r>
            <a:r>
              <a:rPr dirty="0" sz="3200" spc="-145"/>
              <a:t> </a:t>
            </a:r>
            <a:r>
              <a:rPr dirty="0" sz="3200" spc="-240"/>
              <a:t>are</a:t>
            </a:r>
            <a:r>
              <a:rPr dirty="0" sz="3200" spc="-85"/>
              <a:t> </a:t>
            </a:r>
            <a:r>
              <a:rPr dirty="0" sz="3200" spc="-270"/>
              <a:t>CDNs</a:t>
            </a:r>
            <a:r>
              <a:rPr dirty="0" sz="3200" spc="-40"/>
              <a:t> </a:t>
            </a:r>
            <a:r>
              <a:rPr dirty="0" sz="3200" spc="-275"/>
              <a:t>needed?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84725" y="1330206"/>
            <a:ext cx="3775710" cy="2029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problem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without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CDNs:</a:t>
            </a:r>
            <a:endParaRPr sz="1800">
              <a:latin typeface="Arial"/>
              <a:cs typeface="Arial"/>
            </a:endParaRPr>
          </a:p>
          <a:p>
            <a:pPr marL="469900" marR="5080" indent="-313055">
              <a:lnSpc>
                <a:spcPct val="114999"/>
              </a:lnSpc>
              <a:spcBef>
                <a:spcPts val="1200"/>
              </a:spcBef>
              <a:buClr>
                <a:srgbClr val="000000"/>
              </a:buClr>
              <a:buSzPct val="61111"/>
              <a:buChar char="●"/>
              <a:tabLst>
                <a:tab pos="4699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due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geographic distance</a:t>
            </a:r>
            <a:endParaRPr sz="18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Overloaded</a:t>
            </a:r>
            <a:r>
              <a:rPr dirty="0" sz="18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dirty="0" sz="18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endParaRPr sz="1800">
              <a:latin typeface="Arial"/>
              <a:cs typeface="Arial"/>
            </a:endParaRPr>
          </a:p>
          <a:p>
            <a:pPr marL="469900" marR="137795" indent="-313055">
              <a:lnSpc>
                <a:spcPct val="114999"/>
              </a:lnSpc>
              <a:buClr>
                <a:srgbClr val="000000"/>
              </a:buClr>
              <a:buSzPct val="61111"/>
              <a:buChar char="●"/>
              <a:tabLst>
                <a:tab pos="469900" algn="l"/>
              </a:tabLst>
            </a:pP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Bandwidth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constraints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slow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times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465095"/>
            <a:ext cx="4267199" cy="200337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95"/>
              <a:t>CDN</a:t>
            </a:r>
            <a:r>
              <a:rPr dirty="0" sz="3200" spc="-150"/>
              <a:t> </a:t>
            </a:r>
            <a:r>
              <a:rPr dirty="0" sz="3200" spc="-210"/>
              <a:t>Architecture</a:t>
            </a:r>
            <a:r>
              <a:rPr dirty="0" sz="3200" spc="-75"/>
              <a:t> </a:t>
            </a:r>
            <a:r>
              <a:rPr dirty="0" sz="3200" spc="-275"/>
              <a:t>Overview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556885" cy="110299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CDN: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original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(PoPs):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cached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closer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routing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system: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the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nearest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PoP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675" y="2694975"/>
            <a:ext cx="4267199" cy="176212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70"/>
              <a:t>How</a:t>
            </a:r>
            <a:r>
              <a:rPr dirty="0" sz="3200" spc="-114"/>
              <a:t> </a:t>
            </a:r>
            <a:r>
              <a:rPr dirty="0" sz="3200" spc="-254"/>
              <a:t>a</a:t>
            </a:r>
            <a:r>
              <a:rPr dirty="0" sz="3200" spc="-80"/>
              <a:t> </a:t>
            </a:r>
            <a:r>
              <a:rPr dirty="0" sz="3200" spc="-295"/>
              <a:t>CDN</a:t>
            </a:r>
            <a:r>
              <a:rPr dirty="0" sz="3200" spc="-110"/>
              <a:t> </a:t>
            </a:r>
            <a:r>
              <a:rPr dirty="0" sz="3200" spc="-320"/>
              <a:t>Works</a:t>
            </a:r>
            <a:r>
              <a:rPr dirty="0" sz="3200" spc="-45"/>
              <a:t> </a:t>
            </a:r>
            <a:r>
              <a:rPr dirty="0" sz="3200" spc="-270"/>
              <a:t>and</a:t>
            </a:r>
            <a:r>
              <a:rPr dirty="0" sz="3200" spc="-45"/>
              <a:t> </a:t>
            </a:r>
            <a:r>
              <a:rPr dirty="0" sz="3200" spc="-220"/>
              <a:t>Handles</a:t>
            </a:r>
            <a:r>
              <a:rPr dirty="0" sz="3200" spc="-45"/>
              <a:t> </a:t>
            </a:r>
            <a:r>
              <a:rPr dirty="0" sz="3200" spc="-254"/>
              <a:t>a</a:t>
            </a:r>
            <a:r>
              <a:rPr dirty="0" sz="3200" spc="-40"/>
              <a:t> </a:t>
            </a:r>
            <a:r>
              <a:rPr dirty="0" sz="3200" spc="-250"/>
              <a:t>User</a:t>
            </a:r>
            <a:r>
              <a:rPr dirty="0" sz="3200" spc="-45"/>
              <a:t> </a:t>
            </a:r>
            <a:r>
              <a:rPr dirty="0" sz="3200" spc="-200"/>
              <a:t>Request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6063615" cy="286512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just" marL="431165" indent="-418465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16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website,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video,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data).</a:t>
            </a:r>
            <a:endParaRPr sz="1800">
              <a:latin typeface="Arial"/>
              <a:cs typeface="Arial"/>
            </a:endParaRPr>
          </a:p>
          <a:p>
            <a:pPr algn="just" marL="430530" marR="158750" indent="-418465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directs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nearest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geographic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location,</a:t>
            </a:r>
            <a:r>
              <a:rPr dirty="0" sz="18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latency,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load.</a:t>
            </a:r>
            <a:endParaRPr sz="1800">
              <a:latin typeface="Arial"/>
              <a:cs typeface="Arial"/>
            </a:endParaRPr>
          </a:p>
          <a:p>
            <a:pPr marL="431800" marR="517525" indent="-419734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Hit: If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available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edge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it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delivered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instantly.</a:t>
            </a:r>
            <a:endParaRPr sz="1800">
              <a:latin typeface="Arial"/>
              <a:cs typeface="Arial"/>
            </a:endParaRPr>
          </a:p>
          <a:p>
            <a:pPr marL="431800" marR="10795" indent="-419734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Miss: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cached,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request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forwarded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fetched,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stored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future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use.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5961" y="1220847"/>
            <a:ext cx="1813201" cy="359219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40"/>
              <a:t>Key</a:t>
            </a:r>
            <a:r>
              <a:rPr dirty="0" sz="3200" spc="-185"/>
              <a:t> </a:t>
            </a:r>
            <a:r>
              <a:rPr dirty="0" sz="3200" spc="-295"/>
              <a:t>CDN</a:t>
            </a:r>
            <a:r>
              <a:rPr dirty="0" sz="3200" spc="-40"/>
              <a:t> </a:t>
            </a:r>
            <a:r>
              <a:rPr dirty="0" sz="3200" spc="-225"/>
              <a:t>Features/Beneﬁts</a:t>
            </a:r>
            <a:r>
              <a:rPr dirty="0" sz="3200" spc="-40"/>
              <a:t> </a:t>
            </a:r>
            <a:r>
              <a:rPr dirty="0" sz="3200" spc="-250"/>
              <a:t>of</a:t>
            </a:r>
            <a:r>
              <a:rPr dirty="0" sz="3200" spc="-80"/>
              <a:t> </a:t>
            </a:r>
            <a:r>
              <a:rPr dirty="0" sz="3200" spc="-295"/>
              <a:t>CDN</a:t>
            </a:r>
            <a:r>
              <a:rPr dirty="0" sz="3200" spc="-110"/>
              <a:t> </a:t>
            </a:r>
            <a:r>
              <a:rPr dirty="0" sz="3200" spc="-265"/>
              <a:t>Working</a:t>
            </a:r>
            <a:r>
              <a:rPr dirty="0" sz="3200" spc="-40"/>
              <a:t> </a:t>
            </a:r>
            <a:r>
              <a:rPr dirty="0" sz="3200" spc="-305"/>
              <a:t>Mechanism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7980" marR="15367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800" spc="-150">
                <a:latin typeface="Arial Black"/>
                <a:cs typeface="Arial Black"/>
              </a:rPr>
              <a:t>Caching</a:t>
            </a:r>
            <a:r>
              <a:rPr dirty="0" sz="1800" spc="-40">
                <a:latin typeface="Arial Black"/>
                <a:cs typeface="Arial Black"/>
              </a:rPr>
              <a:t> </a:t>
            </a:r>
            <a:r>
              <a:rPr dirty="0" sz="1800" spc="-260">
                <a:latin typeface="Arial Black"/>
                <a:cs typeface="Arial Black"/>
              </a:rPr>
              <a:t>&amp;</a:t>
            </a:r>
            <a:r>
              <a:rPr dirty="0" sz="1800" spc="-35">
                <a:latin typeface="Arial Black"/>
                <a:cs typeface="Arial Black"/>
              </a:rPr>
              <a:t> </a:t>
            </a:r>
            <a:r>
              <a:rPr dirty="0" sz="1800" spc="-130">
                <a:latin typeface="Arial Black"/>
                <a:cs typeface="Arial Black"/>
              </a:rPr>
              <a:t>Replication(Reduced</a:t>
            </a:r>
            <a:r>
              <a:rPr dirty="0" sz="1800" spc="-35">
                <a:latin typeface="Arial Black"/>
                <a:cs typeface="Arial Black"/>
              </a:rPr>
              <a:t> </a:t>
            </a:r>
            <a:r>
              <a:rPr dirty="0" sz="1800" spc="-114">
                <a:latin typeface="Arial Black"/>
                <a:cs typeface="Arial Black"/>
              </a:rPr>
              <a:t>Latency)</a:t>
            </a:r>
            <a:r>
              <a:rPr dirty="0" sz="1800" spc="-114"/>
              <a:t>:</a:t>
            </a:r>
            <a:r>
              <a:rPr dirty="0" sz="1800" spc="60"/>
              <a:t> </a:t>
            </a:r>
            <a:r>
              <a:rPr dirty="0" sz="1800"/>
              <a:t>Frequently</a:t>
            </a:r>
            <a:r>
              <a:rPr dirty="0" sz="1800" spc="65"/>
              <a:t> </a:t>
            </a:r>
            <a:r>
              <a:rPr dirty="0" sz="1800" spc="-10"/>
              <a:t>accessed</a:t>
            </a:r>
            <a:r>
              <a:rPr dirty="0" sz="1800" spc="60"/>
              <a:t> content </a:t>
            </a:r>
            <a:r>
              <a:rPr dirty="0" sz="1800"/>
              <a:t>is</a:t>
            </a:r>
            <a:r>
              <a:rPr dirty="0" sz="1800" spc="40"/>
              <a:t> </a:t>
            </a:r>
            <a:r>
              <a:rPr dirty="0" sz="1800" spc="60"/>
              <a:t>stored</a:t>
            </a:r>
            <a:r>
              <a:rPr dirty="0" sz="1800" spc="30"/>
              <a:t> </a:t>
            </a:r>
            <a:r>
              <a:rPr dirty="0" sz="1800" spc="65"/>
              <a:t>at</a:t>
            </a:r>
            <a:r>
              <a:rPr dirty="0" sz="1800" spc="40"/>
              <a:t> </a:t>
            </a:r>
            <a:r>
              <a:rPr dirty="0" sz="1800"/>
              <a:t>edge</a:t>
            </a:r>
            <a:r>
              <a:rPr dirty="0" sz="1800" spc="40"/>
              <a:t> </a:t>
            </a:r>
            <a:r>
              <a:rPr dirty="0" sz="1800"/>
              <a:t>locations</a:t>
            </a:r>
            <a:r>
              <a:rPr dirty="0" sz="1800" spc="40"/>
              <a:t> </a:t>
            </a:r>
            <a:r>
              <a:rPr dirty="0" sz="1800" spc="100"/>
              <a:t>to</a:t>
            </a:r>
            <a:r>
              <a:rPr dirty="0" sz="1800" spc="40"/>
              <a:t> </a:t>
            </a:r>
            <a:r>
              <a:rPr dirty="0" sz="1800" spc="55"/>
              <a:t>minimize</a:t>
            </a:r>
            <a:r>
              <a:rPr dirty="0" sz="1800" spc="40"/>
              <a:t> </a:t>
            </a:r>
            <a:r>
              <a:rPr dirty="0" sz="1800" spc="60"/>
              <a:t>origin</a:t>
            </a:r>
            <a:r>
              <a:rPr dirty="0" sz="1800" spc="40"/>
              <a:t> </a:t>
            </a:r>
            <a:r>
              <a:rPr dirty="0" sz="1800"/>
              <a:t>server</a:t>
            </a:r>
            <a:r>
              <a:rPr dirty="0" sz="1800" spc="35"/>
              <a:t> </a:t>
            </a:r>
            <a:r>
              <a:rPr dirty="0" sz="1800" spc="-10"/>
              <a:t>load.</a:t>
            </a:r>
            <a:endParaRPr sz="1800">
              <a:latin typeface="Arial Black"/>
              <a:cs typeface="Arial Black"/>
            </a:endParaRPr>
          </a:p>
          <a:p>
            <a:pPr marL="347980" marR="116205" indent="-367030">
              <a:lnSpc>
                <a:spcPct val="114999"/>
              </a:lnSpc>
              <a:buFont typeface="Arial"/>
              <a:buChar char="●"/>
              <a:tabLst>
                <a:tab pos="347980" algn="l"/>
              </a:tabLst>
            </a:pPr>
            <a:r>
              <a:rPr dirty="0" sz="1800" spc="-130">
                <a:latin typeface="Arial Black"/>
                <a:cs typeface="Arial Black"/>
              </a:rPr>
              <a:t>Load</a:t>
            </a:r>
            <a:r>
              <a:rPr dirty="0" sz="1800" spc="-80">
                <a:latin typeface="Arial Black"/>
                <a:cs typeface="Arial Black"/>
              </a:rPr>
              <a:t> </a:t>
            </a:r>
            <a:r>
              <a:rPr dirty="0" sz="1800" spc="-130">
                <a:latin typeface="Arial Black"/>
                <a:cs typeface="Arial Black"/>
              </a:rPr>
              <a:t>Balancing</a:t>
            </a:r>
            <a:r>
              <a:rPr dirty="0" sz="1800" spc="-80">
                <a:latin typeface="Arial Black"/>
                <a:cs typeface="Arial Black"/>
              </a:rPr>
              <a:t> and </a:t>
            </a:r>
            <a:r>
              <a:rPr dirty="0" sz="1800" spc="-95">
                <a:latin typeface="Arial Black"/>
                <a:cs typeface="Arial Black"/>
              </a:rPr>
              <a:t>request</a:t>
            </a:r>
            <a:r>
              <a:rPr dirty="0" sz="1800" spc="-75">
                <a:latin typeface="Arial Black"/>
                <a:cs typeface="Arial Black"/>
              </a:rPr>
              <a:t> </a:t>
            </a:r>
            <a:r>
              <a:rPr dirty="0" sz="1800">
                <a:latin typeface="Arial Black"/>
                <a:cs typeface="Arial Black"/>
              </a:rPr>
              <a:t>routing</a:t>
            </a:r>
            <a:r>
              <a:rPr dirty="0" sz="1800"/>
              <a:t>:(Improved</a:t>
            </a:r>
            <a:r>
              <a:rPr dirty="0" sz="1800" spc="20"/>
              <a:t> </a:t>
            </a:r>
            <a:r>
              <a:rPr dirty="0" sz="1800"/>
              <a:t>Availability)</a:t>
            </a:r>
            <a:r>
              <a:rPr dirty="0" sz="1800" spc="25"/>
              <a:t> </a:t>
            </a:r>
            <a:r>
              <a:rPr dirty="0" sz="1800" spc="55"/>
              <a:t>Traﬃc</a:t>
            </a:r>
            <a:r>
              <a:rPr dirty="0" sz="1800" spc="25"/>
              <a:t> </a:t>
            </a:r>
            <a:r>
              <a:rPr dirty="0" sz="1800" spc="-25"/>
              <a:t>is </a:t>
            </a:r>
            <a:r>
              <a:rPr dirty="0" sz="1800" spc="70"/>
              <a:t>distributed</a:t>
            </a:r>
            <a:r>
              <a:rPr dirty="0" sz="1800"/>
              <a:t> across</a:t>
            </a:r>
            <a:r>
              <a:rPr dirty="0" sz="1800" spc="5"/>
              <a:t> </a:t>
            </a:r>
            <a:r>
              <a:rPr dirty="0" sz="1800" spc="80"/>
              <a:t>multiple</a:t>
            </a:r>
            <a:r>
              <a:rPr dirty="0" sz="1800" spc="5"/>
              <a:t> </a:t>
            </a:r>
            <a:r>
              <a:rPr dirty="0" sz="1800" spc="-55"/>
              <a:t>PoPs</a:t>
            </a:r>
            <a:r>
              <a:rPr dirty="0" sz="1800" spc="5"/>
              <a:t> </a:t>
            </a:r>
            <a:r>
              <a:rPr dirty="0" sz="1800" spc="100"/>
              <a:t>to</a:t>
            </a:r>
            <a:r>
              <a:rPr dirty="0" sz="1800" spc="5"/>
              <a:t> </a:t>
            </a:r>
            <a:r>
              <a:rPr dirty="0" sz="1800"/>
              <a:t>ensure</a:t>
            </a:r>
            <a:r>
              <a:rPr dirty="0" sz="1800" spc="5"/>
              <a:t> </a:t>
            </a:r>
            <a:r>
              <a:rPr dirty="0" sz="1800" spc="50"/>
              <a:t>reliability</a:t>
            </a:r>
            <a:r>
              <a:rPr dirty="0" sz="1800"/>
              <a:t> </a:t>
            </a:r>
            <a:r>
              <a:rPr dirty="0" sz="1800" spc="55"/>
              <a:t>and</a:t>
            </a:r>
            <a:r>
              <a:rPr dirty="0" sz="1800" spc="5"/>
              <a:t> </a:t>
            </a:r>
            <a:r>
              <a:rPr dirty="0" sz="1800" spc="50"/>
              <a:t>prevent </a:t>
            </a:r>
            <a:r>
              <a:rPr dirty="0" sz="1800"/>
              <a:t>overload.</a:t>
            </a:r>
            <a:r>
              <a:rPr dirty="0" sz="1800" spc="90"/>
              <a:t> </a:t>
            </a:r>
            <a:r>
              <a:rPr dirty="0" sz="1800" spc="-30"/>
              <a:t>CDN</a:t>
            </a:r>
            <a:r>
              <a:rPr dirty="0" sz="1800" spc="90"/>
              <a:t> </a:t>
            </a:r>
            <a:r>
              <a:rPr dirty="0" sz="1800"/>
              <a:t>uses</a:t>
            </a:r>
            <a:r>
              <a:rPr dirty="0" sz="1800" spc="95"/>
              <a:t> </a:t>
            </a:r>
            <a:r>
              <a:rPr dirty="0" sz="1800"/>
              <a:t>Geo-based,</a:t>
            </a:r>
            <a:r>
              <a:rPr dirty="0" sz="1800" spc="90"/>
              <a:t> </a:t>
            </a:r>
            <a:r>
              <a:rPr dirty="0" sz="1800"/>
              <a:t>latency-based,</a:t>
            </a:r>
            <a:r>
              <a:rPr dirty="0" sz="1800" spc="90"/>
              <a:t> </a:t>
            </a:r>
            <a:r>
              <a:rPr dirty="0" sz="1800" spc="55"/>
              <a:t>and</a:t>
            </a:r>
            <a:r>
              <a:rPr dirty="0" sz="1800" spc="95"/>
              <a:t> </a:t>
            </a:r>
            <a:r>
              <a:rPr dirty="0" sz="1800"/>
              <a:t>load-aware</a:t>
            </a:r>
            <a:r>
              <a:rPr dirty="0" sz="1800" spc="95"/>
              <a:t> </a:t>
            </a:r>
            <a:r>
              <a:rPr dirty="0" sz="1800" spc="70"/>
              <a:t>routing</a:t>
            </a:r>
            <a:r>
              <a:rPr dirty="0" sz="1800" spc="90"/>
              <a:t> </a:t>
            </a:r>
            <a:r>
              <a:rPr dirty="0" sz="1800" spc="75"/>
              <a:t>to </a:t>
            </a:r>
            <a:r>
              <a:rPr dirty="0" sz="1800" spc="60"/>
              <a:t>optimize</a:t>
            </a:r>
            <a:r>
              <a:rPr dirty="0" sz="1800" spc="-15"/>
              <a:t> </a:t>
            </a:r>
            <a:r>
              <a:rPr dirty="0" sz="1800" spc="-10"/>
              <a:t>speed.</a:t>
            </a:r>
            <a:endParaRPr sz="1800">
              <a:latin typeface="Arial Black"/>
              <a:cs typeface="Arial Black"/>
            </a:endParaRPr>
          </a:p>
          <a:p>
            <a:pPr marL="347980" marR="5080" indent="-367030">
              <a:lnSpc>
                <a:spcPct val="114999"/>
              </a:lnSpc>
              <a:buFont typeface="Arial"/>
              <a:buChar char="●"/>
              <a:tabLst>
                <a:tab pos="347980" algn="l"/>
              </a:tabLst>
            </a:pPr>
            <a:r>
              <a:rPr dirty="0" sz="1800" spc="-114">
                <a:latin typeface="Arial Black"/>
                <a:cs typeface="Arial Black"/>
              </a:rPr>
              <a:t>Compression</a:t>
            </a:r>
            <a:r>
              <a:rPr dirty="0" sz="1800" spc="-55">
                <a:latin typeface="Arial Black"/>
                <a:cs typeface="Arial Black"/>
              </a:rPr>
              <a:t> </a:t>
            </a:r>
            <a:r>
              <a:rPr dirty="0" sz="1800" spc="-260">
                <a:latin typeface="Arial Black"/>
                <a:cs typeface="Arial Black"/>
              </a:rPr>
              <a:t>&amp;</a:t>
            </a:r>
            <a:r>
              <a:rPr dirty="0" sz="1800" spc="-55">
                <a:latin typeface="Arial Black"/>
                <a:cs typeface="Arial Black"/>
              </a:rPr>
              <a:t> </a:t>
            </a:r>
            <a:r>
              <a:rPr dirty="0" sz="1800" spc="-85">
                <a:latin typeface="Arial Black"/>
                <a:cs typeface="Arial Black"/>
              </a:rPr>
              <a:t>Optimization(Lower</a:t>
            </a:r>
            <a:r>
              <a:rPr dirty="0" sz="1800" spc="-50">
                <a:latin typeface="Arial Black"/>
                <a:cs typeface="Arial Black"/>
              </a:rPr>
              <a:t> </a:t>
            </a:r>
            <a:r>
              <a:rPr dirty="0" sz="1800" spc="-90">
                <a:latin typeface="Arial Black"/>
                <a:cs typeface="Arial Black"/>
              </a:rPr>
              <a:t>Bandwidth</a:t>
            </a:r>
            <a:r>
              <a:rPr dirty="0" sz="1800" spc="-55">
                <a:latin typeface="Arial Black"/>
                <a:cs typeface="Arial Black"/>
              </a:rPr>
              <a:t> </a:t>
            </a:r>
            <a:r>
              <a:rPr dirty="0" sz="1800" spc="-140">
                <a:latin typeface="Arial Black"/>
                <a:cs typeface="Arial Black"/>
              </a:rPr>
              <a:t>Costs)</a:t>
            </a:r>
            <a:r>
              <a:rPr dirty="0" sz="1800" spc="-140"/>
              <a:t>:</a:t>
            </a:r>
            <a:r>
              <a:rPr dirty="0" sz="1800" spc="45"/>
              <a:t> </a:t>
            </a:r>
            <a:r>
              <a:rPr dirty="0" sz="1800"/>
              <a:t>Techniques</a:t>
            </a:r>
            <a:r>
              <a:rPr dirty="0" sz="1800" spc="45"/>
              <a:t> </a:t>
            </a:r>
            <a:r>
              <a:rPr dirty="0" sz="1800" spc="-20"/>
              <a:t>like </a:t>
            </a:r>
            <a:r>
              <a:rPr dirty="0" sz="1800"/>
              <a:t>Gzip,</a:t>
            </a:r>
            <a:r>
              <a:rPr dirty="0" sz="1800" spc="25"/>
              <a:t> </a:t>
            </a:r>
            <a:r>
              <a:rPr dirty="0" sz="1800" spc="45"/>
              <a:t>Brotli,</a:t>
            </a:r>
            <a:r>
              <a:rPr dirty="0" sz="1800" spc="25"/>
              <a:t> </a:t>
            </a:r>
            <a:r>
              <a:rPr dirty="0" sz="1800" spc="55"/>
              <a:t>and</a:t>
            </a:r>
            <a:r>
              <a:rPr dirty="0" sz="1800" spc="25"/>
              <a:t> </a:t>
            </a:r>
            <a:r>
              <a:rPr dirty="0" sz="1800"/>
              <a:t>image</a:t>
            </a:r>
            <a:r>
              <a:rPr dirty="0" sz="1800" spc="35"/>
              <a:t> </a:t>
            </a:r>
            <a:r>
              <a:rPr dirty="0" sz="1800" spc="65"/>
              <a:t>optimization</a:t>
            </a:r>
            <a:r>
              <a:rPr dirty="0" sz="1800" spc="30"/>
              <a:t> </a:t>
            </a:r>
            <a:r>
              <a:rPr dirty="0" sz="1800"/>
              <a:t>reduce</a:t>
            </a:r>
            <a:r>
              <a:rPr dirty="0" sz="1800" spc="30"/>
              <a:t> </a:t>
            </a:r>
            <a:r>
              <a:rPr dirty="0" sz="1800" spc="65"/>
              <a:t>ﬁle</a:t>
            </a:r>
            <a:r>
              <a:rPr dirty="0" sz="1800" spc="35"/>
              <a:t> </a:t>
            </a:r>
            <a:r>
              <a:rPr dirty="0" sz="1800" spc="-10"/>
              <a:t>sizes</a:t>
            </a:r>
            <a:r>
              <a:rPr dirty="0" sz="1800" spc="30"/>
              <a:t> </a:t>
            </a:r>
            <a:r>
              <a:rPr dirty="0" sz="1800" spc="100"/>
              <a:t>for</a:t>
            </a:r>
            <a:r>
              <a:rPr dirty="0" sz="1800" spc="25"/>
              <a:t> </a:t>
            </a:r>
            <a:r>
              <a:rPr dirty="0" sz="1800"/>
              <a:t>faster</a:t>
            </a:r>
            <a:r>
              <a:rPr dirty="0" sz="1800" spc="30"/>
              <a:t> </a:t>
            </a:r>
            <a:r>
              <a:rPr dirty="0" sz="1800" spc="-10"/>
              <a:t>delivery.</a:t>
            </a:r>
            <a:endParaRPr sz="1800">
              <a:latin typeface="Arial Black"/>
              <a:cs typeface="Arial Black"/>
            </a:endParaRPr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800" spc="-125">
                <a:latin typeface="Arial Black"/>
                <a:cs typeface="Arial Black"/>
              </a:rPr>
              <a:t>Security</a:t>
            </a:r>
            <a:r>
              <a:rPr dirty="0" sz="1800" spc="-15">
                <a:latin typeface="Arial Black"/>
                <a:cs typeface="Arial Black"/>
              </a:rPr>
              <a:t> </a:t>
            </a:r>
            <a:r>
              <a:rPr dirty="0" sz="1800" spc="-105">
                <a:latin typeface="Arial Black"/>
                <a:cs typeface="Arial Black"/>
              </a:rPr>
              <a:t>Features(Better</a:t>
            </a:r>
            <a:r>
              <a:rPr dirty="0" sz="1800">
                <a:latin typeface="Arial Black"/>
                <a:cs typeface="Arial Black"/>
              </a:rPr>
              <a:t> </a:t>
            </a:r>
            <a:r>
              <a:rPr dirty="0" sz="1800" spc="-110">
                <a:latin typeface="Arial Black"/>
                <a:cs typeface="Arial Black"/>
              </a:rPr>
              <a:t>Security)</a:t>
            </a:r>
            <a:r>
              <a:rPr dirty="0" sz="1800" spc="-110"/>
              <a:t>:</a:t>
            </a:r>
            <a:r>
              <a:rPr dirty="0" sz="1800" spc="90"/>
              <a:t> </a:t>
            </a:r>
            <a:r>
              <a:rPr dirty="0" sz="1800" spc="-25"/>
              <a:t>DDoS</a:t>
            </a:r>
            <a:r>
              <a:rPr dirty="0" sz="1800" spc="95"/>
              <a:t> </a:t>
            </a:r>
            <a:r>
              <a:rPr dirty="0" sz="1800"/>
              <a:t>Protection,</a:t>
            </a:r>
            <a:r>
              <a:rPr dirty="0" sz="1800" spc="90"/>
              <a:t> </a:t>
            </a:r>
            <a:r>
              <a:rPr dirty="0" sz="1800" spc="-10"/>
              <a:t>SSL/TLS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54"/>
              <a:t>Content</a:t>
            </a:r>
            <a:r>
              <a:rPr dirty="0" sz="3200" spc="-70"/>
              <a:t> </a:t>
            </a:r>
            <a:r>
              <a:rPr dirty="0" sz="3200" spc="-204"/>
              <a:t>Caching</a:t>
            </a:r>
            <a:r>
              <a:rPr dirty="0" sz="3200" spc="-20"/>
              <a:t> </a:t>
            </a:r>
            <a:r>
              <a:rPr dirty="0" sz="3200" spc="-270"/>
              <a:t>and</a:t>
            </a:r>
            <a:r>
              <a:rPr dirty="0" sz="3200" spc="-25"/>
              <a:t> </a:t>
            </a:r>
            <a:r>
              <a:rPr dirty="0" sz="3200" spc="-175"/>
              <a:t>Replication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967479" cy="208407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content:</a:t>
            </a:r>
            <a:endParaRPr sz="1800">
              <a:latin typeface="Arial"/>
              <a:cs typeface="Arial"/>
            </a:endParaRPr>
          </a:p>
          <a:p>
            <a:pPr lvl="1" marL="836294" marR="5080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Frequently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accessed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stored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endParaRPr sz="1400">
              <a:latin typeface="Arial"/>
              <a:cs typeface="Arial"/>
            </a:endParaRPr>
          </a:p>
          <a:p>
            <a:pPr lvl="1" marL="836294" marR="640715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expiration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TTL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(Time-To-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Live)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settings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control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freshness</a:t>
            </a:r>
            <a:endParaRPr sz="1400">
              <a:latin typeface="Arial"/>
              <a:cs typeface="Arial"/>
            </a:endParaRPr>
          </a:p>
          <a:p>
            <a:pPr lvl="1" marL="836294" marR="32384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14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invalidation</a:t>
            </a:r>
            <a:r>
              <a:rPr dirty="0" sz="14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dirty="0" sz="1400" spc="2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(manual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purge,</a:t>
            </a:r>
            <a:r>
              <a:rPr dirty="0" sz="1400" spc="4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stale-while-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revalidate)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31138" cy="326951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25"/>
              <a:t>Load</a:t>
            </a:r>
            <a:r>
              <a:rPr dirty="0" sz="3200" spc="-25"/>
              <a:t> </a:t>
            </a:r>
            <a:r>
              <a:rPr dirty="0" sz="3200" spc="-190"/>
              <a:t>Balancing/Failover</a:t>
            </a:r>
            <a:r>
              <a:rPr dirty="0" sz="3200" spc="-25"/>
              <a:t> </a:t>
            </a:r>
            <a:r>
              <a:rPr dirty="0" sz="3200" spc="-200"/>
              <a:t>Handling</a:t>
            </a:r>
            <a:r>
              <a:rPr dirty="0" sz="3200" spc="-25"/>
              <a:t> </a:t>
            </a:r>
            <a:r>
              <a:rPr dirty="0" sz="3200" spc="-270"/>
              <a:t>and</a:t>
            </a:r>
            <a:r>
              <a:rPr dirty="0" sz="3200" spc="-25"/>
              <a:t> </a:t>
            </a:r>
            <a:r>
              <a:rPr dirty="0" sz="3200" spc="-245"/>
              <a:t>Request</a:t>
            </a:r>
            <a:r>
              <a:rPr dirty="0" sz="3200" spc="-25"/>
              <a:t> </a:t>
            </a:r>
            <a:r>
              <a:rPr dirty="0" sz="3200" spc="-140"/>
              <a:t>Routing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891405" cy="27006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PoPs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Failover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Rerouting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another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PoP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dirty="0" sz="140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dirty="0" sz="1400" spc="2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selection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800">
              <a:latin typeface="Arial"/>
              <a:cs typeface="Arial"/>
            </a:endParaRPr>
          </a:p>
          <a:p>
            <a:pPr lvl="1" marL="836294" marR="129539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Geo-based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routing: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nearest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PoP</a:t>
            </a:r>
            <a:endParaRPr sz="1400">
              <a:latin typeface="Arial"/>
              <a:cs typeface="Arial"/>
            </a:endParaRPr>
          </a:p>
          <a:p>
            <a:pPr lvl="1" marL="836294" marR="5080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Latency-based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routing: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Chooses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PoP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lowest</a:t>
            </a:r>
            <a:r>
              <a:rPr dirty="0" sz="140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Load-aware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routing: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Balances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PoPs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0050" y="1152425"/>
            <a:ext cx="3143798" cy="362220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50"/>
              <a:t>Compression</a:t>
            </a:r>
            <a:r>
              <a:rPr dirty="0" sz="3200" spc="-60"/>
              <a:t> </a:t>
            </a:r>
            <a:r>
              <a:rPr dirty="0" sz="3200"/>
              <a:t>&amp;</a:t>
            </a:r>
            <a:r>
              <a:rPr dirty="0" sz="3200" spc="-55"/>
              <a:t> </a:t>
            </a:r>
            <a:r>
              <a:rPr dirty="0" sz="3200" spc="-225"/>
              <a:t>Miniﬁcation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744595" cy="110299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r>
              <a:rPr dirty="0" sz="18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used: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Gzip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Brotli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compression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Image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optimization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(WebP,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AVIF)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Minifying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60">
                <a:solidFill>
                  <a:srgbClr val="685D46"/>
                </a:solidFill>
                <a:latin typeface="Arial"/>
                <a:cs typeface="Arial"/>
              </a:rPr>
              <a:t>CSS/JS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ﬁle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sizes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04"/>
              <a:t>Security</a:t>
            </a:r>
            <a:r>
              <a:rPr dirty="0" sz="3200" spc="-105"/>
              <a:t> </a:t>
            </a:r>
            <a:r>
              <a:rPr dirty="0" sz="3200" spc="-185"/>
              <a:t>Features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363210" cy="116205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800" spc="-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mitigation: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1400" spc="-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limiting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40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ﬁltering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SSL/TLS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Oﬄoading: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Encrypts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270"/>
              <a:t>Use</a:t>
            </a:r>
            <a:r>
              <a:rPr dirty="0" sz="3200" spc="-80"/>
              <a:t> </a:t>
            </a:r>
            <a:r>
              <a:rPr dirty="0" sz="3200" spc="-204"/>
              <a:t>Cases</a:t>
            </a:r>
            <a:r>
              <a:rPr dirty="0" sz="3200" spc="-35"/>
              <a:t> </a:t>
            </a:r>
            <a:r>
              <a:rPr dirty="0" sz="3200" spc="-250"/>
              <a:t>of</a:t>
            </a:r>
            <a:r>
              <a:rPr dirty="0" sz="3200" spc="-80"/>
              <a:t> </a:t>
            </a:r>
            <a:r>
              <a:rPr dirty="0" sz="3200" spc="-290"/>
              <a:t>CDNs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815330" cy="166370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content: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Images, videos,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HTML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ﬁles.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dirty="0" sz="14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content: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responses,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personalized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pages.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Acceleration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Computing(CDNs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APIs):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times.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frequently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accessed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endpoints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55" y="1214385"/>
            <a:ext cx="4629785" cy="3601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49250" indent="-336550">
              <a:lnSpc>
                <a:spcPts val="1190"/>
              </a:lnSpc>
              <a:spcBef>
                <a:spcPts val="90"/>
              </a:spcBef>
              <a:buChar char="●"/>
              <a:tabLst>
                <a:tab pos="349250" algn="l"/>
              </a:tabLst>
            </a:pPr>
            <a:r>
              <a:rPr dirty="0" sz="1000" spc="-20">
                <a:solidFill>
                  <a:srgbClr val="685D46"/>
                </a:solidFill>
                <a:latin typeface="Arial"/>
                <a:cs typeface="Arial"/>
              </a:rPr>
              <a:t>Basics</a:t>
            </a:r>
            <a:r>
              <a:rPr dirty="0" sz="10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0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685D46"/>
                </a:solidFill>
                <a:latin typeface="Arial"/>
                <a:cs typeface="Arial"/>
              </a:rPr>
              <a:t>CDN</a:t>
            </a:r>
            <a:endParaRPr sz="100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CDN,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 do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design?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beneﬁts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85D46"/>
                </a:solidFill>
                <a:latin typeface="Arial"/>
                <a:cs typeface="Arial"/>
              </a:rPr>
              <a:t>CDN?</a:t>
            </a:r>
            <a:endParaRPr sz="750">
              <a:latin typeface="Arial"/>
              <a:cs typeface="Arial"/>
            </a:endParaRPr>
          </a:p>
          <a:p>
            <a:pPr marL="316865" indent="-304165">
              <a:lnSpc>
                <a:spcPts val="1155"/>
              </a:lnSpc>
              <a:buChar char="●"/>
              <a:tabLst>
                <a:tab pos="316865" algn="l"/>
              </a:tabLst>
            </a:pPr>
            <a:r>
              <a:rPr dirty="0" sz="1000" spc="-45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10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0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5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0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7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dirty="0" sz="7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7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85D46"/>
                </a:solidFill>
                <a:latin typeface="Arial"/>
                <a:cs typeface="Arial"/>
              </a:rPr>
              <a:t>CDN.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PoP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(Point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Presence)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85D46"/>
                </a:solidFill>
                <a:latin typeface="Arial"/>
                <a:cs typeface="Arial"/>
              </a:rPr>
              <a:t>CDN?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85D46"/>
                </a:solidFill>
                <a:latin typeface="Arial"/>
                <a:cs typeface="Arial"/>
              </a:rPr>
              <a:t>CDN?</a:t>
            </a:r>
            <a:endParaRPr sz="750">
              <a:latin typeface="Arial"/>
              <a:cs typeface="Arial"/>
            </a:endParaRPr>
          </a:p>
          <a:p>
            <a:pPr marL="316865" indent="-304165">
              <a:lnSpc>
                <a:spcPts val="1155"/>
              </a:lnSpc>
              <a:buChar char="●"/>
              <a:tabLst>
                <a:tab pos="316865" algn="l"/>
              </a:tabLst>
            </a:pP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0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dirty="0" sz="10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5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0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0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endParaRPr sz="100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hit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miss,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them?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expiration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40">
                <a:solidFill>
                  <a:srgbClr val="685D46"/>
                </a:solidFill>
                <a:latin typeface="Arial"/>
                <a:cs typeface="Arial"/>
              </a:rPr>
              <a:t>TTL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(Time-To-Live)</a:t>
            </a:r>
            <a:r>
              <a:rPr dirty="0" sz="7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85D46"/>
                </a:solidFill>
                <a:latin typeface="Arial"/>
                <a:cs typeface="Arial"/>
              </a:rPr>
              <a:t>CDN.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What are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invalidation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strategies,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7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7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dirty="0" sz="7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7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caching?</a:t>
            </a:r>
            <a:endParaRPr sz="750">
              <a:latin typeface="Arial"/>
              <a:cs typeface="Arial"/>
            </a:endParaRPr>
          </a:p>
          <a:p>
            <a:pPr marL="349250" indent="-336550">
              <a:lnSpc>
                <a:spcPts val="1155"/>
              </a:lnSpc>
              <a:buChar char="●"/>
              <a:tabLst>
                <a:tab pos="349250" algn="l"/>
              </a:tabLst>
            </a:pP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Load Balancing </a:t>
            </a:r>
            <a:r>
              <a:rPr dirty="0" sz="1000" spc="5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 Failover </a:t>
            </a:r>
            <a:r>
              <a:rPr dirty="0" sz="1000" spc="-1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endParaRPr sz="100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7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reliability?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75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75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750" spc="2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dirty="0" sz="75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dirty="0" sz="750" spc="2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(Geo-based,</a:t>
            </a:r>
            <a:r>
              <a:rPr dirty="0" sz="75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Latency-based,</a:t>
            </a:r>
            <a:r>
              <a:rPr dirty="0" sz="75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Load-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aware).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happens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PoP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fails?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failover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750">
              <a:latin typeface="Arial"/>
              <a:cs typeface="Arial"/>
            </a:endParaRPr>
          </a:p>
          <a:p>
            <a:pPr marL="349250" indent="-336550">
              <a:lnSpc>
                <a:spcPts val="1155"/>
              </a:lnSpc>
              <a:buChar char="●"/>
              <a:tabLst>
                <a:tab pos="349250" algn="l"/>
              </a:tabLst>
            </a:pPr>
            <a:r>
              <a:rPr dirty="0" sz="1000" spc="-45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10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Optimization</a:t>
            </a:r>
            <a:r>
              <a:rPr dirty="0" sz="10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endParaRPr sz="100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75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compression</a:t>
            </a:r>
            <a:r>
              <a:rPr dirty="0" sz="7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miniﬁcation</a:t>
            </a:r>
            <a:r>
              <a:rPr dirty="0" sz="7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r>
              <a:rPr dirty="0" sz="75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7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dirty="0" sz="7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85D46"/>
                </a:solidFill>
                <a:latin typeface="Arial"/>
                <a:cs typeface="Arial"/>
              </a:rPr>
              <a:t>use?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optimize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image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delivery?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7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acceleration</a:t>
            </a:r>
            <a:r>
              <a:rPr dirty="0" sz="7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7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685D46"/>
                </a:solidFill>
                <a:latin typeface="Arial"/>
                <a:cs typeface="Arial"/>
              </a:rPr>
              <a:t>CDN?</a:t>
            </a:r>
            <a:endParaRPr sz="750">
              <a:latin typeface="Arial"/>
              <a:cs typeface="Arial"/>
            </a:endParaRPr>
          </a:p>
          <a:p>
            <a:pPr marL="349250" indent="-336550">
              <a:lnSpc>
                <a:spcPts val="1155"/>
              </a:lnSpc>
              <a:buChar char="●"/>
              <a:tabLst>
                <a:tab pos="349250" algn="l"/>
              </a:tabLst>
            </a:pPr>
            <a:r>
              <a:rPr dirty="0" sz="1000" spc="-45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10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0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5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0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endParaRPr sz="100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protect</a:t>
            </a:r>
            <a:r>
              <a:rPr dirty="0" sz="7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against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7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attacks?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7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40">
                <a:solidFill>
                  <a:srgbClr val="685D46"/>
                </a:solidFill>
                <a:latin typeface="Arial"/>
                <a:cs typeface="Arial"/>
              </a:rPr>
              <a:t>SSL/TLS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oﬄoading,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7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useful?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7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7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implementation,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7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mitigated?</a:t>
            </a:r>
            <a:endParaRPr sz="750">
              <a:latin typeface="Arial"/>
              <a:cs typeface="Arial"/>
            </a:endParaRPr>
          </a:p>
          <a:p>
            <a:pPr marL="349250" indent="-336550">
              <a:lnSpc>
                <a:spcPts val="1155"/>
              </a:lnSpc>
              <a:buChar char="●"/>
              <a:tabLst>
                <a:tab pos="349250" algn="l"/>
              </a:tabLst>
            </a:pPr>
            <a:r>
              <a:rPr dirty="0" sz="100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dirty="0" sz="10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10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85D46"/>
                </a:solidFill>
                <a:latin typeface="Arial"/>
                <a:cs typeface="Arial"/>
              </a:rPr>
              <a:t>Topics</a:t>
            </a:r>
            <a:endParaRPr sz="100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7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What is edge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computing, and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does it</a:t>
            </a:r>
            <a:r>
              <a:rPr dirty="0" sz="7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relate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7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CDNs?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dirty="0" sz="7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dirty="0" sz="7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platform?</a:t>
            </a:r>
            <a:endParaRPr sz="750">
              <a:latin typeface="Arial"/>
              <a:cs typeface="Arial"/>
            </a:endParaRPr>
          </a:p>
          <a:p>
            <a:pPr lvl="1" marL="774065" indent="-287655">
              <a:lnSpc>
                <a:spcPts val="890"/>
              </a:lnSpc>
              <a:buChar char="○"/>
              <a:tabLst>
                <a:tab pos="774065" algn="l"/>
              </a:tabLst>
            </a:pP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7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online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gaming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5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dirty="0" sz="7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685D46"/>
                </a:solidFill>
                <a:latin typeface="Arial"/>
                <a:cs typeface="Arial"/>
              </a:rPr>
              <a:t>trading?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310"/>
              <a:t>Wrap-</a:t>
            </a:r>
            <a:r>
              <a:rPr dirty="0" sz="3200" spc="-285"/>
              <a:t>Up</a:t>
            </a:r>
            <a:r>
              <a:rPr dirty="0" sz="3200" spc="-60"/>
              <a:t> </a:t>
            </a:r>
            <a:r>
              <a:rPr dirty="0" sz="3200"/>
              <a:t>&amp;</a:t>
            </a:r>
            <a:r>
              <a:rPr dirty="0" sz="3200" spc="-130"/>
              <a:t> </a:t>
            </a:r>
            <a:r>
              <a:rPr dirty="0" sz="3200" spc="-240"/>
              <a:t>Key</a:t>
            </a:r>
            <a:r>
              <a:rPr dirty="0" sz="3200" spc="-254"/>
              <a:t> </a:t>
            </a:r>
            <a:r>
              <a:rPr dirty="0" sz="3200" spc="-285"/>
              <a:t>Takeaways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03234" cy="24904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by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globally.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latency,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times,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lower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bandwidth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costs.</a:t>
            </a:r>
            <a:endParaRPr sz="1800">
              <a:latin typeface="Arial"/>
              <a:cs typeface="Arial"/>
            </a:endParaRPr>
          </a:p>
          <a:p>
            <a:pPr marL="379095" marR="26098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enhance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protection,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SSL/TLS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encryption,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and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WAFs.</a:t>
            </a:r>
            <a:endParaRPr sz="1800">
              <a:latin typeface="Arial"/>
              <a:cs typeface="Arial"/>
            </a:endParaRPr>
          </a:p>
          <a:p>
            <a:pPr marL="379095" marR="521334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cases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include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delivery,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acceleration,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edge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computing.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Topic: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95"/>
              <a:t>Summary</a:t>
            </a:r>
            <a:r>
              <a:rPr dirty="0" spc="-155"/>
              <a:t> </a:t>
            </a:r>
            <a:r>
              <a:rPr dirty="0" spc="-250"/>
              <a:t>of</a:t>
            </a:r>
            <a:r>
              <a:rPr dirty="0" spc="-85"/>
              <a:t> </a:t>
            </a:r>
            <a:r>
              <a:rPr dirty="0" spc="-270"/>
              <a:t>Covered</a:t>
            </a:r>
            <a:r>
              <a:rPr dirty="0" spc="-145"/>
              <a:t> </a:t>
            </a:r>
            <a:r>
              <a:rPr dirty="0" spc="-245"/>
              <a:t>Topics</a:t>
            </a:r>
            <a:r>
              <a:rPr dirty="0" spc="-175"/>
              <a:t> </a:t>
            </a:r>
            <a:r>
              <a:rPr dirty="0" spc="-45"/>
              <a:t>-</a:t>
            </a:r>
            <a:r>
              <a:rPr dirty="0" spc="-254"/>
              <a:t> </a:t>
            </a:r>
            <a:r>
              <a:rPr dirty="0" spc="-260"/>
              <a:t>Networking</a:t>
            </a:r>
            <a:r>
              <a:rPr dirty="0" spc="-50"/>
              <a:t> </a:t>
            </a:r>
            <a:r>
              <a:rPr dirty="0" spc="-130"/>
              <a:t>&amp;</a:t>
            </a:r>
            <a:r>
              <a:rPr dirty="0" spc="-85"/>
              <a:t> </a:t>
            </a:r>
            <a:r>
              <a:rPr dirty="0" spc="-280"/>
              <a:t>Communication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347980" marR="451484" indent="-335915">
              <a:lnSpc>
                <a:spcPts val="1590"/>
              </a:lnSpc>
              <a:spcBef>
                <a:spcPts val="22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pc="-65">
                <a:latin typeface="Arial Black"/>
                <a:cs typeface="Arial Black"/>
              </a:rPr>
              <a:t>Introduction</a:t>
            </a:r>
            <a:r>
              <a:rPr dirty="0" spc="-40">
                <a:latin typeface="Arial Black"/>
                <a:cs typeface="Arial Black"/>
              </a:rPr>
              <a:t> </a:t>
            </a:r>
            <a:r>
              <a:rPr dirty="0" spc="-55">
                <a:latin typeface="Arial Black"/>
                <a:cs typeface="Arial Black"/>
              </a:rPr>
              <a:t>to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85">
                <a:latin typeface="Arial Black"/>
                <a:cs typeface="Arial Black"/>
              </a:rPr>
              <a:t>Networking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40">
                <a:latin typeface="Arial Black"/>
                <a:cs typeface="Arial Black"/>
              </a:rPr>
              <a:t>in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114">
                <a:latin typeface="Arial Black"/>
                <a:cs typeface="Arial Black"/>
              </a:rPr>
              <a:t>System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Design</a:t>
            </a:r>
            <a:r>
              <a:rPr dirty="0" spc="-5">
                <a:latin typeface="Arial Black"/>
                <a:cs typeface="Arial Black"/>
              </a:rPr>
              <a:t> </a:t>
            </a:r>
            <a:r>
              <a:rPr dirty="0" spc="-80"/>
              <a:t>–</a:t>
            </a:r>
            <a:r>
              <a:rPr dirty="0" spc="45"/>
              <a:t> </a:t>
            </a:r>
            <a:r>
              <a:rPr dirty="0"/>
              <a:t>Why</a:t>
            </a:r>
            <a:r>
              <a:rPr dirty="0" spc="45"/>
              <a:t> </a:t>
            </a:r>
            <a:r>
              <a:rPr dirty="0"/>
              <a:t>networking</a:t>
            </a:r>
            <a:r>
              <a:rPr dirty="0" spc="45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/>
              <a:t>crucial</a:t>
            </a:r>
            <a:r>
              <a:rPr dirty="0" spc="45"/>
              <a:t> </a:t>
            </a:r>
            <a:r>
              <a:rPr dirty="0" spc="55"/>
              <a:t>in</a:t>
            </a:r>
            <a:r>
              <a:rPr dirty="0" spc="45"/>
              <a:t> </a:t>
            </a:r>
            <a:r>
              <a:rPr dirty="0" spc="40"/>
              <a:t>distributed </a:t>
            </a:r>
            <a:r>
              <a:rPr dirty="0" spc="-10"/>
              <a:t>systems.</a:t>
            </a:r>
          </a:p>
          <a:p>
            <a:pPr marL="347980" indent="-335280">
              <a:lnSpc>
                <a:spcPts val="1510"/>
              </a:lnSpc>
              <a:buFont typeface="Arial"/>
              <a:buChar char="●"/>
              <a:tabLst>
                <a:tab pos="347980" algn="l"/>
              </a:tabLst>
            </a:pPr>
            <a:r>
              <a:rPr dirty="0" spc="-80">
                <a:latin typeface="Arial Black"/>
                <a:cs typeface="Arial Black"/>
              </a:rPr>
              <a:t>Understanding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125">
                <a:latin typeface="Arial Black"/>
                <a:cs typeface="Arial Black"/>
              </a:rPr>
              <a:t>IP</a:t>
            </a:r>
            <a:r>
              <a:rPr dirty="0" spc="-10">
                <a:latin typeface="Arial Black"/>
                <a:cs typeface="Arial Black"/>
              </a:rPr>
              <a:t> </a:t>
            </a:r>
            <a:r>
              <a:rPr dirty="0" spc="-114">
                <a:latin typeface="Arial Black"/>
                <a:cs typeface="Arial Black"/>
              </a:rPr>
              <a:t>Addresses</a:t>
            </a:r>
            <a:r>
              <a:rPr dirty="0" spc="10">
                <a:latin typeface="Arial Black"/>
                <a:cs typeface="Arial Black"/>
              </a:rPr>
              <a:t> </a:t>
            </a:r>
            <a:r>
              <a:rPr dirty="0" spc="-80"/>
              <a:t>–</a:t>
            </a:r>
            <a:r>
              <a:rPr dirty="0" spc="70"/>
              <a:t> </a:t>
            </a:r>
            <a:r>
              <a:rPr dirty="0"/>
              <a:t>Diﬀerences</a:t>
            </a:r>
            <a:r>
              <a:rPr dirty="0" spc="70"/>
              <a:t> </a:t>
            </a:r>
            <a:r>
              <a:rPr dirty="0"/>
              <a:t>between</a:t>
            </a:r>
            <a:r>
              <a:rPr dirty="0" spc="70"/>
              <a:t> </a:t>
            </a:r>
            <a:r>
              <a:rPr dirty="0" spc="-20"/>
              <a:t>IPv4</a:t>
            </a:r>
            <a:r>
              <a:rPr dirty="0" spc="65"/>
              <a:t> </a:t>
            </a:r>
            <a:r>
              <a:rPr dirty="0" spc="75"/>
              <a:t>&amp;</a:t>
            </a:r>
            <a:r>
              <a:rPr dirty="0" spc="70"/>
              <a:t> </a:t>
            </a:r>
            <a:r>
              <a:rPr dirty="0" spc="-25"/>
              <a:t>IPv6,</a:t>
            </a:r>
            <a:r>
              <a:rPr dirty="0" spc="70"/>
              <a:t> </a:t>
            </a:r>
            <a:r>
              <a:rPr dirty="0"/>
              <a:t>public</a:t>
            </a:r>
            <a:r>
              <a:rPr dirty="0" spc="70"/>
              <a:t> </a:t>
            </a:r>
            <a:r>
              <a:rPr dirty="0" spc="-10"/>
              <a:t>vs.</a:t>
            </a:r>
            <a:r>
              <a:rPr dirty="0" spc="70"/>
              <a:t> </a:t>
            </a:r>
            <a:r>
              <a:rPr dirty="0"/>
              <a:t>private</a:t>
            </a:r>
            <a:r>
              <a:rPr dirty="0" spc="65"/>
              <a:t> </a:t>
            </a:r>
            <a:r>
              <a:rPr dirty="0" spc="-20"/>
              <a:t>IPs.</a:t>
            </a:r>
          </a:p>
          <a:p>
            <a:pPr marL="347980" indent="-335280">
              <a:lnSpc>
                <a:spcPts val="1590"/>
              </a:lnSpc>
              <a:buFont typeface="Arial"/>
              <a:buChar char="●"/>
              <a:tabLst>
                <a:tab pos="347980" algn="l"/>
              </a:tabLst>
            </a:pPr>
            <a:r>
              <a:rPr dirty="0" spc="-110">
                <a:latin typeface="Arial Black"/>
                <a:cs typeface="Arial Black"/>
              </a:rPr>
              <a:t>How</a:t>
            </a:r>
            <a:r>
              <a:rPr dirty="0" spc="-30">
                <a:latin typeface="Arial Black"/>
                <a:cs typeface="Arial Black"/>
              </a:rPr>
              <a:t> </a:t>
            </a:r>
            <a:r>
              <a:rPr dirty="0" spc="-130">
                <a:latin typeface="Arial Black"/>
                <a:cs typeface="Arial Black"/>
              </a:rPr>
              <a:t>DNS</a:t>
            </a:r>
            <a:r>
              <a:rPr dirty="0" spc="-30">
                <a:latin typeface="Arial Black"/>
                <a:cs typeface="Arial Black"/>
              </a:rPr>
              <a:t> </a:t>
            </a:r>
            <a:r>
              <a:rPr dirty="0" spc="-85">
                <a:latin typeface="Arial Black"/>
                <a:cs typeface="Arial Black"/>
              </a:rPr>
              <a:t>Works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80"/>
              <a:t>–</a:t>
            </a:r>
            <a:r>
              <a:rPr dirty="0" spc="55"/>
              <a:t> </a:t>
            </a:r>
            <a:r>
              <a:rPr dirty="0"/>
              <a:t>Domain</a:t>
            </a:r>
            <a:r>
              <a:rPr dirty="0" spc="55"/>
              <a:t> </a:t>
            </a:r>
            <a:r>
              <a:rPr dirty="0"/>
              <a:t>Name</a:t>
            </a:r>
            <a:r>
              <a:rPr dirty="0" spc="50"/>
              <a:t> </a:t>
            </a:r>
            <a:r>
              <a:rPr dirty="0"/>
              <a:t>Resolution,</a:t>
            </a:r>
            <a:r>
              <a:rPr dirty="0" spc="55"/>
              <a:t> </a:t>
            </a:r>
            <a:r>
              <a:rPr dirty="0"/>
              <a:t>caching,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50"/>
              <a:t> </a:t>
            </a:r>
            <a:r>
              <a:rPr dirty="0"/>
              <a:t>its</a:t>
            </a:r>
            <a:r>
              <a:rPr dirty="0" spc="55"/>
              <a:t> </a:t>
            </a:r>
            <a:r>
              <a:rPr dirty="0"/>
              <a:t>role</a:t>
            </a:r>
            <a:r>
              <a:rPr dirty="0" spc="55"/>
              <a:t> in</a:t>
            </a:r>
            <a:r>
              <a:rPr dirty="0" spc="50"/>
              <a:t> </a:t>
            </a:r>
            <a:r>
              <a:rPr dirty="0"/>
              <a:t>large-scale</a:t>
            </a:r>
            <a:r>
              <a:rPr dirty="0" spc="55"/>
              <a:t> </a:t>
            </a:r>
            <a:r>
              <a:rPr dirty="0" spc="-10"/>
              <a:t>systems.</a:t>
            </a:r>
          </a:p>
          <a:p>
            <a:pPr marL="347980" marR="412115" indent="-335915">
              <a:lnSpc>
                <a:spcPts val="1590"/>
              </a:lnSpc>
              <a:spcBef>
                <a:spcPts val="8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pc="-85">
                <a:latin typeface="Arial Black"/>
                <a:cs typeface="Arial Black"/>
              </a:rPr>
              <a:t>Client-</a:t>
            </a:r>
            <a:r>
              <a:rPr dirty="0" spc="-95">
                <a:latin typeface="Arial Black"/>
                <a:cs typeface="Arial Black"/>
              </a:rPr>
              <a:t>Server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75">
                <a:latin typeface="Arial Black"/>
                <a:cs typeface="Arial Black"/>
              </a:rPr>
              <a:t>Model</a:t>
            </a:r>
            <a:r>
              <a:rPr dirty="0" spc="35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Explained</a:t>
            </a:r>
            <a:r>
              <a:rPr dirty="0" spc="50">
                <a:latin typeface="Arial Black"/>
                <a:cs typeface="Arial Black"/>
              </a:rPr>
              <a:t> </a:t>
            </a:r>
            <a:r>
              <a:rPr dirty="0" spc="-80"/>
              <a:t>–</a:t>
            </a:r>
            <a:r>
              <a:rPr dirty="0" spc="114"/>
              <a:t> </a:t>
            </a:r>
            <a:r>
              <a:rPr dirty="0"/>
              <a:t>How</a:t>
            </a:r>
            <a:r>
              <a:rPr dirty="0" spc="114"/>
              <a:t> </a:t>
            </a:r>
            <a:r>
              <a:rPr dirty="0"/>
              <a:t>clients</a:t>
            </a:r>
            <a:r>
              <a:rPr dirty="0" spc="114"/>
              <a:t> </a:t>
            </a:r>
            <a:r>
              <a:rPr dirty="0"/>
              <a:t>and</a:t>
            </a:r>
            <a:r>
              <a:rPr dirty="0" spc="120"/>
              <a:t> </a:t>
            </a:r>
            <a:r>
              <a:rPr dirty="0"/>
              <a:t>servers</a:t>
            </a:r>
            <a:r>
              <a:rPr dirty="0" spc="114"/>
              <a:t> </a:t>
            </a:r>
            <a:r>
              <a:rPr dirty="0"/>
              <a:t>interact</a:t>
            </a:r>
            <a:r>
              <a:rPr dirty="0" spc="114"/>
              <a:t> </a:t>
            </a:r>
            <a:r>
              <a:rPr dirty="0"/>
              <a:t>using</a:t>
            </a:r>
            <a:r>
              <a:rPr dirty="0" spc="114"/>
              <a:t> </a:t>
            </a:r>
            <a:r>
              <a:rPr dirty="0"/>
              <a:t>request-</a:t>
            </a:r>
            <a:r>
              <a:rPr dirty="0" spc="-10"/>
              <a:t>response cycles.</a:t>
            </a:r>
          </a:p>
          <a:p>
            <a:pPr marL="347980" indent="-335280">
              <a:lnSpc>
                <a:spcPts val="1510"/>
              </a:lnSpc>
              <a:buFont typeface="Arial"/>
              <a:buChar char="●"/>
              <a:tabLst>
                <a:tab pos="347980" algn="l"/>
              </a:tabLst>
            </a:pPr>
            <a:r>
              <a:rPr dirty="0" spc="-90">
                <a:latin typeface="Arial Black"/>
                <a:cs typeface="Arial Black"/>
              </a:rPr>
              <a:t>Forward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90">
                <a:latin typeface="Arial Black"/>
                <a:cs typeface="Arial Black"/>
              </a:rPr>
              <a:t>Proxy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vs.</a:t>
            </a:r>
            <a:r>
              <a:rPr dirty="0" spc="-30">
                <a:latin typeface="Arial Black"/>
                <a:cs typeface="Arial Black"/>
              </a:rPr>
              <a:t> </a:t>
            </a:r>
            <a:r>
              <a:rPr dirty="0" spc="-120">
                <a:latin typeface="Arial Black"/>
                <a:cs typeface="Arial Black"/>
              </a:rPr>
              <a:t>Reverse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85">
                <a:latin typeface="Arial Black"/>
                <a:cs typeface="Arial Black"/>
              </a:rPr>
              <a:t>Proxy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dirty="0" spc="-80"/>
              <a:t>–</a:t>
            </a:r>
            <a:r>
              <a:rPr dirty="0" spc="50"/>
              <a:t> </a:t>
            </a:r>
            <a:r>
              <a:rPr dirty="0"/>
              <a:t>Their</a:t>
            </a:r>
            <a:r>
              <a:rPr dirty="0" spc="45"/>
              <a:t> </a:t>
            </a:r>
            <a:r>
              <a:rPr dirty="0"/>
              <a:t>diﬀerences,</a:t>
            </a:r>
            <a:r>
              <a:rPr dirty="0" spc="50"/>
              <a:t> </a:t>
            </a:r>
            <a:r>
              <a:rPr dirty="0"/>
              <a:t>use</a:t>
            </a:r>
            <a:r>
              <a:rPr dirty="0" spc="50"/>
              <a:t> </a:t>
            </a:r>
            <a:r>
              <a:rPr dirty="0" spc="-20"/>
              <a:t>cases,</a:t>
            </a:r>
            <a:r>
              <a:rPr dirty="0" spc="50"/>
              <a:t> </a:t>
            </a:r>
            <a:r>
              <a:rPr dirty="0"/>
              <a:t>and</a:t>
            </a:r>
            <a:r>
              <a:rPr dirty="0" spc="45"/>
              <a:t> </a:t>
            </a:r>
            <a:r>
              <a:rPr dirty="0"/>
              <a:t>impact</a:t>
            </a:r>
            <a:r>
              <a:rPr dirty="0" spc="50"/>
              <a:t> </a:t>
            </a:r>
            <a:r>
              <a:rPr dirty="0" spc="65"/>
              <a:t>on</a:t>
            </a:r>
            <a:r>
              <a:rPr dirty="0" spc="50"/>
              <a:t> </a:t>
            </a:r>
            <a:r>
              <a:rPr dirty="0"/>
              <a:t>system</a:t>
            </a:r>
            <a:r>
              <a:rPr dirty="0" spc="45"/>
              <a:t> </a:t>
            </a:r>
            <a:r>
              <a:rPr dirty="0" spc="-10"/>
              <a:t>design.</a:t>
            </a:r>
          </a:p>
          <a:p>
            <a:pPr marL="347980" marR="401320" indent="-335915">
              <a:lnSpc>
                <a:spcPts val="1590"/>
              </a:lnSpc>
              <a:spcBef>
                <a:spcPts val="8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pc="-65">
                <a:latin typeface="Arial Black"/>
                <a:cs typeface="Arial Black"/>
              </a:rPr>
              <a:t>Introduction</a:t>
            </a:r>
            <a:r>
              <a:rPr dirty="0" spc="-35">
                <a:latin typeface="Arial Black"/>
                <a:cs typeface="Arial Black"/>
              </a:rPr>
              <a:t> </a:t>
            </a:r>
            <a:r>
              <a:rPr dirty="0" spc="-55">
                <a:latin typeface="Arial Black"/>
                <a:cs typeface="Arial Black"/>
              </a:rPr>
              <a:t>to</a:t>
            </a:r>
            <a:r>
              <a:rPr dirty="0" spc="-30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Load</a:t>
            </a:r>
            <a:r>
              <a:rPr dirty="0" spc="-30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Balancing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80"/>
              <a:t>–</a:t>
            </a:r>
            <a:r>
              <a:rPr dirty="0" spc="50"/>
              <a:t> </a:t>
            </a:r>
            <a:r>
              <a:rPr dirty="0"/>
              <a:t>Why</a:t>
            </a:r>
            <a:r>
              <a:rPr dirty="0" spc="50"/>
              <a:t> </a:t>
            </a:r>
            <a:r>
              <a:rPr dirty="0"/>
              <a:t>it's</a:t>
            </a:r>
            <a:r>
              <a:rPr dirty="0" spc="50"/>
              <a:t> </a:t>
            </a:r>
            <a:r>
              <a:rPr dirty="0"/>
              <a:t>needed,</a:t>
            </a:r>
            <a:r>
              <a:rPr dirty="0" spc="50"/>
              <a:t> </a:t>
            </a:r>
            <a:r>
              <a:rPr dirty="0"/>
              <a:t>types</a:t>
            </a:r>
            <a:r>
              <a:rPr dirty="0" spc="50"/>
              <a:t> </a:t>
            </a:r>
            <a:r>
              <a:rPr dirty="0" spc="65"/>
              <a:t>of</a:t>
            </a:r>
            <a:r>
              <a:rPr dirty="0" spc="50"/>
              <a:t> </a:t>
            </a:r>
            <a:r>
              <a:rPr dirty="0"/>
              <a:t>load</a:t>
            </a:r>
            <a:r>
              <a:rPr dirty="0" spc="50"/>
              <a:t> </a:t>
            </a:r>
            <a:r>
              <a:rPr dirty="0"/>
              <a:t>balancers,</a:t>
            </a:r>
            <a:r>
              <a:rPr dirty="0" spc="50"/>
              <a:t> </a:t>
            </a:r>
            <a:r>
              <a:rPr dirty="0"/>
              <a:t>and</a:t>
            </a:r>
            <a:r>
              <a:rPr dirty="0" spc="50"/>
              <a:t> </a:t>
            </a:r>
            <a:r>
              <a:rPr dirty="0" spc="-10"/>
              <a:t>balancing strategies.</a:t>
            </a:r>
          </a:p>
          <a:p>
            <a:pPr marL="347980" marR="426084" indent="-335915">
              <a:lnSpc>
                <a:spcPts val="1590"/>
              </a:lnSpc>
              <a:buFont typeface="Arial"/>
              <a:buChar char="●"/>
              <a:tabLst>
                <a:tab pos="347980" algn="l"/>
              </a:tabLst>
            </a:pPr>
            <a:r>
              <a:rPr dirty="0" spc="-60">
                <a:latin typeface="Arial Black"/>
                <a:cs typeface="Arial Black"/>
              </a:rPr>
              <a:t>What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is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75">
                <a:latin typeface="Arial Black"/>
                <a:cs typeface="Arial Black"/>
              </a:rPr>
              <a:t>an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135">
                <a:latin typeface="Arial Black"/>
                <a:cs typeface="Arial Black"/>
              </a:rPr>
              <a:t>API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125">
                <a:latin typeface="Arial Black"/>
                <a:cs typeface="Arial Black"/>
              </a:rPr>
              <a:t>Gateway?</a:t>
            </a:r>
            <a:r>
              <a:rPr dirty="0" spc="-10">
                <a:latin typeface="Arial Black"/>
                <a:cs typeface="Arial Black"/>
              </a:rPr>
              <a:t> </a:t>
            </a:r>
            <a:r>
              <a:rPr dirty="0" spc="-80"/>
              <a:t>–</a:t>
            </a:r>
            <a:r>
              <a:rPr dirty="0" spc="65"/>
              <a:t> </a:t>
            </a:r>
            <a:r>
              <a:rPr dirty="0"/>
              <a:t>Managing</a:t>
            </a:r>
            <a:r>
              <a:rPr dirty="0" spc="65"/>
              <a:t> </a:t>
            </a:r>
            <a:r>
              <a:rPr dirty="0" spc="-60"/>
              <a:t>API</a:t>
            </a:r>
            <a:r>
              <a:rPr dirty="0" spc="70"/>
              <a:t> </a:t>
            </a:r>
            <a:r>
              <a:rPr dirty="0" spc="55"/>
              <a:t>traﬃc,</a:t>
            </a:r>
            <a:r>
              <a:rPr dirty="0" spc="65"/>
              <a:t> </a:t>
            </a:r>
            <a:r>
              <a:rPr dirty="0"/>
              <a:t>enforcing</a:t>
            </a:r>
            <a:r>
              <a:rPr dirty="0" spc="70"/>
              <a:t> </a:t>
            </a:r>
            <a:r>
              <a:rPr dirty="0"/>
              <a:t>security,</a:t>
            </a:r>
            <a:r>
              <a:rPr dirty="0" spc="65"/>
              <a:t> </a:t>
            </a:r>
            <a:r>
              <a:rPr dirty="0"/>
              <a:t>and</a:t>
            </a:r>
            <a:r>
              <a:rPr dirty="0" spc="70"/>
              <a:t> </a:t>
            </a:r>
            <a:r>
              <a:rPr dirty="0"/>
              <a:t>enabling</a:t>
            </a:r>
            <a:r>
              <a:rPr dirty="0" spc="65"/>
              <a:t> </a:t>
            </a:r>
            <a:r>
              <a:rPr dirty="0" spc="45"/>
              <a:t>eﬃcient </a:t>
            </a:r>
            <a:r>
              <a:rPr dirty="0" spc="-10"/>
              <a:t>routing.</a:t>
            </a:r>
          </a:p>
          <a:p>
            <a:pPr marL="347980" marR="96520" indent="-335915">
              <a:lnSpc>
                <a:spcPts val="1590"/>
              </a:lnSpc>
              <a:buFont typeface="Arial"/>
              <a:buChar char="●"/>
              <a:tabLst>
                <a:tab pos="347980" algn="l"/>
              </a:tabLst>
            </a:pPr>
            <a:r>
              <a:rPr dirty="0" spc="-80">
                <a:latin typeface="Arial Black"/>
                <a:cs typeface="Arial Black"/>
              </a:rPr>
              <a:t>Content </a:t>
            </a:r>
            <a:r>
              <a:rPr dirty="0" spc="-75">
                <a:latin typeface="Arial Black"/>
                <a:cs typeface="Arial Black"/>
              </a:rPr>
              <a:t>Delivery </a:t>
            </a:r>
            <a:r>
              <a:rPr dirty="0" spc="-85">
                <a:latin typeface="Arial Black"/>
                <a:cs typeface="Arial Black"/>
              </a:rPr>
              <a:t>Networks</a:t>
            </a:r>
            <a:r>
              <a:rPr dirty="0" spc="-75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(CDN)</a:t>
            </a:r>
            <a:r>
              <a:rPr dirty="0" spc="-75">
                <a:latin typeface="Arial Black"/>
                <a:cs typeface="Arial Black"/>
              </a:rPr>
              <a:t> </a:t>
            </a:r>
            <a:r>
              <a:rPr dirty="0" spc="-40">
                <a:latin typeface="Arial Black"/>
                <a:cs typeface="Arial Black"/>
              </a:rPr>
              <a:t>in</a:t>
            </a:r>
            <a:r>
              <a:rPr dirty="0" spc="-75">
                <a:latin typeface="Arial Black"/>
                <a:cs typeface="Arial Black"/>
              </a:rPr>
              <a:t> </a:t>
            </a:r>
            <a:r>
              <a:rPr dirty="0" spc="-114">
                <a:latin typeface="Arial Black"/>
                <a:cs typeface="Arial Black"/>
              </a:rPr>
              <a:t>System</a:t>
            </a:r>
            <a:r>
              <a:rPr dirty="0" spc="-75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Design</a:t>
            </a:r>
            <a:r>
              <a:rPr dirty="0" spc="-50">
                <a:latin typeface="Arial Black"/>
                <a:cs typeface="Arial Black"/>
              </a:rPr>
              <a:t> </a:t>
            </a:r>
            <a:r>
              <a:rPr dirty="0" spc="-80"/>
              <a:t>–</a:t>
            </a:r>
            <a:r>
              <a:rPr dirty="0" spc="5"/>
              <a:t> </a:t>
            </a:r>
            <a:r>
              <a:rPr dirty="0"/>
              <a:t>How</a:t>
            </a:r>
            <a:r>
              <a:rPr dirty="0" spc="5"/>
              <a:t> </a:t>
            </a:r>
            <a:r>
              <a:rPr dirty="0" spc="-40"/>
              <a:t>CDNs</a:t>
            </a:r>
            <a:r>
              <a:rPr dirty="0" spc="5"/>
              <a:t> </a:t>
            </a:r>
            <a:r>
              <a:rPr dirty="0" spc="50"/>
              <a:t>improve</a:t>
            </a:r>
            <a:r>
              <a:rPr dirty="0" spc="5"/>
              <a:t> </a:t>
            </a:r>
            <a:r>
              <a:rPr dirty="0" spc="50"/>
              <a:t>performance</a:t>
            </a:r>
            <a:r>
              <a:rPr dirty="0" spc="5"/>
              <a:t> </a:t>
            </a:r>
            <a:r>
              <a:rPr dirty="0" spc="-25"/>
              <a:t>and </a:t>
            </a:r>
            <a:r>
              <a:rPr dirty="0"/>
              <a:t>reduce</a:t>
            </a:r>
            <a:r>
              <a:rPr dirty="0" spc="155"/>
              <a:t> </a:t>
            </a:r>
            <a:r>
              <a:rPr dirty="0" spc="-10"/>
              <a:t>latency.</a:t>
            </a:r>
          </a:p>
          <a:p>
            <a:pPr marL="347980" indent="-335280">
              <a:lnSpc>
                <a:spcPts val="1540"/>
              </a:lnSpc>
              <a:buChar char="●"/>
              <a:tabLst>
                <a:tab pos="347980" algn="l"/>
              </a:tabLst>
            </a:pPr>
            <a:r>
              <a:rPr dirty="0"/>
              <a:t>Whats</a:t>
            </a:r>
            <a:r>
              <a:rPr dirty="0" spc="25"/>
              <a:t> </a:t>
            </a:r>
            <a:r>
              <a:rPr dirty="0" spc="-20"/>
              <a:t>Next</a:t>
            </a:r>
          </a:p>
          <a:p>
            <a:pPr lvl="1" marL="805180" indent="-311785">
              <a:lnSpc>
                <a:spcPts val="1250"/>
              </a:lnSpc>
              <a:buChar char="○"/>
              <a:tabLst>
                <a:tab pos="805180" algn="l"/>
              </a:tabLst>
            </a:pP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dcterms:created xsi:type="dcterms:W3CDTF">2025-11-15T06:20:52Z</dcterms:created>
  <dcterms:modified xsi:type="dcterms:W3CDTF">2025-11-15T06:20:52Z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